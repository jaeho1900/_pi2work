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6" r:id="rId10"/>
    <p:sldId id="264" r:id="rId11"/>
    <p:sldId id="265" r:id="rId12"/>
  </p:sldIdLst>
  <p:sldSz cx="6858000" cy="9144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9C4642E-BE27-4330-860A-DD8BE2DF8742}">
          <p14:sldIdLst>
            <p14:sldId id="256"/>
            <p14:sldId id="257"/>
            <p14:sldId id="258"/>
            <p14:sldId id="259"/>
            <p14:sldId id="262"/>
            <p14:sldId id="260"/>
            <p14:sldId id="261"/>
            <p14:sldId id="263"/>
            <p14:sldId id="266"/>
            <p14:sldId id="264"/>
            <p14:sldId id="265"/>
          </p14:sldIdLst>
        </p14:section>
        <p14:section name="참조" id="{FA5639B6-0C5C-461B-90C2-DE00BECA09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952" userDrawn="1">
          <p15:clr>
            <a:srgbClr val="A4A3A4"/>
          </p15:clr>
        </p15:guide>
        <p15:guide id="2" pos="4065" userDrawn="1">
          <p15:clr>
            <a:srgbClr val="A4A3A4"/>
          </p15:clr>
        </p15:guide>
        <p15:guide id="3" pos="1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8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5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2454" y="60"/>
      </p:cViewPr>
      <p:guideLst>
        <p:guide orient="horz" pos="952"/>
        <p:guide pos="4065"/>
        <p:guide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93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35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20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91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48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37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35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56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437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03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65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AABB5-3309-47FE-A6C3-DD7974415399}" type="datetimeFigureOut">
              <a:rPr lang="ko-KR" altLang="en-US" smtClean="0"/>
              <a:t>2022-09-29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FB0FF-5EA1-4E5C-AAC1-4AA1DD2460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269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01138"/>
              </p:ext>
            </p:extLst>
          </p:nvPr>
        </p:nvGraphicFramePr>
        <p:xfrm>
          <a:off x="4437112" y="697152"/>
          <a:ext cx="2209800" cy="583440"/>
        </p:xfrm>
        <a:graphic>
          <a:graphicData uri="http://schemas.openxmlformats.org/drawingml/2006/table">
            <a:tbl>
              <a:tblPr/>
              <a:tblGrid>
                <a:gridCol w="757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 정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2021. 10. 01</a:t>
                      </a:r>
                    </a:p>
                  </a:txBody>
                  <a:tcPr marL="216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정 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2022. 10. 01</a:t>
                      </a:r>
                    </a:p>
                  </a:txBody>
                  <a:tcPr marL="216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1079500" y="1581944"/>
            <a:ext cx="4673600" cy="10668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 anchorCtr="1"/>
          <a:lstStyle/>
          <a:p>
            <a:pPr algn="ctr"/>
            <a:r>
              <a:rPr lang="ko-KR" altLang="en-US" sz="3200" b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</a:t>
            </a:r>
            <a:r>
              <a:rPr lang="en-US" altLang="ko-KR" sz="3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 규정</a:t>
            </a:r>
            <a:endParaRPr lang="ko-KR" altLang="en-US" sz="3200" b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직사각형 1"/>
          <p:cNvSpPr>
            <a:spLocks noChangeArrowheads="1"/>
          </p:cNvSpPr>
          <p:nvPr/>
        </p:nvSpPr>
        <p:spPr bwMode="auto">
          <a:xfrm>
            <a:off x="5542012" y="174625"/>
            <a:ext cx="1104900" cy="2936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</a:pP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대외비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269301" y="8049344"/>
            <a:ext cx="23193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b="0" i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</a:t>
            </a:r>
            <a:r>
              <a:rPr lang="ko-KR" altLang="en-US" sz="1200" b="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© </a:t>
            </a:r>
            <a:r>
              <a:rPr lang="en-US" altLang="ko-KR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S&amp;I crop.</a:t>
            </a:r>
            <a:endParaRPr lang="ko-KR" altLang="en-US" sz="1200" b="0" i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49037" y="8337376"/>
            <a:ext cx="59599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S&amp;I </a:t>
            </a:r>
            <a:r>
              <a:rPr lang="ko-KR" altLang="en-US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 사전 승인 없이 본 내용의 전부 또는 일부에 대한 복사</a:t>
            </a:r>
            <a:r>
              <a:rPr lang="en-US" altLang="ko-KR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lang="en-US" altLang="ko-KR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lang="en-US" altLang="ko-KR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lang="en-US" altLang="ko-KR" sz="1200" i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sz="1200" i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83A4A6-8F9A-4AB6-8EC9-7C7D4A99C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38" y="7562056"/>
            <a:ext cx="10763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83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595438" y="1219200"/>
            <a:ext cx="3643312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b="1" u="sng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 </a:t>
            </a:r>
            <a:r>
              <a:rPr lang="en-US" altLang="ko-KR" b="1" u="sng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b="1" u="sng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 이력</a:t>
            </a:r>
          </a:p>
        </p:txBody>
      </p:sp>
      <p:graphicFrame>
        <p:nvGraphicFramePr>
          <p:cNvPr id="5" name="Group 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01795"/>
              </p:ext>
            </p:extLst>
          </p:nvPr>
        </p:nvGraphicFramePr>
        <p:xfrm>
          <a:off x="180975" y="1992313"/>
          <a:ext cx="6477000" cy="1694533"/>
        </p:xfrm>
        <a:graphic>
          <a:graphicData uri="http://schemas.openxmlformats.org/drawingml/2006/table">
            <a:tbl>
              <a:tblPr/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3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40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 자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 유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2021.10.01 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규정 新設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제정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663881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2022.10.01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개정</a:t>
                      </a:r>
                    </a:p>
                  </a:txBody>
                  <a:tcPr marL="54000" marR="54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조직변경에 따른 개정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589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47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34260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31248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37485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83573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37485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37485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24785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00956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81" y="813710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757949" y="2530542"/>
            <a:ext cx="3342102" cy="4194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목     차  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</a:p>
          <a:p>
            <a:pPr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 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 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 총  칙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 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 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 수주심의회 대상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 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 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 수주심의회 제외 대상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 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 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 수주심의회 운영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 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 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 기타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E8D4110B-3D3A-4457-9C93-845FA721C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86342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968468" y="1902024"/>
            <a:ext cx="186012" cy="26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endParaRPr lang="ko-KR" altLang="en-US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497662" y="1812821"/>
            <a:ext cx="5903138" cy="248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총칙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1"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목적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본 규정은 ㈜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이하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회사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일정 기준 이상의 영업 대상 물건의 사업성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수익성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 가능성 및 전략 등을 사전에 논의함으로써 영업진행에 대한 합리적인 의사결정을 돕고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그에 따른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Risk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예방함에 그 목적이 있다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구성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수주심의회는 사전 검토 심의회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이하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수주실무협의회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입찰 참여 최종 의사결정을 위한 심의회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이하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설치 운영하며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심의회별 구성원은 아래와 같이 구성하되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필요시 관련 부서의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조직장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담당자를 추가 참석인원으로 구성할 수 있다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46E700B-8402-4FA8-84DA-8CCD09F6C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689415"/>
              </p:ext>
            </p:extLst>
          </p:nvPr>
        </p:nvGraphicFramePr>
        <p:xfrm>
          <a:off x="612462" y="4381211"/>
          <a:ext cx="5788337" cy="10454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5242">
                  <a:extLst>
                    <a:ext uri="{9D8B030D-6E8A-4147-A177-3AD203B41FA5}">
                      <a16:colId xmlns:a16="http://schemas.microsoft.com/office/drawing/2014/main" val="338088972"/>
                    </a:ext>
                  </a:extLst>
                </a:gridCol>
                <a:gridCol w="4233095">
                  <a:extLst>
                    <a:ext uri="{9D8B030D-6E8A-4147-A177-3AD203B41FA5}">
                      <a16:colId xmlns:a16="http://schemas.microsoft.com/office/drawing/2014/main" val="2793394091"/>
                    </a:ext>
                  </a:extLst>
                </a:gridCol>
              </a:tblGrid>
              <a:tr h="3093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 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심의회 구성원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147758"/>
                  </a:ext>
                </a:extLst>
              </a:tr>
              <a:tr h="3093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수주실무협의회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CEO,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COO, CFO,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영업 ∙ 사업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총괄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지역본부장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영업 ∙ 재무관리 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468935"/>
                  </a:ext>
                </a:extLst>
              </a:tr>
              <a:tr h="3093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수주심의회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CEO,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COO, CSO, CFO,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영업 ∙ 사업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총괄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지역본부장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영업 ∙ 재무관리 팀장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유관부서 팀장   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경영관리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법무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RM,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구매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인사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안전보건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334048"/>
                  </a:ext>
                </a:extLst>
              </a:tr>
            </a:tbl>
          </a:graphicData>
        </a:graphic>
      </p:graphicFrame>
      <p:sp>
        <p:nvSpPr>
          <p:cNvPr id="21" name="Rectangle 18">
            <a:extLst>
              <a:ext uri="{FF2B5EF4-FFF2-40B4-BE49-F238E27FC236}">
                <a16:creationId xmlns:a16="http://schemas.microsoft.com/office/drawing/2014/main" id="{91F073AB-F2D8-498A-9114-55F531DFE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62" y="5569675"/>
            <a:ext cx="5971718" cy="2632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용어의 정의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적법성 리스크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필요면허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인허가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하도급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정도경영 등 법적 이슈가 예상되는 경우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안전성 리스크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건축물 등의 안전이슈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설비 점검 미흡 등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존재하는 경우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수익성 리스크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매출 총이익율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7%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미만의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경우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고위험 사업장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IDC 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공장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복합상업시설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의료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물류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숙박시설 등 사고발생시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∙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간접피해  위험성이 높아 피해규모를 추산하기 곤란한 시설로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오피스 연구소는 제외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※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복합상업시설은 다중이용 면적 비중이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50%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이상이거나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면적이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천평 이상의 경우 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고위험 사업장으로 구분함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 startAt="5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단기 시범 서비스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제공기간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개월 이하의 시범 서비스</a:t>
            </a:r>
            <a:endParaRPr kumimoji="1" lang="en-US" altLang="ko-KR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 startAt="5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안전관리협의회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안전보건팀 주관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시공 안전 위주의 협의회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그룹 수의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공사건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限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 startAt="5"/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7C5C28A2-DB43-4181-B3DD-3D994A04B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51140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91F073AB-F2D8-498A-9114-55F531DFE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62" y="1818894"/>
            <a:ext cx="5971718" cy="3670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대상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1"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심의대상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입찰 참여 및 제안서를 제출하는 신규영업 물건 전체와 입찰을 수반하는 재계약 건에 대하여 수주실무협의회를 실시하고 협의회 결과 적법성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수익성 리스크가 예상되는 경우 수주심의회를 실시한다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신규영업 물건은 그룹내 물건 및 수의계약을 포함한다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공사영업 물건은 외부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그룹 고객사 外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공사 영업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제안건에 한하여 수주심의를 진행하며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매출 규모에 따라 선별적으로 수주심의를 진행한다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.[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상세 기준 별첨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 프로세스 공사 항목 참조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외부 물건 수의 재계약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외부 물건 수의 재계약시 적법성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수익성 관련 리스크 및 이슈 발생이 예상되는 경우에는 수주 체크리스트를 필수 작성 후 수주실무협의회 진행 여부를 결정한다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외부 물건은 범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물건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(GS, LS, LF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제외한 사업장을 지칭한다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 체크리스트는 재계약 주관부서에서 작성하고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주관부서와 협의하여 수주실무협의회 진행여부를 결정한다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5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4A44AA84-63A8-403C-921C-07B32466F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973393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968468" y="1902024"/>
            <a:ext cx="186012" cy="26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endParaRPr lang="ko-KR" altLang="en-US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497662" y="1812821"/>
            <a:ext cx="5955526" cy="6633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제외 대상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1"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관리범위 확대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사업장 內 관리범위 확대에 대한 경우 수주실무협의회 및 수주심의회를 제외할 수 있다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당사에서 일반적으로 제공하는 미화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보안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안내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시설 등의 관리 범위 확대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수선 및 소액 공사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건물관리 內 수선공사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보전공사 및 공사센터 內 소액 공사는 수주실무협의회 및 수주심의회를 제외 할 수 있다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운영센터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건물관리 수선공사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발주대행 공사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공사센터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보전공사 전체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억 미만의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리노베이션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공사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5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억 미만은 구간별 선별 시행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별첨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기준 참조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그룹 수의공사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그룹 內 수의공사 물건은 주관부서와 협의하여 안전관리협의회를 구성하고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안전 리스크를 검토하여 수주심의를 대체한다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기타 심의 제외 대상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FM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컨설팅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임대차 컨설팅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(LM)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등과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프로모션 개념의 단기 시범 서비스의 경우 심의를 품의로 대체한다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프로모션 개념의 단기 시범 서비스는 본 계약 진행 시 수주실무협의회를 실시한다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(3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개월 초과의 경우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심의 대상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단기 시범 서비스 시행 품의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작성 내용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목적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수행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계약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기간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수행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계약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금액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제공서비스 범위 등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전결권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위임 전결규정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(2)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비용에 관한사항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 촉진 목적 비용 집행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준용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제외 대상 기타사항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심의제외 대상이나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적법성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수익성 이슈가 예상될 경우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주관부서와 협의 후 수주실무회를 실시할 수 있다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1"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A44AE32-B341-4288-B05E-9B4A96878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29901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968468" y="1902024"/>
            <a:ext cx="186012" cy="26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endParaRPr lang="ko-KR" altLang="en-US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497662" y="1812821"/>
            <a:ext cx="5955526" cy="4940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1"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수주실무협의회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수주심의회의 정확한 의사결정을 위해 수주 체크리스트를 기반으로 투입인원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원가 적정성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 이슈 등 운영 및 재무 리스크에 대해 유관 부서간 상세 검토를 先 수행하는 수주실무협의회를 실시한다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 조직은 영업 물건의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RFP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수취 전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수주실무협의회 구성을 위해 영업진행여부를 사전에 통보한다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사업총괄은 수주실무협의회 전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총괄내 관할 운영조직을 사전 확정한다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※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신속한 인원 배치를 위해 사전 투입인력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Pool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구축하며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수주실무협의회시 센터장을 확정한다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 startAt="3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 체크리스트를 포함한 실무협의회 결과는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CFO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에게 사전 통지하고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∙ 운영 조직팀장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지역 본부장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 해당 </a:t>
            </a:r>
            <a:r>
              <a:rPr lang="ko-KR" altLang="en-US" sz="11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총괄에게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보고한다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 startAt="3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수주실무협의회에서 도출된 결과가 적법성 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안전성 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수익성 이슈가 없다고 판단될 경우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이를 수주심의회로 대체하고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대표이사에게 그 결과를 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CFO, </a:t>
            </a:r>
            <a:r>
              <a:rPr kumimoji="1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사업총괄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 배석 후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영업총괄이 보고한다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수주실무협의회를 통해 도출된 미해결 사안을 주요 의제로 정하며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이슈 및 입찰 참가여부를 최종 의사 결정한다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투자가 수반되는 수주심의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펀드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지분 투자 등 투자가 수반되는 수의 계약 및 경쟁 입찰을 참가하기 위해서는 본 운영 규정의 별첨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투자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수반성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건물관리 수주심의 프로세스를 준수한다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505ED80B-C4AE-4D6D-86D8-A88FE65F4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91244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968468" y="1902024"/>
            <a:ext cx="186012" cy="26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endParaRPr lang="ko-KR" altLang="en-US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497662" y="1812821"/>
            <a:ext cx="5955526" cy="640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lvl="0"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 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기타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kumimoji="1"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14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조건 변경 시 보고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수주실무협의회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이후 주요 요건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투찰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금액 변경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리스크 추가 등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변경 되는 경우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주관부서와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보고 대상 여부를 협의하여야 하며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보고 대상인 경우에는 영업총괄이 대표이사에게 관련 내용을 보고한다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Ex-1)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기존 심의 대비 매출 총 이익이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1%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 하락 하거나 심의기준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(7%)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미만으로 변경되는 경우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Ex-2)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과도한 법적책임 조건 변경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 물건의 심각한 안전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노무 이슈 등 리스크 추가 발생시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15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입찰 원가 검증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 주관 부서는 영업 정보 취득 시 적정 원가 산출을 위해 구매팀에 사업부 표준단가를 요청 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구매팀은 지역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건물 유형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시장가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kumimoji="1" lang="ko-KR" altLang="en-US" sz="11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실적가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등을 토대로 해당 물건에 적합한 사업부 표준단가를 산정 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 주관 부서는 구매팀에서 산정한 표준단가를 기반으로 입찰 예상 금액을 작성하며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표준단가를 벗어나는 경우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체크리스트에 해당 사유를 기입하여 상세히 논의될 수 있도록 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16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 체크리스트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 주관 부서에서는 적법성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안전성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수익성 사전 점검을 위한 체크리스트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물건개요 포함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작성하고 검토부서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안전보건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법무 등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의견을 종합하여 유형별 수주심의회 체크리스트 를 작성한다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검토 부서는 수주심의회 물건 개요 및 체크리스트 검토결과를 해당 부서장에게 보고한다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고위험 사업장은 추가 항목 점검 및 현장실사를 실시한다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.(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점검결과 </a:t>
            </a:r>
            <a:r>
              <a:rPr kumimoji="1" lang="en-US" altLang="ko-KR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atG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등록 및 유관부서 공유 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이슈시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별도 보고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신축 사업장의 경우 관리개시 이후 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개월 內 안전점검을 실시한다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228600" indent="-228600" defTabSz="762000" eaLnBrk="0" fontAlgn="base" latinLnBrk="0" hangingPunct="0">
              <a:spcBef>
                <a:spcPct val="5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 체크리스트 작성 양식은 </a:t>
            </a:r>
            <a:r>
              <a:rPr kumimoji="1"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포털 사내규정 게시판 內 첨부된 수주 유형별 작성 양식을 참조한다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17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운영시기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수주심의회의 운영은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RFP </a:t>
            </a:r>
            <a:r>
              <a:rPr kumimoji="1"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일자에 따라 수시로 운영할 수 있다</a:t>
            </a:r>
            <a:r>
              <a:rPr kumimoji="1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3EB28304-433D-4134-B015-CA98541FE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91504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968468" y="1902024"/>
            <a:ext cx="186012" cy="26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endParaRPr lang="ko-KR" altLang="en-US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497662" y="1812821"/>
            <a:ext cx="5955526" cy="127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              칙</a:t>
            </a: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시행일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규정은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2021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일부터 제정 시행한다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규정은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2022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kumimoji="1"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일부터 개정 시행한다</a:t>
            </a:r>
            <a:r>
              <a:rPr kumimoji="1"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2CE25307-F89F-46B3-BEFC-8F626799D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13564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968468" y="1547694"/>
            <a:ext cx="186012" cy="26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endParaRPr lang="ko-KR" altLang="en-US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200482" y="1486431"/>
            <a:ext cx="5955526" cy="30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lvl="0"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별첨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1]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수주심의회 프로세스 </a:t>
            </a:r>
            <a:endParaRPr kumimoji="1"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D9B93A3-4930-4B12-858C-4450641A9259}"/>
              </a:ext>
            </a:extLst>
          </p:cNvPr>
          <p:cNvSpPr/>
          <p:nvPr/>
        </p:nvSpPr>
        <p:spPr bwMode="auto">
          <a:xfrm>
            <a:off x="319322" y="2127756"/>
            <a:ext cx="638650" cy="60503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r>
              <a:rPr kumimoji="0" lang="ko-KR" altLang="en-US" sz="762" i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영업정보취득</a:t>
            </a:r>
            <a:endParaRPr kumimoji="0" lang="ko-KR" altLang="en-US" sz="762" i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오른쪽 화살표 45">
            <a:extLst>
              <a:ext uri="{FF2B5EF4-FFF2-40B4-BE49-F238E27FC236}">
                <a16:creationId xmlns:a16="http://schemas.microsoft.com/office/drawing/2014/main" id="{3A28D0FF-3971-4753-AFCB-BD9EF4987963}"/>
              </a:ext>
            </a:extLst>
          </p:cNvPr>
          <p:cNvSpPr/>
          <p:nvPr/>
        </p:nvSpPr>
        <p:spPr bwMode="auto">
          <a:xfrm>
            <a:off x="1059278" y="2312628"/>
            <a:ext cx="4739443" cy="23529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endParaRPr kumimoji="0" lang="ko-KR" altLang="en-US" sz="762" i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FEA5AE2-3201-4DE0-9C53-6E306D14C5DF}"/>
              </a:ext>
            </a:extLst>
          </p:cNvPr>
          <p:cNvSpPr/>
          <p:nvPr/>
        </p:nvSpPr>
        <p:spPr bwMode="auto">
          <a:xfrm>
            <a:off x="5900027" y="2127756"/>
            <a:ext cx="638650" cy="60503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r>
              <a:rPr lang="ko-KR" altLang="en-US" sz="762" i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입찰결과발표</a:t>
            </a:r>
            <a:endParaRPr kumimoji="0" lang="ko-KR" altLang="en-US" sz="762" i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57D9F32-E012-4EF5-A62F-894B351F4499}"/>
              </a:ext>
            </a:extLst>
          </p:cNvPr>
          <p:cNvSpPr/>
          <p:nvPr/>
        </p:nvSpPr>
        <p:spPr bwMode="auto">
          <a:xfrm>
            <a:off x="3426485" y="2329433"/>
            <a:ext cx="190475" cy="190475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r>
              <a:rPr kumimoji="0" lang="ko-KR" altLang="en-US" sz="76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49FEB4-5448-4628-99DB-61375F62AFD4}"/>
              </a:ext>
            </a:extLst>
          </p:cNvPr>
          <p:cNvSpPr/>
          <p:nvPr/>
        </p:nvSpPr>
        <p:spPr bwMode="auto">
          <a:xfrm>
            <a:off x="5044605" y="2329433"/>
            <a:ext cx="190475" cy="190475"/>
          </a:xfrm>
          <a:prstGeom prst="ellipse">
            <a:avLst/>
          </a:prstGeom>
          <a:solidFill>
            <a:schemeClr val="bg1"/>
          </a:solidFill>
          <a:ln w="9525">
            <a:solidFill>
              <a:srgbClr val="002060"/>
            </a:solidFill>
            <a:prstDash val="sysDash"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endParaRPr kumimoji="0" lang="ko-KR" altLang="en-US" sz="762" i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49">
            <a:extLst>
              <a:ext uri="{FF2B5EF4-FFF2-40B4-BE49-F238E27FC236}">
                <a16:creationId xmlns:a16="http://schemas.microsoft.com/office/drawing/2014/main" id="{5160A4E8-F0FC-43F4-BBF1-4B9896CE6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271" y="2108829"/>
            <a:ext cx="593432" cy="20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수주심의회</a:t>
            </a:r>
            <a:endParaRPr kumimoji="0" lang="ko-KR" altLang="en-US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Box 49">
            <a:extLst>
              <a:ext uri="{FF2B5EF4-FFF2-40B4-BE49-F238E27FC236}">
                <a16:creationId xmlns:a16="http://schemas.microsoft.com/office/drawing/2014/main" id="{E80919FC-865B-46C5-AB4D-91196EA8C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96" y="2108829"/>
            <a:ext cx="675186" cy="20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입찰참여품의</a:t>
            </a:r>
            <a:endParaRPr kumimoji="0" lang="en-US" altLang="ko-KR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DB2541E-75CE-445A-ACF8-2D7F8ED18BB5}"/>
              </a:ext>
            </a:extLst>
          </p:cNvPr>
          <p:cNvSpPr/>
          <p:nvPr/>
        </p:nvSpPr>
        <p:spPr bwMode="auto">
          <a:xfrm>
            <a:off x="4400050" y="2329433"/>
            <a:ext cx="190475" cy="190475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r>
              <a:rPr kumimoji="0" lang="ko-KR" altLang="en-US" sz="76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53A98463-3675-4092-9A64-6BB5B1CF5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708" y="2041780"/>
            <a:ext cx="614271" cy="31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입찰참여 </a:t>
            </a:r>
            <a:r>
              <a:rPr kumimoji="0" lang="en-US" altLang="ko-KR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</a:p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제안서 제출</a:t>
            </a:r>
            <a:endParaRPr kumimoji="0" lang="en-US" altLang="ko-KR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TextBox 49">
            <a:extLst>
              <a:ext uri="{FF2B5EF4-FFF2-40B4-BE49-F238E27FC236}">
                <a16:creationId xmlns:a16="http://schemas.microsoft.com/office/drawing/2014/main" id="{6FA3B40E-EDB6-4621-8823-CD0FC30BC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2517" y="2691371"/>
            <a:ext cx="1271063" cy="399518"/>
          </a:xfrm>
          <a:prstGeom prst="wedgeRectCallout">
            <a:avLst>
              <a:gd name="adj1" fmla="val -5868"/>
              <a:gd name="adj2" fmla="val -81176"/>
            </a:avLst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wrap="non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695" indent="-118695" eaLnBrk="0" latin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입찰 참가 여부 검토 </a:t>
            </a:r>
            <a:r>
              <a:rPr kumimoji="0" lang="en-US" altLang="ko-KR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결정</a:t>
            </a:r>
            <a:endParaRPr kumimoji="0" lang="en-US" altLang="ko-KR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latinLnBrk="0" hangingPunct="0">
              <a:lnSpc>
                <a:spcPct val="150000"/>
              </a:lnSpc>
            </a:pPr>
            <a:r>
              <a:rPr kumimoji="0" lang="en-US" altLang="ko-KR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kumimoji="0" lang="ko-KR" altLang="en-US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 최종 의사결정</a:t>
            </a:r>
            <a:endParaRPr kumimoji="0" lang="en-US" altLang="ko-KR" sz="727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Box 49">
            <a:extLst>
              <a:ext uri="{FF2B5EF4-FFF2-40B4-BE49-F238E27FC236}">
                <a16:creationId xmlns:a16="http://schemas.microsoft.com/office/drawing/2014/main" id="{50535B04-3999-4E22-A048-35FC031BD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46" y="3676476"/>
            <a:ext cx="683466" cy="7631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시기</a:t>
            </a:r>
            <a:r>
              <a:rPr kumimoji="0" lang="en-US" altLang="ko-KR" sz="727" baseline="30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*1)</a:t>
            </a:r>
          </a:p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ko-KR" sz="658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658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운영방식</a:t>
            </a:r>
            <a:r>
              <a:rPr kumimoji="0" lang="en-US" altLang="ko-KR" sz="658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ko-KR" altLang="en-US" sz="658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TextBox 49">
            <a:extLst>
              <a:ext uri="{FF2B5EF4-FFF2-40B4-BE49-F238E27FC236}">
                <a16:creationId xmlns:a16="http://schemas.microsoft.com/office/drawing/2014/main" id="{2A71C958-15B1-4498-8E4A-6C768D49D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82" y="4582778"/>
            <a:ext cx="683466" cy="11673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체크</a:t>
            </a:r>
            <a:endParaRPr kumimoji="0" lang="en-US" altLang="ko-KR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포인트</a:t>
            </a:r>
            <a:endParaRPr kumimoji="0" lang="en-US" altLang="ko-KR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ko-KR" sz="658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658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논의사항</a:t>
            </a:r>
            <a:r>
              <a:rPr kumimoji="0" lang="en-US" altLang="ko-KR" sz="658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ko-KR" altLang="en-US" sz="658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A60381C-8E4C-49E8-A2B1-608B7B32503A}"/>
              </a:ext>
            </a:extLst>
          </p:cNvPr>
          <p:cNvSpPr/>
          <p:nvPr/>
        </p:nvSpPr>
        <p:spPr bwMode="auto">
          <a:xfrm>
            <a:off x="1661673" y="2329433"/>
            <a:ext cx="190475" cy="190475"/>
          </a:xfrm>
          <a:prstGeom prst="ellipse">
            <a:avLst/>
          </a:prstGeom>
          <a:solidFill>
            <a:schemeClr val="bg1"/>
          </a:solidFill>
          <a:ln w="9525">
            <a:solidFill>
              <a:srgbClr val="002060"/>
            </a:solidFill>
            <a:prstDash val="sysDash"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endParaRPr kumimoji="0" lang="ko-KR" altLang="en-US" sz="762" i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TextBox 49">
            <a:extLst>
              <a:ext uri="{FF2B5EF4-FFF2-40B4-BE49-F238E27FC236}">
                <a16:creationId xmlns:a16="http://schemas.microsoft.com/office/drawing/2014/main" id="{4445099F-8021-4270-954A-23EB98026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734" y="2108829"/>
            <a:ext cx="511679" cy="20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입찰공고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53FD7F5-2539-4B7C-AC4B-689DEEDF0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722882"/>
              </p:ext>
            </p:extLst>
          </p:nvPr>
        </p:nvGraphicFramePr>
        <p:xfrm>
          <a:off x="1171286" y="3277320"/>
          <a:ext cx="5373446" cy="25905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6425">
                  <a:extLst>
                    <a:ext uri="{9D8B030D-6E8A-4147-A177-3AD203B41FA5}">
                      <a16:colId xmlns:a16="http://schemas.microsoft.com/office/drawing/2014/main" val="2017561936"/>
                    </a:ext>
                  </a:extLst>
                </a:gridCol>
                <a:gridCol w="1711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7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 수주실무협의회 </a:t>
                      </a:r>
                    </a:p>
                  </a:txBody>
                  <a:tcPr marL="63305" marR="63305" marT="31652" marB="316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 </a:t>
                      </a:r>
                      <a:r>
                        <a:rPr lang="ko-KR" altLang="en-US" sz="800" b="1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수주심의회</a:t>
                      </a:r>
                      <a:endParaRPr lang="ko-KR" altLang="en-US" sz="8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 입찰참여품의</a:t>
                      </a:r>
                    </a:p>
                  </a:txBody>
                  <a:tcPr marL="63305" marR="63305" marT="31652" marB="3165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•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수시 운영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63305" marR="63305" marT="24923" marB="2492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•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정기 회의체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수시 운영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63305" marR="63305" marT="24923" marB="24923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•</a:t>
                      </a:r>
                      <a:r>
                        <a:rPr lang="en-US" altLang="ko-KR" sz="8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제안서 제출</a:t>
                      </a:r>
                      <a:r>
                        <a:rPr lang="ko-KR" altLang="en-US" sz="8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이전</a:t>
                      </a:r>
                      <a:endParaRPr lang="en-US" altLang="ko-KR" sz="8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7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63305" marR="63305" marT="31652" marB="3165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303"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8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210803"/>
                  </a:ext>
                </a:extLst>
              </a:tr>
              <a:tr h="13032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• 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제안 내용 적합성 검토</a:t>
                      </a:r>
                      <a:r>
                        <a:rPr lang="en-US" altLang="ko-KR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체크리스트 활용</a:t>
                      </a:r>
                      <a:r>
                        <a:rPr lang="en-US" altLang="ko-KR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</a:t>
                      </a:r>
                      <a:r>
                        <a:rPr lang="en-US" altLang="ko-KR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법적 요건의 충족 여부</a:t>
                      </a:r>
                      <a:r>
                        <a:rPr lang="en-US" altLang="ko-KR" sz="6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6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면허</a:t>
                      </a:r>
                      <a:r>
                        <a:rPr lang="en-US" altLang="ko-KR" sz="6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6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보험</a:t>
                      </a:r>
                      <a:r>
                        <a:rPr lang="en-US" altLang="ko-KR" sz="6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6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인허가 등</a:t>
                      </a:r>
                      <a:r>
                        <a:rPr lang="en-US" altLang="ko-KR" sz="6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kumimoji="0" lang="ko-KR" altLang="en-US" sz="8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인력 투입 규모 및 적정성</a:t>
                      </a:r>
                      <a:r>
                        <a:rPr kumimoji="0" lang="en-US" altLang="ko-KR" sz="6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0" lang="ko-KR" altLang="en-US" sz="6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법정 선임</a:t>
                      </a:r>
                      <a:r>
                        <a:rPr kumimoji="0" lang="en-US" altLang="ko-KR" sz="6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kumimoji="0" lang="ko-KR" altLang="en-US" sz="6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노무</a:t>
                      </a:r>
                      <a:r>
                        <a:rPr kumimoji="0" lang="ko-KR" altLang="en-US" sz="60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en-US" altLang="ko-KR" sz="60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Risk</a:t>
                      </a:r>
                      <a:r>
                        <a:rPr kumimoji="0" lang="en-US" altLang="ko-KR" sz="6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kumimoji="0" lang="ko-KR" altLang="en-US" sz="8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kumimoji="0" lang="en-US" altLang="ko-KR" sz="80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 안정성 및 수익성 검토</a:t>
                      </a:r>
                      <a:r>
                        <a:rPr lang="en-US" altLang="ko-KR" sz="6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6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신용등급 등</a:t>
                      </a:r>
                      <a:r>
                        <a:rPr lang="en-US" altLang="ko-KR" sz="6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입찰 예가 및 원가의 적정성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계약상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Risk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경감 방안 반영 여부 점검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※ </a:t>
                      </a:r>
                      <a:r>
                        <a:rPr kumimoji="0"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안전점검</a:t>
                      </a:r>
                      <a:r>
                        <a:rPr kumimoji="0"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kumimoji="0"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보험가입</a:t>
                      </a:r>
                      <a:r>
                        <a:rPr kumimoji="0"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kumimoji="0" lang="ko-KR" altLang="en-US" sz="8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책임범위</a:t>
                      </a:r>
                      <a:r>
                        <a:rPr kumimoji="0"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등 예상 이슈 점검</a:t>
                      </a:r>
                      <a:endParaRPr kumimoji="0"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• </a:t>
                      </a:r>
                      <a:r>
                        <a:rPr lang="ko-KR" altLang="en-US" sz="800" b="1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수주심의회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실시여부 결정</a:t>
                      </a:r>
                      <a:endParaRPr lang="en-US" altLang="ko-KR" sz="8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적법성 </a:t>
                      </a:r>
                      <a:r>
                        <a:rPr lang="en-US" altLang="ko-KR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안전성 </a:t>
                      </a:r>
                      <a:r>
                        <a:rPr lang="en-US" altLang="ko-KR" sz="6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en-US" altLang="ko-KR" sz="6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6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수익성 리스크 </a:t>
                      </a:r>
                      <a:r>
                        <a:rPr lang="ko-KR" altLang="en-US" sz="600" b="0" baseline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존재시</a:t>
                      </a:r>
                      <a:r>
                        <a:rPr lang="en-US" altLang="ko-KR" sz="6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kumimoji="0" lang="ko-KR" altLang="en-US" sz="6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kumimoji="0" lang="en-US" altLang="ko-KR" sz="6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63305" marR="63305" marT="31652" marB="31652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•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최종 의사 결정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kumimoji="0" lang="en-US" altLang="ko-KR" sz="8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실무 협의회 미해결 의제 중심 논의</a:t>
                      </a:r>
                      <a:endParaRPr kumimoji="0"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kumimoji="0" lang="ko-KR" altLang="en-US" sz="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입찰 참가 여부 및 입찰금액 최종 결정</a:t>
                      </a:r>
                      <a:endParaRPr kumimoji="0" lang="en-US" altLang="ko-KR" sz="8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63305" marR="63305" marT="31652" marB="3165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• 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제안 내용 최종 합의 </a:t>
                      </a:r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승인</a:t>
                      </a:r>
                      <a:endParaRPr lang="en-US" altLang="ko-KR" sz="8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</a:t>
                      </a:r>
                      <a:r>
                        <a:rPr lang="en-US" altLang="ko-KR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영업 </a:t>
                      </a:r>
                      <a:r>
                        <a:rPr lang="en-US" altLang="ko-KR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조직間 합의</a:t>
                      </a:r>
                      <a:endParaRPr lang="en-US" altLang="ko-KR" sz="8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kumimoji="0" lang="ko-KR" altLang="en-US" sz="80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제안 내용 최종 검토 및 승인</a:t>
                      </a:r>
                      <a:r>
                        <a:rPr kumimoji="0" lang="ko-KR" altLang="en-US" sz="80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kumimoji="0" lang="en-US" altLang="ko-KR" sz="80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8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제안 내용 관련 조직 공유 </a:t>
                      </a:r>
                      <a:endParaRPr kumimoji="0"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kumimoji="0" lang="en-US" altLang="ko-KR" sz="8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63305" marR="63305" marT="31652" marB="3165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TextBox 49">
            <a:extLst>
              <a:ext uri="{FF2B5EF4-FFF2-40B4-BE49-F238E27FC236}">
                <a16:creationId xmlns:a16="http://schemas.microsoft.com/office/drawing/2014/main" id="{0D5632CD-D651-4197-9367-9111C82D7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051" y="2691371"/>
            <a:ext cx="1303433" cy="399518"/>
          </a:xfrm>
          <a:prstGeom prst="wedgeRectCallout">
            <a:avLst>
              <a:gd name="adj1" fmla="val -37515"/>
              <a:gd name="adj2" fmla="val -90621"/>
            </a:avLst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wrap="non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695" indent="-118695" eaLnBrk="0" latin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제안 내용 최종 확정</a:t>
            </a:r>
            <a:endParaRPr kumimoji="0" lang="en-US" altLang="ko-KR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18695" indent="-118695" eaLnBrk="0" latin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 時 운영 조직 최종 확정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55C4A30-A940-47D1-9303-33AE571D3350}"/>
              </a:ext>
            </a:extLst>
          </p:cNvPr>
          <p:cNvSpPr/>
          <p:nvPr/>
        </p:nvSpPr>
        <p:spPr bwMode="auto">
          <a:xfrm>
            <a:off x="2445447" y="2329433"/>
            <a:ext cx="190475" cy="190475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33039" eaLnBrk="0" latinLnBrk="0" hangingPunct="0"/>
            <a:r>
              <a:rPr kumimoji="0" lang="ko-KR" altLang="en-US" sz="76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39" name="TextBox 49">
            <a:extLst>
              <a:ext uri="{FF2B5EF4-FFF2-40B4-BE49-F238E27FC236}">
                <a16:creationId xmlns:a16="http://schemas.microsoft.com/office/drawing/2014/main" id="{FD52AD81-9A9E-46CE-9027-B84CF1D08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479" y="2108829"/>
            <a:ext cx="756938" cy="20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수주실무협의회</a:t>
            </a:r>
          </a:p>
        </p:txBody>
      </p:sp>
      <p:sp>
        <p:nvSpPr>
          <p:cNvPr id="40" name="TextBox 49">
            <a:extLst>
              <a:ext uri="{FF2B5EF4-FFF2-40B4-BE49-F238E27FC236}">
                <a16:creationId xmlns:a16="http://schemas.microsoft.com/office/drawing/2014/main" id="{9AB57A61-D4BB-4553-9BFF-17CC232DC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105" y="2691371"/>
            <a:ext cx="1271063" cy="399517"/>
          </a:xfrm>
          <a:prstGeom prst="wedgeRectCallout">
            <a:avLst>
              <a:gd name="adj1" fmla="val 29208"/>
              <a:gd name="adj2" fmla="val -79153"/>
            </a:avLst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wrap="non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695" indent="-118695" eaLnBrk="0" latin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ko-KR" altLang="en-US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제안 내용 적합성 검토</a:t>
            </a:r>
            <a:endParaRPr kumimoji="0" lang="en-US" altLang="ko-KR" sz="727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kumimoji="0" lang="ko-KR" altLang="en-US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법적</a:t>
            </a:r>
            <a:r>
              <a:rPr kumimoji="0" lang="en-US" altLang="ko-KR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인력</a:t>
            </a:r>
            <a:r>
              <a:rPr kumimoji="0" lang="en-US" altLang="ko-KR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수익</a:t>
            </a:r>
            <a:r>
              <a:rPr kumimoji="0" lang="en-US" altLang="ko-KR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원가 등</a:t>
            </a:r>
            <a:endParaRPr kumimoji="0" lang="en-US" altLang="ko-KR" sz="727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latinLnBrk="0" hangingPunct="0"/>
            <a:r>
              <a:rPr kumimoji="0" lang="en-US" altLang="ko-KR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※ </a:t>
            </a:r>
            <a:r>
              <a:rPr kumimoji="0" lang="ko-KR" altLang="en-US" sz="727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수주심의</a:t>
            </a:r>
            <a:r>
              <a:rPr kumimoji="0" lang="ko-KR" altLang="en-US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727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진행여부</a:t>
            </a:r>
            <a:r>
              <a:rPr kumimoji="0" lang="ko-KR" altLang="en-US" sz="727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결정</a:t>
            </a:r>
            <a:r>
              <a:rPr kumimoji="0" lang="en-US" altLang="ko-KR" sz="727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0" lang="en-US" altLang="ko-KR" sz="727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오각형 49">
            <a:extLst>
              <a:ext uri="{FF2B5EF4-FFF2-40B4-BE49-F238E27FC236}">
                <a16:creationId xmlns:a16="http://schemas.microsoft.com/office/drawing/2014/main" id="{1D8C0AD6-86AC-4F72-83AF-B7AE3A32783C}"/>
              </a:ext>
            </a:extLst>
          </p:cNvPr>
          <p:cNvSpPr/>
          <p:nvPr/>
        </p:nvSpPr>
        <p:spPr>
          <a:xfrm>
            <a:off x="1218823" y="4021069"/>
            <a:ext cx="658236" cy="300007"/>
          </a:xfrm>
          <a:prstGeom prst="homePlate">
            <a:avLst>
              <a:gd name="adj" fmla="val 2248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69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95DF23BE-F210-4B42-9323-764060878138}"/>
              </a:ext>
            </a:extLst>
          </p:cNvPr>
          <p:cNvSpPr txBox="1"/>
          <p:nvPr/>
        </p:nvSpPr>
        <p:spPr>
          <a:xfrm>
            <a:off x="1084041" y="4027031"/>
            <a:ext cx="914005" cy="30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체크리스트</a:t>
            </a:r>
            <a:r>
              <a:rPr kumimoji="0" lang="en-US" altLang="ko-KR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</a:t>
            </a:r>
            <a:endParaRPr kumimoji="0" lang="en-US" altLang="ko-KR" sz="62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554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554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영업부서</a:t>
            </a:r>
            <a:r>
              <a:rPr kumimoji="0" lang="en-US" altLang="ko-KR" sz="554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DE64F4C-B8AC-4E47-A420-91F2CAB51553}"/>
              </a:ext>
            </a:extLst>
          </p:cNvPr>
          <p:cNvSpPr/>
          <p:nvPr/>
        </p:nvSpPr>
        <p:spPr>
          <a:xfrm>
            <a:off x="1133420" y="5801954"/>
            <a:ext cx="1758815" cy="2341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*1) </a:t>
            </a:r>
            <a:r>
              <a:rPr kumimoji="0" lang="ko-KR" altLang="en-US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시기는 입찰 일정에 따라</a:t>
            </a:r>
            <a:r>
              <a:rPr kumimoji="0" lang="en-US" altLang="ko-KR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조정 가능함</a:t>
            </a:r>
          </a:p>
        </p:txBody>
      </p:sp>
      <p:sp>
        <p:nvSpPr>
          <p:cNvPr id="44" name="오각형 63">
            <a:extLst>
              <a:ext uri="{FF2B5EF4-FFF2-40B4-BE49-F238E27FC236}">
                <a16:creationId xmlns:a16="http://schemas.microsoft.com/office/drawing/2014/main" id="{3E6AA653-45ED-4380-B06C-18CE70F34B5A}"/>
              </a:ext>
            </a:extLst>
          </p:cNvPr>
          <p:cNvSpPr/>
          <p:nvPr/>
        </p:nvSpPr>
        <p:spPr>
          <a:xfrm>
            <a:off x="1937520" y="4021069"/>
            <a:ext cx="658236" cy="300007"/>
          </a:xfrm>
          <a:prstGeom prst="homePlate">
            <a:avLst>
              <a:gd name="adj" fmla="val 2248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69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FFCD92BB-89B2-4A95-93C9-879D4B862596}"/>
              </a:ext>
            </a:extLst>
          </p:cNvPr>
          <p:cNvSpPr txBox="1"/>
          <p:nvPr/>
        </p:nvSpPr>
        <p:spPr>
          <a:xfrm>
            <a:off x="1802738" y="4027031"/>
            <a:ext cx="914005" cy="30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623" b="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작성내용</a:t>
            </a:r>
            <a:r>
              <a:rPr kumimoji="0" lang="ko-KR" altLang="en-US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점검</a:t>
            </a:r>
            <a:br>
              <a:rPr kumimoji="0" lang="en-US" altLang="ko-KR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554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554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담당부서</a:t>
            </a:r>
            <a:r>
              <a:rPr kumimoji="0" lang="en-US" altLang="ko-KR" sz="554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46" name="오각형 67">
            <a:extLst>
              <a:ext uri="{FF2B5EF4-FFF2-40B4-BE49-F238E27FC236}">
                <a16:creationId xmlns:a16="http://schemas.microsoft.com/office/drawing/2014/main" id="{FB97126C-3C54-43D0-8FCF-63A250C86ABC}"/>
              </a:ext>
            </a:extLst>
          </p:cNvPr>
          <p:cNvSpPr/>
          <p:nvPr/>
        </p:nvSpPr>
        <p:spPr>
          <a:xfrm>
            <a:off x="2655805" y="4021069"/>
            <a:ext cx="658236" cy="300007"/>
          </a:xfrm>
          <a:prstGeom prst="homePlate">
            <a:avLst>
              <a:gd name="adj" fmla="val 2248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69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TextBox 9">
            <a:extLst>
              <a:ext uri="{FF2B5EF4-FFF2-40B4-BE49-F238E27FC236}">
                <a16:creationId xmlns:a16="http://schemas.microsoft.com/office/drawing/2014/main" id="{185FA0CD-08DF-42BF-8E5D-DC7E6A1A63FC}"/>
              </a:ext>
            </a:extLst>
          </p:cNvPr>
          <p:cNvSpPr txBox="1"/>
          <p:nvPr/>
        </p:nvSpPr>
        <p:spPr>
          <a:xfrm>
            <a:off x="2514995" y="4027031"/>
            <a:ext cx="914005" cy="313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수주실무협의회</a:t>
            </a:r>
            <a:endParaRPr kumimoji="0" lang="en-US" altLang="ko-KR" sz="62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</a:t>
            </a:r>
            <a:endParaRPr kumimoji="0" lang="en-US" altLang="ko-KR" sz="623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90B307C-FC6B-4851-AEC1-5A95B6CF375B}"/>
              </a:ext>
            </a:extLst>
          </p:cNvPr>
          <p:cNvCxnSpPr/>
          <p:nvPr/>
        </p:nvCxnSpPr>
        <p:spPr bwMode="auto">
          <a:xfrm>
            <a:off x="3340308" y="4021069"/>
            <a:ext cx="0" cy="300007"/>
          </a:xfrm>
          <a:prstGeom prst="line">
            <a:avLst/>
          </a:prstGeom>
          <a:gradFill rotWithShape="0">
            <a:gsLst>
              <a:gs pos="0">
                <a:srgbClr val="0033CC">
                  <a:gamma/>
                  <a:tint val="0"/>
                  <a:invGamma/>
                </a:srgbClr>
              </a:gs>
              <a:gs pos="100000">
                <a:srgbClr val="0033CC"/>
              </a:gs>
            </a:gsLst>
            <a:path path="rect">
              <a:fillToRect l="50000" t="50000" r="50000" b="50000"/>
            </a:path>
          </a:gradFill>
          <a:ln w="63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오각형 74">
            <a:extLst>
              <a:ext uri="{FF2B5EF4-FFF2-40B4-BE49-F238E27FC236}">
                <a16:creationId xmlns:a16="http://schemas.microsoft.com/office/drawing/2014/main" id="{857033F4-3C6E-4953-923B-97A9D42D914C}"/>
              </a:ext>
            </a:extLst>
          </p:cNvPr>
          <p:cNvSpPr/>
          <p:nvPr/>
        </p:nvSpPr>
        <p:spPr>
          <a:xfrm>
            <a:off x="3409313" y="4021069"/>
            <a:ext cx="658236" cy="300007"/>
          </a:xfrm>
          <a:prstGeom prst="homePlate">
            <a:avLst>
              <a:gd name="adj" fmla="val 22486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69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66267815-A9FA-4186-884A-695072233601}"/>
              </a:ext>
            </a:extLst>
          </p:cNvPr>
          <p:cNvSpPr txBox="1"/>
          <p:nvPr/>
        </p:nvSpPr>
        <p:spPr>
          <a:xfrm>
            <a:off x="3262770" y="4031249"/>
            <a:ext cx="914005" cy="313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623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623" dirty="0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수주심의회</a:t>
            </a:r>
            <a:endParaRPr kumimoji="0" lang="en-US" altLang="ko-KR" sz="623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623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</a:t>
            </a:r>
            <a:endParaRPr kumimoji="0" lang="en-US" altLang="ko-KR" sz="623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이등변 삼각형 50">
            <a:extLst>
              <a:ext uri="{FF2B5EF4-FFF2-40B4-BE49-F238E27FC236}">
                <a16:creationId xmlns:a16="http://schemas.microsoft.com/office/drawing/2014/main" id="{79FDA379-3016-496D-86C9-B951696CB3E6}"/>
              </a:ext>
            </a:extLst>
          </p:cNvPr>
          <p:cNvSpPr/>
          <p:nvPr/>
        </p:nvSpPr>
        <p:spPr bwMode="auto">
          <a:xfrm rot="10800000">
            <a:off x="1068374" y="2304160"/>
            <a:ext cx="107551" cy="87586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633039" eaLnBrk="0" latinLnBrk="0" hangingPunct="0"/>
            <a:endParaRPr kumimoji="0" lang="ko-KR" altLang="en-US" sz="762" i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F45C831-D67A-4578-88C8-0A449A3CE6CC}"/>
              </a:ext>
            </a:extLst>
          </p:cNvPr>
          <p:cNvSpPr/>
          <p:nvPr/>
        </p:nvSpPr>
        <p:spPr bwMode="auto">
          <a:xfrm>
            <a:off x="883650" y="1854562"/>
            <a:ext cx="919088" cy="205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33039" eaLnBrk="0" latinLnBrk="0" hangingPunct="0"/>
            <a:r>
              <a:rPr kumimoji="0" lang="ko-KR" altLang="en-US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구매팀 </a:t>
            </a:r>
            <a:r>
              <a:rPr kumimoji="0" lang="ko-KR" altLang="en-US" sz="692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표준단가</a:t>
            </a:r>
            <a:r>
              <a:rPr kumimoji="0" lang="ko-KR" altLang="en-US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요청</a:t>
            </a:r>
          </a:p>
        </p:txBody>
      </p:sp>
      <p:cxnSp>
        <p:nvCxnSpPr>
          <p:cNvPr id="53" name="꺾인 연결선 13">
            <a:extLst>
              <a:ext uri="{FF2B5EF4-FFF2-40B4-BE49-F238E27FC236}">
                <a16:creationId xmlns:a16="http://schemas.microsoft.com/office/drawing/2014/main" id="{FBC2AED4-56B6-4EF5-A3D9-E15845F095DF}"/>
              </a:ext>
            </a:extLst>
          </p:cNvPr>
          <p:cNvCxnSpPr>
            <a:stCxn id="51" idx="3"/>
            <a:endCxn id="52" idx="2"/>
          </p:cNvCxnSpPr>
          <p:nvPr/>
        </p:nvCxnSpPr>
        <p:spPr bwMode="auto">
          <a:xfrm rot="5400000" flipH="1" flipV="1">
            <a:off x="1110537" y="2071502"/>
            <a:ext cx="244272" cy="221044"/>
          </a:xfrm>
          <a:prstGeom prst="bentConnector3">
            <a:avLst/>
          </a:prstGeom>
          <a:gradFill rotWithShape="0">
            <a:gsLst>
              <a:gs pos="0">
                <a:srgbClr val="0033CC">
                  <a:gamma/>
                  <a:tint val="0"/>
                  <a:invGamma/>
                </a:srgbClr>
              </a:gs>
              <a:gs pos="100000">
                <a:srgbClr val="0033CC"/>
              </a:gs>
            </a:gsLst>
            <a:path path="rect">
              <a:fillToRect l="50000" t="50000" r="50000" b="5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9">
            <a:extLst>
              <a:ext uri="{FF2B5EF4-FFF2-40B4-BE49-F238E27FC236}">
                <a16:creationId xmlns:a16="http://schemas.microsoft.com/office/drawing/2014/main" id="{A7F918C3-2D38-4E1C-8193-103DDE0E7CE5}"/>
              </a:ext>
            </a:extLst>
          </p:cNvPr>
          <p:cNvSpPr txBox="1"/>
          <p:nvPr/>
        </p:nvSpPr>
        <p:spPr>
          <a:xfrm>
            <a:off x="3408900" y="4284492"/>
            <a:ext cx="600645" cy="196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23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D-3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1F81A62-52CD-4B16-B0C6-DFC3361F9BB3}"/>
              </a:ext>
            </a:extLst>
          </p:cNvPr>
          <p:cNvSpPr/>
          <p:nvPr/>
        </p:nvSpPr>
        <p:spPr bwMode="auto">
          <a:xfrm>
            <a:off x="2868169" y="1928436"/>
            <a:ext cx="1373078" cy="12038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633039" eaLnBrk="0" latinLnBrk="0" hangingPunct="0"/>
            <a:endParaRPr kumimoji="0" lang="ko-KR" altLang="en-US" sz="762" i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EC012ED-1F10-4B76-A369-FD7AA1D777D5}"/>
              </a:ext>
            </a:extLst>
          </p:cNvPr>
          <p:cNvSpPr/>
          <p:nvPr/>
        </p:nvSpPr>
        <p:spPr bwMode="auto">
          <a:xfrm>
            <a:off x="3095164" y="1798748"/>
            <a:ext cx="919088" cy="2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33039" eaLnBrk="0" latinLnBrk="0" hangingPunct="0"/>
            <a:r>
              <a:rPr kumimoji="0" lang="ko-KR" altLang="en-US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적법성 </a:t>
            </a:r>
            <a:r>
              <a:rPr kumimoji="0" lang="en-US" altLang="ko-KR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0" lang="ko-KR" altLang="en-US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안전성 </a:t>
            </a:r>
            <a:r>
              <a:rPr kumimoji="0" lang="en-US" altLang="ko-KR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0" lang="ko-KR" altLang="en-US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수익성</a:t>
            </a:r>
            <a:endParaRPr kumimoji="0" lang="en-US" altLang="ko-KR" sz="692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633039" eaLnBrk="0" latinLnBrk="0" hangingPunct="0"/>
            <a:r>
              <a:rPr kumimoji="0" lang="ko-KR" altLang="en-US" sz="692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 발생시 진행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DFE8866-A026-4630-9C53-401C398DA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942950"/>
              </p:ext>
            </p:extLst>
          </p:nvPr>
        </p:nvGraphicFramePr>
        <p:xfrm>
          <a:off x="1279146" y="7041724"/>
          <a:ext cx="5178804" cy="1627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47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66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프로세스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51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체크리스트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작성</a:t>
                      </a:r>
                      <a:endParaRPr lang="ko-KR" altLang="en-US" sz="6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수주실무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협의회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수주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심의회</a:t>
                      </a:r>
                      <a:endParaRPr lang="ko-KR" altLang="en-US" sz="6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입찰품의</a:t>
                      </a:r>
                      <a:endParaRPr lang="ko-KR" altLang="en-US" sz="7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미만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△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선별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△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선별</a:t>
                      </a:r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△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선별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7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체크리스트 작성을 통해 자체 리스크 검토 </a:t>
                      </a:r>
                      <a:r>
                        <a:rPr lang="en-US" altLang="ko-KR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7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심의 여부 협의</a:t>
                      </a:r>
                      <a:r>
                        <a:rPr lang="en-US" altLang="ko-KR" sz="7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7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재무관리팀</a:t>
                      </a:r>
                      <a:r>
                        <a:rPr lang="en-US" altLang="ko-KR" sz="700" b="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7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ko-KR" altLang="en-US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단</a:t>
                      </a:r>
                      <a:r>
                        <a:rPr lang="en-US" altLang="ko-KR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이슈 발견 시 수주실무협의회 진행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이상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7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△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선별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△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선별</a:t>
                      </a:r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△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선별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ko-KR" altLang="en-US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의사 결정 불가</a:t>
                      </a:r>
                      <a:r>
                        <a:rPr lang="en-US" altLang="ko-KR" sz="7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7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</a:t>
                      </a:r>
                      <a:r>
                        <a:rPr lang="en-US" altLang="ko-KR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이슈 해결 방안 </a:t>
                      </a:r>
                      <a:r>
                        <a:rPr lang="ko-KR" altLang="en-US" sz="700" b="1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미수립</a:t>
                      </a:r>
                      <a:r>
                        <a:rPr lang="ko-KR" altLang="en-US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건 협의회 </a:t>
                      </a:r>
                      <a:r>
                        <a:rPr lang="en-US" altLang="ko-KR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7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심의 진행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700" b="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고위험</a:t>
                      </a:r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공사 미포함 시 </a:t>
                      </a:r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미만 건 준용</a:t>
                      </a:r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4091"/>
                  </a:ext>
                </a:extLst>
              </a:tr>
              <a:tr h="419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lang="ko-KR" altLang="en-US" sz="8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이상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7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7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△</a:t>
                      </a:r>
                      <a:endParaRPr lang="en-US" altLang="ko-KR" sz="8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선별</a:t>
                      </a:r>
                      <a:r>
                        <a:rPr lang="en-US" altLang="ko-KR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7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수주실무협의회를 통해 적법성 </a:t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안전성 </a:t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수익성 리스크</a:t>
                      </a:r>
                      <a:r>
                        <a:rPr lang="ko-KR" altLang="en-US" sz="700" b="1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700" b="1" kern="1200" baseline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존재시</a:t>
                      </a:r>
                      <a:r>
                        <a:rPr lang="en-US" altLang="ko-KR" sz="700" b="1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   </a:t>
                      </a:r>
                      <a:r>
                        <a:rPr lang="en-US" altLang="ko-KR" sz="700" b="1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en-US" altLang="ko-KR" sz="700" b="1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700" b="1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700" b="1" kern="12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수주심의회</a:t>
                      </a:r>
                      <a:r>
                        <a:rPr lang="ko-KR" altLang="en-US" sz="700" b="1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진행 </a:t>
                      </a:r>
                      <a:endParaRPr lang="en-US" altLang="ko-KR" sz="700" b="1" kern="120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extBox 49">
            <a:extLst>
              <a:ext uri="{FF2B5EF4-FFF2-40B4-BE49-F238E27FC236}">
                <a16:creationId xmlns:a16="http://schemas.microsoft.com/office/drawing/2014/main" id="{6F8992F3-BDBF-4EC9-A44D-C0E44ABE5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20" y="7020951"/>
            <a:ext cx="683178" cy="1841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anchor="ctr">
            <a:noAutofit/>
          </a:bodyPr>
          <a:lstStyle>
            <a:lvl1pPr algn="l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algn="l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0" latinLnBrk="0" hangingPunct="0">
              <a:spcBef>
                <a:spcPct val="0"/>
              </a:spcBef>
              <a:buFontTx/>
              <a:buNone/>
            </a:pPr>
            <a:r>
              <a:rPr kumimoji="0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유형별</a:t>
            </a:r>
            <a:endParaRPr kumimoji="0" lang="en-US" altLang="ko-KR" sz="83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ctr" eaLnBrk="0" latinLnBrk="0" hangingPunct="0">
              <a:spcBef>
                <a:spcPct val="0"/>
              </a:spcBef>
              <a:buFontTx/>
              <a:buNone/>
            </a:pPr>
            <a:r>
              <a:rPr kumimoji="0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운영 기준</a:t>
            </a:r>
            <a:endParaRPr kumimoji="0" lang="en-US" altLang="ko-KR" sz="83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Rectangle 18">
            <a:extLst>
              <a:ext uri="{FF2B5EF4-FFF2-40B4-BE49-F238E27FC236}">
                <a16:creationId xmlns:a16="http://schemas.microsoft.com/office/drawing/2014/main" id="{B7FBCE26-7BC0-4A03-B20B-4E803906C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82" y="6216891"/>
            <a:ext cx="2219081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lvl="0"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공사 수주심의회 기준 </a:t>
            </a:r>
            <a:endParaRPr kumimoji="1" lang="en-US" altLang="ko-KR" sz="12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49">
            <a:extLst>
              <a:ext uri="{FF2B5EF4-FFF2-40B4-BE49-F238E27FC236}">
                <a16:creationId xmlns:a16="http://schemas.microsoft.com/office/drawing/2014/main" id="{9B937AC9-687C-4ECD-BC33-1D34C3B79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7" y="6523315"/>
            <a:ext cx="683178" cy="44009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anchor="ctr">
            <a:noAutofit/>
          </a:bodyPr>
          <a:lstStyle>
            <a:lvl1pPr algn="l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algn="l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0" latinLnBrk="0" hangingPunct="0">
              <a:spcBef>
                <a:spcPct val="0"/>
              </a:spcBef>
              <a:buFontTx/>
              <a:buNone/>
            </a:pPr>
            <a:r>
              <a:rPr kumimoji="0" lang="ko-KR" altLang="en-US" sz="83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대상</a:t>
            </a:r>
            <a:endParaRPr kumimoji="0" lang="en-US" altLang="ko-KR" sz="83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71BC2E5-8A57-4E89-A28C-05F9C48A6C9C}"/>
              </a:ext>
            </a:extLst>
          </p:cNvPr>
          <p:cNvSpPr/>
          <p:nvPr/>
        </p:nvSpPr>
        <p:spPr>
          <a:xfrm>
            <a:off x="1133421" y="6510614"/>
            <a:ext cx="5470580" cy="486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6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외부 공사 영업 </a:t>
            </a:r>
            <a:r>
              <a:rPr kumimoji="0" lang="en-US" altLang="ko-KR" sz="76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 </a:t>
            </a:r>
            <a:r>
              <a:rPr kumimoji="0" lang="ko-KR" altLang="en-US" sz="76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제안 건</a:t>
            </a:r>
            <a:r>
              <a:rPr kumimoji="0" lang="en-US" altLang="ko-KR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692" b="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그룹공사</a:t>
            </a:r>
            <a:r>
              <a:rPr kumimoji="0" lang="en-US" altLang="ko-KR" sz="692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692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수의</a:t>
            </a:r>
            <a:r>
              <a:rPr kumimoji="0" lang="en-US" altLang="ko-KR" sz="692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r>
              <a:rPr kumimoji="0" lang="ko-KR" altLang="en-US" sz="692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는 안전관리협의회를 통해 진행여부를 판단하며</a:t>
            </a:r>
            <a:r>
              <a:rPr kumimoji="0" lang="en-US" altLang="ko-KR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69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공사총괄</a:t>
            </a:r>
            <a:r>
              <a:rPr kumimoji="0" lang="ko-KR" altLang="en-US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보전공사 및 운영센터 계약범위內 수선 공사는 제외</a:t>
            </a:r>
            <a:r>
              <a:rPr kumimoji="0" lang="en-US" altLang="ko-KR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0" lang="en-US" altLang="ko-KR" sz="692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 eaLnBrk="0" latinLnBrk="0" hangingPunct="0"/>
            <a:endParaRPr kumimoji="0" lang="en-US" altLang="ko-KR" sz="277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l" eaLnBrk="0" latinLnBrk="0" hangingPunct="0"/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※ </a:t>
            </a:r>
            <a:r>
              <a:rPr kumimoji="0" lang="ko-KR" altLang="en-US" sz="762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통신공사는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"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기존 서비스 제공 사업장에 대한 유지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보수 공사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"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심의 대상 제외</a:t>
            </a:r>
            <a:endParaRPr kumimoji="0" lang="en-US" altLang="ko-KR" sz="762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l" eaLnBrk="0" latinLnBrk="0" hangingPunct="0"/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-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제외 대상 공사 항목 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0" lang="ko-KR" altLang="en-US" sz="762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旣설치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인프라 유지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보수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노후 설비 교체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서비스</a:t>
            </a:r>
            <a:r>
              <a:rPr kumimoji="0" lang="en-US" altLang="ko-KR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692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신규기술</a:t>
            </a:r>
            <a:r>
              <a:rPr kumimoji="0" lang="ko-KR" altLang="en-US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등</a:t>
            </a:r>
            <a:r>
              <a:rPr kumimoji="0" lang="en-US" altLang="ko-KR" sz="69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개선 목적 납품 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교체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유저 단말 납품 </a:t>
            </a:r>
            <a:r>
              <a:rPr kumimoji="0" lang="en-US" altLang="ko-KR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 </a:t>
            </a:r>
            <a:r>
              <a:rPr kumimoji="0" lang="ko-KR" altLang="en-US" sz="762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이전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146615D-4A11-46A1-9EAD-820AB1B15C9F}"/>
              </a:ext>
            </a:extLst>
          </p:cNvPr>
          <p:cNvSpPr/>
          <p:nvPr/>
        </p:nvSpPr>
        <p:spPr>
          <a:xfrm>
            <a:off x="1218823" y="8659322"/>
            <a:ext cx="5044971" cy="2840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 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고위험 작업 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외벽 로프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623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달비계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), 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스카이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고소작업차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), 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비계조립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해체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기계식 주차설비 보수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추락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협착 발생위험 시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), 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산소용접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용단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절단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밀폐공간 작업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</a:p>
          <a:p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        1000V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이상 </a:t>
            </a:r>
            <a:r>
              <a:rPr lang="ko-KR" altLang="en-US" sz="623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수변전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설비 보수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623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승강로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또는 피트 작업이 있는 승강기 작업</a:t>
            </a:r>
            <a:r>
              <a:rPr lang="en-US" altLang="ko-KR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4M</a:t>
            </a:r>
            <a:r>
              <a:rPr lang="ko-KR" altLang="en-US" sz="623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이상 고소 작업</a:t>
            </a:r>
          </a:p>
        </p:txBody>
      </p:sp>
      <p:sp>
        <p:nvSpPr>
          <p:cNvPr id="58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64" name="Rectangle 19">
            <a:extLst>
              <a:ext uri="{FF2B5EF4-FFF2-40B4-BE49-F238E27FC236}">
                <a16:creationId xmlns:a16="http://schemas.microsoft.com/office/drawing/2014/main" id="{482362DB-E6E2-4DEC-940B-1FA1D1E45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86593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" y="145146"/>
            <a:ext cx="6413500" cy="880434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22250" y="1442134"/>
            <a:ext cx="6381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03200" y="548371"/>
            <a:ext cx="640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217488" y="994459"/>
            <a:ext cx="17713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98884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38700" y="5483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6175375" y="535671"/>
            <a:ext cx="0" cy="893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941168" y="711842"/>
            <a:ext cx="1055550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재무관리팀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455977" y="824596"/>
            <a:ext cx="1946046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ko-KR" altLang="en-US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수주심의회 운영 규정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466628" y="2008704"/>
            <a:ext cx="186012" cy="26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endParaRPr lang="ko-KR" altLang="en-US" sz="11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98504" y="1488047"/>
            <a:ext cx="5955526" cy="30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lvl="0" defTabSz="762000" eaLnBrk="0" fontAlgn="base" latinLnBrk="0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별첨</a:t>
            </a:r>
            <a:r>
              <a:rPr kumimoji="1"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2]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투자 </a:t>
            </a:r>
            <a:r>
              <a:rPr kumimoji="1" lang="ko-KR" altLang="en-US" sz="14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수반성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건물관리 수주심의회 프로세스 </a:t>
            </a:r>
            <a:endParaRPr kumimoji="1"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03200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6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7" name="오른쪽 화살표 70">
            <a:extLst>
              <a:ext uri="{FF2B5EF4-FFF2-40B4-BE49-F238E27FC236}">
                <a16:creationId xmlns:a16="http://schemas.microsoft.com/office/drawing/2014/main" id="{D51F59C9-AE4E-4216-ABA7-5816A347D9DE}"/>
              </a:ext>
            </a:extLst>
          </p:cNvPr>
          <p:cNvSpPr/>
          <p:nvPr/>
        </p:nvSpPr>
        <p:spPr bwMode="auto">
          <a:xfrm rot="5400000">
            <a:off x="-1394198" y="6356637"/>
            <a:ext cx="4211425" cy="23608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오른쪽 화살표 37">
            <a:extLst>
              <a:ext uri="{FF2B5EF4-FFF2-40B4-BE49-F238E27FC236}">
                <a16:creationId xmlns:a16="http://schemas.microsoft.com/office/drawing/2014/main" id="{F252D003-C036-4C32-BCE5-F2C2A8BA3555}"/>
              </a:ext>
            </a:extLst>
          </p:cNvPr>
          <p:cNvSpPr/>
          <p:nvPr/>
        </p:nvSpPr>
        <p:spPr bwMode="auto">
          <a:xfrm>
            <a:off x="806960" y="2560237"/>
            <a:ext cx="5543360" cy="33986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9A4AF0A-7737-4635-B658-75B0F5728E72}"/>
              </a:ext>
            </a:extLst>
          </p:cNvPr>
          <p:cNvSpPr/>
          <p:nvPr/>
        </p:nvSpPr>
        <p:spPr bwMode="auto">
          <a:xfrm>
            <a:off x="5106416" y="2584512"/>
            <a:ext cx="275130" cy="27513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kumimoji="0" lang="ko-KR" altLang="en-US" sz="1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0" name="TextBox 49">
            <a:extLst>
              <a:ext uri="{FF2B5EF4-FFF2-40B4-BE49-F238E27FC236}">
                <a16:creationId xmlns:a16="http://schemas.microsoft.com/office/drawing/2014/main" id="{96F8FE40-918D-409D-A0E6-2F1CB8AFB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3781" y="2297430"/>
            <a:ext cx="68961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투자심의회</a:t>
            </a:r>
          </a:p>
        </p:txBody>
      </p:sp>
      <p:sp>
        <p:nvSpPr>
          <p:cNvPr id="61" name="TextBox 49">
            <a:extLst>
              <a:ext uri="{FF2B5EF4-FFF2-40B4-BE49-F238E27FC236}">
                <a16:creationId xmlns:a16="http://schemas.microsoft.com/office/drawing/2014/main" id="{FF174FDC-D4E2-4D5D-B17A-747872936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288" y="3107311"/>
            <a:ext cx="1227167" cy="577081"/>
          </a:xfrm>
          <a:prstGeom prst="wedgeRectCallout">
            <a:avLst>
              <a:gd name="adj1" fmla="val -4316"/>
              <a:gd name="adj2" fmla="val -8942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xtLst/>
        </p:spPr>
        <p:txBody>
          <a:bodyPr wrap="none" lIns="3600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미해결 사안 위주 의결</a:t>
            </a:r>
            <a:endParaRPr kumimoji="0" lang="en-US" altLang="ko-KR" sz="9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latinLnBrk="0" hangingPunct="0">
              <a:lnSpc>
                <a:spcPct val="150000"/>
              </a:lnSpc>
            </a:pPr>
            <a:r>
              <a:rPr kumimoji="0"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kumimoji="0"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 최종 의사결정</a:t>
            </a:r>
            <a:endParaRPr kumimoji="0" lang="en-US" altLang="ko-KR" sz="9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6C1E9279-90B7-4D40-9425-01655E2B287F}"/>
              </a:ext>
            </a:extLst>
          </p:cNvPr>
          <p:cNvSpPr/>
          <p:nvPr/>
        </p:nvSpPr>
        <p:spPr bwMode="auto">
          <a:xfrm>
            <a:off x="3405002" y="2584512"/>
            <a:ext cx="275130" cy="27513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kumimoji="0" lang="ko-KR" altLang="en-US" sz="1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3" name="TextBox 49">
            <a:extLst>
              <a:ext uri="{FF2B5EF4-FFF2-40B4-BE49-F238E27FC236}">
                <a16:creationId xmlns:a16="http://schemas.microsoft.com/office/drawing/2014/main" id="{A4BE1A2A-A5E1-4727-B1FB-0D64B7B41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25" y="2297430"/>
            <a:ext cx="89479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투자</a:t>
            </a:r>
            <a:r>
              <a:rPr kumimoji="0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실무협의회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035C75-3881-42D3-B8DD-74360C57B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388" y="3107312"/>
            <a:ext cx="1497052" cy="577080"/>
          </a:xfrm>
          <a:prstGeom prst="wedgeRectCallout">
            <a:avLst>
              <a:gd name="adj1" fmla="val -2213"/>
              <a:gd name="adj2" fmla="val -8831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xtLst/>
        </p:spPr>
        <p:txBody>
          <a:bodyPr wrap="none" lIns="3600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투자</a:t>
            </a:r>
            <a:r>
              <a:rPr kumimoji="0" lang="en-US" altLang="ko-KR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/ </a:t>
            </a:r>
            <a:r>
              <a:rPr kumimoji="0" lang="ko-KR" altLang="en-US" sz="9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적합성 검토</a:t>
            </a:r>
            <a:endParaRPr kumimoji="0" lang="en-US" altLang="ko-KR" sz="9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재무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법무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</a:t>
            </a:r>
            <a:r>
              <a:rPr kumimoji="0"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등 종합 검토</a:t>
            </a:r>
            <a:endParaRPr kumimoji="0" lang="en-US" altLang="ko-KR" sz="9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※ </a:t>
            </a:r>
            <a:r>
              <a:rPr kumimoji="0"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투자 </a:t>
            </a:r>
            <a:r>
              <a:rPr kumimoji="0" lang="ko-KR" altLang="en-US" sz="9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수주심의</a:t>
            </a:r>
            <a:r>
              <a:rPr kumimoji="0"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여부 결정</a:t>
            </a:r>
            <a:r>
              <a:rPr kumimoji="0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0" lang="en-US" altLang="ko-KR" sz="9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1D995542-F519-4AC3-A066-0EAA1DC4DBD6}"/>
              </a:ext>
            </a:extLst>
          </p:cNvPr>
          <p:cNvSpPr/>
          <p:nvPr/>
        </p:nvSpPr>
        <p:spPr bwMode="auto">
          <a:xfrm>
            <a:off x="806960" y="2584512"/>
            <a:ext cx="275130" cy="275130"/>
          </a:xfrm>
          <a:prstGeom prst="ellipse">
            <a:avLst/>
          </a:prstGeom>
          <a:solidFill>
            <a:schemeClr val="bg1"/>
          </a:solidFill>
          <a:ln w="31750">
            <a:solidFill>
              <a:srgbClr val="002060"/>
            </a:solidFill>
            <a:prstDash val="sysDash"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6" name="TextBox 49">
            <a:extLst>
              <a:ext uri="{FF2B5EF4-FFF2-40B4-BE49-F238E27FC236}">
                <a16:creationId xmlns:a16="http://schemas.microsoft.com/office/drawing/2014/main" id="{77B24CC2-3EE7-448A-93AA-70526E74A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687" y="2297430"/>
            <a:ext cx="6206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물건 발의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3C70257F-E1AA-42D1-BDAD-FEB033C70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085" y="2297430"/>
            <a:ext cx="61427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 검토</a:t>
            </a:r>
            <a:endParaRPr kumimoji="0" lang="ko-KR" altLang="en-US" sz="900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49">
            <a:extLst>
              <a:ext uri="{FF2B5EF4-FFF2-40B4-BE49-F238E27FC236}">
                <a16:creationId xmlns:a16="http://schemas.microsoft.com/office/drawing/2014/main" id="{66DA2CAF-422D-4421-9656-383C28480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80" y="3118906"/>
            <a:ext cx="1688120" cy="577080"/>
          </a:xfrm>
          <a:prstGeom prst="wedgeRectCallout">
            <a:avLst>
              <a:gd name="adj1" fmla="val 25465"/>
              <a:gd name="adj2" fmla="val -8674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  <a:extLst/>
        </p:spPr>
        <p:txBody>
          <a:bodyPr wrap="none" lIns="3600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eaLnBrk="0" latin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ko-KR" alt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경제성 </a:t>
            </a:r>
            <a:r>
              <a:rPr kumimoji="0" lang="en-US" altLang="ko-KR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법무 </a:t>
            </a:r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</a:t>
            </a:r>
            <a:r>
              <a:rPr kumimoji="0" lang="ko-KR" alt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 검토</a:t>
            </a:r>
            <a:endParaRPr kumimoji="0" lang="en-US" altLang="ko-KR" sz="900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latinLnBrk="0" hangingPunct="0"/>
            <a:r>
              <a:rPr kumimoji="0" lang="en-US" altLang="ko-KR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kumimoji="0" lang="ko-KR" altLang="en-US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수주체크리스트 </a:t>
            </a:r>
            <a:r>
              <a:rPr kumimoji="0" lang="en-US" altLang="ko-KR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kumimoji="0" lang="ko-KR" altLang="en-US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경제성</a:t>
            </a:r>
            <a:r>
              <a:rPr kumimoji="0" lang="en-US" altLang="ko-KR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법무</a:t>
            </a:r>
            <a:endParaRPr kumimoji="0" lang="en-US" altLang="ko-KR" sz="900" b="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eaLnBrk="0" latinLnBrk="0" hangingPunct="0"/>
            <a:r>
              <a:rPr kumimoji="0" lang="en-US" altLang="ko-KR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※ </a:t>
            </a:r>
            <a:r>
              <a:rPr kumimoji="0" lang="ko-KR" altLang="en-US" sz="900" b="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투자실무협의회 논의 자료 작성</a:t>
            </a:r>
            <a:endParaRPr kumimoji="0" lang="en-US" altLang="ko-KR" sz="900" b="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88A0CA0-C02D-4EC7-BB0F-721E09DEE829}"/>
              </a:ext>
            </a:extLst>
          </p:cNvPr>
          <p:cNvSpPr/>
          <p:nvPr/>
        </p:nvSpPr>
        <p:spPr bwMode="auto">
          <a:xfrm>
            <a:off x="4647240" y="2056493"/>
            <a:ext cx="1298497" cy="16876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7295674-E326-4DFE-B8D5-B4C849257F6C}"/>
              </a:ext>
            </a:extLst>
          </p:cNvPr>
          <p:cNvSpPr/>
          <p:nvPr/>
        </p:nvSpPr>
        <p:spPr bwMode="auto">
          <a:xfrm>
            <a:off x="4827678" y="1936412"/>
            <a:ext cx="938761" cy="2430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경영진 의사결정</a:t>
            </a:r>
            <a:endParaRPr kumimoji="0" lang="en-US" altLang="ko-KR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3" name="모서리가 둥근 직사각형 63">
            <a:extLst>
              <a:ext uri="{FF2B5EF4-FFF2-40B4-BE49-F238E27FC236}">
                <a16:creationId xmlns:a16="http://schemas.microsoft.com/office/drawing/2014/main" id="{E60C93F7-4AEB-4ECE-BBB7-0E76CD465BD3}"/>
              </a:ext>
            </a:extLst>
          </p:cNvPr>
          <p:cNvSpPr/>
          <p:nvPr/>
        </p:nvSpPr>
        <p:spPr>
          <a:xfrm>
            <a:off x="509568" y="4088170"/>
            <a:ext cx="403894" cy="24786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0000" eaLnBrk="0" latinLnBrk="1" hangingPunct="0">
              <a:spcAft>
                <a:spcPct val="0"/>
              </a:spcAft>
              <a:defRPr/>
            </a:pP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투자</a:t>
            </a:r>
            <a:endParaRPr kumimoji="1"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algn="ctr" defTabSz="540000" eaLnBrk="0" latinLnBrk="1" hangingPunct="0">
              <a:spcAft>
                <a:spcPct val="0"/>
              </a:spcAft>
              <a:defRPr/>
            </a:pP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실무</a:t>
            </a:r>
            <a:endParaRPr kumimoji="1"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algn="ctr" defTabSz="540000" eaLnBrk="0" latinLnBrk="1" hangingPunct="0">
              <a:spcAft>
                <a:spcPct val="0"/>
              </a:spcAft>
              <a:defRPr/>
            </a:pP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협의회</a:t>
            </a:r>
            <a:endParaRPr kumimoji="1"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4D5D1B-DC62-49DC-85DB-01BED4491179}"/>
              </a:ext>
            </a:extLst>
          </p:cNvPr>
          <p:cNvSpPr txBox="1"/>
          <p:nvPr/>
        </p:nvSpPr>
        <p:spPr>
          <a:xfrm>
            <a:off x="963024" y="4101376"/>
            <a:ext cx="3267213" cy="2325628"/>
          </a:xfrm>
          <a:prstGeom prst="rect">
            <a:avLst/>
          </a:prstGeom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92075" lvl="0" indent="-92075" defTabSz="914400">
              <a:spcAft>
                <a:spcPct val="0"/>
              </a:spcAft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l">
              <a:lnSpc>
                <a:spcPct val="120000"/>
              </a:lnSpc>
              <a:defRPr/>
            </a:pP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사업부 실무진 투자 </a:t>
            </a: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운영 협의</a:t>
            </a:r>
            <a:endParaRPr lang="en-US" altLang="ko-KR" sz="11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-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수주체크리스트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+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경제성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계약 검토 자료 기반 협의</a:t>
            </a: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  [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참석 대상</a:t>
            </a: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]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 -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영업 총괄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팀장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사업 총괄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지역본부장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  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CFO,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회계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재무관리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법무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RM 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경영관리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    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필요시 관련 </a:t>
            </a:r>
            <a:r>
              <a:rPr lang="ko-KR" altLang="en-US" sz="900" b="0" dirty="0" err="1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조직장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담당자 추가 참석 가능</a:t>
            </a:r>
            <a:endParaRPr lang="en-US" altLang="ko-KR" sz="900" b="0" dirty="0">
              <a:solidFill>
                <a:srgbClr val="00660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※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유관 부서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R&amp;R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 -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경제성 분석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회계팀</a:t>
            </a: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 -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계약 검토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법무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RM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팀</a:t>
            </a:r>
            <a:endParaRPr lang="en-US" altLang="ko-KR" sz="6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 - </a:t>
            </a:r>
            <a:r>
              <a:rPr lang="ko-KR" altLang="en-US" sz="1000" b="0" u="sng" dirty="0">
                <a:latin typeface="Arial Narrow" panose="020B0606020202030204" pitchFamily="34" charset="0"/>
                <a:cs typeface="Arial" panose="020B0604020202020204" pitchFamily="34" charset="0"/>
              </a:rPr>
              <a:t>운영 검토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운영</a:t>
            </a:r>
            <a:r>
              <a:rPr lang="en-US" altLang="ko-KR" sz="900" b="0" dirty="0">
                <a:latin typeface="Arial Narrow" panose="020B0606020202030204" pitchFamily="34" charset="0"/>
                <a:cs typeface="Arial" panose="020B0604020202020204" pitchFamily="34" charset="0"/>
              </a:rPr>
              <a:t>(PM)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구매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안전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인사 등</a:t>
            </a: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5" name="모서리가 둥근 직사각형 78">
            <a:extLst>
              <a:ext uri="{FF2B5EF4-FFF2-40B4-BE49-F238E27FC236}">
                <a16:creationId xmlns:a16="http://schemas.microsoft.com/office/drawing/2014/main" id="{EB07F581-8FEC-43A3-8AFE-AC672F51A3F9}"/>
              </a:ext>
            </a:extLst>
          </p:cNvPr>
          <p:cNvSpPr/>
          <p:nvPr/>
        </p:nvSpPr>
        <p:spPr>
          <a:xfrm>
            <a:off x="509568" y="6818552"/>
            <a:ext cx="403894" cy="151010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0000" eaLnBrk="0" latinLnBrk="1" hangingPunct="0">
              <a:spcAft>
                <a:spcPct val="0"/>
              </a:spcAft>
              <a:defRPr/>
            </a:pPr>
            <a:r>
              <a:rPr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투자</a:t>
            </a:r>
            <a:endParaRPr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algn="ctr" defTabSz="540000" eaLnBrk="0" latinLnBrk="1" hangingPunct="0">
              <a:spcAft>
                <a:spcPct val="0"/>
              </a:spcAft>
              <a:defRPr/>
            </a:pP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심의회</a:t>
            </a:r>
            <a:endParaRPr kumimoji="1"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A7E110B-48B9-4FE2-BF68-BF8A3DC76814}"/>
              </a:ext>
            </a:extLst>
          </p:cNvPr>
          <p:cNvSpPr txBox="1"/>
          <p:nvPr/>
        </p:nvSpPr>
        <p:spPr>
          <a:xfrm>
            <a:off x="963024" y="6861592"/>
            <a:ext cx="3018467" cy="1387935"/>
          </a:xfrm>
          <a:prstGeom prst="rect">
            <a:avLst/>
          </a:prstGeom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92075" lvl="0" indent="-92075" defTabSz="914400">
              <a:spcAft>
                <a:spcPct val="0"/>
              </a:spcAft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l">
              <a:lnSpc>
                <a:spcPct val="120000"/>
              </a:lnSpc>
              <a:defRPr/>
            </a:pP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경영진 의사결정</a:t>
            </a:r>
            <a:endParaRPr lang="en-US" altLang="ko-KR" sz="11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-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투자실무협의회에서 도출된 미해결 사안 주요 의제 논의</a:t>
            </a: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-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미해결 이슈 및 참가 여부 최종 의사결정 </a:t>
            </a: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  [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참석 대상</a:t>
            </a: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]</a:t>
            </a:r>
            <a:endParaRPr lang="en-US" altLang="ko-KR" sz="11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 -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대표이사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, COO,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영업 총괄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팀장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사업 총괄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지역본부장</a:t>
            </a: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    CFO,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재무관리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회계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00" b="0" dirty="0">
                <a:latin typeface="Arial Narrow" panose="020B0606020202030204" pitchFamily="34" charset="0"/>
                <a:cs typeface="Arial" panose="020B0604020202020204" pitchFamily="34" charset="0"/>
              </a:rPr>
              <a:t>경영관리 팀장</a:t>
            </a:r>
            <a:endParaRPr lang="en-US" altLang="ko-KR" sz="1000" b="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ACDBD0E0-DE0F-4399-B8AB-7C545827E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6730"/>
              </p:ext>
            </p:extLst>
          </p:nvPr>
        </p:nvGraphicFramePr>
        <p:xfrm>
          <a:off x="4082955" y="4554081"/>
          <a:ext cx="2502967" cy="12546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1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사항</a:t>
                      </a: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8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검토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투자 적정성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지표별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민감도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재무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독소조항 파악 및 보고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투자손익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운영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(PFLM)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손익 추정</a:t>
                      </a: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5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관리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-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투자운용현황보고서 검토</a:t>
                      </a:r>
                      <a:endParaRPr lang="en-US" altLang="ko-KR" sz="9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임대차 현황 및 </a:t>
                      </a:r>
                      <a:r>
                        <a:rPr lang="ko-KR" altLang="en-US" sz="900" b="0" baseline="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공실율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확인</a:t>
                      </a:r>
                      <a:endParaRPr lang="en-US" altLang="ko-KR" sz="9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169154"/>
                  </a:ext>
                </a:extLst>
              </a:tr>
            </a:tbl>
          </a:graphicData>
        </a:graphic>
      </p:graphicFrame>
      <p:sp>
        <p:nvSpPr>
          <p:cNvPr id="80" name="Text Box 4">
            <a:extLst>
              <a:ext uri="{FF2B5EF4-FFF2-40B4-BE49-F238E27FC236}">
                <a16:creationId xmlns:a16="http://schemas.microsoft.com/office/drawing/2014/main" id="{0DF3CCCF-6A58-462D-B3DE-E2DB45A1E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159" y="4303048"/>
            <a:ext cx="23598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▣ </a:t>
            </a:r>
            <a:r>
              <a:rPr lang="en-US" altLang="ko-KR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회계팀</a:t>
            </a:r>
            <a:r>
              <a:rPr lang="en-US" altLang="ko-KR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 </a:t>
            </a:r>
            <a:r>
              <a:rPr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경제성 분석 등 </a:t>
            </a:r>
            <a:r>
              <a:rPr lang="en-US" altLang="ko-KR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F/up</a:t>
            </a:r>
            <a:r>
              <a:rPr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상세</a:t>
            </a:r>
            <a:endParaRPr kumimoji="1" lang="en-US" altLang="ko-KR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1" name="TextBox 49">
            <a:extLst>
              <a:ext uri="{FF2B5EF4-FFF2-40B4-BE49-F238E27FC236}">
                <a16:creationId xmlns:a16="http://schemas.microsoft.com/office/drawing/2014/main" id="{927FE394-028F-4143-B311-9E9723C6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399" y="5783051"/>
            <a:ext cx="210826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kumimoji="0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사전검토 외</a:t>
            </a:r>
            <a:r>
              <a:rPr kumimoji="0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 후 재무관련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 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F/up</a:t>
            </a:r>
            <a:endParaRPr kumimoji="0" lang="ko-KR" altLang="en-US" sz="9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DC0F7EB2-87CC-4777-8A57-5D650BBC8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87586"/>
              </p:ext>
            </p:extLst>
          </p:nvPr>
        </p:nvGraphicFramePr>
        <p:xfrm>
          <a:off x="4082955" y="6277946"/>
          <a:ext cx="2502967" cy="10403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7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사항</a:t>
                      </a: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검토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법무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독소조항 파악 및 보고</a:t>
                      </a:r>
                      <a:endParaRPr lang="en-US" altLang="ko-KR" sz="9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관리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투자 협약서 및 계약 협의사항 검토</a:t>
                      </a:r>
                      <a:endParaRPr lang="en-US" altLang="ko-KR" sz="9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법정선임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/ 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거래조건 등 운영 법무</a:t>
                      </a:r>
                      <a:endParaRPr lang="en-US" altLang="ko-KR" sz="900" b="0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사항 검토</a:t>
                      </a:r>
                      <a:endParaRPr lang="en-US" altLang="ko-KR" sz="9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169154"/>
                  </a:ext>
                </a:extLst>
              </a:tr>
            </a:tbl>
          </a:graphicData>
        </a:graphic>
      </p:graphicFrame>
      <p:sp>
        <p:nvSpPr>
          <p:cNvPr id="83" name="Text Box 4">
            <a:extLst>
              <a:ext uri="{FF2B5EF4-FFF2-40B4-BE49-F238E27FC236}">
                <a16:creationId xmlns:a16="http://schemas.microsoft.com/office/drawing/2014/main" id="{30B3CC17-069F-429A-9531-E0A017A9F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502" y="6026811"/>
            <a:ext cx="23598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▣ </a:t>
            </a:r>
            <a:r>
              <a:rPr lang="en-US" altLang="ko-KR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법무</a:t>
            </a:r>
            <a:r>
              <a:rPr lang="en-US" altLang="ko-KR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RM</a:t>
            </a:r>
            <a:r>
              <a:rPr lang="ko-KR" altLang="en-US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팀</a:t>
            </a:r>
            <a:r>
              <a:rPr lang="en-US" altLang="ko-KR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  <a:endParaRPr kumimoji="1" lang="en-US" altLang="ko-KR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1CC2CC3-C99D-422D-9071-2BBC2B71A3D9}"/>
              </a:ext>
            </a:extLst>
          </p:cNvPr>
          <p:cNvSpPr/>
          <p:nvPr/>
        </p:nvSpPr>
        <p:spPr>
          <a:xfrm>
            <a:off x="470181" y="1930569"/>
            <a:ext cx="750392" cy="265724"/>
          </a:xfrm>
          <a:prstGeom prst="rect">
            <a:avLst/>
          </a:prstGeom>
          <a:noFill/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회의체 구성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264B7B0E-9F67-4463-AB27-BB1F358D74AC}"/>
              </a:ext>
            </a:extLst>
          </p:cNvPr>
          <p:cNvSpPr>
            <a:spLocks noChangeAspect="1"/>
          </p:cNvSpPr>
          <p:nvPr/>
        </p:nvSpPr>
        <p:spPr bwMode="auto">
          <a:xfrm>
            <a:off x="444479" y="2022387"/>
            <a:ext cx="82089" cy="82089"/>
          </a:xfrm>
          <a:prstGeom prst="ellipse">
            <a:avLst/>
          </a:prstGeom>
          <a:solidFill>
            <a:schemeClr val="bg1"/>
          </a:solidFill>
          <a:ln w="15875">
            <a:solidFill>
              <a:srgbClr val="002060"/>
            </a:solidFill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7D5662B-BD8D-4134-B1D6-143F80658BE4}"/>
              </a:ext>
            </a:extLst>
          </p:cNvPr>
          <p:cNvSpPr/>
          <p:nvPr/>
        </p:nvSpPr>
        <p:spPr>
          <a:xfrm>
            <a:off x="437134" y="4031232"/>
            <a:ext cx="256103" cy="265724"/>
          </a:xfrm>
          <a:prstGeom prst="rect">
            <a:avLst/>
          </a:prstGeom>
          <a:noFill/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F44D978-527D-4890-B1C3-7BCA7DFC7BF7}"/>
              </a:ext>
            </a:extLst>
          </p:cNvPr>
          <p:cNvSpPr/>
          <p:nvPr/>
        </p:nvSpPr>
        <p:spPr>
          <a:xfrm>
            <a:off x="437134" y="6775961"/>
            <a:ext cx="256103" cy="265724"/>
          </a:xfrm>
          <a:prstGeom prst="rect">
            <a:avLst/>
          </a:prstGeom>
          <a:noFill/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</a:p>
        </p:txBody>
      </p:sp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DC944297-3FD7-47FA-803E-554FEE0CF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714561"/>
              </p:ext>
            </p:extLst>
          </p:nvPr>
        </p:nvGraphicFramePr>
        <p:xfrm>
          <a:off x="4099961" y="7656155"/>
          <a:ext cx="2473684" cy="612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4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사항</a:t>
                      </a: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검토</a:t>
                      </a:r>
                    </a:p>
                  </a:txBody>
                  <a:tcPr marL="7200" marR="7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</a:t>
                      </a:r>
                      <a:r>
                        <a:rPr lang="en-US" altLang="ko-KR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임차인 현황 검토</a:t>
                      </a:r>
                      <a:r>
                        <a:rPr lang="en-US" altLang="ko-KR" sz="8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신인도 등</a:t>
                      </a:r>
                      <a:r>
                        <a:rPr lang="en-US" altLang="ko-KR" sz="8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  <a:endParaRPr lang="en-US" altLang="ko-KR" sz="900" b="0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미수채권 현황 및 리스크 검토</a:t>
                      </a:r>
                      <a:endParaRPr lang="en-US" altLang="ko-KR" sz="9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7200" marR="72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" name="Text Box 4">
            <a:extLst>
              <a:ext uri="{FF2B5EF4-FFF2-40B4-BE49-F238E27FC236}">
                <a16:creationId xmlns:a16="http://schemas.microsoft.com/office/drawing/2014/main" id="{ACB37713-CEF6-4A67-9797-9727BB01B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507" y="7405019"/>
            <a:ext cx="23598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▣ </a:t>
            </a:r>
            <a:r>
              <a:rPr lang="en-US" altLang="ko-KR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[IPM</a:t>
            </a:r>
            <a:r>
              <a:rPr lang="ko-KR" altLang="en-US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팀</a:t>
            </a:r>
            <a:r>
              <a:rPr lang="en-US" altLang="ko-KR" sz="10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  <a:endParaRPr kumimoji="1" lang="en-US" altLang="ko-KR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08C290C-05E8-455B-BE25-9EB71CEB1FD4}"/>
              </a:ext>
            </a:extLst>
          </p:cNvPr>
          <p:cNvSpPr txBox="1"/>
          <p:nvPr/>
        </p:nvSpPr>
        <p:spPr>
          <a:xfrm>
            <a:off x="3188970" y="471236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dirty="0"/>
          </a:p>
        </p:txBody>
      </p:sp>
      <p:sp>
        <p:nvSpPr>
          <p:cNvPr id="92" name="TextBox 49">
            <a:extLst>
              <a:ext uri="{FF2B5EF4-FFF2-40B4-BE49-F238E27FC236}">
                <a16:creationId xmlns:a16="http://schemas.microsoft.com/office/drawing/2014/main" id="{4C34CD9B-9E7D-4F39-B33B-939180A10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399" y="8257733"/>
            <a:ext cx="214994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향후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운영시에도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정기적 조사 </a:t>
            </a:r>
            <a:r>
              <a:rPr lang="en-US" altLang="ko-KR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검토 실시</a:t>
            </a:r>
            <a:endParaRPr kumimoji="0" lang="ko-KR" altLang="en-US" sz="9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638C929C-20CF-4212-817B-E4B318C172CA}"/>
              </a:ext>
            </a:extLst>
          </p:cNvPr>
          <p:cNvSpPr/>
          <p:nvPr/>
        </p:nvSpPr>
        <p:spPr bwMode="auto">
          <a:xfrm>
            <a:off x="1953654" y="2584512"/>
            <a:ext cx="275130" cy="275130"/>
          </a:xfrm>
          <a:prstGeom prst="ellipse">
            <a:avLst/>
          </a:prstGeom>
          <a:solidFill>
            <a:schemeClr val="bg1"/>
          </a:solidFill>
          <a:ln w="31750">
            <a:solidFill>
              <a:srgbClr val="002060"/>
            </a:solidFill>
            <a:prstDash val="sysDash"/>
          </a:ln>
          <a:effectLst/>
          <a:ex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4" name="꺾인 연결선 109">
            <a:extLst>
              <a:ext uri="{FF2B5EF4-FFF2-40B4-BE49-F238E27FC236}">
                <a16:creationId xmlns:a16="http://schemas.microsoft.com/office/drawing/2014/main" id="{030A06F1-7ECB-4554-81B8-73605AD42EFD}"/>
              </a:ext>
            </a:extLst>
          </p:cNvPr>
          <p:cNvCxnSpPr>
            <a:cxnSpLocks/>
            <a:endCxn id="80" idx="1"/>
          </p:cNvCxnSpPr>
          <p:nvPr/>
        </p:nvCxnSpPr>
        <p:spPr>
          <a:xfrm flipV="1">
            <a:off x="1977410" y="4426159"/>
            <a:ext cx="2025749" cy="1293653"/>
          </a:xfrm>
          <a:prstGeom prst="bentConnector3">
            <a:avLst>
              <a:gd name="adj1" fmla="val 90249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EC3907-D1E9-40C3-B395-8E0EFC49257E}"/>
              </a:ext>
            </a:extLst>
          </p:cNvPr>
          <p:cNvSpPr/>
          <p:nvPr/>
        </p:nvSpPr>
        <p:spPr>
          <a:xfrm>
            <a:off x="1074392" y="6304109"/>
            <a:ext cx="1529149" cy="265724"/>
          </a:xfrm>
          <a:prstGeom prst="rect">
            <a:avLst/>
          </a:prstGeom>
          <a:noFill/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수주체크리스트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기반 검토</a:t>
            </a:r>
          </a:p>
        </p:txBody>
      </p:sp>
      <p:sp>
        <p:nvSpPr>
          <p:cNvPr id="50" name="Rectangle 19"/>
          <p:cNvSpPr>
            <a:spLocks noChangeArrowheads="1"/>
          </p:cNvSpPr>
          <p:nvPr/>
        </p:nvSpPr>
        <p:spPr bwMode="auto">
          <a:xfrm>
            <a:off x="254000" y="661310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0F0F12E7-86E4-43E4-B811-408F06139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2" y="1097048"/>
            <a:ext cx="1806848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2022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10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</a:t>
            </a:r>
            <a:r>
              <a:rPr kumimoji="1" lang="ko-KR" altLang="en-US" sz="10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21185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2758</TotalTime>
  <Words>2410</Words>
  <Application>Microsoft Office PowerPoint</Application>
  <PresentationFormat>화면 슬라이드 쇼(4:3)</PresentationFormat>
  <Paragraphs>358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LG스마트체 Regular</vt:lpstr>
      <vt:lpstr>Arial</vt:lpstr>
      <vt:lpstr>Arial Narrow</vt:lpstr>
      <vt:lpstr>Calibri</vt:lpstr>
      <vt:lpstr>Calibri Light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SERVEONE</dc:creator>
  <cp:lastModifiedBy>Administrator</cp:lastModifiedBy>
  <cp:revision>92</cp:revision>
  <cp:lastPrinted>2021-11-11T02:16:50Z</cp:lastPrinted>
  <dcterms:created xsi:type="dcterms:W3CDTF">2017-12-04T01:58:10Z</dcterms:created>
  <dcterms:modified xsi:type="dcterms:W3CDTF">2022-09-29T06:54:13Z</dcterms:modified>
</cp:coreProperties>
</file>