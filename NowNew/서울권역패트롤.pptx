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64" r:id="rId4"/>
    <p:sldId id="266" r:id="rId5"/>
    <p:sldId id="265" r:id="rId6"/>
    <p:sldId id="267" r:id="rId7"/>
    <p:sldId id="269" r:id="rId8"/>
    <p:sldId id="268" r:id="rId9"/>
    <p:sldId id="263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C0C0"/>
    <a:srgbClr val="000000"/>
    <a:srgbClr val="D9D9D9"/>
    <a:srgbClr val="C00000"/>
    <a:srgbClr val="4472C4"/>
    <a:srgbClr val="AF03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8125D6-41C3-4EC2-8B01-0D95418248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1DECEB2-248E-4B20-B61E-242E4DFC83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262C07-E0D3-412E-A194-2901BA595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05382-8839-4B6A-9105-B3CF84E17CB0}" type="datetimeFigureOut">
              <a:rPr lang="ko-KR" altLang="en-US" smtClean="0"/>
              <a:t>2025-03-07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82C680-0901-4AFC-96F1-4DF56F55C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AF29917-CA98-4651-A6D7-BB2BD6F8C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DF881-2881-4C06-96B7-70F773A5FE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3621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97F86A-FA28-4B7A-AC79-51A14F3F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E869DE-C9ED-465C-8974-075D8CD0CB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B77284-6EDC-449F-8FC8-F2BC85FF0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05382-8839-4B6A-9105-B3CF84E17CB0}" type="datetimeFigureOut">
              <a:rPr lang="ko-KR" altLang="en-US" smtClean="0"/>
              <a:t>2025-03-07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243B1B0-1AC4-4327-89FD-9F10D4D43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B8237F-91D0-4358-845A-07F30087D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DF881-2881-4C06-96B7-70F773A5FE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2865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C17089-3DF3-4FDE-B48A-417FD8BE0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B17F7AE-0AFA-4A33-BFDB-D520809CEB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71377D-D313-4F4D-A717-30F63851D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05382-8839-4B6A-9105-B3CF84E17CB0}" type="datetimeFigureOut">
              <a:rPr lang="ko-KR" altLang="en-US" smtClean="0"/>
              <a:t>2025-03-07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F11E3C6-FC81-4DD0-8D00-A41892FCF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F43F9D-ED86-44A9-A85F-17E31E65D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DF881-2881-4C06-96B7-70F773A5FE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6449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FE163B-C90C-4578-8401-19AF8C3A2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8D928F8-F102-409C-AFE8-35F82FADB7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6068974-D2CA-47AA-85E3-28502D7EC3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70A495B-3A50-4F1F-9974-DBD8B5F42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05382-8839-4B6A-9105-B3CF84E17CB0}" type="datetimeFigureOut">
              <a:rPr lang="ko-KR" altLang="en-US" smtClean="0"/>
              <a:t>2025-03-07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21C398F-DD5E-4078-99C3-FD03799D8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332516B-74BE-4DD8-BAD9-E83D1E367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DF881-2881-4C06-96B7-70F773A5FE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9882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547271-2D2A-4561-AFCF-59CBBAB95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8F2EAE8-92E8-4516-A630-65F0AE017F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BA2B500-9929-4B6E-BABF-757B082C64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DD656C2-6B22-413D-9EE3-4C6EBA6028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AC1DF0D-D346-46DA-9918-2A6EFA302F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2E9AE18-93A1-4C51-9A78-4628769D4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05382-8839-4B6A-9105-B3CF84E17CB0}" type="datetimeFigureOut">
              <a:rPr lang="ko-KR" altLang="en-US" smtClean="0"/>
              <a:t>2025-03-07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ABA066C-9753-4EFC-8729-E2570CDF0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0FBEA25-954E-4D59-88C5-3A441F1DA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DF881-2881-4C06-96B7-70F773A5FE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0652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193C80-4FD0-4096-AAF4-084946E55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62A3116-1897-4332-B717-81EA89471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05382-8839-4B6A-9105-B3CF84E17CB0}" type="datetimeFigureOut">
              <a:rPr lang="ko-KR" altLang="en-US" smtClean="0"/>
              <a:t>2025-03-07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BBEFF23-2632-49D6-A893-E6246A29E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CB53D05-0EC3-4945-9FA6-40ABC3847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DF881-2881-4C06-96B7-70F773A5FE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6884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BE74A09-F688-41F0-B2EE-0FBF9CA1F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05382-8839-4B6A-9105-B3CF84E17CB0}" type="datetimeFigureOut">
              <a:rPr lang="ko-KR" altLang="en-US" smtClean="0"/>
              <a:t>2025-03-07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53FDB69-93FE-45AC-BA33-8FE31DEE9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79AA92C-1F3B-4AEA-8F30-3D876B4EB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DF881-2881-4C06-96B7-70F773A5FE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8586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1F0650-9180-4B79-9B23-090033EDF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FDA209E-D0EF-4687-B594-593DE3C527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A402BE0-4B56-44CB-9330-7C47A63173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893B551-1D17-47B0-8F3A-05BADE4B3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05382-8839-4B6A-9105-B3CF84E17CB0}" type="datetimeFigureOut">
              <a:rPr lang="ko-KR" altLang="en-US" smtClean="0"/>
              <a:t>2025-03-07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F939AE8-5AFD-4FC8-B757-4EBDB6723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10A56DE-E2DE-48DE-80B1-490A642BA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DF881-2881-4C06-96B7-70F773A5FE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5547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285CE3-DA49-469C-8F0E-2981B2AFA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9D122FF-F5C6-4850-BA5F-13BC61245C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423B2B1-6EA2-49A0-AA28-479B4B2293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2A3CF3B-8BF8-4746-9CE1-450E93902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05382-8839-4B6A-9105-B3CF84E17CB0}" type="datetimeFigureOut">
              <a:rPr lang="ko-KR" altLang="en-US" smtClean="0"/>
              <a:t>2025-03-07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F23EBDA-7C7D-4C71-8C65-C317F0590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770FBB-4623-48BA-AA7C-94F0850CC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DF881-2881-4C06-96B7-70F773A5FE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3511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63EE8B-65FB-4009-A0AD-9EEAD98B9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0AC778B-A6E3-4942-8480-AE3CD8B815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8D7B5E-51B6-4D0C-8566-9438034A5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05382-8839-4B6A-9105-B3CF84E17CB0}" type="datetimeFigureOut">
              <a:rPr lang="ko-KR" altLang="en-US" smtClean="0"/>
              <a:t>2025-03-07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E83D746-BDA0-499E-80DD-3BC816105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3AF02B5-A781-4D5C-98B0-78CA0CAB8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DF881-2881-4C06-96B7-70F773A5FE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9232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5371DBA-D7FD-476E-A5FD-044FA0E348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B053AC0-58F9-430F-AA6F-A3F6E9D2D2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A435A5-31A9-4F83-B89F-98F76B1A6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05382-8839-4B6A-9105-B3CF84E17CB0}" type="datetimeFigureOut">
              <a:rPr lang="ko-KR" altLang="en-US" smtClean="0"/>
              <a:t>2025-03-07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B0BAE6-7A18-4F0E-820F-9EFFB2DB9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1EF351-D034-45A9-8D33-1FF3CAABD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DF881-2881-4C06-96B7-70F773A5FE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5966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B04C890-2D65-45E7-9491-E1B86F639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790349F-B8F3-4A8F-B6B2-D3B6EDDEC8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E0CE49-DD98-49C4-A8A7-3E0F38BD14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C05382-8839-4B6A-9105-B3CF84E17CB0}" type="datetimeFigureOut">
              <a:rPr lang="ko-KR" altLang="en-US" smtClean="0"/>
              <a:t>2025-03-07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DCAC237-FD1D-4514-9D2D-46A526C450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171504B-4540-489C-812B-2AB9A1D2DB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ADF881-2881-4C06-96B7-70F773A5FE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3377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0FA331-6FE0-4EF6-B4E3-75E4E5C380F0}"/>
              </a:ext>
            </a:extLst>
          </p:cNvPr>
          <p:cNvSpPr txBox="1">
            <a:spLocks/>
          </p:cNvSpPr>
          <p:nvPr/>
        </p:nvSpPr>
        <p:spPr>
          <a:xfrm>
            <a:off x="0" y="1605365"/>
            <a:ext cx="12192000" cy="1197834"/>
          </a:xfrm>
          <a:prstGeom prst="rect">
            <a:avLst/>
          </a:prstGeom>
          <a:ln>
            <a:noFill/>
          </a:ln>
        </p:spPr>
        <p:txBody>
          <a:bodyPr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비상주 </a:t>
            </a:r>
            <a:r>
              <a:rPr lang="en-US" altLang="ko-KR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FM</a:t>
            </a: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점검 </a:t>
            </a:r>
            <a:r>
              <a:rPr lang="ko-KR" altLang="en-US" sz="2800" dirty="0" err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패트롤</a:t>
            </a:r>
            <a:r>
              <a:rPr lang="en-US" altLang="ko-KR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</a:t>
            </a:r>
            <a:r>
              <a:rPr lang="ko-KR" altLang="en-US" sz="2800" dirty="0" err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프라이싱</a:t>
            </a: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방안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87A56169-91F2-4B61-97B2-C9662FDB89E6}"/>
              </a:ext>
            </a:extLst>
          </p:cNvPr>
          <p:cNvCxnSpPr>
            <a:cxnSpLocks/>
          </p:cNvCxnSpPr>
          <p:nvPr/>
        </p:nvCxnSpPr>
        <p:spPr>
          <a:xfrm>
            <a:off x="3260436" y="2568733"/>
            <a:ext cx="567112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제목 1">
            <a:extLst>
              <a:ext uri="{FF2B5EF4-FFF2-40B4-BE49-F238E27FC236}">
                <a16:creationId xmlns:a16="http://schemas.microsoft.com/office/drawing/2014/main" id="{CFB04BBC-5FEB-4A46-91C5-285C002CA398}"/>
              </a:ext>
            </a:extLst>
          </p:cNvPr>
          <p:cNvSpPr txBox="1">
            <a:spLocks/>
          </p:cNvSpPr>
          <p:nvPr/>
        </p:nvSpPr>
        <p:spPr>
          <a:xfrm>
            <a:off x="5143811" y="4949194"/>
            <a:ext cx="2361981" cy="1197834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2025. 03</a:t>
            </a:r>
            <a:endParaRPr lang="ko-KR" altLang="en-US" sz="1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상품기획팀</a:t>
            </a:r>
            <a:endParaRPr lang="en-US" altLang="ko-KR" sz="2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03511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7">
            <a:extLst>
              <a:ext uri="{FF2B5EF4-FFF2-40B4-BE49-F238E27FC236}">
                <a16:creationId xmlns:a16="http://schemas.microsoft.com/office/drawing/2014/main" id="{9356F48B-C35C-4D9E-B37D-796D36389C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504" y="831442"/>
            <a:ext cx="11521805" cy="6160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85738" indent="-185738"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indent="0" latinLnBrk="0">
              <a:lnSpc>
                <a:spcPct val="110000"/>
              </a:lnSpc>
              <a:spcBef>
                <a:spcPct val="50000"/>
              </a:spcBef>
              <a:buSzPct val="80000"/>
              <a:buNone/>
            </a:pPr>
            <a:r>
              <a:rPr lang="ko-KR" altLang="en-US" sz="16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고객 </a:t>
            </a:r>
            <a:r>
              <a:rPr lang="en-US" altLang="ko-KR" sz="16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Needs </a:t>
            </a:r>
            <a:r>
              <a:rPr lang="ko-KR" altLang="en-US" sz="16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 영업 활성화를 위하여 </a:t>
            </a:r>
            <a:r>
              <a:rPr lang="en-US" altLang="ko-KR" sz="16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24</a:t>
            </a:r>
            <a:r>
              <a:rPr lang="ko-KR" altLang="en-US" sz="16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년도에 수립된 </a:t>
            </a:r>
            <a:r>
              <a:rPr lang="ko-KR" altLang="en-US" sz="1600" b="1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프라이싱</a:t>
            </a:r>
            <a:r>
              <a:rPr lang="ko-KR" altLang="en-US" sz="16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방안을 </a:t>
            </a:r>
            <a:r>
              <a:rPr lang="en-US" altLang="ko-KR" sz="16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25</a:t>
            </a:r>
            <a:r>
              <a:rPr lang="ko-KR" altLang="en-US" sz="16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년도 인상된 간접비율 반영 및 고객의 선택 폭을 넓히기 위한 </a:t>
            </a:r>
            <a:r>
              <a:rPr lang="en-US" altLang="ko-KR" sz="16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‘</a:t>
            </a:r>
            <a:r>
              <a:rPr lang="ko-KR" altLang="en-US" sz="16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선납 계약금 방식 도입</a:t>
            </a:r>
            <a:r>
              <a:rPr lang="en-US" altLang="ko-KR" sz="16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’</a:t>
            </a:r>
            <a:r>
              <a:rPr lang="ko-KR" altLang="en-US" sz="16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과 선택 가능한 </a:t>
            </a:r>
            <a:r>
              <a:rPr lang="en-US" altLang="ko-KR" sz="16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‘</a:t>
            </a:r>
            <a:r>
              <a:rPr lang="ko-KR" altLang="en-US" sz="16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계약기간을 추가</a:t>
            </a:r>
            <a:r>
              <a:rPr lang="en-US" altLang="ko-KR" sz="16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’</a:t>
            </a:r>
            <a:r>
              <a:rPr lang="ko-KR" altLang="en-US" sz="16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하는 방안으로 수정 설계함</a:t>
            </a:r>
            <a:endParaRPr lang="en-US" altLang="ko-KR" sz="1800" b="1" dirty="0">
              <a:solidFill>
                <a:srgbClr val="0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7D249781-1289-4601-B645-62108EA9532C}"/>
              </a:ext>
            </a:extLst>
          </p:cNvPr>
          <p:cNvCxnSpPr/>
          <p:nvPr/>
        </p:nvCxnSpPr>
        <p:spPr>
          <a:xfrm>
            <a:off x="0" y="606830"/>
            <a:ext cx="12192000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816E0FA-E835-46FF-AAF0-13AED362E4FF}"/>
              </a:ext>
            </a:extLst>
          </p:cNvPr>
          <p:cNvSpPr txBox="1"/>
          <p:nvPr/>
        </p:nvSpPr>
        <p:spPr>
          <a:xfrm>
            <a:off x="258619" y="159486"/>
            <a:ext cx="6517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 상품 분석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C6FECB5-13B9-4CA3-B0E0-9A62332A6DE1}"/>
              </a:ext>
            </a:extLst>
          </p:cNvPr>
          <p:cNvSpPr/>
          <p:nvPr/>
        </p:nvSpPr>
        <p:spPr>
          <a:xfrm>
            <a:off x="291504" y="1743507"/>
            <a:ext cx="4326437" cy="3821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ko-KR" altLang="en-US" sz="16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○ </a:t>
            </a:r>
            <a:r>
              <a:rPr kumimoji="1" lang="ko-KR" altLang="en-US" sz="1600" b="1" spc="-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주요 특징 </a:t>
            </a:r>
            <a:endParaRPr kumimoji="1" lang="en-US" altLang="ko-KR" sz="16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CEAD49A-E1A8-4EC0-B5D9-84CD43D9B3CF}"/>
              </a:ext>
            </a:extLst>
          </p:cNvPr>
          <p:cNvSpPr/>
          <p:nvPr/>
        </p:nvSpPr>
        <p:spPr>
          <a:xfrm>
            <a:off x="291504" y="2296050"/>
            <a:ext cx="4326437" cy="3821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ko-KR" altLang="en-US" sz="16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○ </a:t>
            </a:r>
            <a:r>
              <a:rPr kumimoji="1" lang="ko-KR" altLang="en-US" sz="1600" b="1" spc="-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타겟 고객층</a:t>
            </a:r>
            <a:r>
              <a:rPr kumimoji="1" lang="en-US" altLang="ko-KR" sz="1600" b="1" spc="-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kumimoji="1" lang="ko-KR" altLang="en-US" sz="1600" b="1" spc="-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가격 민감도</a:t>
            </a:r>
            <a:endParaRPr kumimoji="1" lang="en-US" altLang="ko-KR" sz="16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7B1C62F-3F85-407C-9A31-4A1104F21A28}"/>
              </a:ext>
            </a:extLst>
          </p:cNvPr>
          <p:cNvSpPr/>
          <p:nvPr/>
        </p:nvSpPr>
        <p:spPr>
          <a:xfrm>
            <a:off x="291504" y="2951832"/>
            <a:ext cx="4326437" cy="3821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ko-KR" altLang="en-US" sz="16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○ </a:t>
            </a:r>
            <a:r>
              <a:rPr kumimoji="1" lang="en-US" altLang="ko-KR" sz="1600" b="1" spc="-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USP</a:t>
            </a:r>
            <a:endParaRPr kumimoji="1" lang="en-US" altLang="ko-KR" sz="16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591B8EC-46C4-4C28-B53A-BC1BFB8D782C}"/>
              </a:ext>
            </a:extLst>
          </p:cNvPr>
          <p:cNvSpPr txBox="1"/>
          <p:nvPr/>
        </p:nvSpPr>
        <p:spPr>
          <a:xfrm>
            <a:off x="5067202" y="2125663"/>
            <a:ext cx="69677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ko-KR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1.</a:t>
            </a:r>
            <a:r>
              <a:rPr lang="ko-KR" altLang="en-US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주요 법정 관리자 선임 규정</a:t>
            </a:r>
            <a:endParaRPr lang="en-US" altLang="ko-KR" sz="1200" b="1" dirty="0">
              <a:solidFill>
                <a:srgbClr val="0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defRPr/>
            </a:pPr>
            <a:r>
              <a:rPr lang="ko-KR" altLang="en-US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① </a:t>
            </a:r>
            <a:r>
              <a:rPr lang="en-US" altLang="ko-KR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전기안전관리자 선임</a:t>
            </a:r>
            <a:endParaRPr lang="en-US" altLang="ko-KR" sz="1200" b="1" dirty="0">
              <a:solidFill>
                <a:srgbClr val="0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ko-KR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- 1,000kW </a:t>
            </a:r>
            <a:r>
              <a:rPr lang="ko-KR" altLang="en-US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이상 수전설비</a:t>
            </a:r>
            <a:r>
              <a:rPr lang="en-US" altLang="ko-KR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500kW </a:t>
            </a:r>
            <a:r>
              <a:rPr lang="ko-KR" altLang="en-US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이상의 발전설비</a:t>
            </a:r>
            <a:r>
              <a:rPr lang="en-US" altLang="ko-KR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3,000kW </a:t>
            </a:r>
            <a:r>
              <a:rPr lang="ko-KR" altLang="en-US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이상의 태양광 발전설비</a:t>
            </a:r>
            <a:endParaRPr lang="en-US" altLang="ko-KR" sz="1200" b="1" dirty="0">
              <a:solidFill>
                <a:srgbClr val="0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defRPr/>
            </a:pPr>
            <a:r>
              <a:rPr lang="ko-KR" altLang="en-US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② 소방안전관리자 선임</a:t>
            </a:r>
            <a:endParaRPr lang="en-US" altLang="ko-KR" sz="1200" b="1" dirty="0">
              <a:solidFill>
                <a:srgbClr val="0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ko-KR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</a:t>
            </a:r>
            <a:r>
              <a:rPr lang="en-US" altLang="ko-KR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- 11</a:t>
            </a:r>
            <a:r>
              <a:rPr lang="ko-KR" altLang="en-US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층 이상</a:t>
            </a:r>
            <a:r>
              <a:rPr lang="en-US" altLang="ko-KR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연면적 </a:t>
            </a:r>
            <a:r>
              <a:rPr lang="en-US" altLang="ko-KR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15,000 m2 </a:t>
            </a:r>
            <a:r>
              <a:rPr lang="ko-KR" altLang="en-US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이상</a:t>
            </a:r>
            <a:r>
              <a:rPr lang="en-US" altLang="ko-KR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스프링클러설비</a:t>
            </a:r>
            <a:r>
              <a:rPr lang="en-US" altLang="ko-KR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lang="ko-KR" altLang="en-US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옥내소화전설비</a:t>
            </a:r>
            <a:r>
              <a:rPr lang="en-US" altLang="ko-KR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lang="ko-KR" altLang="en-US" sz="1200" b="1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자동화재탐지설비등</a:t>
            </a:r>
            <a:r>
              <a:rPr lang="ko-KR" altLang="en-US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설치대상 건축물</a:t>
            </a:r>
            <a:endParaRPr lang="en-US" altLang="ko-KR" sz="1200" b="1" dirty="0">
              <a:solidFill>
                <a:srgbClr val="0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defRPr/>
            </a:pPr>
            <a:r>
              <a:rPr lang="ko-KR" altLang="en-US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③ 기계설비유지관리자 선임</a:t>
            </a:r>
            <a:endParaRPr lang="en-US" altLang="ko-KR" sz="1200" b="1" dirty="0">
              <a:solidFill>
                <a:srgbClr val="0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ko-KR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</a:t>
            </a:r>
            <a:r>
              <a:rPr lang="en-US" altLang="ko-KR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연면적 </a:t>
            </a:r>
            <a:r>
              <a:rPr lang="en-US" altLang="ko-KR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10,000 m2 </a:t>
            </a:r>
            <a:r>
              <a:rPr lang="ko-KR" altLang="en-US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이상의 건축물</a:t>
            </a:r>
            <a:r>
              <a:rPr lang="en-US" altLang="ko-KR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500</a:t>
            </a:r>
            <a:r>
              <a:rPr lang="ko-KR" altLang="en-US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세대 이상의 </a:t>
            </a:r>
            <a:r>
              <a:rPr lang="ko-KR" altLang="en-US" sz="1200" b="1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공동주택등</a:t>
            </a:r>
            <a:endParaRPr lang="en-US" altLang="ko-KR" sz="1200" b="1" dirty="0">
              <a:solidFill>
                <a:srgbClr val="0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210634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06D20DD-3CD7-4C72-9197-B8F3F4476727}"/>
              </a:ext>
            </a:extLst>
          </p:cNvPr>
          <p:cNvSpPr txBox="1"/>
          <p:nvPr/>
        </p:nvSpPr>
        <p:spPr>
          <a:xfrm>
            <a:off x="578330" y="2367055"/>
            <a:ext cx="4268557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spcBef>
                <a:spcPts val="600"/>
              </a:spcBef>
              <a:spcAft>
                <a:spcPts val="600"/>
              </a:spcAft>
              <a:buAutoNum type="arabicPeriod"/>
              <a:defRPr/>
            </a:pPr>
            <a:r>
              <a:rPr lang="ko-KR" altLang="en-US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선 신뢰 구축 후 수익 창출 지향</a:t>
            </a:r>
            <a:endParaRPr lang="en-US" altLang="ko-KR" sz="1200" b="1" dirty="0">
              <a:solidFill>
                <a:srgbClr val="0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28600" indent="-228600">
              <a:spcBef>
                <a:spcPts val="600"/>
              </a:spcBef>
              <a:spcAft>
                <a:spcPts val="600"/>
              </a:spcAft>
              <a:buAutoNum type="arabicPeriod"/>
              <a:defRPr/>
            </a:pPr>
            <a:r>
              <a:rPr lang="ko-KR" altLang="en-US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고객 경험에 기반한 신뢰 구축 </a:t>
            </a:r>
            <a:r>
              <a:rPr lang="en-US" altLang="ko-KR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부담 없는 가격 구조</a:t>
            </a:r>
            <a:r>
              <a:rPr lang="en-US" altLang="ko-KR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구독형</a:t>
            </a:r>
            <a:r>
              <a:rPr lang="en-US" altLang="ko-KR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7D249781-1289-4601-B645-62108EA9532C}"/>
              </a:ext>
            </a:extLst>
          </p:cNvPr>
          <p:cNvCxnSpPr/>
          <p:nvPr/>
        </p:nvCxnSpPr>
        <p:spPr>
          <a:xfrm>
            <a:off x="0" y="606830"/>
            <a:ext cx="12192000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816E0FA-E835-46FF-AAF0-13AED362E4FF}"/>
              </a:ext>
            </a:extLst>
          </p:cNvPr>
          <p:cNvSpPr txBox="1"/>
          <p:nvPr/>
        </p:nvSpPr>
        <p:spPr>
          <a:xfrm>
            <a:off x="258619" y="159486"/>
            <a:ext cx="6517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 가격 책정 전략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C6FECB5-13B9-4CA3-B0E0-9A62332A6DE1}"/>
              </a:ext>
            </a:extLst>
          </p:cNvPr>
          <p:cNvSpPr/>
          <p:nvPr/>
        </p:nvSpPr>
        <p:spPr>
          <a:xfrm>
            <a:off x="291504" y="1743507"/>
            <a:ext cx="4326437" cy="3821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ko-KR" altLang="en-US" sz="1600" b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○ 목표 및 전략 </a:t>
            </a:r>
            <a:r>
              <a:rPr kumimoji="1" lang="ko-KR" altLang="en-US" sz="1600" b="1" spc="-5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kumimoji="1" lang="en-US" altLang="ko-KR" sz="16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9BA41FD-53C8-4BF1-BD37-7D28E7852A80}"/>
              </a:ext>
            </a:extLst>
          </p:cNvPr>
          <p:cNvSpPr/>
          <p:nvPr/>
        </p:nvSpPr>
        <p:spPr>
          <a:xfrm>
            <a:off x="6018049" y="1845107"/>
            <a:ext cx="4326437" cy="3821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ko-KR" altLang="en-US" sz="16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○ 방법론</a:t>
            </a:r>
            <a:endParaRPr kumimoji="1" lang="en-US" altLang="ko-KR" sz="16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178D52-8B38-4D9A-80F7-06C08C5F0D8A}"/>
              </a:ext>
            </a:extLst>
          </p:cNvPr>
          <p:cNvSpPr txBox="1"/>
          <p:nvPr/>
        </p:nvSpPr>
        <p:spPr>
          <a:xfrm>
            <a:off x="6415711" y="2487128"/>
            <a:ext cx="426855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spcBef>
                <a:spcPts val="600"/>
              </a:spcBef>
              <a:spcAft>
                <a:spcPts val="600"/>
              </a:spcAft>
              <a:buAutoNum type="arabicPeriod"/>
              <a:defRPr/>
            </a:pPr>
            <a:r>
              <a:rPr lang="ko-KR" altLang="en-US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원가 기반 </a:t>
            </a:r>
            <a:r>
              <a:rPr lang="en-US" altLang="ko-KR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</a:p>
          <a:p>
            <a:pPr marL="228600" indent="-228600">
              <a:spcBef>
                <a:spcPts val="600"/>
              </a:spcBef>
              <a:spcAft>
                <a:spcPts val="600"/>
              </a:spcAft>
              <a:buAutoNum type="arabicPeriod"/>
              <a:defRPr/>
            </a:pPr>
            <a:r>
              <a:rPr lang="ko-KR" altLang="en-US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경쟁사 비교 </a:t>
            </a:r>
            <a:r>
              <a:rPr lang="en-US" altLang="ko-KR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</a:p>
          <a:p>
            <a:pPr marL="228600" indent="-228600">
              <a:spcBef>
                <a:spcPts val="600"/>
              </a:spcBef>
              <a:spcAft>
                <a:spcPts val="600"/>
              </a:spcAft>
              <a:buAutoNum type="arabicPeriod"/>
              <a:defRPr/>
            </a:pPr>
            <a:r>
              <a:rPr lang="ko-KR" altLang="en-US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가치 기반 </a:t>
            </a:r>
            <a:r>
              <a:rPr lang="en-US" altLang="ko-KR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0939E1-2CD5-4C81-9ABB-330EBC7CD4BE}"/>
              </a:ext>
            </a:extLst>
          </p:cNvPr>
          <p:cNvSpPr txBox="1"/>
          <p:nvPr/>
        </p:nvSpPr>
        <p:spPr>
          <a:xfrm>
            <a:off x="578330" y="3441235"/>
            <a:ext cx="426855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spcBef>
                <a:spcPts val="600"/>
              </a:spcBef>
              <a:spcAft>
                <a:spcPts val="600"/>
              </a:spcAft>
              <a:buAutoNum type="arabicPeriod"/>
              <a:defRPr/>
            </a:pPr>
            <a:r>
              <a:rPr lang="ko-KR" altLang="en-US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고객 경험형 </a:t>
            </a:r>
            <a:r>
              <a:rPr lang="en-US" altLang="ko-KR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</a:p>
          <a:p>
            <a:pPr marL="228600" indent="-228600">
              <a:spcBef>
                <a:spcPts val="600"/>
              </a:spcBef>
              <a:spcAft>
                <a:spcPts val="600"/>
              </a:spcAft>
              <a:buAutoNum type="arabicPeriod"/>
              <a:defRPr/>
            </a:pPr>
            <a:r>
              <a:rPr lang="ko-KR" altLang="en-US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고객 옵션형 </a:t>
            </a:r>
            <a:r>
              <a:rPr lang="en-US" altLang="ko-KR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SOS, </a:t>
            </a:r>
            <a:r>
              <a:rPr lang="ko-KR" altLang="en-US" sz="1200" b="1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하절기</a:t>
            </a:r>
            <a:r>
              <a:rPr lang="en-US" altLang="ko-KR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lang="ko-KR" altLang="en-US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동절기 특별점검 </a:t>
            </a:r>
            <a:endParaRPr lang="en-US" altLang="ko-KR" sz="1200" b="1" dirty="0">
              <a:solidFill>
                <a:srgbClr val="0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28600" indent="-228600">
              <a:spcBef>
                <a:spcPts val="600"/>
              </a:spcBef>
              <a:spcAft>
                <a:spcPts val="600"/>
              </a:spcAft>
              <a:buAutoNum type="arabicPeriod"/>
              <a:defRPr/>
            </a:pPr>
            <a:r>
              <a:rPr lang="ko-KR" altLang="en-US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프리미엄 </a:t>
            </a:r>
            <a:r>
              <a:rPr lang="ko-KR" altLang="en-US" sz="1200" b="1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턴키형</a:t>
            </a:r>
            <a:r>
              <a:rPr lang="ko-KR" altLang="en-US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공사관리</a:t>
            </a:r>
            <a:r>
              <a:rPr lang="en-US" altLang="ko-KR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중개</a:t>
            </a:r>
            <a:r>
              <a:rPr lang="en-US" altLang="ko-KR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712DE586-46CB-4D39-94A3-9F63F97EE3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0224" y="5756790"/>
            <a:ext cx="4138216" cy="213316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D20C2A9-A323-4F19-9CEC-0865E83EAB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5547" y="3518415"/>
            <a:ext cx="6038850" cy="2238375"/>
          </a:xfrm>
          <a:prstGeom prst="rect">
            <a:avLst/>
          </a:prstGeom>
        </p:spPr>
      </p:pic>
      <p:sp>
        <p:nvSpPr>
          <p:cNvPr id="13" name="Text Box 7">
            <a:extLst>
              <a:ext uri="{FF2B5EF4-FFF2-40B4-BE49-F238E27FC236}">
                <a16:creationId xmlns:a16="http://schemas.microsoft.com/office/drawing/2014/main" id="{7DD7463C-6878-41F0-B57A-3CA885C06B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504" y="831442"/>
            <a:ext cx="11521805" cy="6160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85738" indent="-185738"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indent="0" latinLnBrk="0">
              <a:lnSpc>
                <a:spcPct val="110000"/>
              </a:lnSpc>
              <a:spcBef>
                <a:spcPct val="50000"/>
              </a:spcBef>
              <a:buSzPct val="80000"/>
              <a:buNone/>
            </a:pPr>
            <a:r>
              <a:rPr lang="ko-KR" altLang="en-US" sz="16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고객 </a:t>
            </a:r>
            <a:r>
              <a:rPr lang="en-US" altLang="ko-KR" sz="16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Needs </a:t>
            </a:r>
            <a:r>
              <a:rPr lang="ko-KR" altLang="en-US" sz="16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 영업 활성화를 위하여 </a:t>
            </a:r>
            <a:r>
              <a:rPr lang="en-US" altLang="ko-KR" sz="16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24</a:t>
            </a:r>
            <a:r>
              <a:rPr lang="ko-KR" altLang="en-US" sz="16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년도에 수립된 </a:t>
            </a:r>
            <a:r>
              <a:rPr lang="ko-KR" altLang="en-US" sz="1600" b="1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프라이싱</a:t>
            </a:r>
            <a:r>
              <a:rPr lang="ko-KR" altLang="en-US" sz="16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방안을 </a:t>
            </a:r>
            <a:r>
              <a:rPr lang="en-US" altLang="ko-KR" sz="16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25</a:t>
            </a:r>
            <a:r>
              <a:rPr lang="ko-KR" altLang="en-US" sz="16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년도 인상된 간접비율 반영 및 고객의 선택 폭을 넓히기 위한 </a:t>
            </a:r>
            <a:r>
              <a:rPr lang="en-US" altLang="ko-KR" sz="16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‘</a:t>
            </a:r>
            <a:r>
              <a:rPr lang="ko-KR" altLang="en-US" sz="16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선납 계약금 방식 도입</a:t>
            </a:r>
            <a:r>
              <a:rPr lang="en-US" altLang="ko-KR" sz="16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’</a:t>
            </a:r>
            <a:r>
              <a:rPr lang="ko-KR" altLang="en-US" sz="16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과 선택 가능한 </a:t>
            </a:r>
            <a:r>
              <a:rPr lang="en-US" altLang="ko-KR" sz="16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‘</a:t>
            </a:r>
            <a:r>
              <a:rPr lang="ko-KR" altLang="en-US" sz="16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계약기간을 추가</a:t>
            </a:r>
            <a:r>
              <a:rPr lang="en-US" altLang="ko-KR" sz="16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’</a:t>
            </a:r>
            <a:r>
              <a:rPr lang="ko-KR" altLang="en-US" sz="16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하는 방안으로 수정 설계함</a:t>
            </a:r>
            <a:endParaRPr lang="en-US" altLang="ko-KR" sz="1800" b="1" dirty="0">
              <a:solidFill>
                <a:srgbClr val="0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180AAA-46C3-4184-B2F1-6B02550129D9}"/>
              </a:ext>
            </a:extLst>
          </p:cNvPr>
          <p:cNvSpPr txBox="1"/>
          <p:nvPr/>
        </p:nvSpPr>
        <p:spPr>
          <a:xfrm>
            <a:off x="578330" y="4977804"/>
            <a:ext cx="4268557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spcBef>
                <a:spcPts val="600"/>
              </a:spcBef>
              <a:spcAft>
                <a:spcPts val="600"/>
              </a:spcAft>
              <a:buAutoNum type="arabicPeriod"/>
              <a:defRPr/>
            </a:pPr>
            <a:r>
              <a:rPr lang="ko-KR" altLang="en-US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격월</a:t>
            </a:r>
            <a:endParaRPr lang="en-US" altLang="ko-KR" sz="1200" b="1" dirty="0">
              <a:solidFill>
                <a:srgbClr val="0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28600" indent="-228600">
              <a:spcBef>
                <a:spcPts val="600"/>
              </a:spcBef>
              <a:spcAft>
                <a:spcPts val="600"/>
              </a:spcAft>
              <a:buAutoNum type="arabicPeriod"/>
              <a:defRPr/>
            </a:pPr>
            <a:r>
              <a:rPr lang="ko-KR" altLang="en-US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분기별</a:t>
            </a:r>
            <a:endParaRPr lang="en-US" altLang="ko-KR" sz="1200" b="1" dirty="0">
              <a:solidFill>
                <a:srgbClr val="0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52736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7D249781-1289-4601-B645-62108EA9532C}"/>
              </a:ext>
            </a:extLst>
          </p:cNvPr>
          <p:cNvCxnSpPr/>
          <p:nvPr/>
        </p:nvCxnSpPr>
        <p:spPr>
          <a:xfrm>
            <a:off x="0" y="606830"/>
            <a:ext cx="12192000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816E0FA-E835-46FF-AAF0-13AED362E4FF}"/>
              </a:ext>
            </a:extLst>
          </p:cNvPr>
          <p:cNvSpPr txBox="1"/>
          <p:nvPr/>
        </p:nvSpPr>
        <p:spPr>
          <a:xfrm>
            <a:off x="258619" y="159486"/>
            <a:ext cx="6517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 가격 산출 구조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C6FECB5-13B9-4CA3-B0E0-9A62332A6DE1}"/>
              </a:ext>
            </a:extLst>
          </p:cNvPr>
          <p:cNvSpPr/>
          <p:nvPr/>
        </p:nvSpPr>
        <p:spPr>
          <a:xfrm>
            <a:off x="734850" y="1602544"/>
            <a:ext cx="4326437" cy="3821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ko-KR" altLang="en-US" sz="16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○ 기본 기술료</a:t>
            </a:r>
            <a:endParaRPr kumimoji="1" lang="en-US" altLang="ko-KR" sz="16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370A881-BD5C-493A-99A7-0CD386EF7D65}"/>
              </a:ext>
            </a:extLst>
          </p:cNvPr>
          <p:cNvSpPr/>
          <p:nvPr/>
        </p:nvSpPr>
        <p:spPr>
          <a:xfrm>
            <a:off x="7186133" y="1602544"/>
            <a:ext cx="4326437" cy="3821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ko-KR" altLang="en-US" sz="16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○ 소요 시간</a:t>
            </a:r>
            <a:endParaRPr kumimoji="1" lang="en-US" altLang="ko-KR" sz="16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3" name="Text Box 7">
            <a:extLst>
              <a:ext uri="{FF2B5EF4-FFF2-40B4-BE49-F238E27FC236}">
                <a16:creationId xmlns:a16="http://schemas.microsoft.com/office/drawing/2014/main" id="{342BBB4C-23C8-4BA7-9577-0022B0ABD5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504" y="831442"/>
            <a:ext cx="11521805" cy="345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85738" indent="-185738"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indent="0" latinLnBrk="0">
              <a:lnSpc>
                <a:spcPct val="110000"/>
              </a:lnSpc>
              <a:spcBef>
                <a:spcPct val="50000"/>
              </a:spcBef>
              <a:buSzPct val="80000"/>
              <a:buNone/>
            </a:pPr>
            <a:r>
              <a:rPr lang="ko-KR" altLang="en-US" sz="16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비상주 </a:t>
            </a:r>
            <a:r>
              <a:rPr lang="ko-KR" altLang="en-US" sz="1600" b="1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패트롤</a:t>
            </a:r>
            <a:r>
              <a:rPr lang="ko-KR" altLang="en-US" sz="16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서비스는 고객이 필요로 하는 </a:t>
            </a:r>
            <a:r>
              <a:rPr lang="en-US" altLang="ko-KR" sz="16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FM </a:t>
            </a:r>
            <a:r>
              <a:rPr lang="ko-KR" altLang="en-US" sz="16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전문 기술을</a:t>
            </a:r>
            <a:r>
              <a:rPr lang="en-US" altLang="ko-KR" sz="16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6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필요한 시간만큼 구독할 수 있도록</a:t>
            </a:r>
            <a:r>
              <a:rPr lang="en-US" altLang="ko-KR" sz="16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6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기본 기술료와 소요 시간을 변수로 설계됨</a:t>
            </a:r>
            <a:endParaRPr lang="en-US" altLang="ko-KR" sz="1800" b="1" dirty="0">
              <a:solidFill>
                <a:srgbClr val="0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79E411-7733-4935-8134-6746FFB985F6}"/>
              </a:ext>
            </a:extLst>
          </p:cNvPr>
          <p:cNvSpPr txBox="1"/>
          <p:nvPr/>
        </p:nvSpPr>
        <p:spPr>
          <a:xfrm>
            <a:off x="1012441" y="2233101"/>
            <a:ext cx="432643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ko-KR" sz="12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1.  </a:t>
            </a:r>
            <a:r>
              <a:rPr lang="ko-KR" altLang="en-US" sz="12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인건비 </a:t>
            </a:r>
            <a:r>
              <a:rPr lang="en-US" altLang="ko-KR" sz="12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25</a:t>
            </a:r>
            <a:r>
              <a:rPr lang="ko-KR" altLang="en-US" sz="12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년도 엔지니어링노임단가 </a:t>
            </a:r>
            <a:r>
              <a:rPr lang="en-US" altLang="ko-KR" sz="12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2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엔지니어링협회</a:t>
            </a:r>
            <a:r>
              <a:rPr lang="en-US" altLang="ko-KR" sz="12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ko-KR" sz="12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- </a:t>
            </a:r>
            <a:r>
              <a:rPr lang="ko-KR" altLang="en-US" sz="12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기계</a:t>
            </a:r>
            <a:r>
              <a:rPr lang="en-US" altLang="ko-KR" sz="12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r>
              <a:rPr lang="ko-KR" altLang="en-US" sz="12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설비 분야 중급기술자 </a:t>
            </a:r>
            <a:r>
              <a:rPr lang="en-US" altLang="ko-KR" sz="12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281,925</a:t>
            </a:r>
            <a:r>
              <a:rPr lang="ko-KR" altLang="en-US" sz="12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r>
              <a:rPr lang="en-US" altLang="ko-KR" sz="12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/1</a:t>
            </a:r>
            <a:r>
              <a:rPr lang="ko-KR" altLang="en-US" sz="12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</a:t>
            </a:r>
            <a:endParaRPr lang="en-US" altLang="ko-KR" sz="1200" dirty="0">
              <a:solidFill>
                <a:srgbClr val="0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ko-KR" sz="12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- </a:t>
            </a:r>
            <a:r>
              <a:rPr lang="ko-KR" altLang="en-US" sz="12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전기 분야 중급기술자 </a:t>
            </a:r>
            <a:r>
              <a:rPr lang="en-US" altLang="ko-KR" sz="12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283,992</a:t>
            </a:r>
            <a:r>
              <a:rPr lang="ko-KR" altLang="en-US" sz="12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r>
              <a:rPr lang="en-US" altLang="ko-KR" sz="12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lang="ko-KR" altLang="en-US" sz="12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</a:t>
            </a:r>
            <a:endParaRPr lang="en-US" altLang="ko-KR" sz="1200" dirty="0">
              <a:solidFill>
                <a:srgbClr val="0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28600" indent="-228600">
              <a:spcBef>
                <a:spcPts val="600"/>
              </a:spcBef>
              <a:spcAft>
                <a:spcPts val="600"/>
              </a:spcAft>
              <a:buAutoNum type="arabicPeriod" startAt="2"/>
              <a:defRPr/>
            </a:pPr>
            <a:r>
              <a:rPr lang="ko-KR" altLang="en-US" sz="120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제경비</a:t>
            </a:r>
            <a:r>
              <a:rPr lang="ko-KR" altLang="en-US" sz="12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2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직접 인건비의 </a:t>
            </a:r>
            <a:r>
              <a:rPr lang="en-US" altLang="ko-KR" sz="12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110 ~ 120 %</a:t>
            </a:r>
          </a:p>
          <a:p>
            <a:pPr marL="228600" indent="-228600">
              <a:spcBef>
                <a:spcPts val="600"/>
              </a:spcBef>
              <a:spcAft>
                <a:spcPts val="600"/>
              </a:spcAft>
              <a:buAutoNum type="arabicPeriod" startAt="2"/>
              <a:defRPr/>
            </a:pPr>
            <a:r>
              <a:rPr lang="ko-KR" altLang="en-US" sz="12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기술료 </a:t>
            </a:r>
            <a:r>
              <a:rPr lang="en-US" altLang="ko-KR" sz="12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(</a:t>
            </a:r>
            <a:r>
              <a:rPr lang="ko-KR" altLang="en-US" sz="120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직접인건비</a:t>
            </a:r>
            <a:r>
              <a:rPr lang="ko-KR" altLang="en-US" sz="12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+ </a:t>
            </a:r>
            <a:r>
              <a:rPr lang="ko-KR" altLang="en-US" sz="120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제경비</a:t>
            </a:r>
            <a:r>
              <a:rPr lang="en-US" altLang="ko-KR" sz="12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x 20 ~ 40% </a:t>
            </a:r>
            <a:r>
              <a:rPr lang="ko-KR" altLang="en-US" sz="12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200" dirty="0">
              <a:solidFill>
                <a:srgbClr val="0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4640D9-297A-47EB-8D05-A9D25C68DEDE}"/>
              </a:ext>
            </a:extLst>
          </p:cNvPr>
          <p:cNvSpPr txBox="1"/>
          <p:nvPr/>
        </p:nvSpPr>
        <p:spPr>
          <a:xfrm>
            <a:off x="984731" y="5651006"/>
            <a:ext cx="4326437" cy="8248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1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※  “</a:t>
            </a:r>
            <a:r>
              <a:rPr lang="ko-KR" altLang="en-US" sz="11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중급기술자</a:t>
            </a:r>
            <a:r>
              <a:rPr lang="en-US" altLang="ko-KR" sz="11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”</a:t>
            </a:r>
            <a:r>
              <a:rPr lang="ko-KR" altLang="en-US" sz="11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정의 </a:t>
            </a:r>
            <a:r>
              <a:rPr lang="en-US" altLang="ko-KR" sz="11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1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엔지니어링산업진흥법</a:t>
            </a:r>
            <a:r>
              <a:rPr lang="en-US" altLang="ko-KR" sz="11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1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1) </a:t>
            </a:r>
            <a:r>
              <a:rPr lang="ko-KR" altLang="en-US" sz="11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기사자격 소유자로서 관련 업무를 </a:t>
            </a:r>
            <a:r>
              <a:rPr lang="en-US" altLang="ko-KR" sz="11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1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년 이상 수행한 사람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1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2) </a:t>
            </a:r>
            <a:r>
              <a:rPr lang="ko-KR" altLang="en-US" sz="11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산업기사자격 소유자로서 관련 업무를 </a:t>
            </a:r>
            <a:r>
              <a:rPr lang="en-US" altLang="ko-KR" sz="11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</a:t>
            </a:r>
            <a:r>
              <a:rPr lang="ko-KR" altLang="en-US" sz="11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년 이상 수행한 사람</a:t>
            </a:r>
            <a:endParaRPr lang="en-US" altLang="ko-KR" sz="1100" dirty="0">
              <a:solidFill>
                <a:srgbClr val="0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387A02-06BD-492E-B306-C45EB17A7EA1}"/>
              </a:ext>
            </a:extLst>
          </p:cNvPr>
          <p:cNvSpPr txBox="1"/>
          <p:nvPr/>
        </p:nvSpPr>
        <p:spPr>
          <a:xfrm>
            <a:off x="7486872" y="2233101"/>
            <a:ext cx="4326437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spcBef>
                <a:spcPts val="600"/>
              </a:spcBef>
              <a:spcAft>
                <a:spcPts val="600"/>
              </a:spcAft>
              <a:buAutoNum type="arabicPeriod"/>
              <a:defRPr/>
            </a:pPr>
            <a:r>
              <a:rPr lang="ko-KR" altLang="en-US" sz="12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기본 점검 시간 </a:t>
            </a:r>
            <a:r>
              <a:rPr lang="en-US" altLang="ko-KR" sz="12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(50</a:t>
            </a:r>
            <a:r>
              <a:rPr lang="ko-KR" altLang="en-US" sz="12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</a:t>
            </a:r>
            <a:r>
              <a:rPr lang="en-US" altLang="ko-KR" sz="12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ko-KR" sz="12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- </a:t>
            </a:r>
            <a:r>
              <a:rPr lang="ko-KR" altLang="en-US" sz="12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기본 점검 </a:t>
            </a:r>
            <a:r>
              <a:rPr lang="en-US" altLang="ko-KR" sz="12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List 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ko-KR" sz="12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- </a:t>
            </a:r>
            <a:r>
              <a:rPr lang="ko-KR" altLang="en-US" sz="12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정기점검 시</a:t>
            </a:r>
            <a:r>
              <a:rPr lang="en-US" altLang="ko-KR" sz="12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2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단순 수선 작업 </a:t>
            </a:r>
            <a:r>
              <a:rPr lang="en-US" altLang="ko-KR" sz="12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2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기본 점검 시간 이내</a:t>
            </a:r>
            <a:r>
              <a:rPr lang="en-US" altLang="ko-KR" sz="12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</a:p>
          <a:p>
            <a:pPr marL="228600" indent="-228600">
              <a:spcBef>
                <a:spcPts val="600"/>
              </a:spcBef>
              <a:spcAft>
                <a:spcPts val="600"/>
              </a:spcAft>
              <a:buAutoNum type="arabicPeriod" startAt="2"/>
              <a:defRPr/>
            </a:pPr>
            <a:r>
              <a:rPr lang="ko-KR" altLang="en-US" sz="12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서울시내 평균 이동 시간</a:t>
            </a:r>
            <a:endParaRPr lang="en-US" altLang="ko-KR" sz="1200" dirty="0">
              <a:solidFill>
                <a:srgbClr val="0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ko-KR" sz="12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- </a:t>
            </a:r>
            <a:r>
              <a:rPr lang="ko-KR" altLang="en-US" sz="12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서울시내 잠재 타겟</a:t>
            </a:r>
            <a:r>
              <a:rPr lang="en-US" altLang="ko-KR" sz="12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(2.2</a:t>
            </a:r>
            <a:r>
              <a:rPr lang="ko-KR" altLang="en-US" sz="120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만건</a:t>
            </a:r>
            <a:r>
              <a:rPr lang="en-US" altLang="ko-KR" sz="12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lang="ko-KR" altLang="en-US" sz="12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 대한 맨해튼 거리 적용</a:t>
            </a:r>
            <a:endParaRPr lang="en-US" altLang="ko-KR" sz="1200" dirty="0">
              <a:solidFill>
                <a:srgbClr val="0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ko-KR" sz="12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- 24</a:t>
            </a:r>
            <a:r>
              <a:rPr lang="ko-KR" altLang="en-US" sz="12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년도 서울시내 평균 차량 이동 시간 적용</a:t>
            </a:r>
            <a:endParaRPr lang="en-US" altLang="ko-KR" sz="1200" dirty="0">
              <a:solidFill>
                <a:srgbClr val="0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DC986D-EE50-43B0-8023-2B623A3087F2}"/>
              </a:ext>
            </a:extLst>
          </p:cNvPr>
          <p:cNvSpPr txBox="1"/>
          <p:nvPr/>
        </p:nvSpPr>
        <p:spPr>
          <a:xfrm>
            <a:off x="984730" y="5176812"/>
            <a:ext cx="4326437" cy="3170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1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※  24</a:t>
            </a:r>
            <a:r>
              <a:rPr lang="ko-KR" altLang="en-US" sz="11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년도 서울</a:t>
            </a:r>
            <a:r>
              <a:rPr lang="en-US" altLang="ko-KR" sz="11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1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본부</a:t>
            </a:r>
            <a:r>
              <a:rPr lang="en-US" altLang="ko-KR" sz="11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BS2</a:t>
            </a:r>
            <a:r>
              <a:rPr lang="ko-KR" altLang="en-US" sz="11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센터</a:t>
            </a:r>
            <a:r>
              <a:rPr lang="en-US" altLang="ko-KR" sz="11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(25</a:t>
            </a:r>
            <a:r>
              <a:rPr lang="ko-KR" altLang="en-US" sz="11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r>
              <a:rPr lang="en-US" altLang="ko-KR" sz="11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lang="ko-KR" altLang="en-US" sz="11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1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Patrol </a:t>
            </a:r>
            <a:r>
              <a:rPr lang="ko-KR" altLang="en-US" sz="11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단가 </a:t>
            </a:r>
            <a:r>
              <a:rPr lang="en-US" altLang="ko-KR" sz="11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64,089</a:t>
            </a:r>
            <a:r>
              <a:rPr lang="ko-KR" altLang="en-US" sz="11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altLang="ko-KR" sz="1100" dirty="0">
              <a:solidFill>
                <a:srgbClr val="0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6DF344-9B35-400F-95A5-1B42885235B4}"/>
              </a:ext>
            </a:extLst>
          </p:cNvPr>
          <p:cNvSpPr txBox="1"/>
          <p:nvPr/>
        </p:nvSpPr>
        <p:spPr>
          <a:xfrm>
            <a:off x="7043785" y="5176812"/>
            <a:ext cx="4326437" cy="5709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1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※  </a:t>
            </a:r>
            <a:r>
              <a:rPr lang="ko-KR" altLang="en-US" sz="110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맨해튼거리는</a:t>
            </a:r>
            <a:r>
              <a:rPr lang="ko-KR" altLang="en-US" sz="11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대각선 방향의 거리측정이 아닌 도심의 도로망이 격자모양인 점을 고려한 거리측정방법이다</a:t>
            </a:r>
            <a:r>
              <a:rPr lang="en-US" altLang="ko-KR" sz="11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7541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7D249781-1289-4601-B645-62108EA9532C}"/>
              </a:ext>
            </a:extLst>
          </p:cNvPr>
          <p:cNvCxnSpPr/>
          <p:nvPr/>
        </p:nvCxnSpPr>
        <p:spPr>
          <a:xfrm>
            <a:off x="0" y="606830"/>
            <a:ext cx="12192000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816E0FA-E835-46FF-AAF0-13AED362E4FF}"/>
              </a:ext>
            </a:extLst>
          </p:cNvPr>
          <p:cNvSpPr txBox="1"/>
          <p:nvPr/>
        </p:nvSpPr>
        <p:spPr>
          <a:xfrm>
            <a:off x="258619" y="159486"/>
            <a:ext cx="6517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 예상 매출 및 수익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C6FECB5-13B9-4CA3-B0E0-9A62332A6DE1}"/>
              </a:ext>
            </a:extLst>
          </p:cNvPr>
          <p:cNvSpPr/>
          <p:nvPr/>
        </p:nvSpPr>
        <p:spPr>
          <a:xfrm>
            <a:off x="291504" y="1743507"/>
            <a:ext cx="4326437" cy="3821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ko-KR" altLang="en-US" sz="16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○ 판매 예상치</a:t>
            </a:r>
            <a:endParaRPr kumimoji="1" lang="en-US" altLang="ko-KR" sz="16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370A881-BD5C-493A-99A7-0CD386EF7D65}"/>
              </a:ext>
            </a:extLst>
          </p:cNvPr>
          <p:cNvSpPr/>
          <p:nvPr/>
        </p:nvSpPr>
        <p:spPr>
          <a:xfrm>
            <a:off x="291504" y="2487128"/>
            <a:ext cx="4326437" cy="3821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ko-KR" altLang="en-US" sz="16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○ 수익성 분석 </a:t>
            </a:r>
            <a:r>
              <a:rPr kumimoji="1" lang="en-US" altLang="ko-KR" sz="16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kumimoji="1" lang="ko-KR" altLang="en-US" sz="16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목표 수익률</a:t>
            </a:r>
            <a:r>
              <a:rPr kumimoji="1" lang="en-US" altLang="ko-KR" sz="16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kumimoji="1" lang="en-US" altLang="ko-KR" sz="16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8A73D39-4148-4907-BAD7-AE9838B63939}"/>
              </a:ext>
            </a:extLst>
          </p:cNvPr>
          <p:cNvSpPr/>
          <p:nvPr/>
        </p:nvSpPr>
        <p:spPr>
          <a:xfrm>
            <a:off x="291504" y="3237922"/>
            <a:ext cx="4326437" cy="3821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ko-KR" altLang="en-US" sz="16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○ 손익 분기점 분석</a:t>
            </a:r>
            <a:endParaRPr kumimoji="1" lang="en-US" altLang="ko-KR" sz="16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3" name="Text Box 7">
            <a:extLst>
              <a:ext uri="{FF2B5EF4-FFF2-40B4-BE49-F238E27FC236}">
                <a16:creationId xmlns:a16="http://schemas.microsoft.com/office/drawing/2014/main" id="{342BBB4C-23C8-4BA7-9577-0022B0ABD5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504" y="831442"/>
            <a:ext cx="11521805" cy="345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85738" indent="-185738"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indent="0" latinLnBrk="0">
              <a:lnSpc>
                <a:spcPct val="110000"/>
              </a:lnSpc>
              <a:spcBef>
                <a:spcPct val="50000"/>
              </a:spcBef>
              <a:buSzPct val="80000"/>
              <a:buNone/>
            </a:pPr>
            <a:r>
              <a:rPr lang="ko-KR" altLang="en-US" sz="16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서울시에 </a:t>
            </a:r>
            <a:r>
              <a:rPr lang="en-US" altLang="ko-KR" sz="16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59</a:t>
            </a:r>
            <a:r>
              <a:rPr lang="ko-KR" altLang="en-US" sz="1600" b="1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만건의</a:t>
            </a:r>
            <a:r>
              <a:rPr lang="ko-KR" altLang="en-US" sz="16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자료 중 타겟 대상 건축물</a:t>
            </a:r>
            <a:r>
              <a:rPr lang="en-US" altLang="ko-KR" sz="16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6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주소지 기준</a:t>
            </a:r>
            <a:r>
              <a:rPr lang="en-US" altLang="ko-KR" sz="16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lang="ko-KR" altLang="en-US" sz="16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은 </a:t>
            </a:r>
            <a:r>
              <a:rPr lang="en-US" altLang="ko-KR" sz="16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22,744</a:t>
            </a:r>
            <a:r>
              <a:rPr lang="ko-KR" altLang="en-US" sz="16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건이며</a:t>
            </a:r>
            <a:r>
              <a:rPr lang="en-US" altLang="ko-KR" sz="16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6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 중 </a:t>
            </a:r>
            <a:endParaRPr lang="en-US" altLang="ko-KR" sz="1800" b="1" dirty="0">
              <a:solidFill>
                <a:srgbClr val="0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7639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F82D67D0-95A6-4C10-BD39-CE0CA9C28C7D}"/>
              </a:ext>
            </a:extLst>
          </p:cNvPr>
          <p:cNvCxnSpPr/>
          <p:nvPr/>
        </p:nvCxnSpPr>
        <p:spPr>
          <a:xfrm>
            <a:off x="0" y="606830"/>
            <a:ext cx="12192000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5D5327B-BC4C-4832-9F60-5B73E6708463}"/>
              </a:ext>
            </a:extLst>
          </p:cNvPr>
          <p:cNvSpPr txBox="1"/>
          <p:nvPr/>
        </p:nvSpPr>
        <p:spPr>
          <a:xfrm>
            <a:off x="258619" y="159486"/>
            <a:ext cx="6517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[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첨부</a:t>
            </a:r>
            <a:r>
              <a:rPr lang="en-US" altLang="ko-KR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] 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점검 목록</a:t>
            </a:r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11C90C8B-B517-474C-A3E7-5259FE04E6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5748887"/>
              </p:ext>
            </p:extLst>
          </p:nvPr>
        </p:nvGraphicFramePr>
        <p:xfrm>
          <a:off x="1686342" y="1696318"/>
          <a:ext cx="3443749" cy="4351331"/>
        </p:xfrm>
        <a:graphic>
          <a:graphicData uri="http://schemas.openxmlformats.org/drawingml/2006/table">
            <a:tbl>
              <a:tblPr/>
              <a:tblGrid>
                <a:gridCol w="458036">
                  <a:extLst>
                    <a:ext uri="{9D8B030D-6E8A-4147-A177-3AD203B41FA5}">
                      <a16:colId xmlns:a16="http://schemas.microsoft.com/office/drawing/2014/main" val="3253493842"/>
                    </a:ext>
                  </a:extLst>
                </a:gridCol>
                <a:gridCol w="1102678">
                  <a:extLst>
                    <a:ext uri="{9D8B030D-6E8A-4147-A177-3AD203B41FA5}">
                      <a16:colId xmlns:a16="http://schemas.microsoft.com/office/drawing/2014/main" val="232914206"/>
                    </a:ext>
                  </a:extLst>
                </a:gridCol>
                <a:gridCol w="1883035">
                  <a:extLst>
                    <a:ext uri="{9D8B030D-6E8A-4147-A177-3AD203B41FA5}">
                      <a16:colId xmlns:a16="http://schemas.microsoft.com/office/drawing/2014/main" val="2338827668"/>
                    </a:ext>
                  </a:extLst>
                </a:gridCol>
              </a:tblGrid>
              <a:tr h="27991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marL="6362" marR="6362" marT="63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개별설비</a:t>
                      </a:r>
                    </a:p>
                  </a:txBody>
                  <a:tcPr marL="6362" marR="6362" marT="63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점검사항</a:t>
                      </a:r>
                    </a:p>
                  </a:txBody>
                  <a:tcPr marL="6362" marR="6362" marT="63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7802093"/>
                  </a:ext>
                </a:extLst>
              </a:tr>
              <a:tr h="203571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기계</a:t>
                      </a:r>
                    </a:p>
                  </a:txBody>
                  <a:tcPr marL="6362" marR="6362" marT="63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화장실</a:t>
                      </a:r>
                    </a:p>
                  </a:txBody>
                  <a:tcPr marL="6362" marR="6362" marT="63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디퓨져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 상태 확인</a:t>
                      </a:r>
                    </a:p>
                  </a:txBody>
                  <a:tcPr marL="6362" marR="6362" marT="63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958501"/>
                  </a:ext>
                </a:extLst>
              </a:tr>
              <a:tr h="20357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세면기 작동상태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외관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누수 확인</a:t>
                      </a:r>
                    </a:p>
                  </a:txBody>
                  <a:tcPr marL="6362" marR="6362" marT="63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2395115"/>
                  </a:ext>
                </a:extLst>
              </a:tr>
              <a:tr h="20357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소변기 외관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누수확인</a:t>
                      </a:r>
                    </a:p>
                  </a:txBody>
                  <a:tcPr marL="6362" marR="6362" marT="63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465476"/>
                  </a:ext>
                </a:extLst>
              </a:tr>
              <a:tr h="20357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양변기 작동상태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외관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누수 확인</a:t>
                      </a:r>
                    </a:p>
                  </a:txBody>
                  <a:tcPr marL="6362" marR="6362" marT="63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5526125"/>
                  </a:ext>
                </a:extLst>
              </a:tr>
              <a:tr h="20357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공기질측정</a:t>
                      </a:r>
                    </a:p>
                  </a:txBody>
                  <a:tcPr marL="6362" marR="6362" marT="63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CO/ CO₂/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온도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습도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(2~3 Point/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층당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6362" marR="6362" marT="63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4176022"/>
                  </a:ext>
                </a:extLst>
              </a:tr>
              <a:tr h="203571">
                <a:tc rowSpan="7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건축</a:t>
                      </a:r>
                    </a:p>
                  </a:txBody>
                  <a:tcPr marL="6362" marR="6362" marT="63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출입문</a:t>
                      </a:r>
                    </a:p>
                  </a:txBody>
                  <a:tcPr marL="6362" marR="6362" marT="63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개폐상태 점검</a:t>
                      </a:r>
                    </a:p>
                  </a:txBody>
                  <a:tcPr marL="6362" marR="6362" marT="63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8742443"/>
                  </a:ext>
                </a:extLst>
              </a:tr>
              <a:tr h="20357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외관상태 점검</a:t>
                      </a:r>
                    </a:p>
                  </a:txBody>
                  <a:tcPr marL="6362" marR="6362" marT="63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2066717"/>
                  </a:ext>
                </a:extLst>
              </a:tr>
              <a:tr h="20357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처짐유뮤 확인</a:t>
                      </a:r>
                    </a:p>
                  </a:txBody>
                  <a:tcPr marL="6362" marR="6362" marT="63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856455"/>
                  </a:ext>
                </a:extLst>
              </a:tr>
              <a:tr h="20357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방화문</a:t>
                      </a:r>
                    </a:p>
                  </a:txBody>
                  <a:tcPr marL="6362" marR="6362" marT="63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개폐상태 점검</a:t>
                      </a:r>
                    </a:p>
                  </a:txBody>
                  <a:tcPr marL="6362" marR="6362" marT="63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9254968"/>
                  </a:ext>
                </a:extLst>
              </a:tr>
              <a:tr h="20357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도어스토퍼 설치여부 점검</a:t>
                      </a:r>
                    </a:p>
                  </a:txBody>
                  <a:tcPr marL="6362" marR="6362" marT="63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5546550"/>
                  </a:ext>
                </a:extLst>
              </a:tr>
              <a:tr h="20357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실내마감</a:t>
                      </a:r>
                    </a:p>
                  </a:txBody>
                  <a:tcPr marL="6362" marR="6362" marT="63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블라인드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부착물 상태 점검</a:t>
                      </a:r>
                    </a:p>
                  </a:txBody>
                  <a:tcPr marL="6362" marR="6362" marT="63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8575117"/>
                  </a:ext>
                </a:extLst>
              </a:tr>
              <a:tr h="20357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천장 오염상태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파손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변형 여부 확인</a:t>
                      </a:r>
                    </a:p>
                  </a:txBody>
                  <a:tcPr marL="6362" marR="6362" marT="63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1945550"/>
                  </a:ext>
                </a:extLst>
              </a:tr>
              <a:tr h="203571"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전기</a:t>
                      </a:r>
                    </a:p>
                  </a:txBody>
                  <a:tcPr marL="6362" marR="6362" marT="63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전등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스위치</a:t>
                      </a:r>
                    </a:p>
                  </a:txBody>
                  <a:tcPr marL="6362" marR="6362" marT="63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Lamp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점등  상태 점검</a:t>
                      </a:r>
                    </a:p>
                  </a:txBody>
                  <a:tcPr marL="6362" marR="6362" marT="63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7489587"/>
                  </a:ext>
                </a:extLst>
              </a:tr>
              <a:tr h="20357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등기구 고정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파손 상태 점검</a:t>
                      </a:r>
                    </a:p>
                  </a:txBody>
                  <a:tcPr marL="6362" marR="6362" marT="63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5135413"/>
                  </a:ext>
                </a:extLst>
              </a:tr>
              <a:tr h="20357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스위치 상태 점검</a:t>
                      </a:r>
                    </a:p>
                  </a:txBody>
                  <a:tcPr marL="6362" marR="6362" marT="63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4447335"/>
                  </a:ext>
                </a:extLst>
              </a:tr>
              <a:tr h="20357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콘센트</a:t>
                      </a:r>
                    </a:p>
                  </a:txBody>
                  <a:tcPr marL="6362" marR="6362" marT="63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콘센트 파손 및 변형 상태 점검</a:t>
                      </a:r>
                    </a:p>
                  </a:txBody>
                  <a:tcPr marL="6362" marR="6362" marT="63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3004657"/>
                  </a:ext>
                </a:extLst>
              </a:tr>
              <a:tr h="20357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분전반</a:t>
                      </a:r>
                    </a:p>
                  </a:txBody>
                  <a:tcPr marL="6362" marR="6362" marT="63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Cable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열화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손상 유무 점검</a:t>
                      </a:r>
                    </a:p>
                  </a:txBody>
                  <a:tcPr marL="6362" marR="6362" marT="63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491596"/>
                  </a:ext>
                </a:extLst>
              </a:tr>
              <a:tr h="20357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볼팅 상태 점검</a:t>
                      </a:r>
                    </a:p>
                  </a:txBody>
                  <a:tcPr marL="6362" marR="6362" marT="63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0033027"/>
                  </a:ext>
                </a:extLst>
              </a:tr>
              <a:tr h="20357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소방</a:t>
                      </a:r>
                    </a:p>
                  </a:txBody>
                  <a:tcPr marL="6362" marR="6362" marT="63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소화기</a:t>
                      </a:r>
                    </a:p>
                  </a:txBody>
                  <a:tcPr marL="6362" marR="6362" marT="63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소화기 외관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.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충전압력 점검</a:t>
                      </a:r>
                    </a:p>
                  </a:txBody>
                  <a:tcPr marL="6362" marR="6362" marT="63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442727"/>
                  </a:ext>
                </a:extLst>
              </a:tr>
              <a:tr h="20357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유도등</a:t>
                      </a:r>
                    </a:p>
                  </a:txBody>
                  <a:tcPr marL="6362" marR="6362" marT="63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외관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동작유무 점검</a:t>
                      </a:r>
                    </a:p>
                  </a:txBody>
                  <a:tcPr marL="6362" marR="6362" marT="636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7388917"/>
                  </a:ext>
                </a:extLst>
              </a:tr>
            </a:tbl>
          </a:graphicData>
        </a:graphic>
      </p:graphicFrame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529D9CB3-3FFF-4852-AF27-BABA2C648CFA}"/>
              </a:ext>
            </a:extLst>
          </p:cNvPr>
          <p:cNvSpPr/>
          <p:nvPr/>
        </p:nvSpPr>
        <p:spPr>
          <a:xfrm>
            <a:off x="1686342" y="1124387"/>
            <a:ext cx="3443749" cy="37214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패트롤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점검 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List</a:t>
            </a:r>
            <a:endParaRPr lang="ko-KR" altLang="en-US" sz="1600" b="1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720B31FF-04E9-4053-9A64-BDD63156CE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5422980"/>
              </p:ext>
            </p:extLst>
          </p:nvPr>
        </p:nvGraphicFramePr>
        <p:xfrm>
          <a:off x="6095999" y="1696316"/>
          <a:ext cx="3443749" cy="4351331"/>
        </p:xfrm>
        <a:graphic>
          <a:graphicData uri="http://schemas.openxmlformats.org/drawingml/2006/table">
            <a:tbl>
              <a:tblPr/>
              <a:tblGrid>
                <a:gridCol w="741979">
                  <a:extLst>
                    <a:ext uri="{9D8B030D-6E8A-4147-A177-3AD203B41FA5}">
                      <a16:colId xmlns:a16="http://schemas.microsoft.com/office/drawing/2014/main" val="3000061674"/>
                    </a:ext>
                  </a:extLst>
                </a:gridCol>
                <a:gridCol w="2701770">
                  <a:extLst>
                    <a:ext uri="{9D8B030D-6E8A-4147-A177-3AD203B41FA5}">
                      <a16:colId xmlns:a16="http://schemas.microsoft.com/office/drawing/2014/main" val="4258286412"/>
                    </a:ext>
                  </a:extLst>
                </a:gridCol>
              </a:tblGrid>
              <a:tr h="26653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marL="7375" marR="7375" marT="73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수선 항목</a:t>
                      </a:r>
                    </a:p>
                  </a:txBody>
                  <a:tcPr marL="7375" marR="7375" marT="73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4289099"/>
                  </a:ext>
                </a:extLst>
              </a:tr>
              <a:tr h="240282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전기</a:t>
                      </a:r>
                    </a:p>
                  </a:txBody>
                  <a:tcPr marL="7375" marR="7375" marT="73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층고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3M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이하 램프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안정기 교체</a:t>
                      </a:r>
                    </a:p>
                  </a:txBody>
                  <a:tcPr marL="7375" marR="7375" marT="73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7345649"/>
                  </a:ext>
                </a:extLst>
              </a:tr>
              <a:tr h="2402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분전반 단자 조임</a:t>
                      </a:r>
                    </a:p>
                  </a:txBody>
                  <a:tcPr marL="7375" marR="7375" marT="73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160220"/>
                  </a:ext>
                </a:extLst>
              </a:tr>
              <a:tr h="2402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콘센트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스위치 교체 및 보수</a:t>
                      </a:r>
                    </a:p>
                  </a:txBody>
                  <a:tcPr marL="7375" marR="7375" marT="73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7672377"/>
                  </a:ext>
                </a:extLst>
              </a:tr>
              <a:tr h="2402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누전 보수</a:t>
                      </a:r>
                    </a:p>
                  </a:txBody>
                  <a:tcPr marL="7375" marR="7375" marT="73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5640075"/>
                  </a:ext>
                </a:extLst>
              </a:tr>
              <a:tr h="240282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기계</a:t>
                      </a:r>
                    </a:p>
                  </a:txBody>
                  <a:tcPr marL="7375" marR="7375" marT="73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수전 교체</a:t>
                      </a:r>
                    </a:p>
                  </a:txBody>
                  <a:tcPr marL="7375" marR="7375" marT="73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0788224"/>
                  </a:ext>
                </a:extLst>
              </a:tr>
              <a:tr h="2402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트랩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폽업 교체</a:t>
                      </a:r>
                    </a:p>
                  </a:txBody>
                  <a:tcPr marL="7375" marR="7375" marT="73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368374"/>
                  </a:ext>
                </a:extLst>
              </a:tr>
              <a:tr h="2402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누수 보수</a:t>
                      </a:r>
                    </a:p>
                  </a:txBody>
                  <a:tcPr marL="7375" marR="7375" marT="73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3585373"/>
                  </a:ext>
                </a:extLst>
              </a:tr>
              <a:tr h="2402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대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소변기 후레쉬 밸브 교체</a:t>
                      </a:r>
                    </a:p>
                  </a:txBody>
                  <a:tcPr marL="7375" marR="7375" marT="73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9793691"/>
                  </a:ext>
                </a:extLst>
              </a:tr>
              <a:tr h="240282"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건축</a:t>
                      </a:r>
                    </a:p>
                  </a:txBody>
                  <a:tcPr marL="7375" marR="7375" marT="73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출입문 시건 장치 보수</a:t>
                      </a:r>
                    </a:p>
                  </a:txBody>
                  <a:tcPr marL="7375" marR="7375" marT="73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0004559"/>
                  </a:ext>
                </a:extLst>
              </a:tr>
              <a:tr h="2402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도어클로져 교체</a:t>
                      </a:r>
                    </a:p>
                  </a:txBody>
                  <a:tcPr marL="7375" marR="7375" marT="73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3630510"/>
                  </a:ext>
                </a:extLst>
              </a:tr>
              <a:tr h="2402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도어락 교체</a:t>
                      </a:r>
                    </a:p>
                  </a:txBody>
                  <a:tcPr marL="7375" marR="7375" marT="73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221005"/>
                  </a:ext>
                </a:extLst>
              </a:tr>
              <a:tr h="2402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천장 마감재 교체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텍스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7375" marR="7375" marT="73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312858"/>
                  </a:ext>
                </a:extLst>
              </a:tr>
              <a:tr h="2402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부분 실리콘 작업</a:t>
                      </a:r>
                    </a:p>
                  </a:txBody>
                  <a:tcPr marL="7375" marR="7375" marT="73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8951123"/>
                  </a:ext>
                </a:extLst>
              </a:tr>
              <a:tr h="2402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도어 범퍼 설치 및 교체</a:t>
                      </a:r>
                    </a:p>
                  </a:txBody>
                  <a:tcPr marL="7375" marR="7375" marT="73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7459381"/>
                  </a:ext>
                </a:extLst>
              </a:tr>
              <a:tr h="240282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소방</a:t>
                      </a:r>
                    </a:p>
                  </a:txBody>
                  <a:tcPr marL="7375" marR="7375" marT="73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소화기 교체</a:t>
                      </a:r>
                    </a:p>
                  </a:txBody>
                  <a:tcPr marL="7375" marR="7375" marT="73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9475923"/>
                  </a:ext>
                </a:extLst>
              </a:tr>
              <a:tr h="2402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유도등 교체</a:t>
                      </a:r>
                    </a:p>
                  </a:txBody>
                  <a:tcPr marL="7375" marR="7375" marT="73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0969555"/>
                  </a:ext>
                </a:extLst>
              </a:tr>
              <a:tr h="2402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유도등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Battery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G스마트체 Regular"/>
                          <a:ea typeface="맑은 고딕" panose="020B0503020000020004" pitchFamily="50" charset="-127"/>
                        </a:rPr>
                        <a:t>교체</a:t>
                      </a:r>
                    </a:p>
                  </a:txBody>
                  <a:tcPr marL="7375" marR="7375" marT="73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5827026"/>
                  </a:ext>
                </a:extLst>
              </a:tr>
            </a:tbl>
          </a:graphicData>
        </a:graphic>
      </p:graphicFrame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BBEF0AB7-697D-47A1-9EBC-5679AF58767F}"/>
              </a:ext>
            </a:extLst>
          </p:cNvPr>
          <p:cNvSpPr/>
          <p:nvPr/>
        </p:nvSpPr>
        <p:spPr>
          <a:xfrm>
            <a:off x="6096000" y="1124387"/>
            <a:ext cx="3443749" cy="37214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정기점검 시 단순 보수 수선 범위 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(50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 이내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ko-KR" altLang="en-US" sz="1600" b="1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5907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F82D67D0-95A6-4C10-BD39-CE0CA9C28C7D}"/>
              </a:ext>
            </a:extLst>
          </p:cNvPr>
          <p:cNvCxnSpPr/>
          <p:nvPr/>
        </p:nvCxnSpPr>
        <p:spPr>
          <a:xfrm>
            <a:off x="0" y="606830"/>
            <a:ext cx="12192000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5D5327B-BC4C-4832-9F60-5B73E6708463}"/>
              </a:ext>
            </a:extLst>
          </p:cNvPr>
          <p:cNvSpPr txBox="1"/>
          <p:nvPr/>
        </p:nvSpPr>
        <p:spPr>
          <a:xfrm>
            <a:off x="258619" y="159486"/>
            <a:ext cx="6517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[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첨부</a:t>
            </a:r>
            <a:r>
              <a:rPr lang="en-US" altLang="ko-KR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] 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이동 시간 예측 결과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C13C0C2-3ACA-4141-8E9C-F64BF33166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227" y="5295870"/>
            <a:ext cx="9172575" cy="10668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635E10C-36DA-4639-ADA4-43108A2D06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6904" y="1213630"/>
            <a:ext cx="3206774" cy="332870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C1BAB1A-86F3-4C6B-838C-C9933BD2A75E}"/>
              </a:ext>
            </a:extLst>
          </p:cNvPr>
          <p:cNvSpPr txBox="1"/>
          <p:nvPr/>
        </p:nvSpPr>
        <p:spPr>
          <a:xfrm>
            <a:off x="192688" y="829886"/>
            <a:ext cx="16164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87313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  <a:defRPr/>
            </a:pPr>
            <a:r>
              <a:rPr lang="en-US" altLang="ko-KR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이동 시간 예측 분석</a:t>
            </a:r>
            <a:endParaRPr lang="en-US" altLang="ko-KR" sz="1200" b="1" dirty="0">
              <a:solidFill>
                <a:srgbClr val="0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ED13B23-D3CC-4F9E-BD04-F38815ED7738}"/>
              </a:ext>
            </a:extLst>
          </p:cNvPr>
          <p:cNvSpPr/>
          <p:nvPr/>
        </p:nvSpPr>
        <p:spPr>
          <a:xfrm>
            <a:off x="494612" y="1227409"/>
            <a:ext cx="3579962" cy="3424235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357D7D-CAD5-462C-931F-0E9825DFF88E}"/>
              </a:ext>
            </a:extLst>
          </p:cNvPr>
          <p:cNvSpPr txBox="1"/>
          <p:nvPr/>
        </p:nvSpPr>
        <p:spPr>
          <a:xfrm>
            <a:off x="250064" y="1489861"/>
            <a:ext cx="385866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1325" indent="-1714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  <a:defRPr/>
            </a:pPr>
            <a:r>
              <a:rPr lang="en-US" altLang="ko-KR" sz="1100" b="1" u="sng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22,744</a:t>
            </a:r>
            <a:r>
              <a:rPr lang="ko-KR" altLang="en-US" sz="1100" b="1" u="sng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건에 대한 </a:t>
            </a:r>
            <a:r>
              <a:rPr lang="en-US" altLang="ko-KR" sz="1100" b="1" u="sng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100" b="1" u="sng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 서비스센터에서의 이동시간</a:t>
            </a:r>
            <a:endParaRPr lang="en-US" altLang="ko-KR" sz="1100" b="1" u="sng" dirty="0">
              <a:solidFill>
                <a:srgbClr val="0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69875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ko-KR" sz="11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- 50%</a:t>
            </a:r>
            <a:r>
              <a:rPr lang="ko-KR" altLang="en-US" sz="11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 </a:t>
            </a:r>
            <a:r>
              <a:rPr lang="ko-KR" altLang="en-US" sz="110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잠재타겟은</a:t>
            </a:r>
            <a:r>
              <a:rPr lang="ko-KR" altLang="en-US" sz="11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1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16.2</a:t>
            </a:r>
            <a:r>
              <a:rPr lang="ko-KR" altLang="en-US" sz="11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 거리에 위치</a:t>
            </a:r>
            <a:endParaRPr lang="en-US" altLang="ko-KR" sz="1100" dirty="0">
              <a:solidFill>
                <a:srgbClr val="0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69875">
              <a:spcAft>
                <a:spcPts val="600"/>
              </a:spcAft>
              <a:defRPr/>
            </a:pPr>
            <a:r>
              <a:rPr lang="en-US" altLang="ko-KR" sz="11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- 75%</a:t>
            </a:r>
            <a:r>
              <a:rPr lang="ko-KR" altLang="en-US" sz="11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 </a:t>
            </a:r>
            <a:r>
              <a:rPr lang="ko-KR" altLang="en-US" sz="110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잠재타겟이</a:t>
            </a:r>
            <a:r>
              <a:rPr lang="ko-KR" altLang="en-US" sz="11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1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26.0</a:t>
            </a:r>
            <a:r>
              <a:rPr lang="ko-KR" altLang="en-US" sz="11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 거리에 위치</a:t>
            </a:r>
            <a:endParaRPr lang="en-US" altLang="ko-KR" sz="1100" dirty="0">
              <a:solidFill>
                <a:srgbClr val="0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69875">
              <a:spcAft>
                <a:spcPts val="600"/>
              </a:spcAft>
              <a:defRPr/>
            </a:pPr>
            <a:r>
              <a:rPr lang="en-US" altLang="ko-KR" sz="11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- </a:t>
            </a:r>
            <a:r>
              <a:rPr lang="ko-KR" altLang="en-US" sz="11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최대 거리</a:t>
            </a:r>
            <a:r>
              <a:rPr lang="en-US" altLang="ko-KR" sz="11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(23.8km)</a:t>
            </a:r>
            <a:r>
              <a:rPr lang="ko-KR" altLang="en-US" sz="11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 위치한 타겟 이동 시간은 </a:t>
            </a:r>
            <a:r>
              <a:rPr lang="en-US" altLang="ko-KR" sz="11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62.6</a:t>
            </a:r>
            <a:r>
              <a:rPr lang="ko-KR" altLang="en-US" sz="11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</a:t>
            </a:r>
            <a:endParaRPr lang="en-US" altLang="ko-KR" sz="1100" dirty="0">
              <a:solidFill>
                <a:srgbClr val="0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D6DDC08-FE31-4E81-8846-C4656EB16FC0}"/>
              </a:ext>
            </a:extLst>
          </p:cNvPr>
          <p:cNvSpPr txBox="1"/>
          <p:nvPr/>
        </p:nvSpPr>
        <p:spPr>
          <a:xfrm>
            <a:off x="250064" y="4909561"/>
            <a:ext cx="8454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87313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  <a:defRPr/>
            </a:pPr>
            <a:r>
              <a:rPr lang="en-US" altLang="ko-KR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샘플링</a:t>
            </a:r>
            <a:endParaRPr lang="en-US" altLang="ko-KR" sz="1200" b="1" dirty="0">
              <a:solidFill>
                <a:srgbClr val="0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8B3977E-A655-43E7-8ABF-E753E35155DE}"/>
              </a:ext>
            </a:extLst>
          </p:cNvPr>
          <p:cNvSpPr/>
          <p:nvPr/>
        </p:nvSpPr>
        <p:spPr>
          <a:xfrm>
            <a:off x="6967153" y="3781439"/>
            <a:ext cx="45862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fontAlgn="ctr"/>
            <a:r>
              <a:rPr kumimoji="1" lang="en-US" altLang="ko-KR" sz="900" b="1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8.3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27B6E3A-D4A0-4A7E-9D87-45A7193B0F6F}"/>
              </a:ext>
            </a:extLst>
          </p:cNvPr>
          <p:cNvSpPr/>
          <p:nvPr/>
        </p:nvSpPr>
        <p:spPr>
          <a:xfrm>
            <a:off x="6967153" y="3495952"/>
            <a:ext cx="45862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fontAlgn="ctr"/>
            <a:r>
              <a:rPr kumimoji="1" lang="en-US" altLang="ko-KR" sz="900" b="1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16.2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6E73EAE-4672-4982-AD58-7A9BDB759009}"/>
              </a:ext>
            </a:extLst>
          </p:cNvPr>
          <p:cNvSpPr/>
          <p:nvPr/>
        </p:nvSpPr>
        <p:spPr>
          <a:xfrm>
            <a:off x="6967153" y="3095049"/>
            <a:ext cx="45862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fontAlgn="ctr"/>
            <a:r>
              <a:rPr kumimoji="1" lang="en-US" altLang="ko-KR" sz="900" b="1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26.0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9F7029E-321E-41FF-9782-3A9923166957}"/>
              </a:ext>
            </a:extLst>
          </p:cNvPr>
          <p:cNvSpPr/>
          <p:nvPr/>
        </p:nvSpPr>
        <p:spPr>
          <a:xfrm>
            <a:off x="6967153" y="1571049"/>
            <a:ext cx="45862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fontAlgn="ctr"/>
            <a:r>
              <a:rPr kumimoji="1" lang="en-US" altLang="ko-KR" sz="900" b="1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62.6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C0BE51F-3F40-46A8-94E1-2E3750BBACC1}"/>
              </a:ext>
            </a:extLst>
          </p:cNvPr>
          <p:cNvSpPr/>
          <p:nvPr/>
        </p:nvSpPr>
        <p:spPr>
          <a:xfrm>
            <a:off x="6967153" y="1106885"/>
            <a:ext cx="71652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fontAlgn="ctr"/>
            <a:r>
              <a:rPr kumimoji="1" lang="ko-KR" altLang="en-US" sz="900" b="1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단위</a:t>
            </a:r>
            <a:r>
              <a:rPr kumimoji="1" lang="en-US" altLang="ko-KR" sz="900" b="1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r>
              <a:rPr kumimoji="1" lang="ko-KR" altLang="en-US" sz="900" b="1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</a:t>
            </a:r>
            <a:endParaRPr kumimoji="1" lang="en-US" altLang="ko-KR" sz="900" b="1" dirty="0">
              <a:solidFill>
                <a:prstClr val="black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CFFF09A-A23D-4003-A8AA-6459C6D54B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0580" y="1186499"/>
            <a:ext cx="3858661" cy="3328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2751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F82D67D0-95A6-4C10-BD39-CE0CA9C28C7D}"/>
              </a:ext>
            </a:extLst>
          </p:cNvPr>
          <p:cNvCxnSpPr/>
          <p:nvPr/>
        </p:nvCxnSpPr>
        <p:spPr>
          <a:xfrm>
            <a:off x="0" y="606830"/>
            <a:ext cx="12192000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5D5327B-BC4C-4832-9F60-5B73E6708463}"/>
              </a:ext>
            </a:extLst>
          </p:cNvPr>
          <p:cNvSpPr txBox="1"/>
          <p:nvPr/>
        </p:nvSpPr>
        <p:spPr>
          <a:xfrm>
            <a:off x="258619" y="159486"/>
            <a:ext cx="6517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[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첨부</a:t>
            </a:r>
            <a:r>
              <a:rPr lang="en-US" altLang="ko-KR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] 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예측 근거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8917771-55B5-4523-BF98-7E821275CD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944" y="1126838"/>
            <a:ext cx="4002729" cy="492326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1ABF0BD-C2E6-4502-8816-869AB5853D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0400" y="1126838"/>
            <a:ext cx="3856691" cy="4923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0630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EECDB87-0D79-4F07-8EA5-28259846E317}"/>
              </a:ext>
            </a:extLst>
          </p:cNvPr>
          <p:cNvSpPr/>
          <p:nvPr/>
        </p:nvSpPr>
        <p:spPr>
          <a:xfrm>
            <a:off x="5638306" y="2115332"/>
            <a:ext cx="3597215" cy="32330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/>
              </a:solidFill>
              <a:latin typeface="NanumSquareOTF" panose="020B0600000101010101" pitchFamily="34" charset="-127"/>
              <a:ea typeface="NanumSquareOTF" panose="020B0600000101010101" pitchFamily="34" charset="-127"/>
            </a:endParaRPr>
          </a:p>
        </p:txBody>
      </p:sp>
      <p:sp>
        <p:nvSpPr>
          <p:cNvPr id="3" name="Text Box 7">
            <a:extLst>
              <a:ext uri="{FF2B5EF4-FFF2-40B4-BE49-F238E27FC236}">
                <a16:creationId xmlns:a16="http://schemas.microsoft.com/office/drawing/2014/main" id="{9356F48B-C35C-4D9E-B37D-796D36389C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504" y="831442"/>
            <a:ext cx="8941413" cy="55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85738" indent="-185738"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indent="0" latinLnBrk="0">
              <a:lnSpc>
                <a:spcPct val="110000"/>
              </a:lnSpc>
              <a:spcBef>
                <a:spcPct val="50000"/>
              </a:spcBef>
              <a:buSzPct val="80000"/>
              <a:buNone/>
            </a:pPr>
            <a:r>
              <a:rPr lang="ko-KR" altLang="en-US" sz="14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고객 </a:t>
            </a:r>
            <a:r>
              <a:rPr lang="en-US" altLang="ko-KR" sz="14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Needs </a:t>
            </a:r>
            <a:r>
              <a:rPr lang="ko-KR" altLang="en-US" sz="14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 영업 활성화를 위하여 </a:t>
            </a:r>
            <a:r>
              <a:rPr lang="en-US" altLang="ko-KR" sz="14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24</a:t>
            </a:r>
            <a:r>
              <a:rPr lang="ko-KR" altLang="en-US" sz="14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년도에 수립된 </a:t>
            </a:r>
            <a:r>
              <a:rPr lang="ko-KR" altLang="en-US" sz="1400" b="1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프라이싱</a:t>
            </a:r>
            <a:r>
              <a:rPr lang="ko-KR" altLang="en-US" sz="14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방안을 </a:t>
            </a:r>
            <a:r>
              <a:rPr lang="en-US" altLang="ko-KR" sz="14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25</a:t>
            </a:r>
            <a:r>
              <a:rPr lang="ko-KR" altLang="en-US" sz="14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년도 인상된 간접비율 반영 및 고객의 선택 폭을 넓히기 위한 </a:t>
            </a:r>
            <a:r>
              <a:rPr lang="en-US" altLang="ko-KR" sz="14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‘</a:t>
            </a:r>
            <a:r>
              <a:rPr lang="ko-KR" altLang="en-US" sz="14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선납 계약금 방식 도입</a:t>
            </a:r>
            <a:r>
              <a:rPr lang="en-US" altLang="ko-KR" sz="14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’</a:t>
            </a:r>
            <a:r>
              <a:rPr lang="ko-KR" altLang="en-US" sz="14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과 선택 가능한 </a:t>
            </a:r>
            <a:r>
              <a:rPr lang="en-US" altLang="ko-KR" sz="14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‘</a:t>
            </a:r>
            <a:r>
              <a:rPr lang="ko-KR" altLang="en-US" sz="14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계약기간을 추가</a:t>
            </a:r>
            <a:r>
              <a:rPr lang="en-US" altLang="ko-KR" sz="14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’</a:t>
            </a:r>
            <a:r>
              <a:rPr lang="ko-KR" altLang="en-US" sz="14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하는 방안으로 수정 설계함</a:t>
            </a:r>
            <a:endParaRPr lang="en-US" altLang="ko-KR" sz="1600" b="1" dirty="0">
              <a:solidFill>
                <a:srgbClr val="0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0C53CE2-2C05-4D1F-86E4-C5DA82C836B2}"/>
              </a:ext>
            </a:extLst>
          </p:cNvPr>
          <p:cNvSpPr/>
          <p:nvPr/>
        </p:nvSpPr>
        <p:spPr>
          <a:xfrm>
            <a:off x="5479973" y="2096824"/>
            <a:ext cx="1013613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ctr"/>
            <a:r>
              <a:rPr kumimoji="1" lang="ko-KR" altLang="en-US" sz="800" dirty="0" err="1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회차별</a:t>
            </a:r>
            <a:r>
              <a:rPr kumimoji="1" lang="ko-KR" altLang="en-US" sz="800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납부 금액</a:t>
            </a:r>
            <a:endParaRPr kumimoji="1" lang="en-US" altLang="ko-KR" sz="800" dirty="0">
              <a:solidFill>
                <a:prstClr val="black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655323-FB92-4EE5-82F6-CBE58780EBD0}"/>
              </a:ext>
            </a:extLst>
          </p:cNvPr>
          <p:cNvSpPr txBox="1"/>
          <p:nvPr/>
        </p:nvSpPr>
        <p:spPr>
          <a:xfrm>
            <a:off x="420844" y="1657176"/>
            <a:ext cx="10137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87313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  <a:defRPr/>
            </a:pPr>
            <a:r>
              <a:rPr lang="en-US" altLang="ko-KR" sz="1200" b="1" u="sng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200" b="1" u="sng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주요 변화</a:t>
            </a:r>
            <a:endParaRPr lang="en-US" altLang="ko-KR" sz="1200" b="1" u="sng" dirty="0">
              <a:solidFill>
                <a:srgbClr val="0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1B6859-7651-4FDF-9F20-2E3515E352A0}"/>
              </a:ext>
            </a:extLst>
          </p:cNvPr>
          <p:cNvSpPr/>
          <p:nvPr/>
        </p:nvSpPr>
        <p:spPr>
          <a:xfrm>
            <a:off x="5635702" y="4045788"/>
            <a:ext cx="3597215" cy="1302589"/>
          </a:xfrm>
          <a:prstGeom prst="rect">
            <a:avLst/>
          </a:prstGeom>
          <a:solidFill>
            <a:srgbClr val="FBE8B8">
              <a:alpha val="49020"/>
            </a:srgb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6D20DD-3CD7-4C72-9197-B8F3F4476727}"/>
              </a:ext>
            </a:extLst>
          </p:cNvPr>
          <p:cNvSpPr txBox="1"/>
          <p:nvPr/>
        </p:nvSpPr>
        <p:spPr>
          <a:xfrm>
            <a:off x="679930" y="2014241"/>
            <a:ext cx="426855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ko-KR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1.</a:t>
            </a:r>
            <a:r>
              <a:rPr lang="ko-KR" altLang="en-US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선납 계약금 방식을 도입</a:t>
            </a:r>
            <a:endParaRPr lang="en-US" altLang="ko-KR" sz="1200" b="1" dirty="0">
              <a:solidFill>
                <a:srgbClr val="0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ko-KR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</a:t>
            </a:r>
            <a:r>
              <a:rPr lang="ko-KR" altLang="en-US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① </a:t>
            </a:r>
            <a:r>
              <a:rPr lang="en-US" altLang="ko-KR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도입 필요성 </a:t>
            </a:r>
            <a:endParaRPr lang="en-US" altLang="ko-KR" sz="1200" b="1" dirty="0">
              <a:solidFill>
                <a:srgbClr val="0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ko-KR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- </a:t>
            </a:r>
            <a:r>
              <a:rPr lang="ko-KR" altLang="en-US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고객 관점 </a:t>
            </a:r>
            <a:r>
              <a:rPr lang="en-US" altLang="ko-KR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당해 승인된 투자 예산을 최대한 소진함으로써 </a:t>
            </a:r>
            <a:br>
              <a:rPr lang="en-US" altLang="ko-KR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            </a:t>
            </a:r>
            <a:r>
              <a:rPr lang="ko-KR" altLang="en-US" sz="1200" b="1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차기년도</a:t>
            </a:r>
            <a:r>
              <a:rPr lang="ko-KR" altLang="en-US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이후의 예산 수립 부담을 경감하고자 하는</a:t>
            </a:r>
            <a:br>
              <a:rPr lang="en-US" altLang="ko-KR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           </a:t>
            </a:r>
            <a:r>
              <a:rPr lang="ko-KR" altLang="en-US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고객 </a:t>
            </a:r>
            <a:r>
              <a:rPr lang="en-US" altLang="ko-KR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Needs </a:t>
            </a:r>
            <a:r>
              <a:rPr lang="ko-KR" altLang="en-US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충족</a:t>
            </a:r>
            <a:endParaRPr lang="en-US" altLang="ko-KR" sz="1200" b="1" dirty="0">
              <a:solidFill>
                <a:srgbClr val="0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defRPr/>
            </a:pPr>
            <a:r>
              <a:rPr lang="ko-KR" altLang="en-US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</a:t>
            </a:r>
            <a:r>
              <a:rPr lang="en-US" altLang="ko-KR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당사 관점 </a:t>
            </a:r>
            <a:r>
              <a:rPr lang="en-US" altLang="ko-KR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조기 자금 회수에 따른 </a:t>
            </a:r>
            <a:r>
              <a:rPr lang="ko-KR" altLang="en-US" sz="1200" b="1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계약년도</a:t>
            </a:r>
            <a:r>
              <a:rPr lang="ko-KR" altLang="en-US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EBITDA </a:t>
            </a:r>
            <a:r>
              <a:rPr lang="ko-KR" altLang="en-US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기여</a:t>
            </a:r>
            <a:endParaRPr lang="en-US" altLang="ko-KR" sz="1200" b="1" dirty="0">
              <a:solidFill>
                <a:srgbClr val="0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defRPr/>
            </a:pPr>
            <a:r>
              <a:rPr lang="ko-KR" altLang="en-US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② 선납 계약 방식 </a:t>
            </a:r>
            <a:r>
              <a:rPr lang="ko-KR" altLang="en-US" sz="1200" b="1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유인책</a:t>
            </a:r>
            <a:endParaRPr lang="en-US" altLang="ko-KR" sz="1200" b="1" dirty="0">
              <a:solidFill>
                <a:srgbClr val="0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defRPr/>
            </a:pPr>
            <a:r>
              <a:rPr lang="ko-KR" altLang="en-US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</a:t>
            </a:r>
            <a:r>
              <a:rPr lang="en-US" altLang="ko-KR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선납 할인에 따른 계약 금액 할인 적용</a:t>
            </a:r>
            <a:r>
              <a:rPr lang="en-US" altLang="ko-KR" sz="11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1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단</a:t>
            </a:r>
            <a:r>
              <a:rPr lang="en-US" altLang="ko-KR" sz="11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2</a:t>
            </a:r>
            <a:r>
              <a:rPr lang="ko-KR" altLang="en-US" sz="110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년이상</a:t>
            </a:r>
            <a:r>
              <a:rPr lang="ko-KR" altLang="en-US" sz="11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0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계약건에</a:t>
            </a:r>
            <a:r>
              <a:rPr lang="ko-KR" altLang="en-US" sz="11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한함</a:t>
            </a:r>
            <a:r>
              <a:rPr lang="en-US" altLang="ko-KR" sz="11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200" dirty="0">
              <a:solidFill>
                <a:srgbClr val="0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ko-KR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2. 25</a:t>
            </a:r>
            <a:r>
              <a:rPr lang="ko-KR" altLang="en-US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년도 안전관리비 등 간접비 인상률 반영</a:t>
            </a:r>
            <a:endParaRPr lang="en-US" altLang="ko-KR" sz="1200" b="1" dirty="0">
              <a:solidFill>
                <a:srgbClr val="0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spcBef>
                <a:spcPts val="600"/>
              </a:spcBef>
              <a:defRPr/>
            </a:pPr>
            <a:r>
              <a:rPr lang="en-US" altLang="ko-KR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3.</a:t>
            </a:r>
            <a:r>
              <a:rPr lang="ko-KR" altLang="en-US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차등 적용되고 있는 금융이자율을 차입이자율로 통일</a:t>
            </a:r>
            <a:endParaRPr lang="en-US" altLang="ko-KR" sz="1200" b="1" dirty="0">
              <a:solidFill>
                <a:srgbClr val="0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spcAft>
                <a:spcPts val="600"/>
              </a:spcAft>
              <a:defRPr/>
            </a:pPr>
            <a:r>
              <a:rPr lang="en-US" altLang="ko-KR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</a:t>
            </a:r>
            <a:r>
              <a:rPr lang="en-US" altLang="ko-KR" sz="12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(3</a:t>
            </a:r>
            <a:r>
              <a:rPr lang="ko-KR" altLang="en-US" sz="12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년 계약</a:t>
            </a:r>
            <a:r>
              <a:rPr lang="en-US" altLang="ko-KR" sz="12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r>
              <a:rPr lang="ko-KR" altLang="en-US" sz="12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7%, 5</a:t>
            </a:r>
            <a:r>
              <a:rPr lang="ko-KR" altLang="en-US" sz="12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년 계약</a:t>
            </a:r>
            <a:r>
              <a:rPr lang="en-US" altLang="ko-KR" sz="12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10% </a:t>
            </a:r>
            <a:r>
              <a:rPr lang="en-US" altLang="ko-KR" sz="12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Wingdings" panose="05000000000000000000" pitchFamily="2" charset="2"/>
              </a:rPr>
              <a:t> 2~5</a:t>
            </a:r>
            <a:r>
              <a:rPr lang="ko-KR" altLang="en-US" sz="12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Wingdings" panose="05000000000000000000" pitchFamily="2" charset="2"/>
              </a:rPr>
              <a:t>년 </a:t>
            </a:r>
            <a:r>
              <a:rPr lang="en-US" altLang="ko-KR" sz="12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Wingdings" panose="05000000000000000000" pitchFamily="2" charset="2"/>
              </a:rPr>
              <a:t>: 5.25%</a:t>
            </a:r>
            <a:r>
              <a:rPr lang="en-US" altLang="ko-KR" sz="12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ko-KR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4.</a:t>
            </a:r>
            <a:r>
              <a:rPr lang="ko-KR" altLang="en-US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추가 계약 기간에 </a:t>
            </a:r>
            <a:r>
              <a:rPr lang="en-US" altLang="ko-KR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년 및 </a:t>
            </a:r>
            <a:r>
              <a:rPr lang="en-US" altLang="ko-KR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년 </a:t>
            </a:r>
            <a:r>
              <a:rPr lang="ko-KR" altLang="en-US" sz="1200" b="1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리커링</a:t>
            </a:r>
            <a:r>
              <a:rPr lang="ko-KR" altLang="en-US" sz="1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방식을 추가</a:t>
            </a:r>
            <a:endParaRPr lang="en-US" altLang="ko-KR" sz="1200" b="1" dirty="0">
              <a:solidFill>
                <a:srgbClr val="0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95B778A-341A-4298-9DA4-D03406E96C2F}"/>
              </a:ext>
            </a:extLst>
          </p:cNvPr>
          <p:cNvSpPr/>
          <p:nvPr/>
        </p:nvSpPr>
        <p:spPr>
          <a:xfrm>
            <a:off x="5635702" y="5434991"/>
            <a:ext cx="1013613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ctr"/>
            <a:r>
              <a:rPr kumimoji="1" lang="en-US" altLang="ko-KR" sz="800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kumimoji="1" lang="ko-KR" altLang="en-US" sz="800" dirty="0" err="1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회차</a:t>
            </a:r>
            <a:endParaRPr kumimoji="1" lang="en-US" altLang="ko-KR" sz="800" dirty="0">
              <a:solidFill>
                <a:prstClr val="black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7B2EDBF-8561-4D66-9E2C-A81D77213160}"/>
              </a:ext>
            </a:extLst>
          </p:cNvPr>
          <p:cNvSpPr/>
          <p:nvPr/>
        </p:nvSpPr>
        <p:spPr>
          <a:xfrm>
            <a:off x="8892387" y="5434991"/>
            <a:ext cx="1013613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ctr"/>
            <a:r>
              <a:rPr kumimoji="1" lang="en-US" altLang="ko-KR" sz="800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</a:t>
            </a:r>
            <a:r>
              <a:rPr kumimoji="1" lang="ko-KR" altLang="en-US" sz="800" dirty="0" err="1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회차</a:t>
            </a:r>
            <a:endParaRPr kumimoji="1" lang="en-US" altLang="ko-KR" sz="800" dirty="0">
              <a:solidFill>
                <a:prstClr val="black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2E79B3E-6CA1-4B73-902E-2CDD94F55098}"/>
              </a:ext>
            </a:extLst>
          </p:cNvPr>
          <p:cNvSpPr/>
          <p:nvPr/>
        </p:nvSpPr>
        <p:spPr>
          <a:xfrm>
            <a:off x="7779104" y="4118740"/>
            <a:ext cx="1455115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fontAlgn="ctr"/>
            <a:r>
              <a:rPr kumimoji="1" lang="ko-KR" altLang="en-US" sz="1000" b="1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원리금 균등 납부 방식</a:t>
            </a:r>
            <a:endParaRPr kumimoji="1" lang="en-US" altLang="ko-KR" sz="1000" b="1" dirty="0">
              <a:solidFill>
                <a:prstClr val="black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1" name="자유형: 도형 10">
            <a:extLst>
              <a:ext uri="{FF2B5EF4-FFF2-40B4-BE49-F238E27FC236}">
                <a16:creationId xmlns:a16="http://schemas.microsoft.com/office/drawing/2014/main" id="{638A7AFC-FB01-49A0-974A-B9433D4C112D}"/>
              </a:ext>
            </a:extLst>
          </p:cNvPr>
          <p:cNvSpPr/>
          <p:nvPr/>
        </p:nvSpPr>
        <p:spPr>
          <a:xfrm>
            <a:off x="5627076" y="2337758"/>
            <a:ext cx="3605841" cy="3010619"/>
          </a:xfrm>
          <a:custGeom>
            <a:avLst/>
            <a:gdLst>
              <a:gd name="connsiteX0" fmla="*/ 0 w 3605841"/>
              <a:gd name="connsiteY0" fmla="*/ 0 h 3010619"/>
              <a:gd name="connsiteX1" fmla="*/ 319177 w 3605841"/>
              <a:gd name="connsiteY1" fmla="*/ 0 h 3010619"/>
              <a:gd name="connsiteX2" fmla="*/ 319177 w 3605841"/>
              <a:gd name="connsiteY2" fmla="*/ 2406770 h 3010619"/>
              <a:gd name="connsiteX3" fmla="*/ 3605841 w 3605841"/>
              <a:gd name="connsiteY3" fmla="*/ 2406770 h 3010619"/>
              <a:gd name="connsiteX4" fmla="*/ 3605841 w 3605841"/>
              <a:gd name="connsiteY4" fmla="*/ 3010619 h 3010619"/>
              <a:gd name="connsiteX5" fmla="*/ 34505 w 3605841"/>
              <a:gd name="connsiteY5" fmla="*/ 3010619 h 3010619"/>
              <a:gd name="connsiteX6" fmla="*/ 0 w 3605841"/>
              <a:gd name="connsiteY6" fmla="*/ 0 h 30106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05841" h="3010619">
                <a:moveTo>
                  <a:pt x="0" y="0"/>
                </a:moveTo>
                <a:lnTo>
                  <a:pt x="319177" y="0"/>
                </a:lnTo>
                <a:lnTo>
                  <a:pt x="319177" y="2406770"/>
                </a:lnTo>
                <a:lnTo>
                  <a:pt x="3605841" y="2406770"/>
                </a:lnTo>
                <a:lnTo>
                  <a:pt x="3605841" y="3010619"/>
                </a:lnTo>
                <a:lnTo>
                  <a:pt x="34505" y="3010619"/>
                </a:lnTo>
                <a:lnTo>
                  <a:pt x="0" y="0"/>
                </a:lnTo>
                <a:close/>
              </a:path>
            </a:pathLst>
          </a:custGeom>
          <a:solidFill>
            <a:srgbClr val="E0F2E1">
              <a:alpha val="38824"/>
            </a:srgbClr>
          </a:solidFill>
          <a:ln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00">
              <a:solidFill>
                <a:schemeClr val="tx1"/>
              </a:solidFill>
              <a:ea typeface="NanumSquareOTF" panose="020B0600000101010101" pitchFamily="34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FF759F2-241F-4F51-9B26-3EED904A1928}"/>
              </a:ext>
            </a:extLst>
          </p:cNvPr>
          <p:cNvSpPr/>
          <p:nvPr/>
        </p:nvSpPr>
        <p:spPr>
          <a:xfrm>
            <a:off x="8554035" y="4776866"/>
            <a:ext cx="68750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ctr"/>
            <a:r>
              <a:rPr kumimoji="1" lang="ko-KR" altLang="en-US" sz="1000" b="1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선납 방식</a:t>
            </a:r>
            <a:endParaRPr kumimoji="1" lang="en-US" altLang="ko-KR" sz="1000" b="1" dirty="0">
              <a:solidFill>
                <a:prstClr val="black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8895FE2-28F9-47CC-9931-79B23B6A69B8}"/>
              </a:ext>
            </a:extLst>
          </p:cNvPr>
          <p:cNvSpPr/>
          <p:nvPr/>
        </p:nvSpPr>
        <p:spPr>
          <a:xfrm>
            <a:off x="6067022" y="5434991"/>
            <a:ext cx="1013613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ctr"/>
            <a:r>
              <a:rPr kumimoji="1" lang="en-US" altLang="ko-KR" sz="800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kumimoji="1" lang="ko-KR" altLang="en-US" sz="800" dirty="0" err="1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회차</a:t>
            </a:r>
            <a:endParaRPr kumimoji="1" lang="en-US" altLang="ko-KR" sz="800" dirty="0">
              <a:solidFill>
                <a:prstClr val="black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33EA010-2D93-452D-957B-3B111EC96BEF}"/>
              </a:ext>
            </a:extLst>
          </p:cNvPr>
          <p:cNvSpPr/>
          <p:nvPr/>
        </p:nvSpPr>
        <p:spPr>
          <a:xfrm>
            <a:off x="6493586" y="5434991"/>
            <a:ext cx="1013613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ctr"/>
            <a:r>
              <a:rPr kumimoji="1" lang="en-US" altLang="ko-KR" sz="800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kumimoji="1" lang="ko-KR" altLang="en-US" sz="800" dirty="0" err="1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회차</a:t>
            </a:r>
            <a:endParaRPr kumimoji="1" lang="en-US" altLang="ko-KR" sz="800" dirty="0">
              <a:solidFill>
                <a:prstClr val="black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2539436-5F9B-484C-925C-FE20254F5237}"/>
              </a:ext>
            </a:extLst>
          </p:cNvPr>
          <p:cNvSpPr/>
          <p:nvPr/>
        </p:nvSpPr>
        <p:spPr>
          <a:xfrm>
            <a:off x="7527696" y="5434991"/>
            <a:ext cx="1013613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ctr"/>
            <a:r>
              <a:rPr kumimoji="1" lang="en-US" altLang="ko-KR" sz="800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. . . .</a:t>
            </a:r>
          </a:p>
        </p:txBody>
      </p:sp>
      <p:sp>
        <p:nvSpPr>
          <p:cNvPr id="16" name="화살표: 아래쪽 15">
            <a:extLst>
              <a:ext uri="{FF2B5EF4-FFF2-40B4-BE49-F238E27FC236}">
                <a16:creationId xmlns:a16="http://schemas.microsoft.com/office/drawing/2014/main" id="{02AECF05-BEDF-4D71-9091-98F9F0712A8C}"/>
              </a:ext>
            </a:extLst>
          </p:cNvPr>
          <p:cNvSpPr/>
          <p:nvPr/>
        </p:nvSpPr>
        <p:spPr>
          <a:xfrm>
            <a:off x="7199688" y="4045788"/>
            <a:ext cx="307511" cy="664235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/>
              </a:solidFill>
              <a:latin typeface="NanumSquareOTF" panose="020B0600000101010101" pitchFamily="34" charset="-127"/>
              <a:ea typeface="NanumSquareOTF" panose="020B0600000101010101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3E986D1-3242-4422-BECD-C071C714CDA1}"/>
              </a:ext>
            </a:extLst>
          </p:cNvPr>
          <p:cNvSpPr/>
          <p:nvPr/>
        </p:nvSpPr>
        <p:spPr>
          <a:xfrm>
            <a:off x="6501147" y="4241850"/>
            <a:ext cx="1013613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ctr"/>
            <a:r>
              <a:rPr kumimoji="1" lang="ko-KR" altLang="en-US" sz="800" b="1" dirty="0" err="1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월납부</a:t>
            </a:r>
            <a:r>
              <a:rPr kumimoji="1" lang="ko-KR" altLang="en-US" sz="800" b="1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부담 감소</a:t>
            </a:r>
            <a:endParaRPr kumimoji="1" lang="en-US" altLang="ko-KR" sz="800" b="1" dirty="0">
              <a:solidFill>
                <a:prstClr val="black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ECE25E2-18A7-4E8E-BDB5-DFD4430B341F}"/>
              </a:ext>
            </a:extLst>
          </p:cNvPr>
          <p:cNvSpPr txBox="1"/>
          <p:nvPr/>
        </p:nvSpPr>
        <p:spPr>
          <a:xfrm>
            <a:off x="6442285" y="1787353"/>
            <a:ext cx="20156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87313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  <a:defRPr/>
            </a:pPr>
            <a:r>
              <a:rPr lang="ko-KR" altLang="en-US" sz="1200" b="1" u="sng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선납 방식 고객 </a:t>
            </a:r>
            <a:r>
              <a:rPr lang="ko-KR" altLang="en-US" sz="1200" b="1" u="sng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회차별</a:t>
            </a:r>
            <a:r>
              <a:rPr lang="ko-KR" altLang="en-US" sz="1200" b="1" u="sng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부담</a:t>
            </a:r>
            <a:endParaRPr lang="en-US" altLang="ko-KR" sz="1200" b="1" u="sng" dirty="0">
              <a:solidFill>
                <a:srgbClr val="0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7D249781-1289-4601-B645-62108EA9532C}"/>
              </a:ext>
            </a:extLst>
          </p:cNvPr>
          <p:cNvCxnSpPr/>
          <p:nvPr/>
        </p:nvCxnSpPr>
        <p:spPr>
          <a:xfrm>
            <a:off x="0" y="606830"/>
            <a:ext cx="12192000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816E0FA-E835-46FF-AAF0-13AED362E4FF}"/>
              </a:ext>
            </a:extLst>
          </p:cNvPr>
          <p:cNvSpPr txBox="1"/>
          <p:nvPr/>
        </p:nvSpPr>
        <p:spPr>
          <a:xfrm>
            <a:off x="258619" y="159486"/>
            <a:ext cx="6517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 중소형 건축물 시설 정기점검 </a:t>
            </a:r>
            <a:r>
              <a:rPr lang="en-US" altLang="ko-KR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Patrol 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개요</a:t>
            </a:r>
          </a:p>
        </p:txBody>
      </p:sp>
    </p:spTree>
    <p:extLst>
      <p:ext uri="{BB962C8B-B14F-4D97-AF65-F5344CB8AC3E}">
        <p14:creationId xmlns:p14="http://schemas.microsoft.com/office/powerpoint/2010/main" val="24870440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에스앤아이코퍼레이션">
      <a:majorFont>
        <a:latin typeface="Poppins"/>
        <a:ea typeface="Pretendard"/>
        <a:cs typeface=""/>
      </a:majorFont>
      <a:minorFont>
        <a:latin typeface="Poppins"/>
        <a:ea typeface="Pretendar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803</TotalTime>
  <Words>927</Words>
  <Application>Microsoft Office PowerPoint</Application>
  <PresentationFormat>와이드스크린</PresentationFormat>
  <Paragraphs>153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8" baseType="lpstr">
      <vt:lpstr>LG스마트체 Regular</vt:lpstr>
      <vt:lpstr>NanumSquareOTF</vt:lpstr>
      <vt:lpstr>Pretendard</vt:lpstr>
      <vt:lpstr>Pretendard Medium</vt:lpstr>
      <vt:lpstr>맑은 고딕</vt:lpstr>
      <vt:lpstr>Arial</vt:lpstr>
      <vt:lpstr>Poppins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Administrator</dc:creator>
  <cp:lastModifiedBy>Administrator</cp:lastModifiedBy>
  <cp:revision>60</cp:revision>
  <dcterms:created xsi:type="dcterms:W3CDTF">2025-02-21T04:41:58Z</dcterms:created>
  <dcterms:modified xsi:type="dcterms:W3CDTF">2025-03-07T08:06:57Z</dcterms:modified>
</cp:coreProperties>
</file>