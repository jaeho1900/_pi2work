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417" r:id="rId3"/>
    <p:sldId id="403" r:id="rId4"/>
    <p:sldId id="420" r:id="rId5"/>
    <p:sldId id="418" r:id="rId6"/>
    <p:sldId id="421" r:id="rId7"/>
    <p:sldId id="422" r:id="rId8"/>
    <p:sldId id="419" r:id="rId9"/>
    <p:sldId id="426" r:id="rId10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65" userDrawn="1">
          <p15:clr>
            <a:srgbClr val="A4A3A4"/>
          </p15:clr>
        </p15:guide>
        <p15:guide id="3" pos="557" userDrawn="1">
          <p15:clr>
            <a:srgbClr val="A4A3A4"/>
          </p15:clr>
        </p15:guide>
        <p15:guide id="4" orient="horz" pos="232" userDrawn="1">
          <p15:clr>
            <a:srgbClr val="A4A3A4"/>
          </p15:clr>
        </p15:guide>
        <p15:guide id="5" pos="104" userDrawn="1">
          <p15:clr>
            <a:srgbClr val="A4A3A4"/>
          </p15:clr>
        </p15:guide>
        <p15:guide id="7" orient="horz" pos="300" userDrawn="1">
          <p15:clr>
            <a:srgbClr val="A4A3A4"/>
          </p15:clr>
        </p15:guide>
        <p15:guide id="8" pos="6023" userDrawn="1">
          <p15:clr>
            <a:srgbClr val="A4A3A4"/>
          </p15:clr>
        </p15:guide>
        <p15:guide id="9" pos="33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ght" initials="r" lastIdx="1" clrIdx="0">
    <p:extLst>
      <p:ext uri="{19B8F6BF-5375-455C-9EA6-DF929625EA0E}">
        <p15:presenceInfo xmlns:p15="http://schemas.microsoft.com/office/powerpoint/2012/main" userId="righ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00A638"/>
    <a:srgbClr val="FFC000"/>
    <a:srgbClr val="A5A5A5"/>
    <a:srgbClr val="ED7D31"/>
    <a:srgbClr val="5B9BD5"/>
    <a:srgbClr val="FFFFFF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65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902" y="96"/>
      </p:cViewPr>
      <p:guideLst>
        <p:guide orient="horz" pos="4065"/>
        <p:guide pos="557"/>
        <p:guide orient="horz" pos="232"/>
        <p:guide pos="104"/>
        <p:guide orient="horz" pos="300"/>
        <p:guide pos="6023"/>
        <p:guide pos="33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CB76C5-19D8-4043-BB68-36CC4EAADC80}" type="datetimeFigureOut">
              <a:rPr lang="ko-KR" altLang="en-US" smtClean="0"/>
              <a:t>2024-08-02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DD942-A8BC-4D4C-9A3E-B36C72CA56B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3899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1C42E9-CCD2-4E5E-B24E-D488760DB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01554" y="6487274"/>
            <a:ext cx="2228850" cy="365125"/>
          </a:xfrm>
        </p:spPr>
        <p:txBody>
          <a:bodyPr/>
          <a:lstStyle/>
          <a:p>
            <a:fld id="{3F84C5A7-88F9-48D6-A9F1-CB29353CBDC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9161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9" y="365129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9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4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4" y="6356354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4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84C5A7-88F9-48D6-A9F1-CB29353CBDC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0405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hf hdr="0" ftr="0" dt="0"/>
  <p:txStyles>
    <p:titleStyle>
      <a:lvl1pPr algn="l" defTabSz="914395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9" indent="-228599" algn="l" defTabSz="914395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6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93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91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8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85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3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80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77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5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2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4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1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7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D1E5E7-F55F-4CDD-ADC2-5CA67A837908}"/>
              </a:ext>
            </a:extLst>
          </p:cNvPr>
          <p:cNvSpPr txBox="1"/>
          <p:nvPr/>
        </p:nvSpPr>
        <p:spPr>
          <a:xfrm>
            <a:off x="882448" y="1130365"/>
            <a:ext cx="8141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뉴솔루션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400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딜리버리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체계 구축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안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5D2D66-8AAF-42A6-8B7B-4398A4CD27DA}"/>
              </a:ext>
            </a:extLst>
          </p:cNvPr>
          <p:cNvSpPr txBox="1"/>
          <p:nvPr/>
        </p:nvSpPr>
        <p:spPr>
          <a:xfrm>
            <a:off x="3393150" y="5528925"/>
            <a:ext cx="31387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’24. 08.</a:t>
            </a:r>
            <a:br>
              <a:rPr kumimoji="0" lang="en-US" altLang="ko-KR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kumimoji="0" lang="ko-KR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상품기획팀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5D3496-E658-4ECF-9A37-A20EE8DA9FE3}"/>
              </a:ext>
            </a:extLst>
          </p:cNvPr>
          <p:cNvSpPr/>
          <p:nvPr/>
        </p:nvSpPr>
        <p:spPr bwMode="auto">
          <a:xfrm>
            <a:off x="3002598" y="2725948"/>
            <a:ext cx="3981485" cy="21766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lIns="72000" rIns="18000" anchor="ctr"/>
          <a:lstStyle/>
          <a:p>
            <a:pPr marL="673100" indent="-40005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romanUcPeriod"/>
              <a:defRPr/>
            </a:pPr>
            <a:r>
              <a:rPr kumimoji="1" lang="ko-KR" altLang="en-US" sz="1600" kern="0" dirty="0">
                <a:ln w="3175">
                  <a:solidFill>
                    <a:schemeClr val="tx1">
                      <a:alpha val="5000"/>
                    </a:schemeClr>
                  </a:solidFill>
                </a:ln>
                <a:solidFill>
                  <a:prstClr val="black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개요</a:t>
            </a:r>
            <a:endParaRPr kumimoji="1" lang="en-US" altLang="ko-KR" sz="1600" kern="0" dirty="0">
              <a:ln w="3175">
                <a:solidFill>
                  <a:schemeClr val="tx1">
                    <a:alpha val="5000"/>
                  </a:schemeClr>
                </a:solidFill>
              </a:ln>
              <a:solidFill>
                <a:prstClr val="black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673100" indent="-40005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romanUcPeriod"/>
              <a:defRPr/>
            </a:pPr>
            <a:r>
              <a:rPr kumimoji="1" lang="ko-KR" altLang="en-US" sz="1600" kern="0" dirty="0">
                <a:ln w="3175">
                  <a:solidFill>
                    <a:schemeClr val="tx1">
                      <a:alpha val="5000"/>
                    </a:schemeClr>
                  </a:solidFill>
                </a:ln>
                <a:solidFill>
                  <a:prstClr val="black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현황 분석</a:t>
            </a:r>
            <a:endParaRPr kumimoji="1" lang="en-US" altLang="ko-KR" sz="1600" kern="0" dirty="0">
              <a:ln w="3175">
                <a:solidFill>
                  <a:schemeClr val="tx1">
                    <a:alpha val="5000"/>
                  </a:schemeClr>
                </a:solidFill>
              </a:ln>
              <a:solidFill>
                <a:prstClr val="black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673100" indent="-40005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romanUcPeriod"/>
              <a:defRPr/>
            </a:pPr>
            <a:r>
              <a:rPr kumimoji="1" lang="ko-KR" altLang="en-US" sz="1600" kern="0" dirty="0">
                <a:ln w="3175">
                  <a:solidFill>
                    <a:schemeClr val="tx1">
                      <a:alpha val="5000"/>
                    </a:schemeClr>
                  </a:solidFill>
                </a:ln>
                <a:solidFill>
                  <a:prstClr val="black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구축 방안</a:t>
            </a:r>
            <a:endParaRPr kumimoji="1" lang="en-US" altLang="ko-KR" sz="1600" kern="0" dirty="0">
              <a:ln w="3175">
                <a:solidFill>
                  <a:schemeClr val="tx1">
                    <a:alpha val="5000"/>
                  </a:schemeClr>
                </a:solidFill>
              </a:ln>
              <a:solidFill>
                <a:prstClr val="black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673100" indent="-40005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romanUcPeriod"/>
              <a:defRPr/>
            </a:pPr>
            <a:r>
              <a:rPr kumimoji="1" lang="ko-KR" altLang="en-US" sz="1600" kern="0" dirty="0">
                <a:ln w="3175">
                  <a:solidFill>
                    <a:schemeClr val="tx1">
                      <a:alpha val="5000"/>
                    </a:schemeClr>
                  </a:solidFill>
                </a:ln>
                <a:solidFill>
                  <a:prstClr val="black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세부 계획</a:t>
            </a:r>
            <a:r>
              <a:rPr kumimoji="1" lang="en-US" altLang="ko-KR" sz="1600" kern="0" dirty="0">
                <a:ln w="3175">
                  <a:solidFill>
                    <a:schemeClr val="tx1">
                      <a:alpha val="5000"/>
                    </a:schemeClr>
                  </a:solidFill>
                </a:ln>
                <a:solidFill>
                  <a:prstClr val="black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DED13BC-A0E5-4F2E-AFCC-1CE4E8CFFE81}"/>
              </a:ext>
            </a:extLst>
          </p:cNvPr>
          <p:cNvSpPr/>
          <p:nvPr/>
        </p:nvSpPr>
        <p:spPr>
          <a:xfrm>
            <a:off x="4366200" y="2531772"/>
            <a:ext cx="1173600" cy="38835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lIns="36000" tIns="72000" rIns="36000" bIns="72000" rtlCol="0" anchor="ctr"/>
          <a:lstStyle/>
          <a:p>
            <a:pPr algn="ctr" defTabSz="914400">
              <a:buSzPct val="75000"/>
            </a:pPr>
            <a:r>
              <a:rPr lang="ko-KR" altLang="en-US" sz="1600" kern="0" dirty="0">
                <a:solidFill>
                  <a:prstClr val="black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목  차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958018B-830C-45BB-8038-9CF4114E4162}"/>
              </a:ext>
            </a:extLst>
          </p:cNvPr>
          <p:cNvCxnSpPr>
            <a:cxnSpLocks/>
          </p:cNvCxnSpPr>
          <p:nvPr/>
        </p:nvCxnSpPr>
        <p:spPr>
          <a:xfrm>
            <a:off x="2619858" y="1600034"/>
            <a:ext cx="466628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9522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091"/>
          <p:cNvSpPr txBox="1">
            <a:spLocks noChangeArrowheads="1"/>
          </p:cNvSpPr>
          <p:nvPr/>
        </p:nvSpPr>
        <p:spPr bwMode="auto">
          <a:xfrm>
            <a:off x="122014" y="17731"/>
            <a:ext cx="6958293" cy="431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latinLnBrk="0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I.</a:t>
            </a: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개요</a:t>
            </a:r>
            <a:endParaRPr lang="ko-KR" altLang="en-US" sz="2400" b="1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147" name="Line 4"/>
          <p:cNvSpPr>
            <a:spLocks noChangeShapeType="1"/>
          </p:cNvSpPr>
          <p:nvPr/>
        </p:nvSpPr>
        <p:spPr bwMode="auto">
          <a:xfrm>
            <a:off x="-15875" y="482030"/>
            <a:ext cx="9921875" cy="0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148" name="Line 5"/>
          <p:cNvSpPr>
            <a:spLocks noChangeShapeType="1"/>
          </p:cNvSpPr>
          <p:nvPr/>
        </p:nvSpPr>
        <p:spPr bwMode="auto">
          <a:xfrm>
            <a:off x="-15875" y="6487274"/>
            <a:ext cx="9921875" cy="0"/>
          </a:xfrm>
          <a:prstGeom prst="line">
            <a:avLst/>
          </a:prstGeom>
          <a:noFill/>
          <a:ln w="57150" cmpd="thinThick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4607E1E-6CC9-45B4-9E1F-3289D764390B}"/>
              </a:ext>
            </a:extLst>
          </p:cNvPr>
          <p:cNvSpPr/>
          <p:nvPr/>
        </p:nvSpPr>
        <p:spPr>
          <a:xfrm>
            <a:off x="478453" y="3710020"/>
            <a:ext cx="9151951" cy="400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lvl="0" indent="-266700">
              <a:lnSpc>
                <a:spcPct val="140000"/>
              </a:lnSpc>
              <a:buFont typeface="Wingdings" panose="05000000000000000000" pitchFamily="2" charset="2"/>
              <a:buChar char="q"/>
              <a:defRPr/>
            </a:pPr>
            <a:r>
              <a:rPr kumimoji="1" lang="ko-KR" altLang="en-US" sz="1600" b="1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고객의 </a:t>
            </a:r>
            <a:r>
              <a:rPr kumimoji="1" lang="ko-KR" altLang="en-US" sz="1600" b="1" dirty="0" err="1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컴플레인에</a:t>
            </a:r>
            <a:r>
              <a:rPr kumimoji="1" lang="ko-KR" altLang="en-US" sz="1600" b="1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사전 대응하기 위한</a:t>
            </a:r>
            <a:r>
              <a:rPr kumimoji="1" lang="en-US" altLang="ko-KR" sz="1600" b="1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</a:t>
            </a:r>
            <a:r>
              <a:rPr kumimoji="1" lang="ko-KR" altLang="en-US" sz="1600" b="1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현장 품질점검 데이터를 </a:t>
            </a:r>
            <a:r>
              <a:rPr kumimoji="1" lang="ko-KR" altLang="en-US" sz="1600" b="1" dirty="0" err="1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자산화하고자</a:t>
            </a:r>
            <a:r>
              <a:rPr kumimoji="1" lang="ko-KR" altLang="en-US" sz="1600" b="1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함</a:t>
            </a:r>
            <a:endParaRPr kumimoji="1" lang="en-US" altLang="ko-KR" sz="1600" b="1" dirty="0">
              <a:solidFill>
                <a:srgbClr val="00000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93167A7-186D-49CD-901A-C6FC1FDD9F11}"/>
              </a:ext>
            </a:extLst>
          </p:cNvPr>
          <p:cNvSpPr/>
          <p:nvPr/>
        </p:nvSpPr>
        <p:spPr>
          <a:xfrm>
            <a:off x="478453" y="4683312"/>
            <a:ext cx="9151951" cy="400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lvl="0" indent="-266700">
              <a:lnSpc>
                <a:spcPct val="140000"/>
              </a:lnSpc>
              <a:buFont typeface="Wingdings" panose="05000000000000000000" pitchFamily="2" charset="2"/>
              <a:buChar char="q"/>
              <a:defRPr/>
            </a:pPr>
            <a:r>
              <a:rPr kumimoji="1" lang="ko-KR" altLang="en-US" sz="1600" b="1" dirty="0" err="1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뉴솔루션</a:t>
            </a:r>
            <a:r>
              <a:rPr kumimoji="1" lang="ko-KR" altLang="en-US" sz="1600" b="1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사업 확대를 위하여 물리적인 지역 거점의 필요성에 대한 </a:t>
            </a:r>
            <a:r>
              <a:rPr kumimoji="1" lang="en-US" altLang="ko-KR" sz="1600" b="1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BS</a:t>
            </a:r>
            <a:r>
              <a:rPr kumimoji="1" lang="ko-KR" altLang="en-US" sz="1600" b="1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센터를 시범 운영 예정</a:t>
            </a:r>
            <a:endParaRPr kumimoji="1" lang="en-US" altLang="ko-KR" sz="1600" b="1" dirty="0">
              <a:solidFill>
                <a:srgbClr val="00000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1" name="슬라이드 번호 개체 틀 1">
            <a:extLst>
              <a:ext uri="{FF2B5EF4-FFF2-40B4-BE49-F238E27FC236}">
                <a16:creationId xmlns:a16="http://schemas.microsoft.com/office/drawing/2014/main" id="{1A8CF959-BE14-4EAC-87BB-040AC6AEA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01554" y="6487274"/>
            <a:ext cx="2228850" cy="365125"/>
          </a:xfrm>
        </p:spPr>
        <p:txBody>
          <a:bodyPr/>
          <a:lstStyle/>
          <a:p>
            <a:fld id="{3F84C5A7-88F9-48D6-A9F1-CB29353CBDC7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88C2603-8B7E-43F6-AA2B-E560F530333B}"/>
              </a:ext>
            </a:extLst>
          </p:cNvPr>
          <p:cNvSpPr/>
          <p:nvPr/>
        </p:nvSpPr>
        <p:spPr>
          <a:xfrm>
            <a:off x="478453" y="2392018"/>
            <a:ext cx="9151951" cy="745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lvl="0" indent="-266700">
              <a:lnSpc>
                <a:spcPct val="140000"/>
              </a:lnSpc>
              <a:buFont typeface="Wingdings" panose="05000000000000000000" pitchFamily="2" charset="2"/>
              <a:buChar char="q"/>
              <a:defRPr/>
            </a:pPr>
            <a:r>
              <a:rPr kumimoji="1" lang="ko-KR" altLang="en-US" sz="1600" b="1" dirty="0" err="1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비상주사업장의</a:t>
            </a:r>
            <a:r>
              <a:rPr kumimoji="1" lang="ko-KR" altLang="en-US" sz="1600" b="1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안전점검과 </a:t>
            </a:r>
            <a:r>
              <a:rPr kumimoji="1" lang="ko-KR" altLang="en-US" sz="1600" b="1" dirty="0" err="1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뉴솔루션</a:t>
            </a:r>
            <a:r>
              <a:rPr kumimoji="1" lang="ko-KR" altLang="en-US" sz="1600" b="1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kumimoji="1" lang="ko-KR" altLang="en-US" sz="1600" b="1" dirty="0" err="1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딜리버리를</a:t>
            </a:r>
            <a:r>
              <a:rPr kumimoji="1" lang="ko-KR" altLang="en-US" sz="1600" b="1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업무를 담당하던 </a:t>
            </a:r>
            <a:r>
              <a:rPr kumimoji="1" lang="en-US" altLang="ko-KR" sz="1600" b="1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BS(Biz &amp; Service)</a:t>
            </a:r>
            <a:r>
              <a:rPr kumimoji="1" lang="ko-KR" altLang="en-US" sz="1600" b="1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센터를 개편하여 </a:t>
            </a:r>
            <a:br>
              <a:rPr kumimoji="1" lang="en-US" altLang="ko-KR" sz="1600" b="1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kumimoji="1" lang="ko-KR" altLang="en-US" sz="1600" b="1" dirty="0" err="1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뉴솔루션</a:t>
            </a:r>
            <a:r>
              <a:rPr kumimoji="1" lang="ko-KR" altLang="en-US" sz="1600" b="1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중심의 업무 </a:t>
            </a:r>
            <a:r>
              <a:rPr kumimoji="1" lang="en-US" altLang="ko-KR" sz="1600" b="1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setting</a:t>
            </a:r>
            <a:r>
              <a:rPr kumimoji="1" lang="ko-KR" altLang="en-US" sz="1600" b="1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선택과 집중을 강화하고자 함</a:t>
            </a:r>
            <a:endParaRPr kumimoji="1" lang="en-US" altLang="ko-KR" sz="1600" b="1" dirty="0">
              <a:solidFill>
                <a:srgbClr val="00000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1A1CA1-E7E3-4FBB-A4C6-805E2B15C030}"/>
              </a:ext>
            </a:extLst>
          </p:cNvPr>
          <p:cNvSpPr txBox="1"/>
          <p:nvPr/>
        </p:nvSpPr>
        <p:spPr>
          <a:xfrm>
            <a:off x="275788" y="838417"/>
            <a:ext cx="9557279" cy="70224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6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뉴솔루션의</a:t>
            </a: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파트너사가 </a:t>
            </a: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45</a:t>
            </a: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개로 증가되며 파트너사별 품질관리의 수준차가 상이하여 </a:t>
            </a:r>
            <a:r>
              <a:rPr lang="en-US" altLang="ko-KR" sz="16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S&amp;I</a:t>
            </a: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표준 품질 수준 유지와 안전관리를 위하여 비상주 사업장 중심의 </a:t>
            </a:r>
            <a:r>
              <a:rPr lang="ko-KR" altLang="en-US" sz="16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딜리버리</a:t>
            </a: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체계를 구축하고자 함  </a:t>
            </a:r>
            <a:endParaRPr lang="en-US" altLang="ko-KR" sz="16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DA5577D-E6D3-4D95-83AF-CE429946561B}"/>
              </a:ext>
            </a:extLst>
          </p:cNvPr>
          <p:cNvSpPr/>
          <p:nvPr/>
        </p:nvSpPr>
        <p:spPr>
          <a:xfrm>
            <a:off x="6086912" y="1232884"/>
            <a:ext cx="35433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(※ 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상주 사업장은 상주 인력이 품질 관리 담당</a:t>
            </a: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endParaRPr lang="ko-KR" altLang="en-US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5B359CD-20EA-436B-8CBE-5F36027792F6}"/>
              </a:ext>
            </a:extLst>
          </p:cNvPr>
          <p:cNvCxnSpPr/>
          <p:nvPr/>
        </p:nvCxnSpPr>
        <p:spPr>
          <a:xfrm>
            <a:off x="6019060" y="2778711"/>
            <a:ext cx="25478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4DA0F07F-12FD-45F9-B26F-0C8F26200CBF}"/>
              </a:ext>
            </a:extLst>
          </p:cNvPr>
          <p:cNvCxnSpPr>
            <a:cxnSpLocks/>
          </p:cNvCxnSpPr>
          <p:nvPr/>
        </p:nvCxnSpPr>
        <p:spPr>
          <a:xfrm>
            <a:off x="3977196" y="4118674"/>
            <a:ext cx="23792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D043AFAC-7644-4547-8CE6-669BE49F09B5}"/>
              </a:ext>
            </a:extLst>
          </p:cNvPr>
          <p:cNvCxnSpPr>
            <a:cxnSpLocks/>
          </p:cNvCxnSpPr>
          <p:nvPr/>
        </p:nvCxnSpPr>
        <p:spPr>
          <a:xfrm>
            <a:off x="6019060" y="5083934"/>
            <a:ext cx="159798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3296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091"/>
          <p:cNvSpPr txBox="1">
            <a:spLocks noChangeArrowheads="1"/>
          </p:cNvSpPr>
          <p:nvPr/>
        </p:nvSpPr>
        <p:spPr bwMode="auto">
          <a:xfrm>
            <a:off x="122014" y="17731"/>
            <a:ext cx="6958293" cy="431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latinLnBrk="0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II.</a:t>
            </a: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 분석</a:t>
            </a:r>
            <a:endParaRPr lang="ko-KR" altLang="en-US" sz="2400" b="1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147" name="Line 4"/>
          <p:cNvSpPr>
            <a:spLocks noChangeShapeType="1"/>
          </p:cNvSpPr>
          <p:nvPr/>
        </p:nvSpPr>
        <p:spPr bwMode="auto">
          <a:xfrm>
            <a:off x="-15875" y="482030"/>
            <a:ext cx="9921875" cy="0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148" name="Line 5"/>
          <p:cNvSpPr>
            <a:spLocks noChangeShapeType="1"/>
          </p:cNvSpPr>
          <p:nvPr/>
        </p:nvSpPr>
        <p:spPr bwMode="auto">
          <a:xfrm>
            <a:off x="-15875" y="6487274"/>
            <a:ext cx="9921875" cy="0"/>
          </a:xfrm>
          <a:prstGeom prst="line">
            <a:avLst/>
          </a:prstGeom>
          <a:noFill/>
          <a:ln w="57150" cmpd="thinThick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009B88-6108-4DB2-9083-B915AAF7798D}"/>
              </a:ext>
            </a:extLst>
          </p:cNvPr>
          <p:cNvSpPr txBox="1"/>
          <p:nvPr/>
        </p:nvSpPr>
        <p:spPr>
          <a:xfrm>
            <a:off x="215371" y="656029"/>
            <a:ext cx="9474353" cy="702244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10</a:t>
            </a: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 본부 산하 </a:t>
            </a: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BS</a:t>
            </a: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센터가 수도권에서 운영 중이며</a:t>
            </a: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비상주형 </a:t>
            </a:r>
            <a:r>
              <a:rPr lang="ko-KR" altLang="en-US" sz="16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패트롤</a:t>
            </a: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안전점검을 위해 </a:t>
            </a: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5</a:t>
            </a: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 도시에 서비스센터를 운영하고 있습니다</a:t>
            </a: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이들 서비스센터의 가동률은 평균 </a:t>
            </a: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96.3%</a:t>
            </a: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</a:t>
            </a: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부가적인 업무를 수행할 여력이 부족한 상태입니다</a:t>
            </a: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11" name="슬라이드 번호 개체 틀 1">
            <a:extLst>
              <a:ext uri="{FF2B5EF4-FFF2-40B4-BE49-F238E27FC236}">
                <a16:creationId xmlns:a16="http://schemas.microsoft.com/office/drawing/2014/main" id="{36999F34-0910-46A5-AADC-56BEDD438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01554" y="6487274"/>
            <a:ext cx="2228850" cy="365125"/>
          </a:xfrm>
        </p:spPr>
        <p:txBody>
          <a:bodyPr/>
          <a:lstStyle/>
          <a:p>
            <a:fld id="{3F84C5A7-88F9-48D6-A9F1-CB29353CBDC7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7EE4B4-1FB2-4685-9610-AF96DD5B1E0C}"/>
              </a:ext>
            </a:extLst>
          </p:cNvPr>
          <p:cNvSpPr txBox="1"/>
          <p:nvPr/>
        </p:nvSpPr>
        <p:spPr>
          <a:xfrm>
            <a:off x="499645" y="1613827"/>
            <a:ext cx="3155785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■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BS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센터 위치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5E139C0-B230-4B6D-ACAF-3FD60415E9BE}"/>
              </a:ext>
            </a:extLst>
          </p:cNvPr>
          <p:cNvSpPr/>
          <p:nvPr/>
        </p:nvSpPr>
        <p:spPr>
          <a:xfrm>
            <a:off x="690280" y="2097265"/>
            <a:ext cx="3217486" cy="368028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D298D4B8-2B25-41D5-96ED-1A236CD2A0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146303"/>
              </p:ext>
            </p:extLst>
          </p:nvPr>
        </p:nvGraphicFramePr>
        <p:xfrm>
          <a:off x="4393178" y="2105893"/>
          <a:ext cx="5077363" cy="371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926">
                  <a:extLst>
                    <a:ext uri="{9D8B030D-6E8A-4147-A177-3AD203B41FA5}">
                      <a16:colId xmlns:a16="http://schemas.microsoft.com/office/drawing/2014/main" val="2984042832"/>
                    </a:ext>
                  </a:extLst>
                </a:gridCol>
                <a:gridCol w="769658">
                  <a:extLst>
                    <a:ext uri="{9D8B030D-6E8A-4147-A177-3AD203B41FA5}">
                      <a16:colId xmlns:a16="http://schemas.microsoft.com/office/drawing/2014/main" val="199750570"/>
                    </a:ext>
                  </a:extLst>
                </a:gridCol>
                <a:gridCol w="586596">
                  <a:extLst>
                    <a:ext uri="{9D8B030D-6E8A-4147-A177-3AD203B41FA5}">
                      <a16:colId xmlns:a16="http://schemas.microsoft.com/office/drawing/2014/main" val="1164362433"/>
                    </a:ext>
                  </a:extLst>
                </a:gridCol>
                <a:gridCol w="569345">
                  <a:extLst>
                    <a:ext uri="{9D8B030D-6E8A-4147-A177-3AD203B41FA5}">
                      <a16:colId xmlns:a16="http://schemas.microsoft.com/office/drawing/2014/main" val="342413999"/>
                    </a:ext>
                  </a:extLst>
                </a:gridCol>
                <a:gridCol w="360584">
                  <a:extLst>
                    <a:ext uri="{9D8B030D-6E8A-4147-A177-3AD203B41FA5}">
                      <a16:colId xmlns:a16="http://schemas.microsoft.com/office/drawing/2014/main" val="2992197022"/>
                    </a:ext>
                  </a:extLst>
                </a:gridCol>
                <a:gridCol w="360584">
                  <a:extLst>
                    <a:ext uri="{9D8B030D-6E8A-4147-A177-3AD203B41FA5}">
                      <a16:colId xmlns:a16="http://schemas.microsoft.com/office/drawing/2014/main" val="2203997688"/>
                    </a:ext>
                  </a:extLst>
                </a:gridCol>
                <a:gridCol w="360584">
                  <a:extLst>
                    <a:ext uri="{9D8B030D-6E8A-4147-A177-3AD203B41FA5}">
                      <a16:colId xmlns:a16="http://schemas.microsoft.com/office/drawing/2014/main" val="4285947207"/>
                    </a:ext>
                  </a:extLst>
                </a:gridCol>
                <a:gridCol w="360584">
                  <a:extLst>
                    <a:ext uri="{9D8B030D-6E8A-4147-A177-3AD203B41FA5}">
                      <a16:colId xmlns:a16="http://schemas.microsoft.com/office/drawing/2014/main" val="3466027848"/>
                    </a:ext>
                  </a:extLst>
                </a:gridCol>
                <a:gridCol w="360584">
                  <a:extLst>
                    <a:ext uri="{9D8B030D-6E8A-4147-A177-3AD203B41FA5}">
                      <a16:colId xmlns:a16="http://schemas.microsoft.com/office/drawing/2014/main" val="2969519209"/>
                    </a:ext>
                  </a:extLst>
                </a:gridCol>
                <a:gridCol w="1102918">
                  <a:extLst>
                    <a:ext uri="{9D8B030D-6E8A-4147-A177-3AD203B41FA5}">
                      <a16:colId xmlns:a16="http://schemas.microsoft.com/office/drawing/2014/main" val="20667372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인원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명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가동율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(%)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F1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F2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F3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F4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월급제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7550542"/>
                  </a:ext>
                </a:extLst>
              </a:tr>
              <a:tr h="24384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BS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>
                          <a:effectLst/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 ※ SP</a:t>
                      </a:r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전담 </a:t>
                      </a: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21</a:t>
                      </a:r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명</a:t>
                      </a:r>
                      <a:endParaRPr lang="en-US" altLang="ko-KR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226675"/>
                  </a:ext>
                </a:extLst>
              </a:tr>
              <a:tr h="243840">
                <a:tc gridSpan="2">
                  <a:txBody>
                    <a:bodyPr/>
                    <a:lstStyle/>
                    <a:p>
                      <a:pPr marL="0" marR="0" lvl="0" indent="0" algn="ctr" defTabSz="9143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서울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본부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BS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 ※ AM 4</a:t>
                      </a:r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명</a:t>
                      </a:r>
                      <a:endParaRPr lang="en-US" altLang="ko-KR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9027387"/>
                  </a:ext>
                </a:extLst>
              </a:tr>
              <a:tr h="243840">
                <a:tc gridSpan="2">
                  <a:txBody>
                    <a:bodyPr/>
                    <a:lstStyle/>
                    <a:p>
                      <a:pPr marL="0" marR="0" lvl="0" indent="0" algn="ctr" defTabSz="9143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서울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본부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BS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ko-KR" altLang="en-US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2507949"/>
                  </a:ext>
                </a:extLst>
              </a:tr>
              <a:tr h="243840">
                <a:tc gridSpan="2">
                  <a:txBody>
                    <a:bodyPr/>
                    <a:lstStyle/>
                    <a:p>
                      <a:pPr marL="0" marR="0" lvl="0" indent="0" algn="ctr" defTabSz="9143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서울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본부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BS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altLang="ko-KR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4667607"/>
                  </a:ext>
                </a:extLst>
              </a:tr>
              <a:tr h="243840">
                <a:tc rowSpan="2">
                  <a:txBody>
                    <a:bodyPr/>
                    <a:lstStyle/>
                    <a:p>
                      <a:pPr marL="0" marR="0" lvl="0" indent="0" algn="ctr" defTabSz="9143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BS1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altLang="ko-KR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95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 ※ AM 10</a:t>
                      </a:r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명</a:t>
                      </a:r>
                      <a:endParaRPr lang="en-US" altLang="ko-KR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2098027"/>
                  </a:ext>
                </a:extLst>
              </a:tr>
              <a:tr h="243840">
                <a:tc vMerge="1">
                  <a:txBody>
                    <a:bodyPr/>
                    <a:lstStyle/>
                    <a:p>
                      <a:pPr marL="0" marR="0" lvl="0" indent="0" algn="ctr" defTabSz="9143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BS2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89.2%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altLang="ko-KR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altLang="ko-KR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2583842"/>
                  </a:ext>
                </a:extLst>
              </a:tr>
              <a:tr h="243840">
                <a:tc gridSpan="2">
                  <a:txBody>
                    <a:bodyPr/>
                    <a:lstStyle/>
                    <a:p>
                      <a:pPr marL="0" marR="0" lvl="0" indent="0" algn="ctr" defTabSz="9143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서울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본부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BS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 ※ AM 2</a:t>
                      </a:r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명</a:t>
                      </a:r>
                      <a:endParaRPr lang="en-US" altLang="ko-KR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6017812"/>
                  </a:ext>
                </a:extLst>
              </a:tr>
              <a:tr h="243840">
                <a:tc gridSpan="2">
                  <a:txBody>
                    <a:bodyPr/>
                    <a:lstStyle/>
                    <a:p>
                      <a:pPr marL="0" marR="0" lvl="0" indent="0" algn="ctr" defTabSz="9143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서울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본부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BS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ko-KR" altLang="en-US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0055393"/>
                  </a:ext>
                </a:extLst>
              </a:tr>
              <a:tr h="243840">
                <a:tc gridSpan="2">
                  <a:txBody>
                    <a:bodyPr/>
                    <a:lstStyle/>
                    <a:p>
                      <a:pPr marL="0" marR="0" lvl="0" indent="0" algn="ctr" defTabSz="9143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본부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BS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 ※ AM 1</a:t>
                      </a:r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명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639525"/>
                  </a:ext>
                </a:extLst>
              </a:tr>
              <a:tr h="243840">
                <a:tc gridSpan="2">
                  <a:txBody>
                    <a:bodyPr/>
                    <a:lstStyle/>
                    <a:p>
                      <a:pPr marL="0" marR="0" lvl="0" indent="0" algn="ctr" defTabSz="9143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본부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BS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ko-KR" altLang="en-US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3104797"/>
                  </a:ext>
                </a:extLst>
              </a:tr>
              <a:tr h="243840">
                <a:tc gridSpan="2">
                  <a:txBody>
                    <a:bodyPr/>
                    <a:lstStyle/>
                    <a:p>
                      <a:pPr marL="0" marR="0" lvl="0" indent="0" algn="ctr" defTabSz="9143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남부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본부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BS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altLang="ko-KR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1236975"/>
                  </a:ext>
                </a:extLst>
              </a:tr>
              <a:tr h="243840">
                <a:tc gridSpan="2">
                  <a:txBody>
                    <a:bodyPr/>
                    <a:lstStyle/>
                    <a:p>
                      <a:pPr marL="0" marR="0" lvl="0" indent="0" algn="ctr" defTabSz="9143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남부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본부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BS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99.4%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altLang="ko-KR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2489411"/>
                  </a:ext>
                </a:extLst>
              </a:tr>
              <a:tr h="243840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ko-KR" altLang="en-US" sz="1000" b="1" i="0" u="none" strike="noStrike" dirty="0">
                          <a:effectLst/>
                          <a:latin typeface="+mn-ea"/>
                          <a:ea typeface="+mn-ea"/>
                        </a:rPr>
                        <a:t>계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22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36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altLang="ko-KR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361551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26A3159F-3F40-4D50-962E-24DD5B24EB4D}"/>
              </a:ext>
            </a:extLst>
          </p:cNvPr>
          <p:cNvSpPr txBox="1"/>
          <p:nvPr/>
        </p:nvSpPr>
        <p:spPr>
          <a:xfrm>
            <a:off x="4401804" y="1640898"/>
            <a:ext cx="3155785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■ 조직 구조 및 </a:t>
            </a:r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인력 현황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35F18B6-46C7-4AD5-9E53-A50904C74B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789" y="2155891"/>
            <a:ext cx="3008468" cy="3584439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0D55975C-B075-4B9D-A6C3-FF544D3DBA8A}"/>
              </a:ext>
            </a:extLst>
          </p:cNvPr>
          <p:cNvSpPr/>
          <p:nvPr/>
        </p:nvSpPr>
        <p:spPr>
          <a:xfrm>
            <a:off x="2846714" y="4028009"/>
            <a:ext cx="163902" cy="16390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5</a:t>
            </a:r>
            <a:endParaRPr lang="ko-KR" altLang="en-US" sz="1400" dirty="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5042EE3A-6281-4687-80E7-891C928B717F}"/>
              </a:ext>
            </a:extLst>
          </p:cNvPr>
          <p:cNvSpPr/>
          <p:nvPr/>
        </p:nvSpPr>
        <p:spPr>
          <a:xfrm>
            <a:off x="3157262" y="4743061"/>
            <a:ext cx="229079" cy="229079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0E3D78AF-A069-4C2F-8464-8CE0F203E256}"/>
              </a:ext>
            </a:extLst>
          </p:cNvPr>
          <p:cNvSpPr/>
          <p:nvPr/>
        </p:nvSpPr>
        <p:spPr>
          <a:xfrm>
            <a:off x="1749183" y="3521690"/>
            <a:ext cx="229079" cy="229079"/>
          </a:xfrm>
          <a:prstGeom prst="ellipse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79E7D09A-3937-4D66-9655-36091981F490}"/>
              </a:ext>
            </a:extLst>
          </p:cNvPr>
          <p:cNvSpPr/>
          <p:nvPr/>
        </p:nvSpPr>
        <p:spPr>
          <a:xfrm>
            <a:off x="1293963" y="4758940"/>
            <a:ext cx="229079" cy="229079"/>
          </a:xfrm>
          <a:prstGeom prst="ellipse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6</a:t>
            </a:r>
            <a:endParaRPr lang="ko-KR" altLang="en-US" sz="1400" dirty="0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440F2B1C-075E-4B19-BC45-484B25E73FB3}"/>
              </a:ext>
            </a:extLst>
          </p:cNvPr>
          <p:cNvSpPr/>
          <p:nvPr/>
        </p:nvSpPr>
        <p:spPr>
          <a:xfrm>
            <a:off x="2265771" y="2561132"/>
            <a:ext cx="163902" cy="16390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5</a:t>
            </a:r>
            <a:endParaRPr lang="ko-KR" altLang="en-US" sz="14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521DA73-62AC-4D41-9175-7228E55F96A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4135"/>
          <a:stretch/>
        </p:blipFill>
        <p:spPr>
          <a:xfrm>
            <a:off x="929696" y="2155891"/>
            <a:ext cx="884663" cy="639937"/>
          </a:xfrm>
          <a:prstGeom prst="rect">
            <a:avLst/>
          </a:prstGeom>
        </p:spPr>
      </p:pic>
      <p:sp>
        <p:nvSpPr>
          <p:cNvPr id="33" name="타원 32">
            <a:extLst>
              <a:ext uri="{FF2B5EF4-FFF2-40B4-BE49-F238E27FC236}">
                <a16:creationId xmlns:a16="http://schemas.microsoft.com/office/drawing/2014/main" id="{17BCD775-BD76-469F-8069-84D82C739AF9}"/>
              </a:ext>
            </a:extLst>
          </p:cNvPr>
          <p:cNvSpPr/>
          <p:nvPr/>
        </p:nvSpPr>
        <p:spPr>
          <a:xfrm>
            <a:off x="4388143" y="5370049"/>
            <a:ext cx="141334" cy="141334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E748C69C-16BC-4071-9304-05134A092A9F}"/>
              </a:ext>
            </a:extLst>
          </p:cNvPr>
          <p:cNvSpPr/>
          <p:nvPr/>
        </p:nvSpPr>
        <p:spPr>
          <a:xfrm>
            <a:off x="4388143" y="5130074"/>
            <a:ext cx="141334" cy="141334"/>
          </a:xfrm>
          <a:prstGeom prst="ellipse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246D673C-B18A-4CF9-8416-2C3D641F44BD}"/>
              </a:ext>
            </a:extLst>
          </p:cNvPr>
          <p:cNvSpPr/>
          <p:nvPr/>
        </p:nvSpPr>
        <p:spPr>
          <a:xfrm>
            <a:off x="4388868" y="3925013"/>
            <a:ext cx="139885" cy="13988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BCDD4E-6710-41F3-97EB-6525F577FE0A}"/>
              </a:ext>
            </a:extLst>
          </p:cNvPr>
          <p:cNvSpPr txBox="1"/>
          <p:nvPr/>
        </p:nvSpPr>
        <p:spPr>
          <a:xfrm>
            <a:off x="6628201" y="139408"/>
            <a:ext cx="3155785" cy="32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①</a:t>
            </a:r>
            <a:r>
              <a:rPr kumimoji="0" lang="ko-KR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0" lang="en-US" altLang="ko-KR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BS</a:t>
            </a:r>
            <a:r>
              <a:rPr kumimoji="0" lang="ko-KR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센터 일반 현황</a:t>
            </a:r>
          </a:p>
        </p:txBody>
      </p:sp>
    </p:spTree>
    <p:extLst>
      <p:ext uri="{BB962C8B-B14F-4D97-AF65-F5344CB8AC3E}">
        <p14:creationId xmlns:p14="http://schemas.microsoft.com/office/powerpoint/2010/main" val="3246696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091"/>
          <p:cNvSpPr txBox="1">
            <a:spLocks noChangeArrowheads="1"/>
          </p:cNvSpPr>
          <p:nvPr/>
        </p:nvSpPr>
        <p:spPr bwMode="auto">
          <a:xfrm>
            <a:off x="122014" y="17731"/>
            <a:ext cx="6958293" cy="431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latinLnBrk="0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ko-KR" sz="2000" b="1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II.</a:t>
            </a:r>
            <a:r>
              <a:rPr lang="ko-KR" altLang="en-US" sz="2000" b="1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 분석</a:t>
            </a:r>
            <a:endParaRPr lang="ko-KR" altLang="en-US" sz="2400" b="1" dirty="0">
              <a:solidFill>
                <a:schemeClr val="bg1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147" name="Line 4"/>
          <p:cNvSpPr>
            <a:spLocks noChangeShapeType="1"/>
          </p:cNvSpPr>
          <p:nvPr/>
        </p:nvSpPr>
        <p:spPr bwMode="auto">
          <a:xfrm>
            <a:off x="-15875" y="482030"/>
            <a:ext cx="9921875" cy="0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148" name="Line 5"/>
          <p:cNvSpPr>
            <a:spLocks noChangeShapeType="1"/>
          </p:cNvSpPr>
          <p:nvPr/>
        </p:nvSpPr>
        <p:spPr bwMode="auto">
          <a:xfrm>
            <a:off x="-15875" y="6487274"/>
            <a:ext cx="9921875" cy="0"/>
          </a:xfrm>
          <a:prstGeom prst="line">
            <a:avLst/>
          </a:prstGeom>
          <a:noFill/>
          <a:ln w="57150" cmpd="thinThick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009B88-6108-4DB2-9083-B915AAF7798D}"/>
              </a:ext>
            </a:extLst>
          </p:cNvPr>
          <p:cNvSpPr txBox="1"/>
          <p:nvPr/>
        </p:nvSpPr>
        <p:spPr>
          <a:xfrm>
            <a:off x="215371" y="638781"/>
            <a:ext cx="9474353" cy="702244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BS</a:t>
            </a: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센터는 </a:t>
            </a:r>
            <a:r>
              <a:rPr lang="ko-KR" altLang="en-US" sz="16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패트롤</a:t>
            </a: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안전점검</a:t>
            </a: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전기 및 기계</a:t>
            </a: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</a:t>
            </a: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및 전국 고객 관리자</a:t>
            </a: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(AM)</a:t>
            </a: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역할에서 강점을 가지고 있으나</a:t>
            </a: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공사 및 설비 유지 보수를 위해 실내건축</a:t>
            </a: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정보통신공사 등의 기술 인력이 추가로 필요합니다</a:t>
            </a: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11" name="슬라이드 번호 개체 틀 1">
            <a:extLst>
              <a:ext uri="{FF2B5EF4-FFF2-40B4-BE49-F238E27FC236}">
                <a16:creationId xmlns:a16="http://schemas.microsoft.com/office/drawing/2014/main" id="{36999F34-0910-46A5-AADC-56BEDD438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01554" y="6487274"/>
            <a:ext cx="2228850" cy="365125"/>
          </a:xfrm>
        </p:spPr>
        <p:txBody>
          <a:bodyPr/>
          <a:lstStyle/>
          <a:p>
            <a:fld id="{3F84C5A7-88F9-48D6-A9F1-CB29353CBDC7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7EE4B4-1FB2-4685-9610-AF96DD5B1E0C}"/>
              </a:ext>
            </a:extLst>
          </p:cNvPr>
          <p:cNvSpPr txBox="1"/>
          <p:nvPr/>
        </p:nvSpPr>
        <p:spPr>
          <a:xfrm>
            <a:off x="499645" y="1613827"/>
            <a:ext cx="3155785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>
              <a:lnSpc>
                <a:spcPct val="120000"/>
              </a:lnSpc>
              <a:spcBef>
                <a:spcPts val="300"/>
              </a:spcBef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■ </a:t>
            </a:r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cs typeface="Pretendard" panose="02000503000000020004" pitchFamily="2" charset="-127"/>
              </a:rPr>
              <a:t>기술력 분석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A3159F-3F40-4D50-962E-24DD5B24EB4D}"/>
              </a:ext>
            </a:extLst>
          </p:cNvPr>
          <p:cNvSpPr txBox="1"/>
          <p:nvPr/>
        </p:nvSpPr>
        <p:spPr>
          <a:xfrm>
            <a:off x="4401804" y="1640898"/>
            <a:ext cx="3155785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>
              <a:lnSpc>
                <a:spcPct val="120000"/>
              </a:lnSpc>
              <a:spcBef>
                <a:spcPts val="300"/>
              </a:spcBef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■ 직무 분석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D0D079C-9DD4-49BB-B5C3-8F43687E5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69" y="2419000"/>
            <a:ext cx="3086941" cy="2951049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id="{E652312A-2298-4817-93EF-C98D4D38ADDE}"/>
              </a:ext>
            </a:extLst>
          </p:cNvPr>
          <p:cNvSpPr/>
          <p:nvPr/>
        </p:nvSpPr>
        <p:spPr>
          <a:xfrm>
            <a:off x="690280" y="2097265"/>
            <a:ext cx="3217486" cy="368028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8" name="표 18">
            <a:extLst>
              <a:ext uri="{FF2B5EF4-FFF2-40B4-BE49-F238E27FC236}">
                <a16:creationId xmlns:a16="http://schemas.microsoft.com/office/drawing/2014/main" id="{CD991585-E55E-4388-9034-4CA29FCADD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762388"/>
              </p:ext>
            </p:extLst>
          </p:nvPr>
        </p:nvGraphicFramePr>
        <p:xfrm>
          <a:off x="4393178" y="2105895"/>
          <a:ext cx="5052747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680">
                  <a:extLst>
                    <a:ext uri="{9D8B030D-6E8A-4147-A177-3AD203B41FA5}">
                      <a16:colId xmlns:a16="http://schemas.microsoft.com/office/drawing/2014/main" val="2984042832"/>
                    </a:ext>
                  </a:extLst>
                </a:gridCol>
                <a:gridCol w="774278">
                  <a:extLst>
                    <a:ext uri="{9D8B030D-6E8A-4147-A177-3AD203B41FA5}">
                      <a16:colId xmlns:a16="http://schemas.microsoft.com/office/drawing/2014/main" val="199750570"/>
                    </a:ext>
                  </a:extLst>
                </a:gridCol>
                <a:gridCol w="474759">
                  <a:extLst>
                    <a:ext uri="{9D8B030D-6E8A-4147-A177-3AD203B41FA5}">
                      <a16:colId xmlns:a16="http://schemas.microsoft.com/office/drawing/2014/main" val="1164362433"/>
                    </a:ext>
                  </a:extLst>
                </a:gridCol>
                <a:gridCol w="357103">
                  <a:extLst>
                    <a:ext uri="{9D8B030D-6E8A-4147-A177-3AD203B41FA5}">
                      <a16:colId xmlns:a16="http://schemas.microsoft.com/office/drawing/2014/main" val="2992197022"/>
                    </a:ext>
                  </a:extLst>
                </a:gridCol>
                <a:gridCol w="357103">
                  <a:extLst>
                    <a:ext uri="{9D8B030D-6E8A-4147-A177-3AD203B41FA5}">
                      <a16:colId xmlns:a16="http://schemas.microsoft.com/office/drawing/2014/main" val="2795086361"/>
                    </a:ext>
                  </a:extLst>
                </a:gridCol>
                <a:gridCol w="357103">
                  <a:extLst>
                    <a:ext uri="{9D8B030D-6E8A-4147-A177-3AD203B41FA5}">
                      <a16:colId xmlns:a16="http://schemas.microsoft.com/office/drawing/2014/main" val="2203997688"/>
                    </a:ext>
                  </a:extLst>
                </a:gridCol>
                <a:gridCol w="357103">
                  <a:extLst>
                    <a:ext uri="{9D8B030D-6E8A-4147-A177-3AD203B41FA5}">
                      <a16:colId xmlns:a16="http://schemas.microsoft.com/office/drawing/2014/main" val="4285947207"/>
                    </a:ext>
                  </a:extLst>
                </a:gridCol>
                <a:gridCol w="357103">
                  <a:extLst>
                    <a:ext uri="{9D8B030D-6E8A-4147-A177-3AD203B41FA5}">
                      <a16:colId xmlns:a16="http://schemas.microsoft.com/office/drawing/2014/main" val="2044869133"/>
                    </a:ext>
                  </a:extLst>
                </a:gridCol>
                <a:gridCol w="357103">
                  <a:extLst>
                    <a:ext uri="{9D8B030D-6E8A-4147-A177-3AD203B41FA5}">
                      <a16:colId xmlns:a16="http://schemas.microsoft.com/office/drawing/2014/main" val="3643658954"/>
                    </a:ext>
                  </a:extLst>
                </a:gridCol>
                <a:gridCol w="357103">
                  <a:extLst>
                    <a:ext uri="{9D8B030D-6E8A-4147-A177-3AD203B41FA5}">
                      <a16:colId xmlns:a16="http://schemas.microsoft.com/office/drawing/2014/main" val="4034677046"/>
                    </a:ext>
                  </a:extLst>
                </a:gridCol>
                <a:gridCol w="357103">
                  <a:extLst>
                    <a:ext uri="{9D8B030D-6E8A-4147-A177-3AD203B41FA5}">
                      <a16:colId xmlns:a16="http://schemas.microsoft.com/office/drawing/2014/main" val="1145778074"/>
                    </a:ext>
                  </a:extLst>
                </a:gridCol>
                <a:gridCol w="357103">
                  <a:extLst>
                    <a:ext uri="{9D8B030D-6E8A-4147-A177-3AD203B41FA5}">
                      <a16:colId xmlns:a16="http://schemas.microsoft.com/office/drawing/2014/main" val="3466027848"/>
                    </a:ext>
                  </a:extLst>
                </a:gridCol>
                <a:gridCol w="357103">
                  <a:extLst>
                    <a:ext uri="{9D8B030D-6E8A-4147-A177-3AD203B41FA5}">
                      <a16:colId xmlns:a16="http://schemas.microsoft.com/office/drawing/2014/main" val="2066737227"/>
                    </a:ext>
                  </a:extLst>
                </a:gridCol>
              </a:tblGrid>
              <a:tr h="145215"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인원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명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FM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매니저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Patrol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FM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운영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품질안전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일반행정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7550542"/>
                  </a:ext>
                </a:extLst>
              </a:tr>
              <a:tr h="363037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전기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기계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AM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전기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기계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건축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일반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0729029"/>
                  </a:ext>
                </a:extLst>
              </a:tr>
              <a:tr h="24384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본부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BS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226675"/>
                  </a:ext>
                </a:extLst>
              </a:tr>
              <a:tr h="243840">
                <a:tc gridSpan="2">
                  <a:txBody>
                    <a:bodyPr/>
                    <a:lstStyle/>
                    <a:p>
                      <a:pPr marL="0" marR="0" lvl="0" indent="0" algn="ctr" defTabSz="9143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서울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본부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BS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9027387"/>
                  </a:ext>
                </a:extLst>
              </a:tr>
              <a:tr h="243840">
                <a:tc gridSpan="2">
                  <a:txBody>
                    <a:bodyPr/>
                    <a:lstStyle/>
                    <a:p>
                      <a:pPr marL="0" marR="0" lvl="0" indent="0" algn="ctr" defTabSz="9143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서울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본부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BS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2507949"/>
                  </a:ext>
                </a:extLst>
              </a:tr>
              <a:tr h="243840">
                <a:tc gridSpan="2">
                  <a:txBody>
                    <a:bodyPr/>
                    <a:lstStyle/>
                    <a:p>
                      <a:pPr marL="0" marR="0" lvl="0" indent="0" algn="ctr" defTabSz="9143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서울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본부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BS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4667607"/>
                  </a:ext>
                </a:extLst>
              </a:tr>
              <a:tr h="243840">
                <a:tc rowSpan="2">
                  <a:txBody>
                    <a:bodyPr/>
                    <a:lstStyle/>
                    <a:p>
                      <a:pPr marL="0" marR="0" lvl="0" indent="0" algn="ctr" defTabSz="9143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BS1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2098027"/>
                  </a:ext>
                </a:extLst>
              </a:tr>
              <a:tr h="243840">
                <a:tc vMerge="1">
                  <a:txBody>
                    <a:bodyPr/>
                    <a:lstStyle/>
                    <a:p>
                      <a:pPr marL="0" marR="0" lvl="0" indent="0" algn="ctr" defTabSz="9143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BS2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2583842"/>
                  </a:ext>
                </a:extLst>
              </a:tr>
              <a:tr h="243840">
                <a:tc gridSpan="2">
                  <a:txBody>
                    <a:bodyPr/>
                    <a:lstStyle/>
                    <a:p>
                      <a:pPr marL="0" marR="0" lvl="0" indent="0" algn="ctr" defTabSz="9143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서울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본부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BS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6017812"/>
                  </a:ext>
                </a:extLst>
              </a:tr>
              <a:tr h="243840">
                <a:tc gridSpan="2">
                  <a:txBody>
                    <a:bodyPr/>
                    <a:lstStyle/>
                    <a:p>
                      <a:pPr marL="0" marR="0" lvl="0" indent="0" algn="ctr" defTabSz="9143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서울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본부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BS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0055393"/>
                  </a:ext>
                </a:extLst>
              </a:tr>
              <a:tr h="243840">
                <a:tc gridSpan="2">
                  <a:txBody>
                    <a:bodyPr/>
                    <a:lstStyle/>
                    <a:p>
                      <a:pPr marL="0" marR="0" lvl="0" indent="0" algn="ctr" defTabSz="9143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중부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본부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BS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639525"/>
                  </a:ext>
                </a:extLst>
              </a:tr>
              <a:tr h="243840">
                <a:tc gridSpan="2">
                  <a:txBody>
                    <a:bodyPr/>
                    <a:lstStyle/>
                    <a:p>
                      <a:pPr marL="0" marR="0" lvl="0" indent="0" algn="ctr" defTabSz="9143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중부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본부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BS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3104797"/>
                  </a:ext>
                </a:extLst>
              </a:tr>
              <a:tr h="243840">
                <a:tc gridSpan="2">
                  <a:txBody>
                    <a:bodyPr/>
                    <a:lstStyle/>
                    <a:p>
                      <a:pPr marL="0" marR="0" lvl="0" indent="0" algn="ctr" defTabSz="9143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남부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본부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BS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1236975"/>
                  </a:ext>
                </a:extLst>
              </a:tr>
              <a:tr h="243840">
                <a:tc gridSpan="2">
                  <a:txBody>
                    <a:bodyPr/>
                    <a:lstStyle/>
                    <a:p>
                      <a:pPr marL="0" marR="0" lvl="0" indent="0" algn="ctr" defTabSz="9143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남부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본부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BS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2489411"/>
                  </a:ext>
                </a:extLst>
              </a:tr>
              <a:tr h="243840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ko-KR" altLang="en-US" sz="1000" b="1" i="0" u="none" strike="noStrike" dirty="0">
                          <a:effectLst/>
                          <a:latin typeface="+mn-ea"/>
                          <a:ea typeface="+mn-ea"/>
                        </a:rPr>
                        <a:t>계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>
                          <a:effectLst/>
                          <a:latin typeface="+mn-ea"/>
                          <a:ea typeface="+mn-ea"/>
                        </a:rPr>
                        <a:t>40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>
                          <a:effectLst/>
                          <a:latin typeface="+mn-ea"/>
                          <a:ea typeface="+mn-ea"/>
                        </a:rPr>
                        <a:t>16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>
                          <a:effectLst/>
                          <a:latin typeface="+mn-ea"/>
                          <a:ea typeface="+mn-ea"/>
                        </a:rPr>
                        <a:t>17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3615517"/>
                  </a:ext>
                </a:extLst>
              </a:tr>
            </a:tbl>
          </a:graphicData>
        </a:graphic>
      </p:graphicFrame>
      <p:sp>
        <p:nvSpPr>
          <p:cNvPr id="40" name="타원 39">
            <a:extLst>
              <a:ext uri="{FF2B5EF4-FFF2-40B4-BE49-F238E27FC236}">
                <a16:creationId xmlns:a16="http://schemas.microsoft.com/office/drawing/2014/main" id="{F3A2FE42-A789-40B9-94A8-68C212E5ACBD}"/>
              </a:ext>
            </a:extLst>
          </p:cNvPr>
          <p:cNvSpPr/>
          <p:nvPr/>
        </p:nvSpPr>
        <p:spPr>
          <a:xfrm>
            <a:off x="4388143" y="5537722"/>
            <a:ext cx="141334" cy="141334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7BC94FBC-136A-4ED4-A364-F8F1996F3F8C}"/>
              </a:ext>
            </a:extLst>
          </p:cNvPr>
          <p:cNvSpPr/>
          <p:nvPr/>
        </p:nvSpPr>
        <p:spPr>
          <a:xfrm>
            <a:off x="4388143" y="5297747"/>
            <a:ext cx="141334" cy="141334"/>
          </a:xfrm>
          <a:prstGeom prst="ellipse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415400D0-CD29-416E-BDF9-1A0DCE6A7E68}"/>
              </a:ext>
            </a:extLst>
          </p:cNvPr>
          <p:cNvSpPr/>
          <p:nvPr/>
        </p:nvSpPr>
        <p:spPr>
          <a:xfrm>
            <a:off x="4388868" y="4066808"/>
            <a:ext cx="139885" cy="13988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5CCE3B-AFBD-4024-BAB3-0BC05AA3A0EC}"/>
              </a:ext>
            </a:extLst>
          </p:cNvPr>
          <p:cNvSpPr txBox="1"/>
          <p:nvPr/>
        </p:nvSpPr>
        <p:spPr>
          <a:xfrm>
            <a:off x="6628201" y="139408"/>
            <a:ext cx="3155785" cy="32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② 직무 분석</a:t>
            </a:r>
          </a:p>
        </p:txBody>
      </p:sp>
    </p:spTree>
    <p:extLst>
      <p:ext uri="{BB962C8B-B14F-4D97-AF65-F5344CB8AC3E}">
        <p14:creationId xmlns:p14="http://schemas.microsoft.com/office/powerpoint/2010/main" val="3883836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오각형 72">
            <a:extLst>
              <a:ext uri="{FF2B5EF4-FFF2-40B4-BE49-F238E27FC236}">
                <a16:creationId xmlns:a16="http://schemas.microsoft.com/office/drawing/2014/main" id="{853D0AA9-797E-41D9-BA20-05E5D7314B94}"/>
              </a:ext>
            </a:extLst>
          </p:cNvPr>
          <p:cNvSpPr/>
          <p:nvPr/>
        </p:nvSpPr>
        <p:spPr>
          <a:xfrm>
            <a:off x="3489321" y="1741378"/>
            <a:ext cx="2047376" cy="376253"/>
          </a:xfrm>
          <a:prstGeom prst="homePlate">
            <a:avLst>
              <a:gd name="adj" fmla="val 50882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b="1" spc="-7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sp>
        <p:nvSpPr>
          <p:cNvPr id="70" name="오각형 72">
            <a:extLst>
              <a:ext uri="{FF2B5EF4-FFF2-40B4-BE49-F238E27FC236}">
                <a16:creationId xmlns:a16="http://schemas.microsoft.com/office/drawing/2014/main" id="{62090CBC-81C5-491D-8FBC-FEB959700AE4}"/>
              </a:ext>
            </a:extLst>
          </p:cNvPr>
          <p:cNvSpPr/>
          <p:nvPr/>
        </p:nvSpPr>
        <p:spPr>
          <a:xfrm>
            <a:off x="5531662" y="1749891"/>
            <a:ext cx="2047376" cy="376253"/>
          </a:xfrm>
          <a:prstGeom prst="homePlate">
            <a:avLst>
              <a:gd name="adj" fmla="val 50882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b="1" spc="-7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sp>
        <p:nvSpPr>
          <p:cNvPr id="71" name="오각형 72">
            <a:extLst>
              <a:ext uri="{FF2B5EF4-FFF2-40B4-BE49-F238E27FC236}">
                <a16:creationId xmlns:a16="http://schemas.microsoft.com/office/drawing/2014/main" id="{B584C4D2-5E70-40EB-B54A-BAFB2F32B23D}"/>
              </a:ext>
            </a:extLst>
          </p:cNvPr>
          <p:cNvSpPr/>
          <p:nvPr/>
        </p:nvSpPr>
        <p:spPr>
          <a:xfrm>
            <a:off x="7569768" y="1749891"/>
            <a:ext cx="2047376" cy="376253"/>
          </a:xfrm>
          <a:prstGeom prst="homePlate">
            <a:avLst>
              <a:gd name="adj" fmla="val 50882"/>
            </a:avLst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b="1" spc="-7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sp>
        <p:nvSpPr>
          <p:cNvPr id="68" name="오각형 72">
            <a:extLst>
              <a:ext uri="{FF2B5EF4-FFF2-40B4-BE49-F238E27FC236}">
                <a16:creationId xmlns:a16="http://schemas.microsoft.com/office/drawing/2014/main" id="{3131BF54-7B5B-450F-84DC-94B6AF24A206}"/>
              </a:ext>
            </a:extLst>
          </p:cNvPr>
          <p:cNvSpPr/>
          <p:nvPr/>
        </p:nvSpPr>
        <p:spPr>
          <a:xfrm>
            <a:off x="1441945" y="1741379"/>
            <a:ext cx="2047376" cy="376253"/>
          </a:xfrm>
          <a:prstGeom prst="homePlate">
            <a:avLst>
              <a:gd name="adj" fmla="val 50882"/>
            </a:avLst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b="1" spc="-7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sp>
        <p:nvSpPr>
          <p:cNvPr id="6146" name="Text Box 2091"/>
          <p:cNvSpPr txBox="1">
            <a:spLocks noChangeArrowheads="1"/>
          </p:cNvSpPr>
          <p:nvPr/>
        </p:nvSpPr>
        <p:spPr bwMode="auto">
          <a:xfrm>
            <a:off x="122014" y="17731"/>
            <a:ext cx="6958293" cy="431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latinLnBrk="0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III.</a:t>
            </a: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구축 방안</a:t>
            </a:r>
            <a:endParaRPr lang="ko-KR" altLang="en-US" sz="2400" b="1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147" name="Line 4"/>
          <p:cNvSpPr>
            <a:spLocks noChangeShapeType="1"/>
          </p:cNvSpPr>
          <p:nvPr/>
        </p:nvSpPr>
        <p:spPr bwMode="auto">
          <a:xfrm>
            <a:off x="-15875" y="482030"/>
            <a:ext cx="9921875" cy="0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148" name="Line 5"/>
          <p:cNvSpPr>
            <a:spLocks noChangeShapeType="1"/>
          </p:cNvSpPr>
          <p:nvPr/>
        </p:nvSpPr>
        <p:spPr bwMode="auto">
          <a:xfrm>
            <a:off x="-15875" y="6487274"/>
            <a:ext cx="9921875" cy="0"/>
          </a:xfrm>
          <a:prstGeom prst="line">
            <a:avLst/>
          </a:prstGeom>
          <a:noFill/>
          <a:ln w="57150" cmpd="thinThick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009B88-6108-4DB2-9083-B915AAF7798D}"/>
              </a:ext>
            </a:extLst>
          </p:cNvPr>
          <p:cNvSpPr txBox="1"/>
          <p:nvPr/>
        </p:nvSpPr>
        <p:spPr>
          <a:xfrm>
            <a:off x="215371" y="616753"/>
            <a:ext cx="9557279" cy="70224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BS</a:t>
            </a: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센터를 개편하여 단기적으로는 표준 품질을 유지하며 제조 파트너사들의 정기점검과 소모품 교체 업무를 확장하고</a:t>
            </a: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중장기적으로는 지역 커뮤니티를 통해 중소형 건축물 수주 및 관리 거점으로 육성할 계획입니다</a:t>
            </a: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11" name="슬라이드 번호 개체 틀 1">
            <a:extLst>
              <a:ext uri="{FF2B5EF4-FFF2-40B4-BE49-F238E27FC236}">
                <a16:creationId xmlns:a16="http://schemas.microsoft.com/office/drawing/2014/main" id="{36999F34-0910-46A5-AADC-56BEDD438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01554" y="6487274"/>
            <a:ext cx="2228850" cy="365125"/>
          </a:xfrm>
        </p:spPr>
        <p:txBody>
          <a:bodyPr/>
          <a:lstStyle/>
          <a:p>
            <a:fld id="{3F84C5A7-88F9-48D6-A9F1-CB29353CBDC7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3386207-E486-44DB-B25D-CBCD0BD31324}"/>
              </a:ext>
            </a:extLst>
          </p:cNvPr>
          <p:cNvSpPr/>
          <p:nvPr/>
        </p:nvSpPr>
        <p:spPr>
          <a:xfrm>
            <a:off x="274094" y="2227833"/>
            <a:ext cx="972108" cy="134241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기능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453AC2-7DE0-4915-95D3-326E305F4DC0}"/>
              </a:ext>
            </a:extLst>
          </p:cNvPr>
          <p:cNvSpPr txBox="1"/>
          <p:nvPr/>
        </p:nvSpPr>
        <p:spPr>
          <a:xfrm>
            <a:off x="2134531" y="1819310"/>
            <a:ext cx="6042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>
                <a:latin typeface="Arial Narrow" panose="020B0606020202030204" pitchFamily="34" charset="0"/>
              </a:rPr>
              <a:t>‘24.4Q</a:t>
            </a:r>
            <a:endParaRPr lang="ko-KR" altLang="en-US" sz="1100" b="1" dirty="0">
              <a:latin typeface="Arial Narrow" panose="020B0606020202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8E82FF-1438-486D-AD34-DEB5166C15E6}"/>
              </a:ext>
            </a:extLst>
          </p:cNvPr>
          <p:cNvSpPr txBox="1"/>
          <p:nvPr/>
        </p:nvSpPr>
        <p:spPr>
          <a:xfrm>
            <a:off x="4205230" y="1816318"/>
            <a:ext cx="6042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>
                <a:latin typeface="Arial Narrow" panose="020B0606020202030204" pitchFamily="34" charset="0"/>
              </a:rPr>
              <a:t>’25</a:t>
            </a:r>
            <a:r>
              <a:rPr lang="ko-KR" altLang="en-US" sz="1100" b="1" dirty="0">
                <a:latin typeface="Arial Narrow" panose="020B0606020202030204" pitchFamily="34" charset="0"/>
              </a:rPr>
              <a:t>년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533FEF1-3B34-492B-A7D6-33FF83EC0A05}"/>
              </a:ext>
            </a:extLst>
          </p:cNvPr>
          <p:cNvSpPr txBox="1"/>
          <p:nvPr/>
        </p:nvSpPr>
        <p:spPr>
          <a:xfrm>
            <a:off x="6303366" y="1819309"/>
            <a:ext cx="6042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>
                <a:latin typeface="Arial Narrow" panose="020B0606020202030204" pitchFamily="34" charset="0"/>
              </a:rPr>
              <a:t>’26</a:t>
            </a:r>
            <a:r>
              <a:rPr lang="ko-KR" altLang="en-US" sz="1100" b="1" dirty="0">
                <a:latin typeface="Arial Narrow" panose="020B0606020202030204" pitchFamily="34" charset="0"/>
              </a:rPr>
              <a:t>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DF3F47-4418-4566-85E5-B766ED9658FF}"/>
              </a:ext>
            </a:extLst>
          </p:cNvPr>
          <p:cNvSpPr txBox="1"/>
          <p:nvPr/>
        </p:nvSpPr>
        <p:spPr>
          <a:xfrm>
            <a:off x="8339429" y="1816318"/>
            <a:ext cx="6042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>
                <a:latin typeface="Arial Narrow" panose="020B0606020202030204" pitchFamily="34" charset="0"/>
              </a:rPr>
              <a:t>’27</a:t>
            </a:r>
            <a:r>
              <a:rPr lang="ko-KR" altLang="en-US" sz="1100" b="1" dirty="0">
                <a:latin typeface="Arial Narrow" panose="020B0606020202030204" pitchFamily="34" charset="0"/>
              </a:rPr>
              <a:t>년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EA5D97B-F661-4154-B264-36283B09A2FB}"/>
              </a:ext>
            </a:extLst>
          </p:cNvPr>
          <p:cNvSpPr/>
          <p:nvPr/>
        </p:nvSpPr>
        <p:spPr>
          <a:xfrm>
            <a:off x="1421759" y="2232480"/>
            <a:ext cx="2039188" cy="123143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B25B2B-BFAE-4DF4-BD9C-C97C7D8EAB1B}"/>
              </a:ext>
            </a:extLst>
          </p:cNvPr>
          <p:cNvSpPr txBox="1"/>
          <p:nvPr/>
        </p:nvSpPr>
        <p:spPr>
          <a:xfrm>
            <a:off x="1511466" y="2372479"/>
            <a:ext cx="1850426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일관된 품질수준 유지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791E8E7-61AF-4BB3-8452-D9008853F7B4}"/>
              </a:ext>
            </a:extLst>
          </p:cNvPr>
          <p:cNvSpPr txBox="1"/>
          <p:nvPr/>
        </p:nvSpPr>
        <p:spPr>
          <a:xfrm>
            <a:off x="1441945" y="2765672"/>
            <a:ext cx="1965950" cy="481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판매된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뉴솔루션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 상품의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표준 품질 수준 점검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3107433-3561-4C4D-B96C-7B1749BB6F58}"/>
              </a:ext>
            </a:extLst>
          </p:cNvPr>
          <p:cNvSpPr/>
          <p:nvPr/>
        </p:nvSpPr>
        <p:spPr>
          <a:xfrm>
            <a:off x="7539062" y="2233334"/>
            <a:ext cx="2048967" cy="1230581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4F00DE5-CA80-4B18-AB01-54E6667DED32}"/>
              </a:ext>
            </a:extLst>
          </p:cNvPr>
          <p:cNvSpPr/>
          <p:nvPr/>
        </p:nvSpPr>
        <p:spPr>
          <a:xfrm>
            <a:off x="5501018" y="2233442"/>
            <a:ext cx="2039188" cy="1231439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E9C9E7-3095-451B-8020-DD685EDA6D33}"/>
              </a:ext>
            </a:extLst>
          </p:cNvPr>
          <p:cNvSpPr txBox="1"/>
          <p:nvPr/>
        </p:nvSpPr>
        <p:spPr>
          <a:xfrm>
            <a:off x="7666476" y="2379675"/>
            <a:ext cx="1850426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지역 관리 센터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D0CD19-9066-4062-B1E1-2C275CA0B123}"/>
              </a:ext>
            </a:extLst>
          </p:cNvPr>
          <p:cNvSpPr txBox="1"/>
          <p:nvPr/>
        </p:nvSpPr>
        <p:spPr>
          <a:xfrm>
            <a:off x="5530581" y="2765672"/>
            <a:ext cx="1965950" cy="481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지역커뮤니티를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활용한</a:t>
            </a:r>
            <a:endParaRPr lang="en-US" altLang="ko-KR" sz="10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지역 정보 수집 및 홍보 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005966B-9F43-4F98-A441-F290DDA9765E}"/>
              </a:ext>
            </a:extLst>
          </p:cNvPr>
          <p:cNvSpPr txBox="1"/>
          <p:nvPr/>
        </p:nvSpPr>
        <p:spPr>
          <a:xfrm>
            <a:off x="5538321" y="2367073"/>
            <a:ext cx="1989315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지역 창구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5C99AD1-CAEC-4D2A-A698-AF4F76F15BF4}"/>
              </a:ext>
            </a:extLst>
          </p:cNvPr>
          <p:cNvSpPr txBox="1"/>
          <p:nvPr/>
        </p:nvSpPr>
        <p:spPr>
          <a:xfrm>
            <a:off x="7545913" y="2765672"/>
            <a:ext cx="2038704" cy="481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중소형 건축물 관리를</a:t>
            </a:r>
            <a:endParaRPr lang="en-US" altLang="ko-KR" sz="10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위한 거점 센터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A8635D2-4EF3-43ED-BE1A-80CEE2938B68}"/>
              </a:ext>
            </a:extLst>
          </p:cNvPr>
          <p:cNvSpPr/>
          <p:nvPr/>
        </p:nvSpPr>
        <p:spPr>
          <a:xfrm>
            <a:off x="274094" y="5003874"/>
            <a:ext cx="972108" cy="142996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인프라</a:t>
            </a:r>
            <a:endParaRPr kumimoji="0" lang="ko-KR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449C3147-F130-4FF2-BD51-690E419D6285}"/>
              </a:ext>
            </a:extLst>
          </p:cNvPr>
          <p:cNvCxnSpPr>
            <a:cxnSpLocks/>
          </p:cNvCxnSpPr>
          <p:nvPr/>
        </p:nvCxnSpPr>
        <p:spPr>
          <a:xfrm>
            <a:off x="1234512" y="5010173"/>
            <a:ext cx="835010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DDC9AB3-A59E-4852-949F-DF602EE3C4AF}"/>
              </a:ext>
            </a:extLst>
          </p:cNvPr>
          <p:cNvSpPr/>
          <p:nvPr/>
        </p:nvSpPr>
        <p:spPr>
          <a:xfrm>
            <a:off x="7547983" y="5095693"/>
            <a:ext cx="2048967" cy="1230581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54FEC01-B469-4884-9371-EE0E5ADB8BA2}"/>
              </a:ext>
            </a:extLst>
          </p:cNvPr>
          <p:cNvSpPr/>
          <p:nvPr/>
        </p:nvSpPr>
        <p:spPr>
          <a:xfrm>
            <a:off x="5509939" y="5095693"/>
            <a:ext cx="2039188" cy="1231439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48D33FC-78EC-4649-A539-3B39D495F243}"/>
              </a:ext>
            </a:extLst>
          </p:cNvPr>
          <p:cNvSpPr txBox="1"/>
          <p:nvPr/>
        </p:nvSpPr>
        <p:spPr>
          <a:xfrm>
            <a:off x="5600360" y="5266552"/>
            <a:ext cx="1850426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물류 최적화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2CE5D6E-84FB-4A0F-91C8-57777BBE5BAB}"/>
              </a:ext>
            </a:extLst>
          </p:cNvPr>
          <p:cNvSpPr txBox="1"/>
          <p:nvPr/>
        </p:nvSpPr>
        <p:spPr>
          <a:xfrm>
            <a:off x="5549207" y="5659914"/>
            <a:ext cx="1979536" cy="443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배송 경로 최적화 및 실시간 모니터링 시스템 구축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3E6AD36-A5A2-491F-8D65-724F0A949368}"/>
              </a:ext>
            </a:extLst>
          </p:cNvPr>
          <p:cNvSpPr txBox="1"/>
          <p:nvPr/>
        </p:nvSpPr>
        <p:spPr>
          <a:xfrm>
            <a:off x="7569768" y="5267987"/>
            <a:ext cx="1989315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배송시스템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OPEN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DCF4F8D-BA84-4408-B425-D376EEF1B5C8}"/>
              </a:ext>
            </a:extLst>
          </p:cNvPr>
          <p:cNvSpPr txBox="1"/>
          <p:nvPr/>
        </p:nvSpPr>
        <p:spPr>
          <a:xfrm>
            <a:off x="7593429" y="5674419"/>
            <a:ext cx="1965950" cy="482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외부업체에 배송시스템</a:t>
            </a:r>
            <a:endParaRPr lang="en-US" altLang="ko-KR" sz="10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개방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(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  <a:sym typeface="Wingdings" panose="05000000000000000000" pitchFamily="2" charset="2"/>
              </a:rPr>
              <a:t>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  <a:sym typeface="Wingdings" panose="05000000000000000000" pitchFamily="2" charset="2"/>
              </a:rPr>
              <a:t>위탁서비스 제공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)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71C7903B-39FD-4373-B990-C0BF184404BE}"/>
              </a:ext>
            </a:extLst>
          </p:cNvPr>
          <p:cNvSpPr/>
          <p:nvPr/>
        </p:nvSpPr>
        <p:spPr>
          <a:xfrm>
            <a:off x="1430637" y="5095693"/>
            <a:ext cx="2039188" cy="123143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101F0F2-D9C1-4C51-9CC8-0A9E50FADAD6}"/>
              </a:ext>
            </a:extLst>
          </p:cNvPr>
          <p:cNvSpPr txBox="1"/>
          <p:nvPr/>
        </p:nvSpPr>
        <p:spPr>
          <a:xfrm>
            <a:off x="1511466" y="5242887"/>
            <a:ext cx="1850426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출동 및 정산시스템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48E2AAA-06A8-4BE7-9A96-006219BA724F}"/>
              </a:ext>
            </a:extLst>
          </p:cNvPr>
          <p:cNvSpPr txBox="1"/>
          <p:nvPr/>
        </p:nvSpPr>
        <p:spPr>
          <a:xfrm>
            <a:off x="1441945" y="5677231"/>
            <a:ext cx="1965950" cy="258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SOS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와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IOC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시스템 활용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3106A1CC-D06D-4F92-A635-CE3BE7B7F1C3}"/>
              </a:ext>
            </a:extLst>
          </p:cNvPr>
          <p:cNvSpPr/>
          <p:nvPr/>
        </p:nvSpPr>
        <p:spPr>
          <a:xfrm>
            <a:off x="3470497" y="5095693"/>
            <a:ext cx="2039188" cy="123143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F48448B-AF54-4E68-8900-E07CE1230DD6}"/>
              </a:ext>
            </a:extLst>
          </p:cNvPr>
          <p:cNvSpPr txBox="1"/>
          <p:nvPr/>
        </p:nvSpPr>
        <p:spPr>
          <a:xfrm>
            <a:off x="3532419" y="5252415"/>
            <a:ext cx="1992110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지역센터 확대 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POC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E50CAD7-4A50-4627-9521-968FECD6A100}"/>
              </a:ext>
            </a:extLst>
          </p:cNvPr>
          <p:cNvSpPr txBox="1"/>
          <p:nvPr/>
        </p:nvSpPr>
        <p:spPr>
          <a:xfrm>
            <a:off x="3489206" y="5649473"/>
            <a:ext cx="1965950" cy="443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지역센터 시범 운영을 통한 물리적 센터 확대 타당성 검증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E349B12-575F-47D8-BA54-CC6A677473F2}"/>
              </a:ext>
            </a:extLst>
          </p:cNvPr>
          <p:cNvCxnSpPr>
            <a:cxnSpLocks/>
          </p:cNvCxnSpPr>
          <p:nvPr/>
        </p:nvCxnSpPr>
        <p:spPr>
          <a:xfrm>
            <a:off x="1246549" y="3563652"/>
            <a:ext cx="835010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7A3EF44-E481-43EF-9464-FC8F6C591C05}"/>
              </a:ext>
            </a:extLst>
          </p:cNvPr>
          <p:cNvSpPr/>
          <p:nvPr/>
        </p:nvSpPr>
        <p:spPr>
          <a:xfrm>
            <a:off x="1422011" y="3665948"/>
            <a:ext cx="2039188" cy="123143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1BA9130-7ABE-426E-B438-4A05096E3434}"/>
              </a:ext>
            </a:extLst>
          </p:cNvPr>
          <p:cNvSpPr txBox="1"/>
          <p:nvPr/>
        </p:nvSpPr>
        <p:spPr>
          <a:xfrm>
            <a:off x="1485158" y="3843233"/>
            <a:ext cx="1992110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BS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센터 개편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EE02F3B-971B-4FAF-80F4-28CDEB05FA69}"/>
              </a:ext>
            </a:extLst>
          </p:cNvPr>
          <p:cNvSpPr txBox="1"/>
          <p:nvPr/>
        </p:nvSpPr>
        <p:spPr>
          <a:xfrm>
            <a:off x="1441945" y="4240291"/>
            <a:ext cx="2026428" cy="443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패트롤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 안전점검 인력을 활용한 비상주 사업장 관리 강화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2731896A-1E58-4860-BD80-6B796287EF34}"/>
              </a:ext>
            </a:extLst>
          </p:cNvPr>
          <p:cNvSpPr/>
          <p:nvPr/>
        </p:nvSpPr>
        <p:spPr>
          <a:xfrm>
            <a:off x="5506109" y="4260666"/>
            <a:ext cx="4087011" cy="637683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2267751-8CE0-4149-8CC7-4A01727257DA}"/>
              </a:ext>
            </a:extLst>
          </p:cNvPr>
          <p:cNvSpPr txBox="1"/>
          <p:nvPr/>
        </p:nvSpPr>
        <p:spPr>
          <a:xfrm>
            <a:off x="5604526" y="4309958"/>
            <a:ext cx="3930484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파트너 네트워크 구축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46898DA-55B3-4818-8B4A-5FC62A3617D2}"/>
              </a:ext>
            </a:extLst>
          </p:cNvPr>
          <p:cNvSpPr txBox="1"/>
          <p:nvPr/>
        </p:nvSpPr>
        <p:spPr>
          <a:xfrm>
            <a:off x="5740756" y="4605232"/>
            <a:ext cx="3419542" cy="258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거점 지역 외 총판 및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대리점 네트워크 구축</a:t>
            </a:r>
            <a:endParaRPr lang="en-US" altLang="ko-KR" sz="10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F01820A0-FBE6-4A42-9C2A-847180DABCC4}"/>
              </a:ext>
            </a:extLst>
          </p:cNvPr>
          <p:cNvSpPr/>
          <p:nvPr/>
        </p:nvSpPr>
        <p:spPr>
          <a:xfrm>
            <a:off x="274094" y="3569547"/>
            <a:ext cx="972108" cy="142996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조직</a:t>
            </a:r>
            <a:endParaRPr lang="en-US" altLang="ko-KR" sz="11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sp>
        <p:nvSpPr>
          <p:cNvPr id="64" name="화살표: 위쪽 63">
            <a:extLst>
              <a:ext uri="{FF2B5EF4-FFF2-40B4-BE49-F238E27FC236}">
                <a16:creationId xmlns:a16="http://schemas.microsoft.com/office/drawing/2014/main" id="{62CCB735-0A48-4252-A3DC-00B6CBDA4285}"/>
              </a:ext>
            </a:extLst>
          </p:cNvPr>
          <p:cNvSpPr/>
          <p:nvPr/>
        </p:nvSpPr>
        <p:spPr>
          <a:xfrm>
            <a:off x="8800480" y="4666139"/>
            <a:ext cx="543684" cy="448172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98DB5D2D-2948-4066-BA79-B0C3FBBA3CF8}"/>
              </a:ext>
            </a:extLst>
          </p:cNvPr>
          <p:cNvSpPr/>
          <p:nvPr/>
        </p:nvSpPr>
        <p:spPr>
          <a:xfrm>
            <a:off x="5506109" y="3665947"/>
            <a:ext cx="4087011" cy="594719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F6AF5FF-873D-4FBB-8854-13EE40A85E42}"/>
              </a:ext>
            </a:extLst>
          </p:cNvPr>
          <p:cNvSpPr txBox="1"/>
          <p:nvPr/>
        </p:nvSpPr>
        <p:spPr>
          <a:xfrm>
            <a:off x="5600360" y="3700990"/>
            <a:ext cx="3930484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지역 전문가</a:t>
            </a:r>
            <a:r>
              <a:rPr lang="en-US" altLang="ko-KR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육성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0084C99-751A-4991-ABEF-380618A5C4EE}"/>
              </a:ext>
            </a:extLst>
          </p:cNvPr>
          <p:cNvSpPr txBox="1"/>
          <p:nvPr/>
        </p:nvSpPr>
        <p:spPr>
          <a:xfrm>
            <a:off x="5759350" y="3920846"/>
            <a:ext cx="3419542" cy="258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지역 </a:t>
            </a:r>
            <a:r>
              <a:rPr lang="ko-KR" altLang="en-US" sz="10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군관리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 매니저 육성</a:t>
            </a:r>
            <a:endParaRPr lang="en-US" altLang="ko-KR" sz="10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AAC6C1C-CDEE-40A1-B1F0-63B5AA4BA810}"/>
              </a:ext>
            </a:extLst>
          </p:cNvPr>
          <p:cNvGrpSpPr/>
          <p:nvPr/>
        </p:nvGrpSpPr>
        <p:grpSpPr>
          <a:xfrm>
            <a:off x="3459478" y="3665948"/>
            <a:ext cx="2048083" cy="1231439"/>
            <a:chOff x="3459478" y="3665948"/>
            <a:chExt cx="2048083" cy="1231439"/>
          </a:xfrm>
        </p:grpSpPr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ABC71889-3FE7-4F6B-9446-4982923EF5DB}"/>
                </a:ext>
              </a:extLst>
            </p:cNvPr>
            <p:cNvSpPr/>
            <p:nvPr/>
          </p:nvSpPr>
          <p:spPr>
            <a:xfrm>
              <a:off x="3468373" y="3665948"/>
              <a:ext cx="2039188" cy="123143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077241E6-F251-4BB3-BBF9-AA310E231260}"/>
                </a:ext>
              </a:extLst>
            </p:cNvPr>
            <p:cNvSpPr txBox="1"/>
            <p:nvPr/>
          </p:nvSpPr>
          <p:spPr>
            <a:xfrm>
              <a:off x="3502691" y="3843233"/>
              <a:ext cx="1992110" cy="2920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Pretendard" panose="02000503000000020004" pitchFamily="2" charset="-127"/>
                </a:rPr>
                <a:t>전문영역 인원 충원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0BEA95F1-ED9E-4049-BE3A-B70E07F9C576}"/>
                </a:ext>
              </a:extLst>
            </p:cNvPr>
            <p:cNvSpPr txBox="1"/>
            <p:nvPr/>
          </p:nvSpPr>
          <p:spPr>
            <a:xfrm>
              <a:off x="3459478" y="4173616"/>
              <a:ext cx="2026428" cy="7050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914400">
                <a:lnSpc>
                  <a:spcPct val="120000"/>
                </a:lnSpc>
                <a:spcBef>
                  <a:spcPts val="300"/>
                </a:spcBef>
                <a:defRPr/>
              </a:pP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cs typeface="Pretendard" panose="02000503000000020004" pitchFamily="2" charset="-127"/>
                </a:rPr>
                <a:t>서비스 확대에 따른 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cs typeface="Pretendard" panose="02000503000000020004" pitchFamily="2" charset="-127"/>
              </a:endParaRPr>
            </a:p>
            <a:p>
              <a:pPr lvl="0" algn="ctr" defTabSz="914400">
                <a:lnSpc>
                  <a:spcPct val="120000"/>
                </a:lnSpc>
                <a:spcBef>
                  <a:spcPts val="300"/>
                </a:spcBef>
                <a:defRPr/>
              </a:pP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" panose="02000503000000020004" pitchFamily="2" charset="-127"/>
                </a:rPr>
                <a:t>건축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" panose="02000503000000020004" pitchFamily="2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" panose="02000503000000020004" pitchFamily="2" charset="-127"/>
                </a:rPr>
                <a:t>설비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" panose="02000503000000020004" pitchFamily="2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" panose="02000503000000020004" pitchFamily="2" charset="-127"/>
                </a:rPr>
                <a:t>통신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" panose="02000503000000020004" pitchFamily="2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" panose="02000503000000020004" pitchFamily="2" charset="-127"/>
                </a:rPr>
                <a:t>물류 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Pretendard" panose="02000503000000020004" pitchFamily="2" charset="-127"/>
                </a:rPr>
                <a:t>전문가 영입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070AA0A3-AE70-4D5B-912F-CB4BF52DFAD9}"/>
              </a:ext>
            </a:extLst>
          </p:cNvPr>
          <p:cNvGrpSpPr/>
          <p:nvPr/>
        </p:nvGrpSpPr>
        <p:grpSpPr>
          <a:xfrm>
            <a:off x="3468681" y="2232480"/>
            <a:ext cx="2039188" cy="1231439"/>
            <a:chOff x="3468681" y="2232480"/>
            <a:chExt cx="2039188" cy="1231439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DAA22E9C-72E5-42E8-8A38-AE0E4A671871}"/>
                </a:ext>
              </a:extLst>
            </p:cNvPr>
            <p:cNvSpPr/>
            <p:nvPr/>
          </p:nvSpPr>
          <p:spPr>
            <a:xfrm>
              <a:off x="3468681" y="2232480"/>
              <a:ext cx="2039188" cy="123143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562B2D0-A110-4B40-BA93-A10AE304F132}"/>
                </a:ext>
              </a:extLst>
            </p:cNvPr>
            <p:cNvSpPr txBox="1"/>
            <p:nvPr/>
          </p:nvSpPr>
          <p:spPr>
            <a:xfrm>
              <a:off x="3559139" y="2372479"/>
              <a:ext cx="1850426" cy="2920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Pretendard" panose="02000503000000020004" pitchFamily="2" charset="-127"/>
                </a:rPr>
                <a:t>점검 서비스 확대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F54964F-1D15-40AB-8A0B-5DFA12708199}"/>
                </a:ext>
              </a:extLst>
            </p:cNvPr>
            <p:cNvSpPr txBox="1"/>
            <p:nvPr/>
          </p:nvSpPr>
          <p:spPr>
            <a:xfrm>
              <a:off x="3489618" y="2765672"/>
              <a:ext cx="1965950" cy="4434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Pretendard" panose="02000503000000020004" pitchFamily="2" charset="-127"/>
                </a:rPr>
                <a:t>설비 정기점검 및 소모품 교체 직접 수행 업무 범위 확장</a:t>
              </a:r>
            </a:p>
          </p:txBody>
        </p:sp>
      </p:grp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28D69638-1DAF-4622-A6D8-0F1FAE0FC84D}"/>
              </a:ext>
            </a:extLst>
          </p:cNvPr>
          <p:cNvSpPr/>
          <p:nvPr/>
        </p:nvSpPr>
        <p:spPr>
          <a:xfrm>
            <a:off x="1425924" y="2229941"/>
            <a:ext cx="268996" cy="276524"/>
          </a:xfrm>
          <a:prstGeom prst="rect">
            <a:avLst/>
          </a:prstGeom>
          <a:solidFill>
            <a:schemeClr val="tx1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①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D52357BD-43BD-4B64-A520-5741C64CA4C9}"/>
              </a:ext>
            </a:extLst>
          </p:cNvPr>
          <p:cNvSpPr/>
          <p:nvPr/>
        </p:nvSpPr>
        <p:spPr>
          <a:xfrm>
            <a:off x="1425924" y="3670139"/>
            <a:ext cx="268996" cy="276524"/>
          </a:xfrm>
          <a:prstGeom prst="rect">
            <a:avLst/>
          </a:prstGeom>
          <a:solidFill>
            <a:schemeClr val="tx1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②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4B2D1AE3-3734-49D7-A804-563FDD134BD0}"/>
              </a:ext>
            </a:extLst>
          </p:cNvPr>
          <p:cNvSpPr/>
          <p:nvPr/>
        </p:nvSpPr>
        <p:spPr>
          <a:xfrm>
            <a:off x="3472761" y="5103597"/>
            <a:ext cx="268996" cy="276524"/>
          </a:xfrm>
          <a:prstGeom prst="rect">
            <a:avLst/>
          </a:prstGeom>
          <a:solidFill>
            <a:schemeClr val="tx1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③</a:t>
            </a:r>
          </a:p>
        </p:txBody>
      </p:sp>
    </p:spTree>
    <p:extLst>
      <p:ext uri="{BB962C8B-B14F-4D97-AF65-F5344CB8AC3E}">
        <p14:creationId xmlns:p14="http://schemas.microsoft.com/office/powerpoint/2010/main" val="1762594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직사각형 68">
            <a:extLst>
              <a:ext uri="{FF2B5EF4-FFF2-40B4-BE49-F238E27FC236}">
                <a16:creationId xmlns:a16="http://schemas.microsoft.com/office/drawing/2014/main" id="{53D848EC-827F-4D71-BF39-80929BDA3DAB}"/>
              </a:ext>
            </a:extLst>
          </p:cNvPr>
          <p:cNvSpPr/>
          <p:nvPr/>
        </p:nvSpPr>
        <p:spPr>
          <a:xfrm>
            <a:off x="6469123" y="2139569"/>
            <a:ext cx="2684879" cy="58775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689A6492-9967-416B-95D9-0DBB4B7C4779}"/>
              </a:ext>
            </a:extLst>
          </p:cNvPr>
          <p:cNvSpPr/>
          <p:nvPr/>
        </p:nvSpPr>
        <p:spPr>
          <a:xfrm>
            <a:off x="6469123" y="2830447"/>
            <a:ext cx="2684879" cy="58775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3EE46571-B37B-476F-8625-B23EB98B27F5}"/>
              </a:ext>
            </a:extLst>
          </p:cNvPr>
          <p:cNvSpPr/>
          <p:nvPr/>
        </p:nvSpPr>
        <p:spPr>
          <a:xfrm>
            <a:off x="6469123" y="3537734"/>
            <a:ext cx="2684879" cy="58775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C2EEEC69-7600-453A-9CD8-CAE0C56F8AE2}"/>
              </a:ext>
            </a:extLst>
          </p:cNvPr>
          <p:cNvSpPr/>
          <p:nvPr/>
        </p:nvSpPr>
        <p:spPr>
          <a:xfrm>
            <a:off x="6469123" y="4306971"/>
            <a:ext cx="2684879" cy="58775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8AAE2D0A-5983-4134-AB89-1E6613D7F5DB}"/>
              </a:ext>
            </a:extLst>
          </p:cNvPr>
          <p:cNvSpPr/>
          <p:nvPr/>
        </p:nvSpPr>
        <p:spPr>
          <a:xfrm>
            <a:off x="6469123" y="5040591"/>
            <a:ext cx="2684879" cy="58775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sp>
        <p:nvSpPr>
          <p:cNvPr id="6147" name="Line 4"/>
          <p:cNvSpPr>
            <a:spLocks noChangeShapeType="1"/>
          </p:cNvSpPr>
          <p:nvPr/>
        </p:nvSpPr>
        <p:spPr bwMode="auto">
          <a:xfrm>
            <a:off x="-15875" y="482030"/>
            <a:ext cx="9921875" cy="0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148" name="Line 5"/>
          <p:cNvSpPr>
            <a:spLocks noChangeShapeType="1"/>
          </p:cNvSpPr>
          <p:nvPr/>
        </p:nvSpPr>
        <p:spPr bwMode="auto">
          <a:xfrm>
            <a:off x="-15875" y="6487274"/>
            <a:ext cx="9921875" cy="0"/>
          </a:xfrm>
          <a:prstGeom prst="line">
            <a:avLst/>
          </a:prstGeom>
          <a:noFill/>
          <a:ln w="57150" cmpd="thinThick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009B88-6108-4DB2-9083-B915AAF7798D}"/>
              </a:ext>
            </a:extLst>
          </p:cNvPr>
          <p:cNvSpPr txBox="1"/>
          <p:nvPr/>
        </p:nvSpPr>
        <p:spPr>
          <a:xfrm>
            <a:off x="215371" y="638781"/>
            <a:ext cx="9474353" cy="702244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고객 접점에서 브랜드 신뢰도를 향상하고 파트너사의 품질을 보장하기 위하여</a:t>
            </a: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정기 점검 및 소모품 교체 업무를 수행할 뿐만 아니라 선제안을 위한 정보 수집 채널로 현장 조직의 기능을 확장하고자 합니다</a:t>
            </a: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11" name="슬라이드 번호 개체 틀 1">
            <a:extLst>
              <a:ext uri="{FF2B5EF4-FFF2-40B4-BE49-F238E27FC236}">
                <a16:creationId xmlns:a16="http://schemas.microsoft.com/office/drawing/2014/main" id="{36999F34-0910-46A5-AADC-56BEDD438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01554" y="6487274"/>
            <a:ext cx="2228850" cy="365125"/>
          </a:xfrm>
        </p:spPr>
        <p:txBody>
          <a:bodyPr/>
          <a:lstStyle/>
          <a:p>
            <a:fld id="{3F84C5A7-88F9-48D6-A9F1-CB29353CBDC7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7EE4B4-1FB2-4685-9610-AF96DD5B1E0C}"/>
              </a:ext>
            </a:extLst>
          </p:cNvPr>
          <p:cNvSpPr txBox="1"/>
          <p:nvPr/>
        </p:nvSpPr>
        <p:spPr>
          <a:xfrm>
            <a:off x="878149" y="1683275"/>
            <a:ext cx="1794981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>
              <a:lnSpc>
                <a:spcPct val="120000"/>
              </a:lnSpc>
              <a:spcBef>
                <a:spcPts val="300"/>
              </a:spcBef>
              <a:defRPr/>
            </a:pP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뉴솔루션</a:t>
            </a:r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cs typeface="Pretendard" panose="02000503000000020004" pitchFamily="2" charset="-127"/>
              </a:rPr>
              <a:t> 상품 유형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A3159F-3F40-4D50-962E-24DD5B24EB4D}"/>
              </a:ext>
            </a:extLst>
          </p:cNvPr>
          <p:cNvSpPr txBox="1"/>
          <p:nvPr/>
        </p:nvSpPr>
        <p:spPr>
          <a:xfrm>
            <a:off x="7216999" y="1648385"/>
            <a:ext cx="1926431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>
              <a:lnSpc>
                <a:spcPct val="120000"/>
              </a:lnSpc>
              <a:spcBef>
                <a:spcPts val="300"/>
              </a:spcBef>
              <a:defRPr/>
            </a:pPr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주요 수행 업무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217C490E-7105-4268-926E-2126D1ECB873}"/>
              </a:ext>
            </a:extLst>
          </p:cNvPr>
          <p:cNvSpPr/>
          <p:nvPr/>
        </p:nvSpPr>
        <p:spPr>
          <a:xfrm>
            <a:off x="746127" y="4319405"/>
            <a:ext cx="1260496" cy="5877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배송완결형</a:t>
            </a:r>
            <a:endParaRPr lang="ko-KR" altLang="en-US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2009E89-806E-4E46-AF1C-B50237690C53}"/>
              </a:ext>
            </a:extLst>
          </p:cNvPr>
          <p:cNvSpPr txBox="1"/>
          <p:nvPr/>
        </p:nvSpPr>
        <p:spPr>
          <a:xfrm>
            <a:off x="1777244" y="4471873"/>
            <a:ext cx="8994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lang="ko-KR" altLang="en-US" sz="9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종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814D688-D53F-4933-B83A-9F4FAD7952B7}"/>
              </a:ext>
            </a:extLst>
          </p:cNvPr>
          <p:cNvSpPr txBox="1"/>
          <p:nvPr/>
        </p:nvSpPr>
        <p:spPr>
          <a:xfrm>
            <a:off x="6628201" y="139408"/>
            <a:ext cx="3155785" cy="32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①</a:t>
            </a:r>
            <a:r>
              <a:rPr kumimoji="0" lang="ko-KR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기능 확대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C4F1DF4-1EF1-41DE-987B-9C9D4E998312}"/>
              </a:ext>
            </a:extLst>
          </p:cNvPr>
          <p:cNvSpPr/>
          <p:nvPr/>
        </p:nvSpPr>
        <p:spPr>
          <a:xfrm>
            <a:off x="746127" y="2188567"/>
            <a:ext cx="1260496" cy="58775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유지보수형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B17989-DFD1-4B66-8222-4A5B8B94233F}"/>
              </a:ext>
            </a:extLst>
          </p:cNvPr>
          <p:cNvSpPr txBox="1"/>
          <p:nvPr/>
        </p:nvSpPr>
        <p:spPr>
          <a:xfrm>
            <a:off x="1800225" y="2380989"/>
            <a:ext cx="8994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ko-KR" altLang="en-US" sz="9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종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A6DBB48-A27E-443E-ABB1-E5BDDDFDDDA1}"/>
              </a:ext>
            </a:extLst>
          </p:cNvPr>
          <p:cNvSpPr/>
          <p:nvPr/>
        </p:nvSpPr>
        <p:spPr>
          <a:xfrm>
            <a:off x="746127" y="5026809"/>
            <a:ext cx="1260496" cy="5877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자가수행형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51EC01-9086-44DA-BBE2-BAD8072179AC}"/>
              </a:ext>
            </a:extLst>
          </p:cNvPr>
          <p:cNvSpPr txBox="1"/>
          <p:nvPr/>
        </p:nvSpPr>
        <p:spPr>
          <a:xfrm>
            <a:off x="1777244" y="5157334"/>
            <a:ext cx="8994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lang="ko-KR" altLang="en-US" sz="9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종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895E01D-BCEF-48B8-9226-9E0ECE4CE906}"/>
              </a:ext>
            </a:extLst>
          </p:cNvPr>
          <p:cNvSpPr/>
          <p:nvPr/>
        </p:nvSpPr>
        <p:spPr>
          <a:xfrm>
            <a:off x="746127" y="3586123"/>
            <a:ext cx="1260496" cy="5877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파트너완결형</a:t>
            </a:r>
            <a:endParaRPr lang="ko-KR" altLang="en-US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03C1FC4-C3CE-4572-BEF0-A06EC90AE509}"/>
              </a:ext>
            </a:extLst>
          </p:cNvPr>
          <p:cNvSpPr txBox="1"/>
          <p:nvPr/>
        </p:nvSpPr>
        <p:spPr>
          <a:xfrm>
            <a:off x="1785304" y="3751909"/>
            <a:ext cx="8994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</a:t>
            </a:r>
            <a:r>
              <a:rPr lang="ko-KR" altLang="en-US" sz="9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종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45132D0-02A4-4AAE-9B5C-6E0D35334DBB}"/>
              </a:ext>
            </a:extLst>
          </p:cNvPr>
          <p:cNvSpPr/>
          <p:nvPr/>
        </p:nvSpPr>
        <p:spPr>
          <a:xfrm>
            <a:off x="746127" y="2895971"/>
            <a:ext cx="1260496" cy="58775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현장작업형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2DF9B8F-85BC-4C10-A1A8-8C745D60329D}"/>
              </a:ext>
            </a:extLst>
          </p:cNvPr>
          <p:cNvSpPr txBox="1"/>
          <p:nvPr/>
        </p:nvSpPr>
        <p:spPr>
          <a:xfrm>
            <a:off x="1785304" y="3109579"/>
            <a:ext cx="8994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r>
              <a:rPr lang="ko-KR" altLang="en-US" sz="9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종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2A35C74-0120-499B-BBBD-01959A85956F}"/>
              </a:ext>
            </a:extLst>
          </p:cNvPr>
          <p:cNvGrpSpPr/>
          <p:nvPr/>
        </p:nvGrpSpPr>
        <p:grpSpPr>
          <a:xfrm>
            <a:off x="690280" y="5948368"/>
            <a:ext cx="1681445" cy="244682"/>
            <a:chOff x="909355" y="5964334"/>
            <a:chExt cx="1681445" cy="244682"/>
          </a:xfrm>
        </p:grpSpPr>
        <p:sp>
          <p:nvSpPr>
            <p:cNvPr id="42" name="TextBox 41">
              <a:hlinkClick r:id="rId2" action="ppaction://hlinksldjump"/>
              <a:extLst>
                <a:ext uri="{FF2B5EF4-FFF2-40B4-BE49-F238E27FC236}">
                  <a16:creationId xmlns:a16="http://schemas.microsoft.com/office/drawing/2014/main" id="{B11F266A-BED6-40BA-A55C-617674971521}"/>
                </a:ext>
              </a:extLst>
            </p:cNvPr>
            <p:cNvSpPr txBox="1"/>
            <p:nvPr/>
          </p:nvSpPr>
          <p:spPr>
            <a:xfrm>
              <a:off x="909355" y="5964334"/>
              <a:ext cx="1681445" cy="2446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defTabSz="914400" rtl="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ko-KR" altLang="en-US" sz="900" dirty="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Pretendard" panose="02000503000000020004" pitchFamily="2" charset="-127"/>
                </a:rPr>
                <a:t>▷ 별첨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Pretendard" panose="02000503000000020004" pitchFamily="2" charset="-127"/>
                </a:rPr>
                <a:t>. </a:t>
              </a:r>
              <a:r>
                <a:rPr kumimoji="0" lang="ko-KR" altLang="en-US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Pretendard" panose="02000503000000020004" pitchFamily="2" charset="-127"/>
                </a:rPr>
                <a:t>뉴솔루션</a:t>
              </a: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Pretendard" panose="02000503000000020004" pitchFamily="2" charset="-127"/>
                </a:rPr>
                <a:t> 상품 유형</a:t>
              </a: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9BFB0DC6-6B14-4566-91E5-757737EA9C2A}"/>
                </a:ext>
              </a:extLst>
            </p:cNvPr>
            <p:cNvSpPr/>
            <p:nvPr/>
          </p:nvSpPr>
          <p:spPr>
            <a:xfrm>
              <a:off x="976031" y="6021485"/>
              <a:ext cx="138766" cy="138766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4944E85A-8221-49FD-A926-E588E0B3F503}"/>
              </a:ext>
            </a:extLst>
          </p:cNvPr>
          <p:cNvSpPr txBox="1"/>
          <p:nvPr/>
        </p:nvSpPr>
        <p:spPr>
          <a:xfrm>
            <a:off x="6650365" y="4362933"/>
            <a:ext cx="2563934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고객 리뷰</a:t>
            </a:r>
            <a:r>
              <a:rPr lang="en-US" altLang="ko-KR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</a:t>
            </a:r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평점을 통한 품질관리</a:t>
            </a:r>
            <a:endParaRPr kumimoji="0" lang="ko-KR" altLang="en-US" sz="1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6DE4A84-DB93-4278-BF37-2EA3AAFF334D}"/>
              </a:ext>
            </a:extLst>
          </p:cNvPr>
          <p:cNvSpPr txBox="1"/>
          <p:nvPr/>
        </p:nvSpPr>
        <p:spPr>
          <a:xfrm>
            <a:off x="2569718" y="5154349"/>
            <a:ext cx="3325052" cy="258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914400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표준업무절차에 따른 업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무 수행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cs typeface="Pretendard" panose="02000503000000020004" pitchFamily="2" charset="-127"/>
              </a:rPr>
              <a:t>(e.g. </a:t>
            </a:r>
            <a:r>
              <a:rPr lang="ko-KR" altLang="en-US" sz="1000" dirty="0" err="1">
                <a:solidFill>
                  <a:srgbClr val="000000"/>
                </a:solidFill>
                <a:latin typeface="맑은 고딕" panose="020B0503020000020004" pitchFamily="50" charset="-127"/>
                <a:cs typeface="Pretendard" panose="02000503000000020004" pitchFamily="2" charset="-127"/>
              </a:rPr>
              <a:t>청소로봇케어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cs typeface="Pretendard" panose="02000503000000020004" pitchFamily="2" charset="-127"/>
              </a:rPr>
              <a:t>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17589C-52CB-4BDD-A6F1-8E5E7F639EF8}"/>
              </a:ext>
            </a:extLst>
          </p:cNvPr>
          <p:cNvSpPr txBox="1"/>
          <p:nvPr/>
        </p:nvSpPr>
        <p:spPr>
          <a:xfrm>
            <a:off x="2569719" y="4373328"/>
            <a:ext cx="2801269" cy="481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914400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상품 배송으로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업무 종료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cs typeface="Pretendard" panose="02000503000000020004" pitchFamily="2" charset="-127"/>
              </a:rPr>
              <a:t>(e.g.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cs typeface="Pretendard" panose="02000503000000020004" pitchFamily="2" charset="-127"/>
              </a:rPr>
              <a:t>청소용품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cs typeface="Pretendard" panose="02000503000000020004" pitchFamily="2" charset="-127"/>
              </a:rPr>
              <a:t>)</a:t>
            </a:r>
            <a:endParaRPr lang="en-US" altLang="ko-KR" sz="10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  <a:p>
            <a:pPr marR="0" lvl="0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   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반품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취소 등 부대업무는 온라인 처리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0FAFF6-1B6A-4A2A-A4AC-BC609A58FD6C}"/>
              </a:ext>
            </a:extLst>
          </p:cNvPr>
          <p:cNvSpPr txBox="1"/>
          <p:nvPr/>
        </p:nvSpPr>
        <p:spPr>
          <a:xfrm>
            <a:off x="7049040" y="5086483"/>
            <a:ext cx="2623058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품질 관리 규정 준수</a:t>
            </a:r>
            <a:endParaRPr kumimoji="0" lang="ko-KR" altLang="en-US" sz="1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4F092C-8D4C-4F3C-9CA5-B785C730611B}"/>
              </a:ext>
            </a:extLst>
          </p:cNvPr>
          <p:cNvSpPr txBox="1"/>
          <p:nvPr/>
        </p:nvSpPr>
        <p:spPr>
          <a:xfrm>
            <a:off x="2569719" y="3625127"/>
            <a:ext cx="3005455" cy="481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914400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파트너사 배송 및 현장설치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cs typeface="Pretendard" panose="02000503000000020004" pitchFamily="2" charset="-127"/>
              </a:rPr>
              <a:t>(e.g.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cs typeface="Pretendard" panose="02000503000000020004" pitchFamily="2" charset="-127"/>
              </a:rPr>
              <a:t>텀블러세척기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cs typeface="Pretendard" panose="02000503000000020004" pitchFamily="2" charset="-127"/>
              </a:rPr>
              <a:t>)</a:t>
            </a:r>
            <a:endParaRPr lang="en-US" altLang="ko-KR" sz="10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  <a:p>
            <a:pPr marL="171450" indent="-171450" defTabSz="914400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정기유지보수와 소모품교체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cs typeface="Pretendard" panose="02000503000000020004" pitchFamily="2" charset="-127"/>
              </a:rPr>
              <a:t>(e.g.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cs typeface="Pretendard" panose="02000503000000020004" pitchFamily="2" charset="-127"/>
              </a:rPr>
              <a:t>비데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cs typeface="Pretendard" panose="02000503000000020004" pitchFamily="2" charset="-127"/>
              </a:rPr>
              <a:t>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81F51B9-E674-4DE6-A71B-F5ACBAB8E26A}"/>
              </a:ext>
            </a:extLst>
          </p:cNvPr>
          <p:cNvSpPr txBox="1"/>
          <p:nvPr/>
        </p:nvSpPr>
        <p:spPr>
          <a:xfrm>
            <a:off x="2569719" y="2967206"/>
            <a:ext cx="3178633" cy="481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914400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고위험작업 상품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cs typeface="Pretendard" panose="02000503000000020004" pitchFamily="2" charset="-127"/>
              </a:rPr>
              <a:t>(e.g.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cs typeface="Pretendard" panose="02000503000000020004" pitchFamily="2" charset="-127"/>
              </a:rPr>
              <a:t>간판점검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cs typeface="Pretendard" panose="02000503000000020004" pitchFamily="2" charset="-127"/>
              </a:rPr>
              <a:t>/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cs typeface="Pretendard" panose="02000503000000020004" pitchFamily="2" charset="-127"/>
              </a:rPr>
              <a:t>세척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cs typeface="Pretendard" panose="02000503000000020004" pitchFamily="2" charset="-127"/>
              </a:rPr>
              <a:t>)</a:t>
            </a:r>
            <a:endParaRPr lang="en-US" altLang="ko-KR" sz="10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  <a:p>
            <a:pPr marL="171450" indent="-171450" defTabSz="914400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현장조립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작업이 필요한 상품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cs typeface="Pretendard" panose="02000503000000020004" pitchFamily="2" charset="-127"/>
              </a:rPr>
              <a:t>(e.g.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cs typeface="Pretendard" panose="02000503000000020004" pitchFamily="2" charset="-127"/>
              </a:rPr>
              <a:t>사무환경개선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cs typeface="Pretendard" panose="02000503000000020004" pitchFamily="2" charset="-127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6DC693F-3346-4E0C-80AF-A720E2B1CEEB}"/>
              </a:ext>
            </a:extLst>
          </p:cNvPr>
          <p:cNvSpPr txBox="1"/>
          <p:nvPr/>
        </p:nvSpPr>
        <p:spPr>
          <a:xfrm>
            <a:off x="2569718" y="2267884"/>
            <a:ext cx="3005456" cy="481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defTabSz="914400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재고관리가 필요한 상품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(e.g.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cs typeface="Pretendard" panose="02000503000000020004" pitchFamily="2" charset="-127"/>
              </a:rPr>
              <a:t>사내카페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cs typeface="Pretendard" panose="02000503000000020004" pitchFamily="2" charset="-127"/>
              </a:rPr>
              <a:t>)</a:t>
            </a:r>
            <a:endParaRPr lang="en-US" altLang="ko-KR" sz="10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  <a:p>
            <a:pPr marL="171450" lvl="0" indent="-171450" defTabSz="914400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장비의 정기점검이 필요한 상품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(e.g.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cs typeface="Pretendard" panose="02000503000000020004" pitchFamily="2" charset="-127"/>
              </a:rPr>
              <a:t>원격감시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cs typeface="Pretendard" panose="02000503000000020004" pitchFamily="2" charset="-127"/>
              </a:rPr>
              <a:t>)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24169D6-717C-4034-A35E-D908573AE4C1}"/>
              </a:ext>
            </a:extLst>
          </p:cNvPr>
          <p:cNvSpPr txBox="1"/>
          <p:nvPr/>
        </p:nvSpPr>
        <p:spPr>
          <a:xfrm>
            <a:off x="6986213" y="2870201"/>
            <a:ext cx="2387347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제품설치 시 안전관리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71F2AB1-A516-4F8A-8D1C-771E6ADD4CA2}"/>
              </a:ext>
            </a:extLst>
          </p:cNvPr>
          <p:cNvSpPr txBox="1"/>
          <p:nvPr/>
        </p:nvSpPr>
        <p:spPr>
          <a:xfrm>
            <a:off x="6945122" y="5337808"/>
            <a:ext cx="2261090" cy="258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기존 품질관리체계에서 수용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E1FA26F-37E3-4DF3-83BF-BB0CC60EE578}"/>
              </a:ext>
            </a:extLst>
          </p:cNvPr>
          <p:cNvSpPr txBox="1"/>
          <p:nvPr/>
        </p:nvSpPr>
        <p:spPr>
          <a:xfrm>
            <a:off x="6561380" y="3594070"/>
            <a:ext cx="2659108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설비점검 및 소모품 교환주기 관리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26ED983-1426-459B-AAFD-D04C53AA5E6F}"/>
              </a:ext>
            </a:extLst>
          </p:cNvPr>
          <p:cNvSpPr txBox="1"/>
          <p:nvPr/>
        </p:nvSpPr>
        <p:spPr>
          <a:xfrm>
            <a:off x="6965721" y="2194263"/>
            <a:ext cx="1850426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정기적 품질</a:t>
            </a:r>
            <a:r>
              <a:rPr lang="en-US" altLang="ko-KR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</a:t>
            </a:r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안전 점검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sp>
        <p:nvSpPr>
          <p:cNvPr id="55" name="Text Box 2091">
            <a:extLst>
              <a:ext uri="{FF2B5EF4-FFF2-40B4-BE49-F238E27FC236}">
                <a16:creationId xmlns:a16="http://schemas.microsoft.com/office/drawing/2014/main" id="{0A42D343-F7AF-4876-BEE2-0D5D065E6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014" y="17731"/>
            <a:ext cx="6958293" cy="431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latinLnBrk="0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IV.</a:t>
            </a: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세부 계획</a:t>
            </a:r>
            <a:endParaRPr lang="ko-KR" altLang="en-US" sz="2400" b="1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F969333-B8D5-48AE-9664-28CD61A03843}"/>
              </a:ext>
            </a:extLst>
          </p:cNvPr>
          <p:cNvSpPr txBox="1"/>
          <p:nvPr/>
        </p:nvSpPr>
        <p:spPr>
          <a:xfrm>
            <a:off x="3842297" y="1683275"/>
            <a:ext cx="1926431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>
              <a:lnSpc>
                <a:spcPct val="120000"/>
              </a:lnSpc>
              <a:spcBef>
                <a:spcPts val="300"/>
              </a:spcBef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상품 특징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497E74A-27BD-4688-B979-FBE68460ABE2}"/>
              </a:ext>
            </a:extLst>
          </p:cNvPr>
          <p:cNvSpPr txBox="1"/>
          <p:nvPr/>
        </p:nvSpPr>
        <p:spPr>
          <a:xfrm>
            <a:off x="6667616" y="4598263"/>
            <a:ext cx="2365441" cy="258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PO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및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샌디몰서비스팀에서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 모니터링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6911555-C21C-433E-A7BA-9D495AEDA1F5}"/>
              </a:ext>
            </a:extLst>
          </p:cNvPr>
          <p:cNvSpPr txBox="1"/>
          <p:nvPr/>
        </p:nvSpPr>
        <p:spPr>
          <a:xfrm>
            <a:off x="6642856" y="3124325"/>
            <a:ext cx="2365441" cy="258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비상주형 또는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인 사업장의 안전관리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3F54443-7605-44A4-9857-D17253C87F11}"/>
              </a:ext>
            </a:extLst>
          </p:cNvPr>
          <p:cNvSpPr txBox="1"/>
          <p:nvPr/>
        </p:nvSpPr>
        <p:spPr>
          <a:xfrm>
            <a:off x="6642856" y="3856983"/>
            <a:ext cx="2365441" cy="258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파트너사와 제품점검방법 등 기술협의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7B2065A-30F1-40AF-A670-E46D35DBC184}"/>
              </a:ext>
            </a:extLst>
          </p:cNvPr>
          <p:cNvSpPr txBox="1"/>
          <p:nvPr/>
        </p:nvSpPr>
        <p:spPr>
          <a:xfrm>
            <a:off x="7122309" y="2458082"/>
            <a:ext cx="1778086" cy="258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>
              <a:lnSpc>
                <a:spcPct val="120000"/>
              </a:lnSpc>
              <a:spcBef>
                <a:spcPts val="300"/>
              </a:spcBef>
              <a:defRPr/>
            </a:pPr>
            <a:r>
              <a:rPr lang="ko-KR" altLang="en-US" sz="1000">
                <a:solidFill>
                  <a:srgbClr val="000000"/>
                </a:solidFill>
                <a:latin typeface="맑은 고딕" panose="020B0503020000020004" pitchFamily="50" charset="-127"/>
                <a:cs typeface="Pretendard" panose="02000503000000020004" pitchFamily="2" charset="-127"/>
              </a:rPr>
              <a:t>상품별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cs typeface="Pretendard" panose="02000503000000020004" pitchFamily="2" charset="-127"/>
              </a:rPr>
              <a:t>점검목록 확인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8EEE28AE-219F-4054-A610-F4D3F831B347}"/>
              </a:ext>
            </a:extLst>
          </p:cNvPr>
          <p:cNvCxnSpPr>
            <a:cxnSpLocks/>
          </p:cNvCxnSpPr>
          <p:nvPr/>
        </p:nvCxnSpPr>
        <p:spPr>
          <a:xfrm>
            <a:off x="746127" y="1996470"/>
            <a:ext cx="174690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A5C6017E-33E5-4326-8442-99FC684DC05A}"/>
              </a:ext>
            </a:extLst>
          </p:cNvPr>
          <p:cNvCxnSpPr>
            <a:cxnSpLocks/>
          </p:cNvCxnSpPr>
          <p:nvPr/>
        </p:nvCxnSpPr>
        <p:spPr>
          <a:xfrm>
            <a:off x="2785270" y="1996470"/>
            <a:ext cx="2963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C3E1F150-A0F7-4252-8092-70567649E8CF}"/>
              </a:ext>
            </a:extLst>
          </p:cNvPr>
          <p:cNvCxnSpPr>
            <a:cxnSpLocks/>
          </p:cNvCxnSpPr>
          <p:nvPr/>
        </p:nvCxnSpPr>
        <p:spPr>
          <a:xfrm>
            <a:off x="6251302" y="1996470"/>
            <a:ext cx="2963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92166652-A5BD-4121-B6EA-84231BE3E9AC}"/>
              </a:ext>
            </a:extLst>
          </p:cNvPr>
          <p:cNvCxnSpPr>
            <a:cxnSpLocks/>
          </p:cNvCxnSpPr>
          <p:nvPr/>
        </p:nvCxnSpPr>
        <p:spPr>
          <a:xfrm>
            <a:off x="743334" y="2827445"/>
            <a:ext cx="502539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8C1050E0-5732-42EE-8F79-F0CA0764C44F}"/>
              </a:ext>
            </a:extLst>
          </p:cNvPr>
          <p:cNvCxnSpPr>
            <a:cxnSpLocks/>
          </p:cNvCxnSpPr>
          <p:nvPr/>
        </p:nvCxnSpPr>
        <p:spPr>
          <a:xfrm>
            <a:off x="743334" y="3528322"/>
            <a:ext cx="502539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7327BA3C-14BD-4066-8450-A48F42169A49}"/>
              </a:ext>
            </a:extLst>
          </p:cNvPr>
          <p:cNvCxnSpPr>
            <a:cxnSpLocks/>
          </p:cNvCxnSpPr>
          <p:nvPr/>
        </p:nvCxnSpPr>
        <p:spPr>
          <a:xfrm>
            <a:off x="743334" y="4977229"/>
            <a:ext cx="8462878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C7AB3A0A-F294-4E4B-A97A-BB4D93B8CB1B}"/>
              </a:ext>
            </a:extLst>
          </p:cNvPr>
          <p:cNvCxnSpPr>
            <a:cxnSpLocks/>
          </p:cNvCxnSpPr>
          <p:nvPr/>
        </p:nvCxnSpPr>
        <p:spPr>
          <a:xfrm>
            <a:off x="743334" y="4255002"/>
            <a:ext cx="8462878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오른쪽 중괄호 12">
            <a:extLst>
              <a:ext uri="{FF2B5EF4-FFF2-40B4-BE49-F238E27FC236}">
                <a16:creationId xmlns:a16="http://schemas.microsoft.com/office/drawing/2014/main" id="{18B3F6E6-520E-4210-9D59-0432D7DD03F4}"/>
              </a:ext>
            </a:extLst>
          </p:cNvPr>
          <p:cNvSpPr/>
          <p:nvPr/>
        </p:nvSpPr>
        <p:spPr>
          <a:xfrm>
            <a:off x="5894770" y="2188567"/>
            <a:ext cx="177002" cy="1936922"/>
          </a:xfrm>
          <a:prstGeom prst="rightBrac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2B0FB943-E2A2-4B57-916C-E1D76A5B2E72}"/>
              </a:ext>
            </a:extLst>
          </p:cNvPr>
          <p:cNvSpPr/>
          <p:nvPr/>
        </p:nvSpPr>
        <p:spPr>
          <a:xfrm>
            <a:off x="6228360" y="2139631"/>
            <a:ext cx="259108" cy="19859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74BF5C-1578-443D-B11D-9A473FFB5308}"/>
              </a:ext>
            </a:extLst>
          </p:cNvPr>
          <p:cNvSpPr txBox="1"/>
          <p:nvPr/>
        </p:nvSpPr>
        <p:spPr>
          <a:xfrm>
            <a:off x="6175966" y="2482837"/>
            <a:ext cx="36708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</a:t>
            </a:r>
            <a:br>
              <a:rPr lang="en-US" altLang="ko-KR" sz="11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sz="11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</a:t>
            </a:r>
            <a:r>
              <a:rPr lang="ko-KR" altLang="en-US" sz="11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조직업무범위</a:t>
            </a:r>
          </a:p>
          <a:p>
            <a:pPr algn="ctr"/>
            <a:endParaRPr lang="ko-KR" altLang="en-US" sz="11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4121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091"/>
          <p:cNvSpPr txBox="1">
            <a:spLocks noChangeArrowheads="1"/>
          </p:cNvSpPr>
          <p:nvPr/>
        </p:nvSpPr>
        <p:spPr bwMode="auto">
          <a:xfrm>
            <a:off x="122014" y="17731"/>
            <a:ext cx="6958293" cy="431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latinLnBrk="0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ko-KR" sz="2000" b="1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IV.</a:t>
            </a:r>
            <a:r>
              <a:rPr lang="ko-KR" altLang="en-US" sz="2000" b="1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세부 계획</a:t>
            </a:r>
            <a:endParaRPr lang="ko-KR" altLang="en-US" sz="2400" b="1" dirty="0">
              <a:solidFill>
                <a:schemeClr val="bg1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147" name="Line 4"/>
          <p:cNvSpPr>
            <a:spLocks noChangeShapeType="1"/>
          </p:cNvSpPr>
          <p:nvPr/>
        </p:nvSpPr>
        <p:spPr bwMode="auto">
          <a:xfrm>
            <a:off x="-15875" y="482030"/>
            <a:ext cx="9921875" cy="0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148" name="Line 5"/>
          <p:cNvSpPr>
            <a:spLocks noChangeShapeType="1"/>
          </p:cNvSpPr>
          <p:nvPr/>
        </p:nvSpPr>
        <p:spPr bwMode="auto">
          <a:xfrm>
            <a:off x="-15875" y="6487274"/>
            <a:ext cx="9921875" cy="0"/>
          </a:xfrm>
          <a:prstGeom prst="line">
            <a:avLst/>
          </a:prstGeom>
          <a:noFill/>
          <a:ln w="57150" cmpd="thinThick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009B88-6108-4DB2-9083-B915AAF7798D}"/>
              </a:ext>
            </a:extLst>
          </p:cNvPr>
          <p:cNvSpPr txBox="1"/>
          <p:nvPr/>
        </p:nvSpPr>
        <p:spPr>
          <a:xfrm>
            <a:off x="215371" y="616753"/>
            <a:ext cx="9474353" cy="70224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사업총괄 산하의 비상주형 서비스를 제공하는 </a:t>
            </a: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BS</a:t>
            </a: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센터를 </a:t>
            </a:r>
            <a:r>
              <a:rPr lang="ko-KR" altLang="en-US" sz="16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뉴솔루션을</a:t>
            </a: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위한 품질 및 안전관리 조직으로 개편하여 일관된 서비스 품질과 표준화된 안전관리를 고객에게 제공할 계획입니다</a:t>
            </a: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11" name="슬라이드 번호 개체 틀 1">
            <a:extLst>
              <a:ext uri="{FF2B5EF4-FFF2-40B4-BE49-F238E27FC236}">
                <a16:creationId xmlns:a16="http://schemas.microsoft.com/office/drawing/2014/main" id="{36999F34-0910-46A5-AADC-56BEDD438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01554" y="6487274"/>
            <a:ext cx="2228850" cy="365125"/>
          </a:xfrm>
        </p:spPr>
        <p:txBody>
          <a:bodyPr/>
          <a:lstStyle/>
          <a:p>
            <a:fld id="{3F84C5A7-88F9-48D6-A9F1-CB29353CBDC7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5E139C0-B230-4B6D-ACAF-3FD60415E9BE}"/>
              </a:ext>
            </a:extLst>
          </p:cNvPr>
          <p:cNvSpPr/>
          <p:nvPr/>
        </p:nvSpPr>
        <p:spPr>
          <a:xfrm>
            <a:off x="654710" y="1924516"/>
            <a:ext cx="3667124" cy="192457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E03018-23F1-4F01-A45C-9CF70D202ACC}"/>
              </a:ext>
            </a:extLst>
          </p:cNvPr>
          <p:cNvSpPr txBox="1"/>
          <p:nvPr/>
        </p:nvSpPr>
        <p:spPr>
          <a:xfrm>
            <a:off x="6628201" y="139408"/>
            <a:ext cx="3155785" cy="32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② </a:t>
            </a:r>
            <a:r>
              <a:rPr kumimoji="0" lang="en-US" altLang="ko-KR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BS</a:t>
            </a:r>
            <a:r>
              <a:rPr kumimoji="0" lang="ko-KR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센터 개편 및 충원 계획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9571A3-C8D7-4034-975B-0820F1DE25B8}"/>
              </a:ext>
            </a:extLst>
          </p:cNvPr>
          <p:cNvSpPr txBox="1"/>
          <p:nvPr/>
        </p:nvSpPr>
        <p:spPr>
          <a:xfrm>
            <a:off x="454326" y="1527581"/>
            <a:ext cx="3155785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■ 조직 개편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2A260E-D2F2-403D-8328-3723053CBF1B}"/>
              </a:ext>
            </a:extLst>
          </p:cNvPr>
          <p:cNvSpPr txBox="1"/>
          <p:nvPr/>
        </p:nvSpPr>
        <p:spPr>
          <a:xfrm>
            <a:off x="4952828" y="1524485"/>
            <a:ext cx="3155785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■ </a:t>
            </a:r>
            <a:r>
              <a:rPr lang="en-US" altLang="ko-KR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’24</a:t>
            </a:r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년 </a:t>
            </a:r>
            <a:r>
              <a:rPr lang="en-US" altLang="ko-KR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4Q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 조직 </a:t>
            </a:r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개편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안</a:t>
            </a:r>
            <a:r>
              <a:rPr lang="en-US" altLang="ko-KR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)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D58E61-3593-454C-8827-9271A1FA0759}"/>
              </a:ext>
            </a:extLst>
          </p:cNvPr>
          <p:cNvSpPr txBox="1"/>
          <p:nvPr/>
        </p:nvSpPr>
        <p:spPr>
          <a:xfrm>
            <a:off x="670740" y="1942056"/>
            <a:ext cx="4892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To-be</a:t>
            </a:r>
            <a:endParaRPr lang="ko-KR" altLang="en-US" sz="10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14851A-C4AA-4D25-AF23-14127A775693}"/>
              </a:ext>
            </a:extLst>
          </p:cNvPr>
          <p:cNvSpPr txBox="1"/>
          <p:nvPr/>
        </p:nvSpPr>
        <p:spPr>
          <a:xfrm>
            <a:off x="654710" y="4327517"/>
            <a:ext cx="4347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As-is</a:t>
            </a:r>
            <a:endParaRPr lang="ko-KR" altLang="en-US" sz="1000" b="1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0E8238B-4699-4728-86B8-50BE0FAEB520}"/>
              </a:ext>
            </a:extLst>
          </p:cNvPr>
          <p:cNvSpPr/>
          <p:nvPr/>
        </p:nvSpPr>
        <p:spPr>
          <a:xfrm>
            <a:off x="654710" y="4293012"/>
            <a:ext cx="3667124" cy="175033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4" name="표 18">
            <a:extLst>
              <a:ext uri="{FF2B5EF4-FFF2-40B4-BE49-F238E27FC236}">
                <a16:creationId xmlns:a16="http://schemas.microsoft.com/office/drawing/2014/main" id="{B2998159-B11A-4DDE-A9F2-777006451A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523348"/>
              </p:ext>
            </p:extLst>
          </p:nvPr>
        </p:nvGraphicFramePr>
        <p:xfrm>
          <a:off x="5194369" y="1961485"/>
          <a:ext cx="4056922" cy="161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3123">
                  <a:extLst>
                    <a:ext uri="{9D8B030D-6E8A-4147-A177-3AD203B41FA5}">
                      <a16:colId xmlns:a16="http://schemas.microsoft.com/office/drawing/2014/main" val="2984042832"/>
                    </a:ext>
                  </a:extLst>
                </a:gridCol>
                <a:gridCol w="2027496">
                  <a:extLst>
                    <a:ext uri="{9D8B030D-6E8A-4147-A177-3AD203B41FA5}">
                      <a16:colId xmlns:a16="http://schemas.microsoft.com/office/drawing/2014/main" val="1164362433"/>
                    </a:ext>
                  </a:extLst>
                </a:gridCol>
                <a:gridCol w="996303">
                  <a:extLst>
                    <a:ext uri="{9D8B030D-6E8A-4147-A177-3AD203B41FA5}">
                      <a16:colId xmlns:a16="http://schemas.microsoft.com/office/drawing/2014/main" val="2969519209"/>
                    </a:ext>
                  </a:extLst>
                </a:gridCol>
              </a:tblGrid>
              <a:tr h="1200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명칭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주요 역할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인원수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7550542"/>
                  </a:ext>
                </a:extLst>
              </a:tr>
              <a:tr h="147330"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226675"/>
                  </a:ext>
                </a:extLst>
              </a:tr>
              <a:tr h="183617"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639525"/>
                  </a:ext>
                </a:extLst>
              </a:tr>
              <a:tr h="147330"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958009"/>
                  </a:ext>
                </a:extLst>
              </a:tr>
              <a:tr h="147330"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454792"/>
                  </a:ext>
                </a:extLst>
              </a:tr>
              <a:tr h="147330"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1647065"/>
                  </a:ext>
                </a:extLst>
              </a:tr>
              <a:tr h="147330"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747649"/>
                  </a:ext>
                </a:extLst>
              </a:tr>
            </a:tbl>
          </a:graphicData>
        </a:graphic>
      </p:graphicFrame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BE221FAB-F7B0-46F4-92C3-318B4068DF4C}"/>
              </a:ext>
            </a:extLst>
          </p:cNvPr>
          <p:cNvSpPr/>
          <p:nvPr/>
        </p:nvSpPr>
        <p:spPr>
          <a:xfrm rot="16200000">
            <a:off x="2345937" y="3962218"/>
            <a:ext cx="284671" cy="388190"/>
          </a:xfrm>
          <a:prstGeom prst="rightArrow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FB1F82D1-5720-4916-8D68-04DA4F8E1D3F}"/>
              </a:ext>
            </a:extLst>
          </p:cNvPr>
          <p:cNvSpPr/>
          <p:nvPr/>
        </p:nvSpPr>
        <p:spPr>
          <a:xfrm>
            <a:off x="4569297" y="2478957"/>
            <a:ext cx="284671" cy="388190"/>
          </a:xfrm>
          <a:prstGeom prst="rightArrow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55DBF51-0F91-4370-80B8-EEF23D0EB4DB}"/>
              </a:ext>
            </a:extLst>
          </p:cNvPr>
          <p:cNvSpPr/>
          <p:nvPr/>
        </p:nvSpPr>
        <p:spPr>
          <a:xfrm>
            <a:off x="5138682" y="3721857"/>
            <a:ext cx="4169903" cy="2400291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3CEA9B8-8813-438A-BCD0-1645A14A66CE}"/>
              </a:ext>
            </a:extLst>
          </p:cNvPr>
          <p:cNvSpPr txBox="1"/>
          <p:nvPr/>
        </p:nvSpPr>
        <p:spPr>
          <a:xfrm>
            <a:off x="5241408" y="3834221"/>
            <a:ext cx="4169903" cy="1120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defTabSz="914400" rtl="0" eaLnBrk="1" fontAlgn="auto" latinLnBrk="0" hangingPunct="1">
              <a:spcAft>
                <a:spcPts val="600"/>
              </a:spcAft>
              <a:buClrTx/>
              <a:buSzTx/>
              <a:tabLst/>
              <a:defRPr/>
            </a:pPr>
            <a:r>
              <a:rPr lang="ko-KR" altLang="en-US" sz="1000" b="1" u="sng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개편 방향</a:t>
            </a:r>
            <a:r>
              <a:rPr lang="en-US" altLang="ko-KR" sz="1000" b="1" u="sng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(</a:t>
            </a:r>
            <a:r>
              <a:rPr lang="ko-KR" altLang="en-US" sz="1000" b="1" u="sng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안</a:t>
            </a:r>
            <a:r>
              <a:rPr lang="en-US" altLang="ko-KR" sz="1000" b="1" u="sng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)</a:t>
            </a:r>
            <a:endParaRPr kumimoji="0" lang="en-US" altLang="ko-KR" sz="10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  <a:p>
            <a:pPr marL="171450" indent="-171450" defTabSz="9144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/>
            </a:pPr>
            <a:r>
              <a:rPr lang="ko-KR" altLang="en-US" sz="10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목표 </a:t>
            </a:r>
            <a:r>
              <a:rPr lang="en-US" altLang="ko-KR" sz="10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: </a:t>
            </a:r>
            <a:r>
              <a:rPr lang="ko-KR" altLang="en-US" sz="1000" b="1" dirty="0">
                <a:solidFill>
                  <a:srgbClr val="000000"/>
                </a:solidFill>
                <a:latin typeface="맑은 고딕" panose="020B0503020000020004" pitchFamily="50" charset="-127"/>
                <a:cs typeface="Pretendard" panose="02000503000000020004" pitchFamily="2" charset="-127"/>
              </a:rPr>
              <a:t>신속한 </a:t>
            </a:r>
            <a:r>
              <a:rPr lang="ko-KR" altLang="en-US" sz="1000" b="1" dirty="0" err="1">
                <a:solidFill>
                  <a:srgbClr val="000000"/>
                </a:solidFill>
                <a:latin typeface="맑은 고딕" panose="020B0503020000020004" pitchFamily="50" charset="-127"/>
                <a:cs typeface="Pretendard" panose="02000503000000020004" pitchFamily="2" charset="-127"/>
              </a:rPr>
              <a:t>딜리버리</a:t>
            </a:r>
            <a:r>
              <a:rPr lang="en-US" altLang="ko-KR" sz="1000" b="1" dirty="0">
                <a:solidFill>
                  <a:srgbClr val="000000"/>
                </a:solidFill>
                <a:latin typeface="맑은 고딕" panose="020B0503020000020004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000" b="1" dirty="0">
                <a:solidFill>
                  <a:srgbClr val="000000"/>
                </a:solidFill>
                <a:latin typeface="맑은 고딕" panose="020B0503020000020004" pitchFamily="50" charset="-127"/>
                <a:cs typeface="Pretendard" panose="02000503000000020004" pitchFamily="2" charset="-127"/>
              </a:rPr>
              <a:t>현장 완결형 업무수행</a:t>
            </a:r>
            <a:r>
              <a:rPr lang="en-US" altLang="ko-KR" sz="1000" b="1" dirty="0">
                <a:solidFill>
                  <a:srgbClr val="000000"/>
                </a:solidFill>
                <a:latin typeface="맑은 고딕" panose="020B0503020000020004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000" b="1" dirty="0">
                <a:solidFill>
                  <a:srgbClr val="000000"/>
                </a:solidFill>
                <a:latin typeface="맑은 고딕" panose="020B0503020000020004" pitchFamily="50" charset="-127"/>
                <a:cs typeface="Pretendard" panose="02000503000000020004" pitchFamily="2" charset="-127"/>
              </a:rPr>
              <a:t>고객 클레임 적시</a:t>
            </a:r>
            <a:br>
              <a:rPr lang="en-US" altLang="ko-KR" sz="1000" b="1" dirty="0">
                <a:solidFill>
                  <a:srgbClr val="000000"/>
                </a:solidFill>
                <a:latin typeface="맑은 고딕" panose="020B0503020000020004" pitchFamily="50" charset="-127"/>
                <a:cs typeface="Pretendard" panose="02000503000000020004" pitchFamily="2" charset="-127"/>
              </a:rPr>
            </a:br>
            <a:r>
              <a:rPr lang="en-US" altLang="ko-KR" sz="1000" b="1" dirty="0">
                <a:solidFill>
                  <a:srgbClr val="000000"/>
                </a:solidFill>
                <a:latin typeface="맑은 고딕" panose="020B0503020000020004" pitchFamily="50" charset="-127"/>
                <a:cs typeface="Pretendard" panose="02000503000000020004" pitchFamily="2" charset="-127"/>
              </a:rPr>
              <a:t>        </a:t>
            </a:r>
            <a:r>
              <a:rPr lang="ko-KR" altLang="en-US" sz="1000" b="1" dirty="0">
                <a:solidFill>
                  <a:srgbClr val="000000"/>
                </a:solidFill>
                <a:latin typeface="맑은 고딕" panose="020B0503020000020004" pitchFamily="50" charset="-127"/>
                <a:cs typeface="Pretendard" panose="02000503000000020004" pitchFamily="2" charset="-127"/>
              </a:rPr>
              <a:t>대응을 통한 </a:t>
            </a:r>
            <a:r>
              <a:rPr lang="ko-KR" altLang="en-US" sz="1000" b="1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뉴솔루션</a:t>
            </a:r>
            <a:r>
              <a:rPr lang="ko-KR" altLang="en-US" sz="10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 마켓의 안정적 성장</a:t>
            </a:r>
            <a:endParaRPr lang="en-US" altLang="ko-KR" sz="10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  <a:p>
            <a:pPr marL="171450" indent="-171450" defTabSz="9144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/>
            </a:pPr>
            <a:r>
              <a:rPr lang="ko-KR" altLang="en-US" sz="10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충원 계획 </a:t>
            </a:r>
            <a:r>
              <a:rPr lang="en-US" altLang="ko-KR" sz="10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: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물류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실내건축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설비공사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정보통신공사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등 </a:t>
            </a:r>
            <a:b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              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서비스 확대를 위한 전문 인력 </a:t>
            </a:r>
            <a:r>
              <a:rPr lang="en-US" altLang="ko-KR" sz="1000" b="1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OO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명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충원</a:t>
            </a:r>
            <a:endParaRPr lang="en-US" altLang="ko-KR" sz="10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graphicFrame>
        <p:nvGraphicFramePr>
          <p:cNvPr id="30" name="표 18">
            <a:extLst>
              <a:ext uri="{FF2B5EF4-FFF2-40B4-BE49-F238E27FC236}">
                <a16:creationId xmlns:a16="http://schemas.microsoft.com/office/drawing/2014/main" id="{627A0308-1132-4F42-8CAB-B7E232E7A9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60597"/>
              </p:ext>
            </p:extLst>
          </p:nvPr>
        </p:nvGraphicFramePr>
        <p:xfrm>
          <a:off x="5182565" y="5025029"/>
          <a:ext cx="4056927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1122">
                  <a:extLst>
                    <a:ext uri="{9D8B030D-6E8A-4147-A177-3AD203B41FA5}">
                      <a16:colId xmlns:a16="http://schemas.microsoft.com/office/drawing/2014/main" val="2984042832"/>
                    </a:ext>
                  </a:extLst>
                </a:gridCol>
                <a:gridCol w="435115">
                  <a:extLst>
                    <a:ext uri="{9D8B030D-6E8A-4147-A177-3AD203B41FA5}">
                      <a16:colId xmlns:a16="http://schemas.microsoft.com/office/drawing/2014/main" val="4282150094"/>
                    </a:ext>
                  </a:extLst>
                </a:gridCol>
                <a:gridCol w="435115">
                  <a:extLst>
                    <a:ext uri="{9D8B030D-6E8A-4147-A177-3AD203B41FA5}">
                      <a16:colId xmlns:a16="http://schemas.microsoft.com/office/drawing/2014/main" val="1410406389"/>
                    </a:ext>
                  </a:extLst>
                </a:gridCol>
                <a:gridCol w="435115">
                  <a:extLst>
                    <a:ext uri="{9D8B030D-6E8A-4147-A177-3AD203B41FA5}">
                      <a16:colId xmlns:a16="http://schemas.microsoft.com/office/drawing/2014/main" val="3985357247"/>
                    </a:ext>
                  </a:extLst>
                </a:gridCol>
                <a:gridCol w="435115">
                  <a:extLst>
                    <a:ext uri="{9D8B030D-6E8A-4147-A177-3AD203B41FA5}">
                      <a16:colId xmlns:a16="http://schemas.microsoft.com/office/drawing/2014/main" val="2333421124"/>
                    </a:ext>
                  </a:extLst>
                </a:gridCol>
                <a:gridCol w="435115">
                  <a:extLst>
                    <a:ext uri="{9D8B030D-6E8A-4147-A177-3AD203B41FA5}">
                      <a16:colId xmlns:a16="http://schemas.microsoft.com/office/drawing/2014/main" val="2768437764"/>
                    </a:ext>
                  </a:extLst>
                </a:gridCol>
                <a:gridCol w="435115">
                  <a:extLst>
                    <a:ext uri="{9D8B030D-6E8A-4147-A177-3AD203B41FA5}">
                      <a16:colId xmlns:a16="http://schemas.microsoft.com/office/drawing/2014/main" val="1164362433"/>
                    </a:ext>
                  </a:extLst>
                </a:gridCol>
                <a:gridCol w="435115">
                  <a:extLst>
                    <a:ext uri="{9D8B030D-6E8A-4147-A177-3AD203B41FA5}">
                      <a16:colId xmlns:a16="http://schemas.microsoft.com/office/drawing/2014/main" val="2969519209"/>
                    </a:ext>
                  </a:extLst>
                </a:gridCol>
              </a:tblGrid>
              <a:tr h="12008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7550542"/>
                  </a:ext>
                </a:extLst>
              </a:tr>
              <a:tr h="12008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4Q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1Q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2Q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3Q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4Q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1Y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1Y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563116"/>
                  </a:ext>
                </a:extLst>
              </a:tr>
              <a:tr h="1473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지역센터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개소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226675"/>
                  </a:ext>
                </a:extLst>
              </a:tr>
              <a:tr h="1836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운영인력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639525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74DC5896-E995-45D6-9F1A-BA6F620F7958}"/>
              </a:ext>
            </a:extLst>
          </p:cNvPr>
          <p:cNvSpPr/>
          <p:nvPr/>
        </p:nvSpPr>
        <p:spPr>
          <a:xfrm rot="19772619">
            <a:off x="2688737" y="3512847"/>
            <a:ext cx="4330460" cy="4453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조직개편</a:t>
            </a:r>
            <a:r>
              <a:rPr lang="en-US" altLang="ko-KR" dirty="0"/>
              <a:t>(</a:t>
            </a:r>
            <a:r>
              <a:rPr lang="ko-KR" altLang="en-US" dirty="0"/>
              <a:t>안</a:t>
            </a:r>
            <a:r>
              <a:rPr lang="en-US" altLang="ko-KR" dirty="0"/>
              <a:t>) </a:t>
            </a:r>
            <a:r>
              <a:rPr lang="ko-KR" altLang="en-US" dirty="0"/>
              <a:t>필요</a:t>
            </a:r>
          </a:p>
        </p:txBody>
      </p:sp>
    </p:spTree>
    <p:extLst>
      <p:ext uri="{BB962C8B-B14F-4D97-AF65-F5344CB8AC3E}">
        <p14:creationId xmlns:p14="http://schemas.microsoft.com/office/powerpoint/2010/main" val="3825647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091"/>
          <p:cNvSpPr txBox="1">
            <a:spLocks noChangeArrowheads="1"/>
          </p:cNvSpPr>
          <p:nvPr/>
        </p:nvSpPr>
        <p:spPr bwMode="auto">
          <a:xfrm>
            <a:off x="122014" y="17731"/>
            <a:ext cx="6958293" cy="431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latinLnBrk="0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ko-KR" sz="2000" b="1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IV.</a:t>
            </a:r>
            <a:r>
              <a:rPr lang="ko-KR" altLang="en-US" sz="2000" b="1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세부 계획</a:t>
            </a:r>
            <a:endParaRPr lang="ko-KR" altLang="en-US" sz="2400" b="1" dirty="0">
              <a:solidFill>
                <a:schemeClr val="bg1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147" name="Line 4"/>
          <p:cNvSpPr>
            <a:spLocks noChangeShapeType="1"/>
          </p:cNvSpPr>
          <p:nvPr/>
        </p:nvSpPr>
        <p:spPr bwMode="auto">
          <a:xfrm>
            <a:off x="-15875" y="482030"/>
            <a:ext cx="9921875" cy="0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148" name="Line 5"/>
          <p:cNvSpPr>
            <a:spLocks noChangeShapeType="1"/>
          </p:cNvSpPr>
          <p:nvPr/>
        </p:nvSpPr>
        <p:spPr bwMode="auto">
          <a:xfrm>
            <a:off x="-15875" y="6487274"/>
            <a:ext cx="9921875" cy="0"/>
          </a:xfrm>
          <a:prstGeom prst="line">
            <a:avLst/>
          </a:prstGeom>
          <a:noFill/>
          <a:ln w="57150" cmpd="thinThick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009B88-6108-4DB2-9083-B915AAF7798D}"/>
              </a:ext>
            </a:extLst>
          </p:cNvPr>
          <p:cNvSpPr txBox="1"/>
          <p:nvPr/>
        </p:nvSpPr>
        <p:spPr>
          <a:xfrm>
            <a:off x="215371" y="616753"/>
            <a:ext cx="9474353" cy="70224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기존 </a:t>
            </a: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BS</a:t>
            </a: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센터의 </a:t>
            </a:r>
            <a:r>
              <a:rPr lang="ko-KR" altLang="en-US" sz="16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딜리버리</a:t>
            </a: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역량을 최적화한 후</a:t>
            </a: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6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뉴솔루션의</a:t>
            </a: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전략 목표인 ‘중소형 </a:t>
            </a:r>
            <a:r>
              <a:rPr lang="ko-KR" altLang="en-US" sz="16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건축물’이</a:t>
            </a: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밀집된 </a:t>
            </a: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4</a:t>
            </a: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 지역에서 서비스센터를 시범 운영하여 지역 네트워크 구축의 타당성을 검증할 계획입니다</a:t>
            </a: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endParaRPr lang="ko-KR" altLang="en-US" sz="16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1" name="슬라이드 번호 개체 틀 1">
            <a:extLst>
              <a:ext uri="{FF2B5EF4-FFF2-40B4-BE49-F238E27FC236}">
                <a16:creationId xmlns:a16="http://schemas.microsoft.com/office/drawing/2014/main" id="{36999F34-0910-46A5-AADC-56BEDD438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01554" y="6487274"/>
            <a:ext cx="2228850" cy="365125"/>
          </a:xfrm>
        </p:spPr>
        <p:txBody>
          <a:bodyPr/>
          <a:lstStyle/>
          <a:p>
            <a:fld id="{3F84C5A7-88F9-48D6-A9F1-CB29353CBDC7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7EE4B4-1FB2-4685-9610-AF96DD5B1E0C}"/>
              </a:ext>
            </a:extLst>
          </p:cNvPr>
          <p:cNvSpPr txBox="1"/>
          <p:nvPr/>
        </p:nvSpPr>
        <p:spPr>
          <a:xfrm>
            <a:off x="454326" y="1527581"/>
            <a:ext cx="3155785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■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BS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센터 위치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DC5C48-4D9C-4546-A039-542B09E24690}"/>
              </a:ext>
            </a:extLst>
          </p:cNvPr>
          <p:cNvSpPr txBox="1"/>
          <p:nvPr/>
        </p:nvSpPr>
        <p:spPr>
          <a:xfrm>
            <a:off x="4952828" y="1524485"/>
            <a:ext cx="3155785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■ 지역 확대 전략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E92D547-4047-49A9-A670-C44A5FEB2A23}"/>
              </a:ext>
            </a:extLst>
          </p:cNvPr>
          <p:cNvSpPr/>
          <p:nvPr/>
        </p:nvSpPr>
        <p:spPr>
          <a:xfrm>
            <a:off x="5188001" y="1945615"/>
            <a:ext cx="450172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Phase 1: </a:t>
            </a:r>
            <a:r>
              <a:rPr lang="ko-KR" altLang="en-US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현재 서비스 센터를 활용한 서비스 안정화</a:t>
            </a:r>
            <a:endParaRPr lang="en-US" altLang="ko-KR" sz="12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r>
              <a:rPr lang="en-US" altLang="ko-KR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           </a:t>
            </a:r>
            <a:r>
              <a:rPr lang="en-US" altLang="ko-KR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Wingdings" panose="05000000000000000000" pitchFamily="2" charset="2"/>
              </a:rPr>
              <a:t> </a:t>
            </a:r>
            <a:r>
              <a:rPr lang="ko-KR" altLang="en-US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수도권 및 대전</a:t>
            </a:r>
            <a:r>
              <a:rPr lang="en-US" altLang="ko-KR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대구</a:t>
            </a:r>
            <a:r>
              <a:rPr lang="en-US" altLang="ko-KR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광주</a:t>
            </a:r>
            <a:r>
              <a:rPr lang="en-US" altLang="ko-KR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부산</a:t>
            </a:r>
            <a:endParaRPr lang="en-US" altLang="ko-KR" sz="12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endParaRPr lang="en-US" altLang="ko-KR" sz="12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r>
              <a:rPr lang="en-US" altLang="ko-KR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Phase 2: </a:t>
            </a:r>
            <a:r>
              <a:rPr lang="ko-KR" altLang="en-US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서비스 센터 </a:t>
            </a:r>
            <a:r>
              <a:rPr lang="en-US" altLang="ko-KR" sz="12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POC</a:t>
            </a:r>
            <a:r>
              <a:rPr lang="en-US" altLang="ko-KR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운영 </a:t>
            </a:r>
            <a:endParaRPr lang="en-US" altLang="ko-KR" sz="12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r>
              <a:rPr lang="en-US" altLang="ko-KR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Wingdings" panose="05000000000000000000" pitchFamily="2" charset="2"/>
              </a:rPr>
              <a:t>                  </a:t>
            </a:r>
            <a:r>
              <a:rPr lang="ko-KR" altLang="en-US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Wingdings" panose="05000000000000000000" pitchFamily="2" charset="2"/>
              </a:rPr>
              <a:t>고양</a:t>
            </a:r>
            <a:r>
              <a:rPr lang="en-US" altLang="ko-KR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Wingdings" panose="05000000000000000000" pitchFamily="2" charset="2"/>
              </a:rPr>
              <a:t>, </a:t>
            </a:r>
            <a:r>
              <a:rPr lang="ko-KR" altLang="en-US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Wingdings" panose="05000000000000000000" pitchFamily="2" charset="2"/>
              </a:rPr>
              <a:t>수원</a:t>
            </a:r>
            <a:r>
              <a:rPr lang="en-US" altLang="ko-KR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Wingdings" panose="05000000000000000000" pitchFamily="2" charset="2"/>
              </a:rPr>
              <a:t>, </a:t>
            </a:r>
            <a:r>
              <a:rPr lang="ko-KR" altLang="en-US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Wingdings" panose="05000000000000000000" pitchFamily="2" charset="2"/>
              </a:rPr>
              <a:t>세종</a:t>
            </a:r>
            <a:r>
              <a:rPr lang="en-US" altLang="ko-KR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Wingdings" panose="05000000000000000000" pitchFamily="2" charset="2"/>
              </a:rPr>
              <a:t>, </a:t>
            </a:r>
            <a:r>
              <a:rPr lang="ko-KR" altLang="en-US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Wingdings" panose="05000000000000000000" pitchFamily="2" charset="2"/>
              </a:rPr>
              <a:t>창원</a:t>
            </a:r>
            <a:endParaRPr lang="en-US" altLang="ko-KR" sz="12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endParaRPr lang="en-US" altLang="ko-KR" sz="12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r>
              <a:rPr lang="en-US" altLang="ko-KR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Phase 3: BS</a:t>
            </a:r>
            <a:r>
              <a:rPr lang="ko-KR" altLang="en-US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센터 및 서비스센터별 실시간 품질 관리 및 지속적인 </a:t>
            </a:r>
            <a:endParaRPr lang="en-US" altLang="ko-KR" sz="12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r>
              <a:rPr lang="en-US" altLang="ko-KR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           </a:t>
            </a:r>
            <a:r>
              <a:rPr lang="ko-KR" altLang="en-US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모니터링</a:t>
            </a:r>
            <a:r>
              <a:rPr lang="en-US" altLang="ko-KR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시스템 구축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534145-2C33-4326-A1C6-58ED43D7D478}"/>
              </a:ext>
            </a:extLst>
          </p:cNvPr>
          <p:cNvSpPr txBox="1"/>
          <p:nvPr/>
        </p:nvSpPr>
        <p:spPr>
          <a:xfrm>
            <a:off x="6628201" y="139408"/>
            <a:ext cx="3155785" cy="32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③ 지역 센터 확대 </a:t>
            </a:r>
            <a:r>
              <a:rPr kumimoji="0" lang="en-US" altLang="ko-KR" sz="14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POC</a:t>
            </a:r>
            <a:endParaRPr kumimoji="0" lang="ko-KR" altLang="en-US" sz="14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EF176B6-E1FD-4E29-A8FE-5FBCF6E1F86A}"/>
              </a:ext>
            </a:extLst>
          </p:cNvPr>
          <p:cNvGrpSpPr/>
          <p:nvPr/>
        </p:nvGrpSpPr>
        <p:grpSpPr>
          <a:xfrm>
            <a:off x="606870" y="1900356"/>
            <a:ext cx="3922822" cy="4475609"/>
            <a:chOff x="606870" y="1900356"/>
            <a:chExt cx="3922822" cy="4475609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9FB7F262-1CA3-4278-A4CA-F4DC704443DB}"/>
                </a:ext>
              </a:extLst>
            </p:cNvPr>
            <p:cNvGrpSpPr/>
            <p:nvPr/>
          </p:nvGrpSpPr>
          <p:grpSpPr>
            <a:xfrm>
              <a:off x="674492" y="1971153"/>
              <a:ext cx="3855200" cy="4307077"/>
              <a:chOff x="6050800" y="588643"/>
              <a:chExt cx="4672464" cy="5016354"/>
            </a:xfrm>
          </p:grpSpPr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E048CED2-8421-48B5-94D2-39BEA6CB4B45}"/>
                  </a:ext>
                </a:extLst>
              </p:cNvPr>
              <p:cNvGrpSpPr/>
              <p:nvPr/>
            </p:nvGrpSpPr>
            <p:grpSpPr>
              <a:xfrm>
                <a:off x="6050800" y="588643"/>
                <a:ext cx="4672464" cy="5016354"/>
                <a:chOff x="5490449" y="385264"/>
                <a:chExt cx="4672464" cy="5016354"/>
              </a:xfrm>
            </p:grpSpPr>
            <p:pic>
              <p:nvPicPr>
                <p:cNvPr id="26" name="그림 25">
                  <a:extLst>
                    <a:ext uri="{FF2B5EF4-FFF2-40B4-BE49-F238E27FC236}">
                      <a16:creationId xmlns:a16="http://schemas.microsoft.com/office/drawing/2014/main" id="{1F224810-037C-4427-A569-91DB39CEBAF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b="9346"/>
                <a:stretch/>
              </p:blipFill>
              <p:spPr>
                <a:xfrm>
                  <a:off x="5490449" y="385264"/>
                  <a:ext cx="4672464" cy="5016354"/>
                </a:xfrm>
                <a:prstGeom prst="rect">
                  <a:avLst/>
                </a:prstGeom>
              </p:spPr>
            </p:pic>
            <p:sp>
              <p:nvSpPr>
                <p:cNvPr id="27" name="타원 26">
                  <a:extLst>
                    <a:ext uri="{FF2B5EF4-FFF2-40B4-BE49-F238E27FC236}">
                      <a16:creationId xmlns:a16="http://schemas.microsoft.com/office/drawing/2014/main" id="{737D5069-A085-4E58-9FB2-2B8BFE03386E}"/>
                    </a:ext>
                  </a:extLst>
                </p:cNvPr>
                <p:cNvSpPr/>
                <p:nvPr/>
              </p:nvSpPr>
              <p:spPr>
                <a:xfrm>
                  <a:off x="6591577" y="1209004"/>
                  <a:ext cx="413072" cy="320211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8" name="타원 27">
                  <a:extLst>
                    <a:ext uri="{FF2B5EF4-FFF2-40B4-BE49-F238E27FC236}">
                      <a16:creationId xmlns:a16="http://schemas.microsoft.com/office/drawing/2014/main" id="{C1FAA919-CBB5-45D4-A824-06E85B02FBC4}"/>
                    </a:ext>
                  </a:extLst>
                </p:cNvPr>
                <p:cNvSpPr/>
                <p:nvPr/>
              </p:nvSpPr>
              <p:spPr>
                <a:xfrm>
                  <a:off x="6056739" y="2044649"/>
                  <a:ext cx="413072" cy="320211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9" name="타원 28">
                  <a:extLst>
                    <a:ext uri="{FF2B5EF4-FFF2-40B4-BE49-F238E27FC236}">
                      <a16:creationId xmlns:a16="http://schemas.microsoft.com/office/drawing/2014/main" id="{E9766563-A37D-4A9C-A750-C2CC03AA9BFC}"/>
                    </a:ext>
                  </a:extLst>
                </p:cNvPr>
                <p:cNvSpPr/>
                <p:nvPr/>
              </p:nvSpPr>
              <p:spPr>
                <a:xfrm>
                  <a:off x="7144517" y="1824758"/>
                  <a:ext cx="413072" cy="320211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0" name="타원 29">
                  <a:extLst>
                    <a:ext uri="{FF2B5EF4-FFF2-40B4-BE49-F238E27FC236}">
                      <a16:creationId xmlns:a16="http://schemas.microsoft.com/office/drawing/2014/main" id="{93569802-41D4-4E18-B6B9-2EC6BE2AE8AE}"/>
                    </a:ext>
                  </a:extLst>
                </p:cNvPr>
                <p:cNvSpPr/>
                <p:nvPr/>
              </p:nvSpPr>
              <p:spPr>
                <a:xfrm>
                  <a:off x="6873771" y="1228364"/>
                  <a:ext cx="413072" cy="320211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1" name="타원 30">
                  <a:extLst>
                    <a:ext uri="{FF2B5EF4-FFF2-40B4-BE49-F238E27FC236}">
                      <a16:creationId xmlns:a16="http://schemas.microsoft.com/office/drawing/2014/main" id="{3A28AE65-FF7E-410C-84DA-F3C505730935}"/>
                    </a:ext>
                  </a:extLst>
                </p:cNvPr>
                <p:cNvSpPr/>
                <p:nvPr/>
              </p:nvSpPr>
              <p:spPr>
                <a:xfrm>
                  <a:off x="7144517" y="984977"/>
                  <a:ext cx="413072" cy="320211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" name="타원 31">
                  <a:extLst>
                    <a:ext uri="{FF2B5EF4-FFF2-40B4-BE49-F238E27FC236}">
                      <a16:creationId xmlns:a16="http://schemas.microsoft.com/office/drawing/2014/main" id="{CC806D05-98ED-4B52-A818-AACFFD00A742}"/>
                    </a:ext>
                  </a:extLst>
                </p:cNvPr>
                <p:cNvSpPr/>
                <p:nvPr/>
              </p:nvSpPr>
              <p:spPr>
                <a:xfrm>
                  <a:off x="6319602" y="1218684"/>
                  <a:ext cx="413072" cy="320211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3" name="타원 32">
                  <a:extLst>
                    <a:ext uri="{FF2B5EF4-FFF2-40B4-BE49-F238E27FC236}">
                      <a16:creationId xmlns:a16="http://schemas.microsoft.com/office/drawing/2014/main" id="{FC67D178-8D65-4CE2-B9AF-90FAF5AA3E5B}"/>
                    </a:ext>
                  </a:extLst>
                </p:cNvPr>
                <p:cNvSpPr/>
                <p:nvPr/>
              </p:nvSpPr>
              <p:spPr>
                <a:xfrm>
                  <a:off x="8247396" y="1824758"/>
                  <a:ext cx="413072" cy="320211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BDAE87A2-388D-4F15-8B2D-C89692C5B6DE}"/>
                    </a:ext>
                  </a:extLst>
                </p:cNvPr>
                <p:cNvSpPr/>
                <p:nvPr/>
              </p:nvSpPr>
              <p:spPr>
                <a:xfrm>
                  <a:off x="6857438" y="1855843"/>
                  <a:ext cx="413072" cy="320211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5" name="타원 34">
                  <a:extLst>
                    <a:ext uri="{FF2B5EF4-FFF2-40B4-BE49-F238E27FC236}">
                      <a16:creationId xmlns:a16="http://schemas.microsoft.com/office/drawing/2014/main" id="{D71E4191-004A-4D9A-BD5D-FECBBEC6CF25}"/>
                    </a:ext>
                  </a:extLst>
                </p:cNvPr>
                <p:cNvSpPr/>
                <p:nvPr/>
              </p:nvSpPr>
              <p:spPr>
                <a:xfrm>
                  <a:off x="7179133" y="1228363"/>
                  <a:ext cx="413072" cy="320211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" name="타원 35">
                  <a:extLst>
                    <a:ext uri="{FF2B5EF4-FFF2-40B4-BE49-F238E27FC236}">
                      <a16:creationId xmlns:a16="http://schemas.microsoft.com/office/drawing/2014/main" id="{D97FE856-E52F-45BD-B6CA-209A8F6AB9DF}"/>
                    </a:ext>
                  </a:extLst>
                </p:cNvPr>
                <p:cNvSpPr/>
                <p:nvPr/>
              </p:nvSpPr>
              <p:spPr>
                <a:xfrm>
                  <a:off x="7973670" y="1429334"/>
                  <a:ext cx="413072" cy="320211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7" name="타원 36">
                  <a:extLst>
                    <a:ext uri="{FF2B5EF4-FFF2-40B4-BE49-F238E27FC236}">
                      <a16:creationId xmlns:a16="http://schemas.microsoft.com/office/drawing/2014/main" id="{0CCA13A8-C42F-4583-80D5-F92912E2EE85}"/>
                    </a:ext>
                  </a:extLst>
                </p:cNvPr>
                <p:cNvSpPr/>
                <p:nvPr/>
              </p:nvSpPr>
              <p:spPr>
                <a:xfrm>
                  <a:off x="6583494" y="3308131"/>
                  <a:ext cx="413072" cy="320211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8" name="타원 37">
                  <a:extLst>
                    <a:ext uri="{FF2B5EF4-FFF2-40B4-BE49-F238E27FC236}">
                      <a16:creationId xmlns:a16="http://schemas.microsoft.com/office/drawing/2014/main" id="{415E0C8C-E71F-4726-88AB-2D23276CE239}"/>
                    </a:ext>
                  </a:extLst>
                </p:cNvPr>
                <p:cNvSpPr/>
                <p:nvPr/>
              </p:nvSpPr>
              <p:spPr>
                <a:xfrm>
                  <a:off x="6018673" y="4561692"/>
                  <a:ext cx="413072" cy="320211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9" name="타원 38">
                  <a:extLst>
                    <a:ext uri="{FF2B5EF4-FFF2-40B4-BE49-F238E27FC236}">
                      <a16:creationId xmlns:a16="http://schemas.microsoft.com/office/drawing/2014/main" id="{0A27A9FB-9BFE-47FB-860F-38991E579664}"/>
                    </a:ext>
                  </a:extLst>
                </p:cNvPr>
                <p:cNvSpPr/>
                <p:nvPr/>
              </p:nvSpPr>
              <p:spPr>
                <a:xfrm>
                  <a:off x="8515979" y="3937409"/>
                  <a:ext cx="413072" cy="320211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0" name="타원 39">
                  <a:extLst>
                    <a:ext uri="{FF2B5EF4-FFF2-40B4-BE49-F238E27FC236}">
                      <a16:creationId xmlns:a16="http://schemas.microsoft.com/office/drawing/2014/main" id="{864BB5A6-31E6-484D-8343-3DFEBE91B479}"/>
                    </a:ext>
                  </a:extLst>
                </p:cNvPr>
                <p:cNvSpPr/>
                <p:nvPr/>
              </p:nvSpPr>
              <p:spPr>
                <a:xfrm>
                  <a:off x="8515979" y="3102233"/>
                  <a:ext cx="413072" cy="320211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7" name="타원 16">
                <a:extLst>
                  <a:ext uri="{FF2B5EF4-FFF2-40B4-BE49-F238E27FC236}">
                    <a16:creationId xmlns:a16="http://schemas.microsoft.com/office/drawing/2014/main" id="{742B8D3F-D881-4056-A559-2C371B1F6044}"/>
                  </a:ext>
                </a:extLst>
              </p:cNvPr>
              <p:cNvSpPr/>
              <p:nvPr/>
            </p:nvSpPr>
            <p:spPr>
              <a:xfrm>
                <a:off x="7704868" y="2459041"/>
                <a:ext cx="413072" cy="320211"/>
              </a:xfrm>
              <a:prstGeom prst="ellipse">
                <a:avLst/>
              </a:prstGeom>
              <a:noFill/>
              <a:ln w="28575">
                <a:solidFill>
                  <a:srgbClr val="00A638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21E5113B-278A-482A-BFA9-22CCB99AC745}"/>
                  </a:ext>
                </a:extLst>
              </p:cNvPr>
              <p:cNvSpPr/>
              <p:nvPr/>
            </p:nvSpPr>
            <p:spPr>
              <a:xfrm>
                <a:off x="7170208" y="2864671"/>
                <a:ext cx="413072" cy="320211"/>
              </a:xfrm>
              <a:prstGeom prst="ellipse">
                <a:avLst/>
              </a:prstGeom>
              <a:noFill/>
              <a:ln w="28575">
                <a:solidFill>
                  <a:srgbClr val="00A638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F91C3697-5CFA-49B7-A87A-D343D3B523B2}"/>
                  </a:ext>
                </a:extLst>
              </p:cNvPr>
              <p:cNvSpPr/>
              <p:nvPr/>
            </p:nvSpPr>
            <p:spPr>
              <a:xfrm>
                <a:off x="7982764" y="4349547"/>
                <a:ext cx="413072" cy="320211"/>
              </a:xfrm>
              <a:prstGeom prst="ellipse">
                <a:avLst/>
              </a:prstGeom>
              <a:noFill/>
              <a:ln w="28575">
                <a:solidFill>
                  <a:srgbClr val="00A638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B81E5CC2-16A5-4F3D-A7DC-D4138C48E43F}"/>
                  </a:ext>
                </a:extLst>
              </p:cNvPr>
              <p:cNvSpPr/>
              <p:nvPr/>
            </p:nvSpPr>
            <p:spPr>
              <a:xfrm>
                <a:off x="7170208" y="994059"/>
                <a:ext cx="413072" cy="320211"/>
              </a:xfrm>
              <a:prstGeom prst="ellipse">
                <a:avLst/>
              </a:prstGeom>
              <a:noFill/>
              <a:ln w="28575">
                <a:solidFill>
                  <a:srgbClr val="00A638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50BA2BF6-0C5D-43C3-9E98-DB47BA5B512E}"/>
                  </a:ext>
                </a:extLst>
              </p:cNvPr>
              <p:cNvSpPr/>
              <p:nvPr/>
            </p:nvSpPr>
            <p:spPr>
              <a:xfrm>
                <a:off x="9778414" y="1092172"/>
                <a:ext cx="413072" cy="320211"/>
              </a:xfrm>
              <a:prstGeom prst="ellipse">
                <a:avLst/>
              </a:prstGeom>
              <a:noFill/>
              <a:ln w="28575">
                <a:solidFill>
                  <a:srgbClr val="00A638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8554BDA0-8EDB-4756-ADEF-850C530153ED}"/>
                  </a:ext>
                </a:extLst>
              </p:cNvPr>
              <p:cNvSpPr/>
              <p:nvPr/>
            </p:nvSpPr>
            <p:spPr>
              <a:xfrm>
                <a:off x="9778414" y="707577"/>
                <a:ext cx="413072" cy="320211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F538C93-3776-4991-BBAC-4A8A8ACF01CA}"/>
                </a:ext>
              </a:extLst>
            </p:cNvPr>
            <p:cNvSpPr txBox="1"/>
            <p:nvPr/>
          </p:nvSpPr>
          <p:spPr>
            <a:xfrm>
              <a:off x="3702169" y="2083397"/>
              <a:ext cx="44114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/>
                <a:t>현재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E1BFE57-9128-4AB6-B68F-4978F3AE89AA}"/>
                </a:ext>
              </a:extLst>
            </p:cNvPr>
            <p:cNvSpPr txBox="1"/>
            <p:nvPr/>
          </p:nvSpPr>
          <p:spPr>
            <a:xfrm>
              <a:off x="3710795" y="2440827"/>
              <a:ext cx="44114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/>
                <a:t>추가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B5E139C0-B230-4B6D-ACAF-3FD60415E9BE}"/>
                </a:ext>
              </a:extLst>
            </p:cNvPr>
            <p:cNvSpPr/>
            <p:nvPr/>
          </p:nvSpPr>
          <p:spPr>
            <a:xfrm>
              <a:off x="606870" y="1900356"/>
              <a:ext cx="3922821" cy="4475609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234679CD-CFB7-49EA-9DD4-B003C52FBD29}"/>
              </a:ext>
            </a:extLst>
          </p:cNvPr>
          <p:cNvSpPr/>
          <p:nvPr/>
        </p:nvSpPr>
        <p:spPr>
          <a:xfrm>
            <a:off x="5189756" y="3688242"/>
            <a:ext cx="4169903" cy="1868822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BE40261-B103-4A15-B224-8FFDB550DCAA}"/>
              </a:ext>
            </a:extLst>
          </p:cNvPr>
          <p:cNvSpPr txBox="1"/>
          <p:nvPr/>
        </p:nvSpPr>
        <p:spPr>
          <a:xfrm>
            <a:off x="5292482" y="3729146"/>
            <a:ext cx="3751386" cy="1751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defTabSz="914400" rtl="0" eaLnBrk="1" fontAlgn="auto" latinLnBrk="0" hangingPunct="1">
              <a:spcAft>
                <a:spcPts val="600"/>
              </a:spcAft>
              <a:buClrTx/>
              <a:buSzTx/>
              <a:tabLst/>
              <a:defRPr/>
            </a:pPr>
            <a:r>
              <a:rPr kumimoji="0" lang="ko-KR" altLang="en-US" sz="10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지역 시범 센터 운영</a:t>
            </a:r>
            <a:r>
              <a:rPr lang="en-US" altLang="ko-KR" sz="1000" b="1" u="sng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(</a:t>
            </a:r>
            <a:r>
              <a:rPr lang="ko-KR" altLang="en-US" sz="1000" b="1" u="sng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안</a:t>
            </a:r>
            <a:r>
              <a:rPr lang="en-US" altLang="ko-KR" sz="1000" b="1" u="sng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)</a:t>
            </a:r>
            <a:endParaRPr kumimoji="0" lang="en-US" altLang="ko-KR" sz="10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  <a:p>
            <a:pPr marL="171450" marR="0" lvl="0" indent="-171450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ko-KR" altLang="en-US" sz="10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개설 시점 </a:t>
            </a:r>
            <a:r>
              <a:rPr lang="en-US" altLang="ko-KR" sz="10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: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각 지역별 고정 매출액이 고정 운영비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(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사무실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,      </a:t>
            </a:r>
            <a:b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        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업무용차량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사무기기 임차료 등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)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을 초과하는 시점</a:t>
            </a:r>
            <a:b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         (‘25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년 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3Q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예상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)</a:t>
            </a:r>
          </a:p>
          <a:p>
            <a:pPr marL="171450" marR="0" lvl="0" indent="-171450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ko-KR" altLang="en-US" sz="10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운영 방법 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: 1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차년도는 상주인원을 최소화하고 타센터의  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 </a:t>
            </a:r>
            <a:b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        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인력을 </a:t>
            </a:r>
            <a:r>
              <a:rPr lang="ko-KR" altLang="en-US" sz="10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순환근무토록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 함 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(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전략적 변동비용 처리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)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  <a:p>
            <a:pPr marL="171450" marR="0" lvl="0" indent="-171450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ko-KR" altLang="en-US" sz="10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운영 기간 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: 1~2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개년 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(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임차계약에 따라 상이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)</a:t>
            </a:r>
          </a:p>
          <a:p>
            <a:pPr marL="171450" marR="0" lvl="0" indent="-171450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ko-KR" altLang="en-US" sz="10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관리 지표 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: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지역 </a:t>
            </a:r>
            <a:r>
              <a:rPr lang="ko-KR" altLang="en-US" sz="10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고객수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센터 가동률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매출액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 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92D5D9F-3789-449C-B511-E367B5538FD8}"/>
              </a:ext>
            </a:extLst>
          </p:cNvPr>
          <p:cNvSpPr txBox="1"/>
          <p:nvPr/>
        </p:nvSpPr>
        <p:spPr>
          <a:xfrm>
            <a:off x="4529691" y="5890570"/>
            <a:ext cx="4957239" cy="410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Pretendard" panose="02000503000000020004" pitchFamily="2" charset="-127"/>
              </a:rPr>
              <a:t>▷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Pretendard" panose="02000503000000020004" pitchFamily="2" charset="-127"/>
              </a:rPr>
              <a:t>국토교통부 건축물대장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Pretendard" panose="02000503000000020004" pitchFamily="2" charset="-127"/>
              </a:rPr>
              <a:t>(‘24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Pretendard" panose="02000503000000020004" pitchFamily="2" charset="-127"/>
              </a:rPr>
              <a:t>년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Pretendard" panose="02000503000000020004" pitchFamily="2" charset="-127"/>
              </a:rPr>
              <a:t>5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Pretendard" panose="02000503000000020004" pitchFamily="2" charset="-127"/>
              </a:rPr>
              <a:t>월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Pretendard" panose="02000503000000020004" pitchFamily="2" charset="-127"/>
              </a:rPr>
              <a:t>)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Pretendard" panose="02000503000000020004" pitchFamily="2" charset="-127"/>
              </a:rPr>
              <a:t>중 </a:t>
            </a:r>
            <a:r>
              <a:rPr lang="ko-KR" altLang="en-US" sz="9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Pretendard" panose="02000503000000020004" pitchFamily="2" charset="-127"/>
              </a:rPr>
              <a:t>주용도가 </a:t>
            </a:r>
            <a:r>
              <a:rPr lang="en-US" altLang="ko-KR" sz="9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Pretendard" panose="02000503000000020004" pitchFamily="2" charset="-127"/>
              </a:rPr>
              <a:t>“</a:t>
            </a:r>
            <a:r>
              <a:rPr lang="ko-KR" altLang="en-US" sz="9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Pretendard" panose="02000503000000020004" pitchFamily="2" charset="-127"/>
              </a:rPr>
              <a:t>업무시설</a:t>
            </a:r>
            <a:r>
              <a:rPr lang="en-US" altLang="ko-KR" sz="9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9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Pretendard" panose="02000503000000020004" pitchFamily="2" charset="-127"/>
              </a:rPr>
              <a:t>노유자시설</a:t>
            </a:r>
            <a:r>
              <a:rPr lang="en-US" altLang="ko-KR" sz="9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9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Pretendard" panose="02000503000000020004" pitchFamily="2" charset="-127"/>
              </a:rPr>
              <a:t>제</a:t>
            </a:r>
            <a:r>
              <a:rPr lang="en-US" altLang="ko-KR" sz="9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Pretendard" panose="02000503000000020004" pitchFamily="2" charset="-127"/>
              </a:rPr>
              <a:t>2</a:t>
            </a:r>
            <a:r>
              <a:rPr lang="ko-KR" altLang="en-US" sz="900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Pretendard" panose="02000503000000020004" pitchFamily="2" charset="-127"/>
              </a:rPr>
              <a:t>종근린생활시설＂인</a:t>
            </a:r>
            <a:r>
              <a:rPr lang="ko-KR" altLang="en-US" sz="9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Pretendard" panose="02000503000000020004" pitchFamily="2" charset="-127"/>
              </a:rPr>
              <a:t> </a:t>
            </a:r>
            <a:br>
              <a:rPr lang="en-US" altLang="ko-KR" sz="9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Pretendard" panose="02000503000000020004" pitchFamily="2" charset="-127"/>
              </a:rPr>
            </a:br>
            <a:r>
              <a:rPr lang="en-US" altLang="ko-KR" sz="9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Pretendard" panose="02000503000000020004" pitchFamily="2" charset="-127"/>
              </a:rPr>
              <a:t>    5,668</a:t>
            </a:r>
            <a:r>
              <a:rPr lang="ko-KR" altLang="en-US" sz="9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Pretendard" panose="02000503000000020004" pitchFamily="2" charset="-127"/>
              </a:rPr>
              <a:t>동 분포도</a:t>
            </a:r>
            <a:r>
              <a:rPr lang="en-US" altLang="ko-KR" sz="9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Pretendard" panose="02000503000000020004" pitchFamily="2" charset="-127"/>
              </a:rPr>
              <a:t> 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0358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091"/>
          <p:cNvSpPr txBox="1">
            <a:spLocks noChangeArrowheads="1"/>
          </p:cNvSpPr>
          <p:nvPr/>
        </p:nvSpPr>
        <p:spPr bwMode="auto">
          <a:xfrm>
            <a:off x="122014" y="17731"/>
            <a:ext cx="6958293" cy="431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latinLnBrk="0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별첨</a:t>
            </a:r>
            <a:r>
              <a:rPr lang="en-US" altLang="ko-KR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뉴솔루션</a:t>
            </a:r>
            <a:r>
              <a:rPr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상품 유형</a:t>
            </a:r>
            <a:endParaRPr lang="ko-KR" altLang="en-US" sz="2400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147" name="Line 4"/>
          <p:cNvSpPr>
            <a:spLocks noChangeShapeType="1"/>
          </p:cNvSpPr>
          <p:nvPr/>
        </p:nvSpPr>
        <p:spPr bwMode="auto">
          <a:xfrm>
            <a:off x="-15875" y="482030"/>
            <a:ext cx="9921875" cy="0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148" name="Line 5"/>
          <p:cNvSpPr>
            <a:spLocks noChangeShapeType="1"/>
          </p:cNvSpPr>
          <p:nvPr/>
        </p:nvSpPr>
        <p:spPr bwMode="auto">
          <a:xfrm>
            <a:off x="-15875" y="6487274"/>
            <a:ext cx="9921875" cy="0"/>
          </a:xfrm>
          <a:prstGeom prst="line">
            <a:avLst/>
          </a:prstGeom>
          <a:noFill/>
          <a:ln w="57150" cmpd="thinThick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">
            <a:extLst>
              <a:ext uri="{FF2B5EF4-FFF2-40B4-BE49-F238E27FC236}">
                <a16:creationId xmlns:a16="http://schemas.microsoft.com/office/drawing/2014/main" id="{36999F34-0910-46A5-AADC-56BEDD438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01554" y="6487274"/>
            <a:ext cx="2228850" cy="365125"/>
          </a:xfrm>
        </p:spPr>
        <p:txBody>
          <a:bodyPr/>
          <a:lstStyle/>
          <a:p>
            <a:fld id="{3F84C5A7-88F9-48D6-A9F1-CB29353CBDC7}" type="slidenum">
              <a:rPr lang="ko-KR" altLang="en-US" smtClean="0"/>
              <a:t>9</a:t>
            </a:fld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E6ECFB7-781F-48AF-8A7E-444FD8391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810632"/>
              </p:ext>
            </p:extLst>
          </p:nvPr>
        </p:nvGraphicFramePr>
        <p:xfrm>
          <a:off x="134587" y="708248"/>
          <a:ext cx="4778403" cy="5441504"/>
        </p:xfrm>
        <a:graphic>
          <a:graphicData uri="http://schemas.openxmlformats.org/drawingml/2006/table">
            <a:tbl>
              <a:tblPr/>
              <a:tblGrid>
                <a:gridCol w="368908">
                  <a:extLst>
                    <a:ext uri="{9D8B030D-6E8A-4147-A177-3AD203B41FA5}">
                      <a16:colId xmlns:a16="http://schemas.microsoft.com/office/drawing/2014/main" val="4097895903"/>
                    </a:ext>
                  </a:extLst>
                </a:gridCol>
                <a:gridCol w="563803">
                  <a:extLst>
                    <a:ext uri="{9D8B030D-6E8A-4147-A177-3AD203B41FA5}">
                      <a16:colId xmlns:a16="http://schemas.microsoft.com/office/drawing/2014/main" val="256219230"/>
                    </a:ext>
                  </a:extLst>
                </a:gridCol>
                <a:gridCol w="1122385">
                  <a:extLst>
                    <a:ext uri="{9D8B030D-6E8A-4147-A177-3AD203B41FA5}">
                      <a16:colId xmlns:a16="http://schemas.microsoft.com/office/drawing/2014/main" val="4233214828"/>
                    </a:ext>
                  </a:extLst>
                </a:gridCol>
                <a:gridCol w="480276">
                  <a:extLst>
                    <a:ext uri="{9D8B030D-6E8A-4147-A177-3AD203B41FA5}">
                      <a16:colId xmlns:a16="http://schemas.microsoft.com/office/drawing/2014/main" val="2660712173"/>
                    </a:ext>
                  </a:extLst>
                </a:gridCol>
                <a:gridCol w="640369">
                  <a:extLst>
                    <a:ext uri="{9D8B030D-6E8A-4147-A177-3AD203B41FA5}">
                      <a16:colId xmlns:a16="http://schemas.microsoft.com/office/drawing/2014/main" val="957593345"/>
                    </a:ext>
                  </a:extLst>
                </a:gridCol>
                <a:gridCol w="871806">
                  <a:extLst>
                    <a:ext uri="{9D8B030D-6E8A-4147-A177-3AD203B41FA5}">
                      <a16:colId xmlns:a16="http://schemas.microsoft.com/office/drawing/2014/main" val="2759570170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485248467"/>
                    </a:ext>
                  </a:extLst>
                </a:gridCol>
              </a:tblGrid>
              <a:tr h="20372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유형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상품명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카테고리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 형태</a:t>
                      </a:r>
                      <a:b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일시납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구독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솔루션 수행주체</a:t>
                      </a:r>
                      <a:b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자사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파트너사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공동수행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견적 타입</a:t>
                      </a:r>
                      <a:b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표준단가</a:t>
                      </a: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견적형</a:t>
                      </a: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206278"/>
                  </a:ext>
                </a:extLst>
              </a:tr>
              <a:tr h="104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0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유지보수형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커피머신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Safe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일시납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구독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(1~5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공동수행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표준단가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4375106"/>
                  </a:ext>
                </a:extLst>
              </a:tr>
              <a:tr h="104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사내카페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Life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공동수행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견적형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7846955"/>
                  </a:ext>
                </a:extLst>
              </a:tr>
              <a:tr h="104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스마트 메일룸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Life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일시납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구독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공동수행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견적형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8315627"/>
                  </a:ext>
                </a:extLst>
              </a:tr>
              <a:tr h="104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라운지 서비스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Life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공동수행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견적형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0887661"/>
                  </a:ext>
                </a:extLst>
              </a:tr>
              <a:tr h="104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메일센터 배달 서비스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Life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5686115"/>
                  </a:ext>
                </a:extLst>
              </a:tr>
              <a:tr h="104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주차장 위탁운영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Parking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구독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협의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5756357"/>
                  </a:ext>
                </a:extLst>
              </a:tr>
              <a:tr h="104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원격감시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Safe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구독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(3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공동수행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견적형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0857825"/>
                  </a:ext>
                </a:extLst>
              </a:tr>
              <a:tr h="104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공기질 서비스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Safe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구독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공동수행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견적형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3634656"/>
                  </a:ext>
                </a:extLst>
              </a:tr>
              <a:tr h="10447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비상주 시설물 안전 점검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(Patrol)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Safe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구독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자사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견적형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1669250"/>
                  </a:ext>
                </a:extLst>
              </a:tr>
              <a:tr h="1044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비상주 시설물 안전 점검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(SOS)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Safe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구독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공동수행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견적형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1506459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224" marR="5224" marT="52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224" marR="5224" marT="52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224" marR="5224" marT="52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224" marR="5224" marT="52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224" marR="5224" marT="52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224" marR="5224" marT="52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224" marR="5224" marT="52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3550724"/>
                  </a:ext>
                </a:extLst>
              </a:tr>
              <a:tr h="104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현장작업형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간판 점검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세척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Clean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5994728"/>
                  </a:ext>
                </a:extLst>
              </a:tr>
              <a:tr h="104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사무환경개선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Interior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공사성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공동수행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견적형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6014146"/>
                  </a:ext>
                </a:extLst>
              </a:tr>
              <a:tr h="104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폰부스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Interior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일시납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파트너사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표준단가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0514234"/>
                  </a:ext>
                </a:extLst>
              </a:tr>
              <a:tr h="104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스마트큐브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SMART CUBE)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Interior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일시납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파트너사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표준단가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2408633"/>
                  </a:ext>
                </a:extLst>
              </a:tr>
              <a:tr h="104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주차장비 구매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Parking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일시납 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공동수행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표준단가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0879225"/>
                  </a:ext>
                </a:extLst>
              </a:tr>
              <a:tr h="104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상업용 주방자동소화장치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Safe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일시납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공동수행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견적형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1502296"/>
                  </a:ext>
                </a:extLst>
              </a:tr>
              <a:tr h="104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건물 맞춤형 공조필터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Safe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일시납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구독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파트너사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견적형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8109464"/>
                  </a:ext>
                </a:extLst>
              </a:tr>
              <a:tr h="104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배터리 화재안전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(UPS)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Safe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일시납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공동수행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견적형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3905238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224" marR="5224" marT="52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224" marR="5224" marT="52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224" marR="5224" marT="52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224" marR="5224" marT="52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224" marR="5224" marT="52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224" marR="5224" marT="52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224" marR="5224" marT="52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6232951"/>
                  </a:ext>
                </a:extLst>
              </a:tr>
              <a:tr h="104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0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파트너완결형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ICT Solution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Parking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일시납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구독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파트너사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견적형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8311400"/>
                  </a:ext>
                </a:extLst>
              </a:tr>
              <a:tr h="104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CCTV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Safe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구독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파트너사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견적형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9505689"/>
                  </a:ext>
                </a:extLst>
              </a:tr>
              <a:tr h="104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스낵플러스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Life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구독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파트너사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견적형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4488651"/>
                  </a:ext>
                </a:extLst>
              </a:tr>
              <a:tr h="104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내자리 케어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Clean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일시납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파트너사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표준단가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견적형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3703365"/>
                  </a:ext>
                </a:extLst>
              </a:tr>
              <a:tr h="104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정기방문 청소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Clean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구독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)-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 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파트너사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견적형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885196"/>
                  </a:ext>
                </a:extLst>
              </a:tr>
              <a:tr h="104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주방클린케어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Clean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9719651"/>
                  </a:ext>
                </a:extLst>
              </a:tr>
              <a:tr h="104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의자 천갈이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Clean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일시납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파트너사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견적형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8984643"/>
                  </a:ext>
                </a:extLst>
              </a:tr>
              <a:tr h="104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법정의무소독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Clean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구독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파트너사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표준단가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166130"/>
                  </a:ext>
                </a:extLst>
              </a:tr>
              <a:tr h="104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청소장비 솔루션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Clean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일시납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구독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공동 수행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견적형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8302500"/>
                  </a:ext>
                </a:extLst>
              </a:tr>
              <a:tr h="104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방문세차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B2B)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Life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구독형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파트너사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견적형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2939438"/>
                  </a:ext>
                </a:extLst>
              </a:tr>
              <a:tr h="104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무인우편택배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Life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구독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파트너사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표준단가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9179"/>
                  </a:ext>
                </a:extLst>
              </a:tr>
              <a:tr h="104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텀블러 세척기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Life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일시납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파트너사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표준단가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4331293"/>
                  </a:ext>
                </a:extLst>
              </a:tr>
              <a:tr h="104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매트리스 케어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Life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일시납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파트너사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표준단가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847115"/>
                  </a:ext>
                </a:extLst>
              </a:tr>
              <a:tr h="104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퀵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화물 배송 서비스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Life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718704"/>
                  </a:ext>
                </a:extLst>
              </a:tr>
              <a:tr h="104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제빙기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Life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일시납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파트너사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표준단가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2182740"/>
                  </a:ext>
                </a:extLst>
              </a:tr>
              <a:tr h="104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다회용컵 렌탈 서비스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Life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구독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공동수행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표준단가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4251238"/>
                  </a:ext>
                </a:extLst>
              </a:tr>
              <a:tr h="104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34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탄산수 제조기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Life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일시납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파트너사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표준단가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9966117"/>
                  </a:ext>
                </a:extLst>
              </a:tr>
              <a:tr h="104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비데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Life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구독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파트너사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표준단가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8997830"/>
                  </a:ext>
                </a:extLst>
              </a:tr>
              <a:tr h="104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헬스케어 키오스크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Life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일시납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구독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공동수행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표준단가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5350796"/>
                  </a:ext>
                </a:extLst>
              </a:tr>
              <a:tr h="104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기계설비 성능점검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Safe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일시납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파트너사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견적형</a:t>
                      </a:r>
                    </a:p>
                  </a:txBody>
                  <a:tcPr marL="5224" marR="5224" marT="5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0691868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A999AC0-EFFB-45D6-802E-B40BC00F42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910794"/>
              </p:ext>
            </p:extLst>
          </p:nvPr>
        </p:nvGraphicFramePr>
        <p:xfrm>
          <a:off x="4977848" y="699622"/>
          <a:ext cx="4778403" cy="3239248"/>
        </p:xfrm>
        <a:graphic>
          <a:graphicData uri="http://schemas.openxmlformats.org/drawingml/2006/table">
            <a:tbl>
              <a:tblPr/>
              <a:tblGrid>
                <a:gridCol w="368908">
                  <a:extLst>
                    <a:ext uri="{9D8B030D-6E8A-4147-A177-3AD203B41FA5}">
                      <a16:colId xmlns:a16="http://schemas.microsoft.com/office/drawing/2014/main" val="1424629210"/>
                    </a:ext>
                  </a:extLst>
                </a:gridCol>
                <a:gridCol w="563803">
                  <a:extLst>
                    <a:ext uri="{9D8B030D-6E8A-4147-A177-3AD203B41FA5}">
                      <a16:colId xmlns:a16="http://schemas.microsoft.com/office/drawing/2014/main" val="3444169160"/>
                    </a:ext>
                  </a:extLst>
                </a:gridCol>
                <a:gridCol w="1122385">
                  <a:extLst>
                    <a:ext uri="{9D8B030D-6E8A-4147-A177-3AD203B41FA5}">
                      <a16:colId xmlns:a16="http://schemas.microsoft.com/office/drawing/2014/main" val="1201206455"/>
                    </a:ext>
                  </a:extLst>
                </a:gridCol>
                <a:gridCol w="480276">
                  <a:extLst>
                    <a:ext uri="{9D8B030D-6E8A-4147-A177-3AD203B41FA5}">
                      <a16:colId xmlns:a16="http://schemas.microsoft.com/office/drawing/2014/main" val="1695822696"/>
                    </a:ext>
                  </a:extLst>
                </a:gridCol>
                <a:gridCol w="640369">
                  <a:extLst>
                    <a:ext uri="{9D8B030D-6E8A-4147-A177-3AD203B41FA5}">
                      <a16:colId xmlns:a16="http://schemas.microsoft.com/office/drawing/2014/main" val="3407394289"/>
                    </a:ext>
                  </a:extLst>
                </a:gridCol>
                <a:gridCol w="871806">
                  <a:extLst>
                    <a:ext uri="{9D8B030D-6E8A-4147-A177-3AD203B41FA5}">
                      <a16:colId xmlns:a16="http://schemas.microsoft.com/office/drawing/2014/main" val="1313201026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341150087"/>
                    </a:ext>
                  </a:extLst>
                </a:gridCol>
              </a:tblGrid>
              <a:tr h="31594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유형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상품명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카테고리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 형태</a:t>
                      </a:r>
                      <a:b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일시납</a:t>
                      </a: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구독</a:t>
                      </a: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솔루션 수행주체</a:t>
                      </a:r>
                      <a:b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자사</a:t>
                      </a: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파트너사</a:t>
                      </a: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공동수행</a:t>
                      </a: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견적 타입</a:t>
                      </a:r>
                      <a:b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표준단가</a:t>
                      </a: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견적형</a:t>
                      </a: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577033"/>
                  </a:ext>
                </a:extLst>
              </a:tr>
              <a:tr h="1620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배송완결형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청소용품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Clean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일시납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파트너사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표준단가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0087925"/>
                  </a:ext>
                </a:extLst>
              </a:tr>
              <a:tr h="1620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친환경 세정제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청소용품 통합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Clean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일시납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파트너사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표준단가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0396719"/>
                  </a:ext>
                </a:extLst>
              </a:tr>
              <a:tr h="1620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샌디 제지류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Clean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일시납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파트너사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표준단가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3260921"/>
                  </a:ext>
                </a:extLst>
              </a:tr>
              <a:tr h="1620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승강기 보양재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Interior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일시납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파트너사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표준단가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8334215"/>
                  </a:ext>
                </a:extLst>
              </a:tr>
              <a:tr h="1620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41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원두구독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Life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일시납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구독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공동수행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표준단가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192993"/>
                  </a:ext>
                </a:extLst>
              </a:tr>
              <a:tr h="1620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자동우산털이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Life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일시납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파트너사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표준단가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1165180"/>
                  </a:ext>
                </a:extLst>
              </a:tr>
              <a:tr h="1620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이동식 전기차화재 진압장치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Safe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일시납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파트너사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표준단가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392890"/>
                  </a:ext>
                </a:extLst>
              </a:tr>
              <a:tr h="1620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화재예방 스티커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Safe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일시납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파트너사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표준단가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3801681"/>
                  </a:ext>
                </a:extLst>
              </a:tr>
              <a:tr h="13771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101" marR="8101" marT="81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101" marR="8101" marT="81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101" marR="8101" marT="81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101" marR="8101" marT="81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101" marR="8101" marT="81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101" marR="8101" marT="81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101" marR="8101" marT="81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164885"/>
                  </a:ext>
                </a:extLst>
              </a:tr>
              <a:tr h="1620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자사수행형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중소형빌딩 빌딩자산관리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Asset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구독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협의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자사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/FM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공동수행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견적형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3104545"/>
                  </a:ext>
                </a:extLst>
              </a:tr>
              <a:tr h="1620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청소로봇케어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Clean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구독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(3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자사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표준단가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0988323"/>
                  </a:ext>
                </a:extLst>
              </a:tr>
              <a:tr h="1620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47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청소 품질 컨설팅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Clean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화장실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개소 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자사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파트너사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표준단가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7362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48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샌디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Life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 셋업비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b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개발비 일시납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자사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표준단가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2821448"/>
                  </a:ext>
                </a:extLst>
              </a:tr>
              <a:tr h="1620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캡슐커피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Life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구독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(1~5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자사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표준단가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7083827"/>
                  </a:ext>
                </a:extLst>
              </a:tr>
              <a:tr h="1620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전기차화재 자동진압 시스템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Safe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일시납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자사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견적형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966627"/>
                  </a:ext>
                </a:extLst>
              </a:tr>
              <a:tr h="1620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체험형안전교육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Safe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견적형</a:t>
                      </a:r>
                    </a:p>
                  </a:txBody>
                  <a:tcPr marL="8101" marR="8101" marT="81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2697500"/>
                  </a:ext>
                </a:extLst>
              </a:tr>
            </a:tbl>
          </a:graphicData>
        </a:graphic>
      </p:graphicFrame>
      <p:sp>
        <p:nvSpPr>
          <p:cNvPr id="10" name="실행 단추: 돌아가기 9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F343E764-1492-44E1-96B0-F08BDEC5143B}"/>
              </a:ext>
            </a:extLst>
          </p:cNvPr>
          <p:cNvSpPr/>
          <p:nvPr/>
        </p:nvSpPr>
        <p:spPr>
          <a:xfrm>
            <a:off x="9352157" y="6092307"/>
            <a:ext cx="297926" cy="226206"/>
          </a:xfrm>
          <a:prstGeom prst="actionButtonReturn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498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10414</TotalTime>
  <Words>1885</Words>
  <Application>Microsoft Office PowerPoint</Application>
  <PresentationFormat>A4 용지(210x297mm)</PresentationFormat>
  <Paragraphs>809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9" baseType="lpstr">
      <vt:lpstr>Pretendard</vt:lpstr>
      <vt:lpstr>Pretendard Light</vt:lpstr>
      <vt:lpstr>나눔고딕</vt:lpstr>
      <vt:lpstr>맑은 고딕</vt:lpstr>
      <vt:lpstr>Arial</vt:lpstr>
      <vt:lpstr>Arial Narrow</vt:lpstr>
      <vt:lpstr>Calibri</vt:lpstr>
      <vt:lpstr>Calibri Light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injeong</dc:creator>
  <cp:lastModifiedBy>Administrator</cp:lastModifiedBy>
  <cp:revision>1259</cp:revision>
  <cp:lastPrinted>2021-09-29T05:11:28Z</cp:lastPrinted>
  <dcterms:created xsi:type="dcterms:W3CDTF">2020-01-20T06:16:49Z</dcterms:created>
  <dcterms:modified xsi:type="dcterms:W3CDTF">2024-08-02T08:35:25Z</dcterms:modified>
</cp:coreProperties>
</file>