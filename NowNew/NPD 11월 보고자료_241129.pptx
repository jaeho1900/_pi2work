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147379782" r:id="rId2"/>
    <p:sldId id="284" r:id="rId3"/>
    <p:sldId id="293" r:id="rId4"/>
    <p:sldId id="2147379948" r:id="rId5"/>
    <p:sldId id="2147379949" r:id="rId6"/>
    <p:sldId id="2147379945" r:id="rId7"/>
    <p:sldId id="2147379670" r:id="rId8"/>
    <p:sldId id="2147379685" r:id="rId9"/>
    <p:sldId id="2147379801" r:id="rId10"/>
    <p:sldId id="2147379565" r:id="rId11"/>
    <p:sldId id="2147379798" r:id="rId12"/>
    <p:sldId id="2147379799" r:id="rId13"/>
    <p:sldId id="2147379797" r:id="rId14"/>
    <p:sldId id="2147379773" r:id="rId15"/>
    <p:sldId id="214737979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EA27C2"/>
    <a:srgbClr val="EF28C1"/>
    <a:srgbClr val="006650"/>
    <a:srgbClr val="CACACA"/>
    <a:srgbClr val="F4B183"/>
    <a:srgbClr val="E921C0"/>
    <a:srgbClr val="E2F0D9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17" autoAdjust="0"/>
    <p:restoredTop sz="71194" autoAdjust="0"/>
  </p:normalViewPr>
  <p:slideViewPr>
    <p:cSldViewPr snapToGrid="0">
      <p:cViewPr varScale="1">
        <p:scale>
          <a:sx n="78" d="100"/>
          <a:sy n="78" d="100"/>
        </p:scale>
        <p:origin x="21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0F3D5-998A-4939-BFF2-6E78B3AECAB0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389BB-2063-413E-AFA2-B386D7E56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17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31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latinLnBrk="1">
              <a:buFont typeface="Arial" panose="020B0604020202020204" pitchFamily="34" charset="0"/>
              <a:buChar char="•"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원상복구 공사는 </a:t>
            </a:r>
            <a:r>
              <a:rPr lang="ko-KR" altLang="ko-K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서비스를 제공받는 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ko-KR" altLang="ko-K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비용을 지불하는 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다르다는 특징이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 latinLnBrk="1">
              <a:buFont typeface="Arial" panose="020B0604020202020204" pitchFamily="34" charset="0"/>
              <a:buChar char="•"/>
            </a:pP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latinLnBrk="1">
              <a:buFont typeface="Arial" panose="020B0604020202020204" pitchFamily="34" charset="0"/>
              <a:buChar char="•"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공간을 돌려 받는 주체는 품질에 관심이 많지만 공간을 비워주는 주체는 비용에 관심이 많을 수 밖에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는데다가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latinLnBrk="1">
              <a:buFont typeface="Arial" panose="020B0604020202020204" pitchFamily="34" charset="0"/>
              <a:buNone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다른 건물 입주자들의 민원까지 엮이면서 중증도의 문제해결능력이 요구되는 사업구조를 가지고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97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latinLnBrk="1">
              <a:buFont typeface="Arial" panose="020B0604020202020204" pitchFamily="34" charset="0"/>
              <a:buChar char="•"/>
            </a:pP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샌디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원상복구공사는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임차 전 정확한 자재 정보로 과다비용관리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공사관련 정보오픈으로 민원감소유도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사전 공사 시뮬레이션으로 기간단축 등 일원화된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샌디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FM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공사만의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리치마켓을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원상복구 공간에 대한 자재 및 설비에 대한 정확한 정보 제공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공사로 인한 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E/V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 불편시간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자재 입출시간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소음 발생 시간 등 사전 공지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 관리 및 민원 처리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latinLnBrk="1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919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아이본건설</a:t>
            </a:r>
            <a:r>
              <a:rPr lang="ko-KR" altLang="en-US" dirty="0"/>
              <a:t> 실적</a:t>
            </a:r>
            <a:r>
              <a:rPr lang="en-US" altLang="ko-KR" dirty="0"/>
              <a:t>??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389BB-2063-413E-AFA2-B386D7E56F4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061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 계획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 계획은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latinLnBrk="1">
              <a:buFont typeface="Arial" panose="020B0604020202020204" pitchFamily="34" charset="0"/>
              <a:buNone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원상복구 공사의 파일럿 판매 대상은 상주형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운영센터입니다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lvl="0" indent="0" latinLnBrk="1">
              <a:buFont typeface="Arial" panose="020B0604020202020204" pitchFamily="34" charset="0"/>
              <a:buNone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파일럿 판매를 통하여 공사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시뮬레이션 및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담당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동시에 처리할 수 있는 업무량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및 안전관리 프로세스를 점검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고객의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추가 발굴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예정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latinLnBrk="1">
              <a:buFont typeface="Arial" panose="020B0604020202020204" pitchFamily="34" charset="0"/>
              <a:buNone/>
            </a:pP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latinLnBrk="1">
              <a:buFont typeface="Arial" panose="020B0604020202020204" pitchFamily="34" charset="0"/>
              <a:buChar char="•"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 목표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당해 년도 매출 목표는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 latinLnBrk="1">
              <a:buFont typeface="Arial" panose="020B0604020202020204" pitchFamily="34" charset="0"/>
              <a:buNone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영업관련 사항은 담당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서성범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파트너가 보고 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B225C-F7AF-4E7E-AF36-ABC324480D7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766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품질을 유지하기 위한 원상복구공사 상품 특성과 일회성 공사업체의 저가 시장 특성을 고려하여 이코노미 가격으로 책정하였습니다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원상복구 후 신규 임차인에 대한 사무환경개선공사</a:t>
            </a:r>
            <a:r>
              <a:rPr lang="en-US" altLang="ko-KR" dirty="0"/>
              <a:t> </a:t>
            </a:r>
            <a:r>
              <a:rPr lang="ko-KR" altLang="en-US" dirty="0"/>
              <a:t>등 다른 </a:t>
            </a:r>
            <a:r>
              <a:rPr lang="ko-KR" altLang="en-US" dirty="0" err="1"/>
              <a:t>뉴솔루션</a:t>
            </a:r>
            <a:r>
              <a:rPr lang="ko-KR" altLang="en-US" dirty="0"/>
              <a:t> 추가 매출 채널의 역할도 </a:t>
            </a:r>
            <a:r>
              <a:rPr lang="ko-KR" altLang="en-US" dirty="0" err="1"/>
              <a:t>수행토록</a:t>
            </a:r>
            <a:r>
              <a:rPr lang="ko-KR" altLang="en-US" dirty="0"/>
              <a:t>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389BB-2063-413E-AFA2-B386D7E56F4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85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이코노미 가격은 개발구매팀에서 조사한 </a:t>
            </a:r>
            <a:r>
              <a:rPr lang="en-US" altLang="ko-KR" dirty="0"/>
              <a:t>4</a:t>
            </a:r>
            <a:r>
              <a:rPr lang="ko-KR" altLang="en-US" dirty="0"/>
              <a:t>개 업체의 평당 공사비 중 최고가의 영향력을 덜 받는 중앙값을 기준으로 책정하였습니다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파트너사의 매입가와 중앙값인 </a:t>
            </a:r>
            <a:r>
              <a:rPr lang="en-US" altLang="ko-KR" dirty="0"/>
              <a:t>29</a:t>
            </a:r>
            <a:r>
              <a:rPr lang="ko-KR" altLang="en-US" dirty="0"/>
              <a:t>만원을 기준으로 </a:t>
            </a:r>
            <a:r>
              <a:rPr lang="ko-KR" altLang="en-US" dirty="0" err="1"/>
              <a:t>매익률은</a:t>
            </a:r>
            <a:r>
              <a:rPr lang="ko-KR" altLang="en-US" dirty="0"/>
              <a:t> </a:t>
            </a:r>
            <a:r>
              <a:rPr lang="en-US" altLang="ko-KR" dirty="0"/>
              <a:t>31%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참고로</a:t>
            </a:r>
            <a:r>
              <a:rPr lang="en-US" altLang="ko-KR" dirty="0"/>
              <a:t>, </a:t>
            </a:r>
            <a:r>
              <a:rPr lang="ko-KR" altLang="en-US" dirty="0"/>
              <a:t>당사의 </a:t>
            </a:r>
            <a:r>
              <a:rPr lang="en-US" altLang="ko-KR" dirty="0"/>
              <a:t>23</a:t>
            </a:r>
            <a:r>
              <a:rPr lang="ko-KR" altLang="en-US" dirty="0"/>
              <a:t>년도 </a:t>
            </a:r>
            <a:r>
              <a:rPr lang="ko-KR" altLang="en-US" dirty="0" err="1"/>
              <a:t>건설형매출의</a:t>
            </a:r>
            <a:r>
              <a:rPr lang="ko-KR" altLang="en-US" dirty="0"/>
              <a:t> </a:t>
            </a:r>
            <a:r>
              <a:rPr lang="ko-KR" altLang="en-US" dirty="0" err="1"/>
              <a:t>매총이익률은</a:t>
            </a:r>
            <a:r>
              <a:rPr lang="ko-KR" altLang="en-US" dirty="0"/>
              <a:t> </a:t>
            </a:r>
            <a:r>
              <a:rPr lang="en-US" altLang="ko-KR" dirty="0"/>
              <a:t>7.4% </a:t>
            </a:r>
            <a:r>
              <a:rPr lang="ko-KR" altLang="en-US" dirty="0"/>
              <a:t>였으며 </a:t>
            </a:r>
            <a:r>
              <a:rPr lang="ko-KR" altLang="en-US" dirty="0" err="1"/>
              <a:t>자이씨앤에이의</a:t>
            </a:r>
            <a:r>
              <a:rPr lang="ko-KR" altLang="en-US" dirty="0"/>
              <a:t> </a:t>
            </a:r>
            <a:r>
              <a:rPr lang="en-US" altLang="ko-KR" dirty="0"/>
              <a:t>23</a:t>
            </a:r>
            <a:r>
              <a:rPr lang="ko-KR" altLang="en-US" dirty="0"/>
              <a:t>년도 </a:t>
            </a:r>
            <a:r>
              <a:rPr lang="ko-KR" altLang="en-US" dirty="0" err="1"/>
              <a:t>매총이익률은</a:t>
            </a:r>
            <a:r>
              <a:rPr lang="ko-KR" altLang="en-US" dirty="0"/>
              <a:t> </a:t>
            </a:r>
            <a:r>
              <a:rPr lang="en-US" altLang="ko-KR" dirty="0"/>
              <a:t>9.7%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389BB-2063-413E-AFA2-B386D7E56F4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727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공사성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상품이다보니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품질관리팀 및 안전보건팀과 기존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atG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공사관리메뉴 활용 이외에도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공사완료확인서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AS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처리절차 등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추가보완사항을 도출하여 업무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Process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적용 하였습니다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4409CB-AFB2-4384-BBAF-2EA1DE461D6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091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4409CB-AFB2-4384-BBAF-2EA1DE461D6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64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4409CB-AFB2-4384-BBAF-2EA1DE461D6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63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40E0F-A953-463C-908B-2E350F967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379062-E748-43C5-BB89-BBDBCDBE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63D26D-C437-49B1-97E0-EF1E7315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7011D-45B8-4BDF-9833-BF9E4A21A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75E2D-F6F4-40D8-91C7-4808DDD7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50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CF1FA-21EC-49F6-B08F-32C101FB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2E7BF-5AD8-42BB-8EDF-1F670835C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D8CFF-DE7B-458E-97D4-2726C84E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D1C6A3-B5C7-47EE-81E1-78D393A2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656746-9D55-41FD-8539-C48E8026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25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31658-2848-4D57-ACC7-21020D76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1CD87-09D2-4E08-87FC-800DCA5F0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1A07D-B3D5-419D-811E-5500FEEF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FEB865-85E1-428D-829E-CDBE5D2E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C498A-A06B-480B-B8B7-2903C1B1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37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101D9-1783-469B-8D30-21B7EE65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D0D82-B96E-401B-884B-B03956099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5A98A5-1B48-4AA2-840E-D8B40D17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D7014-DF29-4ABF-8DA0-4810A0DD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6A129-655F-489A-84EC-649C4BFE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1562C-BC74-47C6-8C53-45DD9371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6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EA093-2048-4E83-BEE1-2490D747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406B79-A13F-4200-80AF-F657A7984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F77995-1A10-457C-9D29-C073D341F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AE47AF-8FE5-4A24-94B4-6DFC561B5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1E2CC3-31E5-4D7D-943F-6B0E62CF1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EEDF42-FF2F-4101-82B4-E7115773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84BE37-2E10-4AA1-8E2F-07EB692B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030A33-9647-434D-B4AB-58D785FC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83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BC4A8-BA91-4DD1-88B3-C995439CB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9C8F2A-24DB-42E1-861B-CB0364518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4727DF-8DDC-4402-969D-5CF6BC71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6D374E-F978-4E60-B7B4-0AF3682E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10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819DD5-49FC-4C99-80D4-958D7413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09E5DE-89AA-4AE2-87EB-2DCDAA6F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657F4-ECD3-4131-B0DD-E5E7D9C6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5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A0FBF-0F6F-426E-A0B1-3AA03FF4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C8B95-4A7F-40DC-9E9C-79B23399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FDD19C-E049-41D5-8518-F84CFC03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77FBFA-3EB7-42A9-8028-C965264C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A6647F-82BE-427C-9088-1B7E1E4D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084898-AAD6-4EE5-AFE6-5C3B5285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07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88636-8A53-465D-81EE-FAAB0E56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105D5-5693-4C04-A4C8-9B0A9183D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240401-05CE-4D0F-94E2-67F2D3342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614030-E6B5-492D-9245-5C22F93F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12F78-4ACD-4759-877A-8AC0D21E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A88542-A1EE-4617-A72F-43E2CDAD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23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B3A4F-DB56-41B8-816E-9E02E642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F976A2-8AA1-407E-A9C9-CCC8F1B2A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A7BA8C-5590-4EC9-8E60-4F6535FD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8FDC0-DCE1-4DCC-BBB4-E061154A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A3B4F7-D173-4954-840D-B546CA1F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88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0FA18F-5F56-443E-A03F-850F83437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2AA188-457B-4EE0-8105-A8C7C3185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857DD-FD22-4485-895F-4C7BF042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026B8-980E-48EB-A136-0E21D552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A086F-208F-417A-87F9-0C2E2F7D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900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1_화이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18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706341-81BF-4D57-82EF-0F3AF523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6FC917-D5B2-4B20-B422-91F1E688C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568151-C9C8-480F-8D83-D507EFE28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4C6AE-661A-42CD-93BA-B747CCE3F5D6}" type="datetimeFigureOut">
              <a:rPr lang="ko-KR" altLang="en-US" smtClean="0"/>
              <a:t>2024-11-29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DC9CA-0F0B-4E30-AD20-1B3593CB5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5888B-A8F1-4357-9BD6-F4EC879D2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17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nmail.sni.co.kr/eW/eWM/Mail/Read/ReadMail.aspx?curPage=1&amp;pageList=15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nmail.sni.co.kr/eW/eWM/Mail/Read/ReadMail.aspx?curPage=1&amp;pageList=15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nmail.sni.co.kr/eW/eWM/Mail/Read/ReadMail.aspx?curPage=1&amp;pageList=1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nmail.sni.co.kr/eW/eWM/Mail/Read/ReadMail.aspx?curPage=1&amp;pageList=1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&#45684;&#49556;&#47336;&#49496;%20&#49345;&#54408;%20&#54408;&#51656;&#51216;&#44160;%20&#52404;&#53356;&#47532;&#49828;&#53944;_R12_&#51204;&#44592;&#52264;&#54868;&#51116;&#45824;&#51025;_241122.pptx#-1,19,PowerPoint &#54532;&#47112;&#51232;&#53580;&#51060;&#49496;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0BFA5-9F1B-480A-808F-C21A004DE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5405" y="275631"/>
            <a:ext cx="7581190" cy="1197834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altLang="ko-KR" sz="4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NPD_ Pilot </a:t>
            </a:r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(Test)</a:t>
            </a:r>
            <a:endParaRPr lang="ko-KR" altLang="en-US" sz="4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1BE6AE4-34D4-4A53-8612-2060041B4DDD}"/>
              </a:ext>
            </a:extLst>
          </p:cNvPr>
          <p:cNvCxnSpPr>
            <a:cxnSpLocks/>
          </p:cNvCxnSpPr>
          <p:nvPr/>
        </p:nvCxnSpPr>
        <p:spPr>
          <a:xfrm>
            <a:off x="2378448" y="1238999"/>
            <a:ext cx="74326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D41C190C-5B7F-472B-AF9E-AD7FFE7CF1BF}"/>
              </a:ext>
            </a:extLst>
          </p:cNvPr>
          <p:cNvSpPr txBox="1">
            <a:spLocks/>
          </p:cNvSpPr>
          <p:nvPr/>
        </p:nvSpPr>
        <p:spPr>
          <a:xfrm>
            <a:off x="4239680" y="1489811"/>
            <a:ext cx="3009467" cy="9311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[Clean] </a:t>
            </a:r>
            <a:r>
              <a:rPr lang="ko-KR" altLang="en-US" sz="2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주방클린케어</a:t>
            </a:r>
            <a:endParaRPr lang="en-US" altLang="ko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[Interior]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원상복구 공사</a:t>
            </a:r>
            <a:endParaRPr lang="en-US" altLang="ko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0994532-7E58-4C1D-BD08-F1A437093820}"/>
              </a:ext>
            </a:extLst>
          </p:cNvPr>
          <p:cNvGrpSpPr/>
          <p:nvPr/>
        </p:nvGrpSpPr>
        <p:grpSpPr>
          <a:xfrm>
            <a:off x="2639749" y="2894980"/>
            <a:ext cx="6910043" cy="3762890"/>
            <a:chOff x="349830" y="1698340"/>
            <a:chExt cx="7154425" cy="3895968"/>
          </a:xfrm>
        </p:grpSpPr>
        <p:sp>
          <p:nvSpPr>
            <p:cNvPr id="27" name="Text Box 34">
              <a:extLst>
                <a:ext uri="{FF2B5EF4-FFF2-40B4-BE49-F238E27FC236}">
                  <a16:creationId xmlns:a16="http://schemas.microsoft.com/office/drawing/2014/main" id="{F6B0E2E8-34A4-4B43-9DF4-6CC4318BB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30" y="2266799"/>
              <a:ext cx="7076639" cy="98986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1100" b="1" spc="-7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1D71192-FB31-44EE-9DE0-0C70993B02A1}"/>
                </a:ext>
              </a:extLst>
            </p:cNvPr>
            <p:cNvSpPr/>
            <p:nvPr/>
          </p:nvSpPr>
          <p:spPr>
            <a:xfrm>
              <a:off x="419318" y="4604137"/>
              <a:ext cx="1484984" cy="7846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ko-KR" altLang="en-US" sz="900" dirty="0">
                <a:hlinkClick r:id="rId2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6649080-4342-4872-93FB-459F94E5AA85}"/>
                </a:ext>
              </a:extLst>
            </p:cNvPr>
            <p:cNvSpPr/>
            <p:nvPr/>
          </p:nvSpPr>
          <p:spPr>
            <a:xfrm>
              <a:off x="419318" y="3491244"/>
              <a:ext cx="1484984" cy="7846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ko-KR" altLang="en-US" sz="900" dirty="0">
                <a:hlinkClick r:id="rId2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FDC632B-270C-4064-AABF-38220526A3B1}"/>
                </a:ext>
              </a:extLst>
            </p:cNvPr>
            <p:cNvSpPr/>
            <p:nvPr/>
          </p:nvSpPr>
          <p:spPr>
            <a:xfrm>
              <a:off x="419318" y="2366520"/>
              <a:ext cx="1484984" cy="7846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ko-KR" altLang="en-US" sz="900" dirty="0">
                <a:hlinkClick r:id="rId2"/>
              </a:endParaRPr>
            </a:p>
          </p:txBody>
        </p:sp>
        <p:sp>
          <p:nvSpPr>
            <p:cNvPr id="10" name="Text Box 34">
              <a:extLst>
                <a:ext uri="{FF2B5EF4-FFF2-40B4-BE49-F238E27FC236}">
                  <a16:creationId xmlns:a16="http://schemas.microsoft.com/office/drawing/2014/main" id="{E879CEE2-898F-4792-8593-7B7901905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3480" y="1698340"/>
              <a:ext cx="2471568" cy="3369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1100" b="1" spc="-7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>
                  <a:solidFill>
                    <a:schemeClr val="tx1"/>
                  </a:solidFill>
                </a:rPr>
                <a:t>정의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1" name="Text Box 34">
              <a:extLst>
                <a:ext uri="{FF2B5EF4-FFF2-40B4-BE49-F238E27FC236}">
                  <a16:creationId xmlns:a16="http://schemas.microsoft.com/office/drawing/2014/main" id="{C3F89CEB-6D89-429B-A842-C177A6E61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0414" y="1698341"/>
              <a:ext cx="2276540" cy="3369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1100" b="1" spc="-7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>
                  <a:solidFill>
                    <a:schemeClr val="tx1"/>
                  </a:solidFill>
                </a:rPr>
                <a:t>핵심 체크리스트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791D70A-D27A-442B-A4DA-521E217A7230}"/>
                </a:ext>
              </a:extLst>
            </p:cNvPr>
            <p:cNvSpPr/>
            <p:nvPr/>
          </p:nvSpPr>
          <p:spPr>
            <a:xfrm>
              <a:off x="499649" y="3638216"/>
              <a:ext cx="1324321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Beta Release</a:t>
              </a:r>
            </a:p>
            <a:p>
              <a:pPr algn="ctr"/>
              <a:r>
                <a:rPr lang="en-US" altLang="ko-KR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 </a:t>
              </a:r>
              <a:r>
                <a:rPr lang="ko-KR" altLang="en-US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코드</a:t>
              </a:r>
              <a:r>
                <a:rPr lang="en-US" altLang="ko-KR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1200" dirty="0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D305B1F-3C31-416B-84CD-A8EA3715732F}"/>
                </a:ext>
              </a:extLst>
            </p:cNvPr>
            <p:cNvSpPr/>
            <p:nvPr/>
          </p:nvSpPr>
          <p:spPr>
            <a:xfrm>
              <a:off x="499649" y="4677846"/>
              <a:ext cx="1324321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Grand</a:t>
              </a:r>
            </a:p>
            <a:p>
              <a:pPr lvl="0" algn="ctr"/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Launching</a:t>
              </a:r>
            </a:p>
            <a:p>
              <a:pPr algn="ctr"/>
              <a:r>
                <a:rPr lang="en-US" altLang="ko-KR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 </a:t>
              </a:r>
              <a:r>
                <a:rPr lang="ko-KR" altLang="en-US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코드</a:t>
              </a:r>
              <a:r>
                <a:rPr lang="en-US" altLang="ko-KR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1600" dirty="0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C10157E-8FE1-4BA4-B9D4-7F5AF885BD68}"/>
                </a:ext>
              </a:extLst>
            </p:cNvPr>
            <p:cNvSpPr/>
            <p:nvPr/>
          </p:nvSpPr>
          <p:spPr>
            <a:xfrm>
              <a:off x="2343911" y="2342656"/>
              <a:ext cx="2461634" cy="831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외부 고객 대상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테스트 </a:t>
              </a: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&amp;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레퍼런스 확보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endParaRPr lang="en-US" altLang="ko-KR" sz="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highlight>
                    <a:srgbClr val="FFFF00"/>
                  </a:highlight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테스트 목적의 상품 판매 및 </a:t>
              </a:r>
              <a:r>
                <a:rPr lang="ko-KR" altLang="en-US" sz="1050" dirty="0" err="1">
                  <a:highlight>
                    <a:srgbClr val="FFFF00"/>
                  </a:highlight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딜리버리</a:t>
              </a:r>
              <a:r>
                <a:rPr lang="ko-KR" altLang="en-US" sz="1050" dirty="0">
                  <a:highlight>
                    <a:srgbClr val="FFFF00"/>
                  </a:highlight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가능</a:t>
              </a:r>
              <a:endParaRPr lang="en-US" altLang="ko-KR" sz="105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D91EE65-5341-452D-97D6-883C987D9DDC}"/>
                </a:ext>
              </a:extLst>
            </p:cNvPr>
            <p:cNvSpPr/>
            <p:nvPr/>
          </p:nvSpPr>
          <p:spPr>
            <a:xfrm>
              <a:off x="2333479" y="3522098"/>
              <a:ext cx="2461633" cy="7379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신상품 육성 단계</a:t>
              </a:r>
              <a:endParaRPr lang="en-US" altLang="ko-KR" sz="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레퍼런스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 </a:t>
              </a:r>
              <a:r>
                <a:rPr lang="en-US" altLang="ko-KR" sz="105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VoC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기반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상품 재 검증 및 영업채널 확대 단계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845E334-56E9-4989-AC95-8E49141619C3}"/>
                </a:ext>
              </a:extLst>
            </p:cNvPr>
            <p:cNvSpPr/>
            <p:nvPr/>
          </p:nvSpPr>
          <p:spPr>
            <a:xfrm>
              <a:off x="2333480" y="4605315"/>
              <a:ext cx="2461632" cy="8414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General Availability (</a:t>
              </a:r>
              <a:r>
                <a:rPr lang="ko-KR" altLang="en-US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시장확대</a:t>
              </a:r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  <a:p>
              <a:pPr algn="ctr">
                <a:lnSpc>
                  <a:spcPct val="130000"/>
                </a:lnSpc>
              </a:pPr>
              <a:endParaRPr lang="en-US" altLang="ko-KR" sz="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주력 상품을 선별하여 영업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마케팅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리소스를 집중투입 단계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D4FB61E-89F6-4329-8E7F-8CA1CC9D70B6}"/>
                </a:ext>
              </a:extLst>
            </p:cNvPr>
            <p:cNvSpPr/>
            <p:nvPr/>
          </p:nvSpPr>
          <p:spPr>
            <a:xfrm>
              <a:off x="5060850" y="2292856"/>
              <a:ext cx="2276540" cy="9450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highlight>
                    <a:srgbClr val="FFFF00"/>
                  </a:highlight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테스트 고객 적합성 검증</a:t>
              </a:r>
              <a:endParaRPr lang="en-US" altLang="ko-KR" sz="105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파트너사 및 기술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&amp;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검증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</a:t>
              </a:r>
              <a:r>
                <a:rPr lang="ko-KR" altLang="en-US" sz="105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프라이싱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딜리버리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체계 검증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D7717B6-FE63-4A2B-974A-92AF086C451A}"/>
                </a:ext>
              </a:extLst>
            </p:cNvPr>
            <p:cNvSpPr/>
            <p:nvPr/>
          </p:nvSpPr>
          <p:spPr>
            <a:xfrm>
              <a:off x="5077213" y="3514918"/>
              <a:ext cx="2276540" cy="7275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목표 시장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타겟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 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검증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프라이싱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검증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목표 설정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당해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차년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044227B-9B92-47BE-8921-E66C18762BA7}"/>
                </a:ext>
              </a:extLst>
            </p:cNvPr>
            <p:cNvSpPr/>
            <p:nvPr/>
          </p:nvSpPr>
          <p:spPr>
            <a:xfrm>
              <a:off x="5060850" y="4629544"/>
              <a:ext cx="2276540" cy="7275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영업 및 마케팅 채널 확대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 마케팅 캠페인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온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오프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집행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중장기 계획</a:t>
              </a:r>
              <a:r>
                <a:rPr lang="en-US" altLang="ko-KR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_ 5</a:t>
              </a:r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개년 매출 목표</a:t>
              </a:r>
              <a:endPara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4DC35EE-EE73-4EDF-B992-B918A053C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651" y="3362732"/>
              <a:ext cx="700460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F914F7B-61AF-4FBD-9D24-131E76152DFC}"/>
                </a:ext>
              </a:extLst>
            </p:cNvPr>
            <p:cNvSpPr/>
            <p:nvPr/>
          </p:nvSpPr>
          <p:spPr>
            <a:xfrm>
              <a:off x="499648" y="2535708"/>
              <a:ext cx="1324321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ko-KR" sz="12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Pilot</a:t>
              </a:r>
            </a:p>
            <a:p>
              <a:pPr lvl="0" algn="ctr"/>
              <a:r>
                <a:rPr lang="en-US" altLang="ko-KR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(PN </a:t>
              </a:r>
              <a:r>
                <a:rPr lang="ko-KR" altLang="en-US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코드</a:t>
              </a:r>
              <a:r>
                <a:rPr lang="en-US" altLang="ko-KR" sz="1050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1200" dirty="0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99AA728-AF9C-454C-8FBE-91257A054BED}"/>
                </a:ext>
              </a:extLst>
            </p:cNvPr>
            <p:cNvCxnSpPr>
              <a:cxnSpLocks/>
            </p:cNvCxnSpPr>
            <p:nvPr/>
          </p:nvCxnSpPr>
          <p:spPr>
            <a:xfrm>
              <a:off x="2118380" y="2122314"/>
              <a:ext cx="0" cy="347199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1F3547B-5677-41AA-B5CD-676F214D8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652" y="4441961"/>
              <a:ext cx="700460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0D52778-131F-48D2-86C7-89E559AC5A70}"/>
                </a:ext>
              </a:extLst>
            </p:cNvPr>
            <p:cNvCxnSpPr>
              <a:cxnSpLocks/>
            </p:cNvCxnSpPr>
            <p:nvPr/>
          </p:nvCxnSpPr>
          <p:spPr>
            <a:xfrm>
              <a:off x="4945613" y="2122314"/>
              <a:ext cx="0" cy="347199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34">
              <a:extLst>
                <a:ext uri="{FF2B5EF4-FFF2-40B4-BE49-F238E27FC236}">
                  <a16:creationId xmlns:a16="http://schemas.microsoft.com/office/drawing/2014/main" id="{5D790288-EAA1-4DF3-AA0C-55506C77D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19" y="1698340"/>
              <a:ext cx="1484984" cy="3369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1100" b="1" spc="-7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>
                  <a:solidFill>
                    <a:schemeClr val="tx1"/>
                  </a:solidFill>
                </a:rPr>
                <a:t>구분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09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B97B3A9-E8C8-4374-B70F-134B9975B41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628292"/>
            <a:ext cx="12212052" cy="559012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42402FE-2FFE-4603-9A0F-0AE64FE608E3}"/>
              </a:ext>
            </a:extLst>
          </p:cNvPr>
          <p:cNvSpPr/>
          <p:nvPr/>
        </p:nvSpPr>
        <p:spPr>
          <a:xfrm>
            <a:off x="554976" y="1899922"/>
            <a:ext cx="5745046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spcAft>
                <a:spcPts val="500"/>
              </a:spcAft>
            </a:pPr>
            <a:r>
              <a:rPr lang="ko-KR" altLang="en-US" sz="3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원상복구 공사 </a:t>
            </a:r>
            <a:r>
              <a:rPr lang="en-US" altLang="ko-KR" sz="2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NPD_pilot</a:t>
            </a:r>
            <a:r>
              <a:rPr lang="en-US" altLang="ko-KR" sz="2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(Test) </a:t>
            </a:r>
            <a:r>
              <a:rPr lang="ko-KR" altLang="en-US" sz="2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보고</a:t>
            </a:r>
            <a:endParaRPr lang="en-US" altLang="ko-KR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D1E264-2500-4720-8BC1-6FFBBA358EDB}"/>
              </a:ext>
            </a:extLst>
          </p:cNvPr>
          <p:cNvGrpSpPr/>
          <p:nvPr/>
        </p:nvGrpSpPr>
        <p:grpSpPr>
          <a:xfrm>
            <a:off x="172372" y="5896487"/>
            <a:ext cx="5276004" cy="505420"/>
            <a:chOff x="1013460" y="5708380"/>
            <a:chExt cx="3736336" cy="50542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026BDC5-E015-47E4-A616-65DCA59A9B55}"/>
                </a:ext>
              </a:extLst>
            </p:cNvPr>
            <p:cNvSpPr/>
            <p:nvPr/>
          </p:nvSpPr>
          <p:spPr>
            <a:xfrm>
              <a:off x="1013460" y="5708380"/>
              <a:ext cx="3736336" cy="200056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ko-KR" sz="1300" spc="200" dirty="0">
                  <a:gradFill>
                    <a:gsLst>
                      <a:gs pos="0">
                        <a:srgbClr val="515255"/>
                      </a:gs>
                      <a:gs pos="16000">
                        <a:srgbClr val="515255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+mj-ea"/>
                </a:rPr>
                <a:t>2024.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11DC46-017E-4418-BADB-2AA95074762A}"/>
                </a:ext>
              </a:extLst>
            </p:cNvPr>
            <p:cNvSpPr/>
            <p:nvPr/>
          </p:nvSpPr>
          <p:spPr>
            <a:xfrm>
              <a:off x="1076960" y="6106080"/>
              <a:ext cx="3422015" cy="10772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ko-KR" sz="700" spc="600" dirty="0">
                  <a:gradFill>
                    <a:gsLst>
                      <a:gs pos="0">
                        <a:srgbClr val="92969C"/>
                      </a:gs>
                      <a:gs pos="16000">
                        <a:srgbClr val="92969C"/>
                      </a:gs>
                    </a:gsLst>
                    <a:lin ang="5400000" scaled="1"/>
                  </a:gradFill>
                  <a:latin typeface="Arial Narrow" panose="020B0606020202030204" pitchFamily="34" charset="0"/>
                  <a:ea typeface="+mj-ea"/>
                </a:rPr>
                <a:t>BEST SPACE FOR A BETTER LIFE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BCC6DD9-FC51-40C5-9C56-B052453DD2BB}"/>
              </a:ext>
            </a:extLst>
          </p:cNvPr>
          <p:cNvGrpSpPr/>
          <p:nvPr/>
        </p:nvGrpSpPr>
        <p:grpSpPr>
          <a:xfrm>
            <a:off x="0" y="5267584"/>
            <a:ext cx="12212052" cy="112343"/>
            <a:chOff x="1013460" y="5359399"/>
            <a:chExt cx="7879080" cy="15557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A7E4404-5B1A-48CF-B32E-86F4F21646A4}"/>
                </a:ext>
              </a:extLst>
            </p:cNvPr>
            <p:cNvSpPr/>
            <p:nvPr/>
          </p:nvSpPr>
          <p:spPr>
            <a:xfrm>
              <a:off x="1013460" y="5359400"/>
              <a:ext cx="7879080" cy="155575"/>
            </a:xfrm>
            <a:prstGeom prst="rect">
              <a:avLst/>
            </a:prstGeom>
            <a:solidFill>
              <a:srgbClr val="515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  <a:ea typeface="+mj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BA719C2-4889-4CB7-ABF4-066656D4420C}"/>
                </a:ext>
              </a:extLst>
            </p:cNvPr>
            <p:cNvSpPr/>
            <p:nvPr/>
          </p:nvSpPr>
          <p:spPr>
            <a:xfrm>
              <a:off x="7804150" y="5359399"/>
              <a:ext cx="1088390" cy="155575"/>
            </a:xfrm>
            <a:prstGeom prst="rect">
              <a:avLst/>
            </a:prstGeom>
            <a:solidFill>
              <a:srgbClr val="C300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  <a:ea typeface="+mj-ea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704BBE-0D91-46A3-ABCA-946327185301}"/>
              </a:ext>
            </a:extLst>
          </p:cNvPr>
          <p:cNvSpPr/>
          <p:nvPr/>
        </p:nvSpPr>
        <p:spPr>
          <a:xfrm>
            <a:off x="9575823" y="5568337"/>
            <a:ext cx="24064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400" spc="-150" dirty="0">
                <a:solidFill>
                  <a:srgbClr val="EA27C2"/>
                </a:solidFill>
                <a:latin typeface="Pretendard Medium" panose="02000603000000020004" pitchFamily="2" charset="-127"/>
                <a:ea typeface="Pretendard ExtraBold" panose="02000903000000020004" pitchFamily="2" charset="-127"/>
                <a:cs typeface="Pretendard Medium" panose="02000603000000020004" pitchFamily="2" charset="-127"/>
              </a:rPr>
              <a:t>SANDI </a:t>
            </a:r>
            <a:r>
              <a:rPr lang="en-US" altLang="ko-KR" sz="2400" spc="-150" dirty="0">
                <a:solidFill>
                  <a:srgbClr val="334048"/>
                </a:solidFill>
                <a:latin typeface="Pretendard Medium" panose="02000603000000020004" pitchFamily="2" charset="-127"/>
                <a:ea typeface="Pretendard" panose="02000503000000020004" pitchFamily="2" charset="-127"/>
                <a:cs typeface="Pretendard Medium" panose="02000603000000020004" pitchFamily="2" charset="-127"/>
              </a:rPr>
              <a:t>Interior </a:t>
            </a:r>
            <a:endParaRPr lang="ko-KR" altLang="en-US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2B0C1D-6431-42C6-918F-FC3F8754E8C1}"/>
              </a:ext>
            </a:extLst>
          </p:cNvPr>
          <p:cNvSpPr/>
          <p:nvPr/>
        </p:nvSpPr>
        <p:spPr>
          <a:xfrm>
            <a:off x="1351537" y="1328533"/>
            <a:ext cx="12961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pc="300" dirty="0">
                <a:solidFill>
                  <a:schemeClr val="bg2">
                    <a:lumMod val="25000"/>
                  </a:schemeClr>
                </a:solidFill>
                <a:latin typeface="Pretendard Medium" panose="02000603000000020004" pitchFamily="2" charset="-127"/>
                <a:ea typeface="Pretendard ExtraBold" panose="02000903000000020004" pitchFamily="2" charset="-127"/>
                <a:cs typeface="Pretendard Medium" panose="02000603000000020004" pitchFamily="2" charset="-127"/>
              </a:rPr>
              <a:t>Office</a:t>
            </a:r>
            <a:endParaRPr lang="ko-KR" altLang="en-US" spc="3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D98226-485E-42B7-BD24-5E66FBC97513}"/>
              </a:ext>
            </a:extLst>
          </p:cNvPr>
          <p:cNvSpPr/>
          <p:nvPr/>
        </p:nvSpPr>
        <p:spPr>
          <a:xfrm>
            <a:off x="605510" y="1341510"/>
            <a:ext cx="956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pc="-150" dirty="0">
                <a:solidFill>
                  <a:srgbClr val="EA27C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SANDI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5089C2-9E65-4BC4-A820-6F0A0D2DC4A9}"/>
              </a:ext>
            </a:extLst>
          </p:cNvPr>
          <p:cNvSpPr/>
          <p:nvPr/>
        </p:nvSpPr>
        <p:spPr>
          <a:xfrm>
            <a:off x="498728" y="1376966"/>
            <a:ext cx="56248" cy="298419"/>
          </a:xfrm>
          <a:prstGeom prst="rect">
            <a:avLst/>
          </a:prstGeom>
          <a:solidFill>
            <a:srgbClr val="EA2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 lang="ko-KR" altLang="en-US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6" name="Text Box 34">
            <a:extLst>
              <a:ext uri="{FF2B5EF4-FFF2-40B4-BE49-F238E27FC236}">
                <a16:creationId xmlns:a16="http://schemas.microsoft.com/office/drawing/2014/main" id="{16BEEBA9-9C6F-4BBE-9150-456052D5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1456" y="140127"/>
            <a:ext cx="1434260" cy="3254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ysDash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100" b="1" spc="-7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b="0" dirty="0">
                <a:solidFill>
                  <a:schemeClr val="tx1"/>
                </a:solidFill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74361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9618F81-70EB-4434-9F95-816AA266F5B4}"/>
              </a:ext>
            </a:extLst>
          </p:cNvPr>
          <p:cNvSpPr/>
          <p:nvPr/>
        </p:nvSpPr>
        <p:spPr>
          <a:xfrm>
            <a:off x="513541" y="146074"/>
            <a:ext cx="3307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pc="-150" dirty="0">
                <a:solidFill>
                  <a:srgbClr val="EA27C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SANDI  </a:t>
            </a:r>
            <a:r>
              <a:rPr lang="ko-KR" altLang="en-US" sz="1600" b="1" dirty="0">
                <a:solidFill>
                  <a:srgbClr val="222222"/>
                </a:solidFill>
                <a:latin typeface="Poppins" panose="00000500000000000000" pitchFamily="2" charset="0"/>
              </a:rPr>
              <a:t>원상복구공사의</a:t>
            </a:r>
            <a:r>
              <a:rPr lang="ko-KR" altLang="en-US" b="1" dirty="0">
                <a:solidFill>
                  <a:srgbClr val="222222"/>
                </a:solidFill>
                <a:latin typeface="Poppins" panose="00000500000000000000" pitchFamily="2" charset="0"/>
              </a:rPr>
              <a:t> 출시 배경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EC30E8-DD14-4E8B-8AAC-FC28CF36E3C6}"/>
              </a:ext>
            </a:extLst>
          </p:cNvPr>
          <p:cNvSpPr/>
          <p:nvPr/>
        </p:nvSpPr>
        <p:spPr>
          <a:xfrm>
            <a:off x="514969" y="181530"/>
            <a:ext cx="45719" cy="298419"/>
          </a:xfrm>
          <a:prstGeom prst="rect">
            <a:avLst/>
          </a:prstGeom>
          <a:solidFill>
            <a:srgbClr val="EA2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 lang="ko-KR" altLang="en-US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145BFA4-011B-4CD0-934F-227401FF8857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712430D7-5F24-4641-9238-2B67CC190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0262" y="2943529"/>
            <a:ext cx="2040990" cy="1845648"/>
          </a:xfrm>
          <a:prstGeom prst="rect">
            <a:avLst/>
          </a:prstGeom>
        </p:spPr>
      </p:pic>
      <p:sp>
        <p:nvSpPr>
          <p:cNvPr id="33" name="TextBox 17">
            <a:extLst>
              <a:ext uri="{FF2B5EF4-FFF2-40B4-BE49-F238E27FC236}">
                <a16:creationId xmlns:a16="http://schemas.microsoft.com/office/drawing/2014/main" id="{3F3121A8-23A6-4668-9D73-25F82314C82D}"/>
              </a:ext>
            </a:extLst>
          </p:cNvPr>
          <p:cNvSpPr txBox="1"/>
          <p:nvPr/>
        </p:nvSpPr>
        <p:spPr>
          <a:xfrm>
            <a:off x="612444" y="901196"/>
            <a:ext cx="11223187" cy="345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원상복구 공사는 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서비스를 제공받는 주체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 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비용을 지불하는 주체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다르다는 특징으로 인하여 빈번한 갈등이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발생합니다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60D939A-F881-467A-AEB0-C6B48A77BA16}"/>
              </a:ext>
            </a:extLst>
          </p:cNvPr>
          <p:cNvSpPr/>
          <p:nvPr/>
        </p:nvSpPr>
        <p:spPr>
          <a:xfrm>
            <a:off x="1930421" y="2420345"/>
            <a:ext cx="3022345" cy="3022345"/>
          </a:xfrm>
          <a:prstGeom prst="ellips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B63D3C5-606F-488A-A77F-C79799F300C9}"/>
              </a:ext>
            </a:extLst>
          </p:cNvPr>
          <p:cNvSpPr/>
          <p:nvPr/>
        </p:nvSpPr>
        <p:spPr>
          <a:xfrm>
            <a:off x="2919620" y="4839204"/>
            <a:ext cx="1117600" cy="1117600"/>
          </a:xfrm>
          <a:prstGeom prst="ellipse">
            <a:avLst/>
          </a:prstGeom>
          <a:blipFill dpi="0" rotWithShape="1">
            <a:blip r:embed="rId4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A30D476-643C-4762-B20F-5261FADE52E1}"/>
              </a:ext>
            </a:extLst>
          </p:cNvPr>
          <p:cNvSpPr/>
          <p:nvPr/>
        </p:nvSpPr>
        <p:spPr>
          <a:xfrm>
            <a:off x="4489919" y="3401544"/>
            <a:ext cx="1117600" cy="1117600"/>
          </a:xfrm>
          <a:prstGeom prst="ellipse">
            <a:avLst/>
          </a:prstGeom>
          <a:blipFill dpi="0" rotWithShape="1">
            <a:blip r:embed="rId5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2A24319-44A3-4833-A41A-787C7153840E}"/>
              </a:ext>
            </a:extLst>
          </p:cNvPr>
          <p:cNvSpPr/>
          <p:nvPr/>
        </p:nvSpPr>
        <p:spPr>
          <a:xfrm>
            <a:off x="1371620" y="3372716"/>
            <a:ext cx="1117600" cy="1117600"/>
          </a:xfrm>
          <a:prstGeom prst="ellipse">
            <a:avLst/>
          </a:prstGeom>
          <a:blipFill dpi="0" rotWithShape="1"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BC1303B-C6D1-49C1-8968-5A86BE8D6DF7}"/>
              </a:ext>
            </a:extLst>
          </p:cNvPr>
          <p:cNvSpPr/>
          <p:nvPr/>
        </p:nvSpPr>
        <p:spPr>
          <a:xfrm>
            <a:off x="2882792" y="1861544"/>
            <a:ext cx="1117600" cy="1117600"/>
          </a:xfrm>
          <a:prstGeom prst="ellipse">
            <a:avLst/>
          </a:prstGeom>
          <a:blipFill dpi="0" rotWithShape="1">
            <a:blip r:embed="rId7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1734119C-A8B8-493F-8E62-A4F8E1D20EF7}"/>
              </a:ext>
            </a:extLst>
          </p:cNvPr>
          <p:cNvSpPr txBox="1"/>
          <p:nvPr/>
        </p:nvSpPr>
        <p:spPr>
          <a:xfrm>
            <a:off x="4000392" y="1772538"/>
            <a:ext cx="13948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00B050"/>
                </a:solidFill>
              </a:rPr>
              <a:t>임차인</a:t>
            </a:r>
            <a:r>
              <a:rPr lang="en-US" altLang="ko-KR" dirty="0">
                <a:solidFill>
                  <a:srgbClr val="00B050"/>
                </a:solidFill>
              </a:rPr>
              <a:t>(</a:t>
            </a:r>
            <a:r>
              <a:rPr lang="ko-KR" altLang="en-US" dirty="0">
                <a:solidFill>
                  <a:srgbClr val="00B050"/>
                </a:solidFill>
              </a:rPr>
              <a:t>계약주체</a:t>
            </a:r>
            <a:r>
              <a:rPr lang="en-US" altLang="ko-KR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22397B-3A87-4D9F-8D13-FBAE380AC222}"/>
              </a:ext>
            </a:extLst>
          </p:cNvPr>
          <p:cNvSpPr txBox="1"/>
          <p:nvPr/>
        </p:nvSpPr>
        <p:spPr>
          <a:xfrm>
            <a:off x="278879" y="4358780"/>
            <a:ext cx="9222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00B050"/>
                </a:solidFill>
              </a:rPr>
              <a:t>임대인</a:t>
            </a:r>
            <a:endParaRPr lang="en-US" altLang="ko-KR" dirty="0">
              <a:solidFill>
                <a:srgbClr val="00B050"/>
              </a:solidFill>
            </a:endParaRP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A119C70A-9A74-4FA0-BA05-B4BD6AF3FD6B}"/>
              </a:ext>
            </a:extLst>
          </p:cNvPr>
          <p:cNvSpPr txBox="1"/>
          <p:nvPr/>
        </p:nvSpPr>
        <p:spPr>
          <a:xfrm>
            <a:off x="5687070" y="3270739"/>
            <a:ext cx="975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00B050"/>
                </a:solidFill>
              </a:rPr>
              <a:t>공사업체</a:t>
            </a:r>
            <a:endParaRPr lang="en-US" altLang="ko-KR" dirty="0">
              <a:solidFill>
                <a:srgbClr val="00B050"/>
              </a:solidFill>
            </a:endParaRPr>
          </a:p>
        </p:txBody>
      </p:sp>
      <p:sp>
        <p:nvSpPr>
          <p:cNvPr id="52" name="TextBox 17">
            <a:extLst>
              <a:ext uri="{FF2B5EF4-FFF2-40B4-BE49-F238E27FC236}">
                <a16:creationId xmlns:a16="http://schemas.microsoft.com/office/drawing/2014/main" id="{786C26AF-FDAE-4A78-9809-036D2DA0203A}"/>
              </a:ext>
            </a:extLst>
          </p:cNvPr>
          <p:cNvSpPr txBox="1"/>
          <p:nvPr/>
        </p:nvSpPr>
        <p:spPr>
          <a:xfrm>
            <a:off x="4412844" y="5123739"/>
            <a:ext cx="9036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00B050"/>
                </a:solidFill>
              </a:rPr>
              <a:t>건물이용자</a:t>
            </a:r>
            <a:endParaRPr lang="en-US" altLang="ko-KR" dirty="0">
              <a:solidFill>
                <a:srgbClr val="00B050"/>
              </a:solidFill>
            </a:endParaRPr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665E6F97-D29A-48F8-8513-249167FA1A6E}"/>
              </a:ext>
            </a:extLst>
          </p:cNvPr>
          <p:cNvSpPr txBox="1"/>
          <p:nvPr/>
        </p:nvSpPr>
        <p:spPr>
          <a:xfrm>
            <a:off x="4000393" y="2018769"/>
            <a:ext cx="3962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새로 이사한 오피스 셋팅도 바쁜데 현장에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있지도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않는</a:t>
            </a:r>
            <a:b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나에게 뭐를 자꾸 결정해 달라면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어떻합니까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5DD097-90B4-4A50-90CC-ADD5B8B1DBDC}"/>
              </a:ext>
            </a:extLst>
          </p:cNvPr>
          <p:cNvSpPr txBox="1"/>
          <p:nvPr/>
        </p:nvSpPr>
        <p:spPr>
          <a:xfrm>
            <a:off x="285950" y="4651907"/>
            <a:ext cx="18303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처음 임대한 상태가 이게 아닌데 임차인은 보증금만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돌려달라고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생떼를 씁니다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623DA0A2-E0DE-46C5-B6AD-C02BD5FDA36D}"/>
              </a:ext>
            </a:extLst>
          </p:cNvPr>
          <p:cNvSpPr txBox="1"/>
          <p:nvPr/>
        </p:nvSpPr>
        <p:spPr>
          <a:xfrm>
            <a:off x="5703473" y="3515279"/>
            <a:ext cx="2259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계약대로 공사를 하는데 자꾸만 </a:t>
            </a:r>
            <a:b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이게 아니라면 어떻게 하라는</a:t>
            </a:r>
            <a:b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건가요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3D967C35-792F-413A-8655-BC1D44C11BFA}"/>
              </a:ext>
            </a:extLst>
          </p:cNvPr>
          <p:cNvSpPr txBox="1"/>
          <p:nvPr/>
        </p:nvSpPr>
        <p:spPr>
          <a:xfrm>
            <a:off x="4400988" y="5325059"/>
            <a:ext cx="25897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시끄러워서 일을 못하겠습니다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언제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끝나냐고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물어도 모른다고만 하니 답답합니다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427914-41ED-40E6-A1E1-C7455B9AB264}"/>
              </a:ext>
            </a:extLst>
          </p:cNvPr>
          <p:cNvSpPr txBox="1"/>
          <p:nvPr/>
        </p:nvSpPr>
        <p:spPr>
          <a:xfrm>
            <a:off x="2292162" y="3075831"/>
            <a:ext cx="2497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rgbClr val="EA27C2"/>
                </a:solidFill>
                <a:latin typeface="Poppins SemiBold" panose="00000700000000000000" pitchFamily="2" charset="0"/>
                <a:ea typeface="Pretendard Medium" panose="02000603000000020004" pitchFamily="2" charset="-127"/>
                <a:cs typeface="Poppins SemiBold" panose="00000700000000000000" pitchFamily="2" charset="0"/>
              </a:rPr>
              <a:t>SANDI </a:t>
            </a:r>
            <a:r>
              <a:rPr lang="ko-KR" altLang="en-US" sz="1200" spc="-150" dirty="0">
                <a:solidFill>
                  <a:srgbClr val="334048"/>
                </a:solidFill>
                <a:latin typeface="Poppins SemiBold" panose="00000700000000000000" pitchFamily="2" charset="0"/>
                <a:ea typeface="Pretendard" panose="02000503000000020004" pitchFamily="2" charset="-127"/>
                <a:cs typeface="Poppins SemiBold" panose="00000700000000000000" pitchFamily="2" charset="0"/>
              </a:rPr>
              <a:t>고객만족서비스</a:t>
            </a:r>
            <a:endParaRPr lang="ko-KR" altLang="en-US" sz="1200" spc="-150" dirty="0">
              <a:solidFill>
                <a:srgbClr val="33404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8285332F-A5F8-4E55-9364-085048EF323C}"/>
              </a:ext>
            </a:extLst>
          </p:cNvPr>
          <p:cNvSpPr txBox="1"/>
          <p:nvPr/>
        </p:nvSpPr>
        <p:spPr>
          <a:xfrm>
            <a:off x="7897279" y="1772538"/>
            <a:ext cx="4101166" cy="398441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7000">
                <a:srgbClr val="EDEDED"/>
              </a:gs>
              <a:gs pos="85000">
                <a:srgbClr val="E5E5E5"/>
              </a:gs>
              <a:gs pos="100000">
                <a:srgbClr val="E5E5E5"/>
              </a:gs>
            </a:gsLst>
            <a:lin ang="10800000" scaled="1"/>
            <a:tileRect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lvl="0">
              <a:lnSpc>
                <a:spcPct val="150000"/>
              </a:lnSpc>
              <a:defRPr sz="1000" i="0" spc="-50">
                <a:solidFill>
                  <a:prstClr val="black"/>
                </a:solidFill>
                <a:latin typeface="LG스마트체 Regular"/>
                <a:ea typeface="LG스마트체 Regular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altLang="ko-KR" sz="120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0A2D47AF-5F2E-47B2-BB38-D52415841B07}"/>
              </a:ext>
            </a:extLst>
          </p:cNvPr>
          <p:cNvSpPr txBox="1"/>
          <p:nvPr/>
        </p:nvSpPr>
        <p:spPr>
          <a:xfrm>
            <a:off x="8334921" y="4280811"/>
            <a:ext cx="3222194" cy="1269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원상복구 공간에 대한 자재 및 설비에 대한 정확한 정보 제공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공사로 인한 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E/V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 불편시간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자재 입출시간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소음 발생 시간 등 사전 공지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 관리 및 민원 처리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794C115-8AF9-4FB0-8942-F72E7EB5FE0D}"/>
              </a:ext>
            </a:extLst>
          </p:cNvPr>
          <p:cNvSpPr/>
          <p:nvPr/>
        </p:nvSpPr>
        <p:spPr>
          <a:xfrm>
            <a:off x="8110657" y="2267043"/>
            <a:ext cx="2294975" cy="1719596"/>
          </a:xfrm>
          <a:prstGeom prst="ellipse">
            <a:avLst/>
          </a:prstGeom>
          <a:solidFill>
            <a:srgbClr val="F2F2F2">
              <a:alpha val="45098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2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57F2F36C-1D51-456B-8742-033F86FC1973}"/>
              </a:ext>
            </a:extLst>
          </p:cNvPr>
          <p:cNvSpPr txBox="1"/>
          <p:nvPr/>
        </p:nvSpPr>
        <p:spPr>
          <a:xfrm>
            <a:off x="8371154" y="2757328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건물관리주체</a:t>
            </a:r>
            <a:endParaRPr lang="en-US" altLang="ko-KR" u="sng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D6A75F2-254F-491C-95B3-4101C99FF678}"/>
              </a:ext>
            </a:extLst>
          </p:cNvPr>
          <p:cNvSpPr/>
          <p:nvPr/>
        </p:nvSpPr>
        <p:spPr>
          <a:xfrm>
            <a:off x="9513082" y="2267043"/>
            <a:ext cx="2044033" cy="1719595"/>
          </a:xfrm>
          <a:prstGeom prst="ellipse">
            <a:avLst/>
          </a:prstGeom>
          <a:solidFill>
            <a:srgbClr val="F2F2F2">
              <a:alpha val="45098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2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3" name="TextBox 17">
            <a:extLst>
              <a:ext uri="{FF2B5EF4-FFF2-40B4-BE49-F238E27FC236}">
                <a16:creationId xmlns:a16="http://schemas.microsoft.com/office/drawing/2014/main" id="{C07C5139-9012-4365-8B54-DD3675DB3164}"/>
              </a:ext>
            </a:extLst>
          </p:cNvPr>
          <p:cNvSpPr txBox="1"/>
          <p:nvPr/>
        </p:nvSpPr>
        <p:spPr>
          <a:xfrm>
            <a:off x="8225776" y="3031761"/>
            <a:ext cx="1688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이용객불편관리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임대 전 자재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설비</a:t>
            </a:r>
            <a:b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 제공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Box 17">
            <a:extLst>
              <a:ext uri="{FF2B5EF4-FFF2-40B4-BE49-F238E27FC236}">
                <a16:creationId xmlns:a16="http://schemas.microsoft.com/office/drawing/2014/main" id="{D398777D-910A-48C8-B104-6BB123A237E5}"/>
              </a:ext>
            </a:extLst>
          </p:cNvPr>
          <p:cNvSpPr txBox="1"/>
          <p:nvPr/>
        </p:nvSpPr>
        <p:spPr>
          <a:xfrm>
            <a:off x="10642138" y="271150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공사주체</a:t>
            </a:r>
            <a:endParaRPr lang="en-US" altLang="ko-KR" u="sng" dirty="0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17CDD6AC-32D7-4AB5-85AC-F8F51312B8E3}"/>
              </a:ext>
            </a:extLst>
          </p:cNvPr>
          <p:cNvSpPr/>
          <p:nvPr/>
        </p:nvSpPr>
        <p:spPr>
          <a:xfrm>
            <a:off x="9504137" y="2417524"/>
            <a:ext cx="892551" cy="1384086"/>
          </a:xfrm>
          <a:custGeom>
            <a:avLst/>
            <a:gdLst>
              <a:gd name="connsiteX0" fmla="*/ 420466 w 892551"/>
              <a:gd name="connsiteY0" fmla="*/ 0 h 1384086"/>
              <a:gd name="connsiteX1" fmla="*/ 556459 w 892551"/>
              <a:gd name="connsiteY1" fmla="*/ 84074 h 1384086"/>
              <a:gd name="connsiteX2" fmla="*/ 892551 w 892551"/>
              <a:gd name="connsiteY2" fmla="*/ 692043 h 1384086"/>
              <a:gd name="connsiteX3" fmla="*/ 556459 w 892551"/>
              <a:gd name="connsiteY3" fmla="*/ 1300012 h 1384086"/>
              <a:gd name="connsiteX4" fmla="*/ 420466 w 892551"/>
              <a:gd name="connsiteY4" fmla="*/ 1384086 h 1384086"/>
              <a:gd name="connsiteX5" fmla="*/ 299342 w 892551"/>
              <a:gd name="connsiteY5" fmla="*/ 1300012 h 1384086"/>
              <a:gd name="connsiteX6" fmla="*/ 0 w 892551"/>
              <a:gd name="connsiteY6" fmla="*/ 692043 h 1384086"/>
              <a:gd name="connsiteX7" fmla="*/ 299342 w 892551"/>
              <a:gd name="connsiteY7" fmla="*/ 84074 h 1384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2551" h="1384086">
                <a:moveTo>
                  <a:pt x="420466" y="0"/>
                </a:moveTo>
                <a:lnTo>
                  <a:pt x="556459" y="84074"/>
                </a:lnTo>
                <a:cubicBezTo>
                  <a:pt x="764114" y="239667"/>
                  <a:pt x="892551" y="454617"/>
                  <a:pt x="892551" y="692043"/>
                </a:cubicBezTo>
                <a:cubicBezTo>
                  <a:pt x="892551" y="929470"/>
                  <a:pt x="764114" y="1144419"/>
                  <a:pt x="556459" y="1300012"/>
                </a:cubicBezTo>
                <a:lnTo>
                  <a:pt x="420466" y="1384086"/>
                </a:lnTo>
                <a:lnTo>
                  <a:pt x="299342" y="1300012"/>
                </a:lnTo>
                <a:cubicBezTo>
                  <a:pt x="114393" y="1144419"/>
                  <a:pt x="0" y="929470"/>
                  <a:pt x="0" y="692043"/>
                </a:cubicBezTo>
                <a:cubicBezTo>
                  <a:pt x="0" y="454617"/>
                  <a:pt x="114393" y="239667"/>
                  <a:pt x="299342" y="84074"/>
                </a:cubicBezTo>
                <a:close/>
              </a:path>
            </a:pathLst>
          </a:custGeom>
          <a:solidFill>
            <a:srgbClr val="FF33CC">
              <a:alpha val="45098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2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6" name="TextBox 17">
            <a:extLst>
              <a:ext uri="{FF2B5EF4-FFF2-40B4-BE49-F238E27FC236}">
                <a16:creationId xmlns:a16="http://schemas.microsoft.com/office/drawing/2014/main" id="{212BB3B2-BF85-4A51-BAA4-F3AF54CF31FF}"/>
              </a:ext>
            </a:extLst>
          </p:cNvPr>
          <p:cNvSpPr txBox="1"/>
          <p:nvPr/>
        </p:nvSpPr>
        <p:spPr>
          <a:xfrm>
            <a:off x="10410494" y="2985934"/>
            <a:ext cx="14899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공사관리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품질관리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ABF3273-8F18-44D1-9FC2-9F458909FF16}"/>
              </a:ext>
            </a:extLst>
          </p:cNvPr>
          <p:cNvSpPr/>
          <p:nvPr/>
        </p:nvSpPr>
        <p:spPr>
          <a:xfrm>
            <a:off x="9494612" y="283913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EA27C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SANDI</a:t>
            </a:r>
            <a:br>
              <a:rPr lang="en-US" altLang="ko-KR" sz="1400" spc="-150" dirty="0">
                <a:solidFill>
                  <a:srgbClr val="EA27C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</a:br>
            <a:r>
              <a:rPr lang="ko-KR" altLang="en-US" sz="1400" b="1" dirty="0">
                <a:solidFill>
                  <a:srgbClr val="222222"/>
                </a:solidFill>
                <a:latin typeface="Poppins" panose="00000500000000000000" pitchFamily="2" charset="0"/>
              </a:rPr>
              <a:t>원상복구</a:t>
            </a:r>
            <a:endParaRPr lang="ko-KR" altLang="en-US" sz="14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45EFD60-379E-4BB5-A4CB-FBB8E455B4DD}"/>
              </a:ext>
            </a:extLst>
          </p:cNvPr>
          <p:cNvSpPr/>
          <p:nvPr/>
        </p:nvSpPr>
        <p:spPr>
          <a:xfrm>
            <a:off x="9122646" y="1809543"/>
            <a:ext cx="1582820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솔루션 제안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23732732-241D-4C03-80A1-57EB888762B5}"/>
              </a:ext>
            </a:extLst>
          </p:cNvPr>
          <p:cNvCxnSpPr/>
          <p:nvPr/>
        </p:nvCxnSpPr>
        <p:spPr>
          <a:xfrm>
            <a:off x="9418830" y="2086542"/>
            <a:ext cx="9868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24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그림 111">
            <a:extLst>
              <a:ext uri="{FF2B5EF4-FFF2-40B4-BE49-F238E27FC236}">
                <a16:creationId xmlns:a16="http://schemas.microsoft.com/office/drawing/2014/main" id="{ED4EB2B7-5F05-4B67-B382-EF925112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072" y="2566117"/>
            <a:ext cx="1438781" cy="10607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D7D15B-5FB7-4743-BDB1-CDFE6EE0F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78" y="2566117"/>
            <a:ext cx="1438781" cy="106079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C41F8D9-1F3A-4A53-8842-3A1F8335D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91" y="2572677"/>
            <a:ext cx="1420491" cy="1048603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40763282-562B-495B-8528-0BDD43A7C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484" y="2572677"/>
            <a:ext cx="1420491" cy="1048603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B804D2DE-5B42-4281-9F4C-8FFC8D2F0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571" y="2572677"/>
            <a:ext cx="1420491" cy="10486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2F73C6C-8DAF-4AC5-BE6A-26613A3F1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062" y="2572677"/>
            <a:ext cx="1420491" cy="1048603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79B8CC1E-A1B0-49A7-88D3-A6BE6D93B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149" y="2572677"/>
            <a:ext cx="1420491" cy="1048603"/>
          </a:xfrm>
          <a:prstGeom prst="rect">
            <a:avLst/>
          </a:prstGeom>
        </p:spPr>
      </p:pic>
      <p:sp>
        <p:nvSpPr>
          <p:cNvPr id="101" name="팔각형 100">
            <a:extLst>
              <a:ext uri="{FF2B5EF4-FFF2-40B4-BE49-F238E27FC236}">
                <a16:creationId xmlns:a16="http://schemas.microsoft.com/office/drawing/2014/main" id="{D34473AB-E150-4498-BE2E-28CAF1647A7A}"/>
              </a:ext>
            </a:extLst>
          </p:cNvPr>
          <p:cNvSpPr/>
          <p:nvPr/>
        </p:nvSpPr>
        <p:spPr>
          <a:xfrm rot="5400000">
            <a:off x="10252613" y="2572677"/>
            <a:ext cx="1047676" cy="1047676"/>
          </a:xfrm>
          <a:prstGeom prst="octagon">
            <a:avLst>
              <a:gd name="adj" fmla="val 1437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618F81-70EB-4434-9F95-816AA266F5B4}"/>
              </a:ext>
            </a:extLst>
          </p:cNvPr>
          <p:cNvSpPr/>
          <p:nvPr/>
        </p:nvSpPr>
        <p:spPr>
          <a:xfrm>
            <a:off x="513541" y="146074"/>
            <a:ext cx="3307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pc="-150" dirty="0">
                <a:solidFill>
                  <a:srgbClr val="EA27C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SANDI  </a:t>
            </a:r>
            <a:r>
              <a:rPr lang="ko-KR" altLang="en-US" sz="1600" b="1" dirty="0">
                <a:solidFill>
                  <a:srgbClr val="222222"/>
                </a:solidFill>
                <a:latin typeface="Poppins" panose="00000500000000000000" pitchFamily="2" charset="0"/>
              </a:rPr>
              <a:t>원상복구공사의</a:t>
            </a:r>
            <a:r>
              <a:rPr lang="ko-KR" altLang="en-US" b="1" dirty="0">
                <a:solidFill>
                  <a:srgbClr val="222222"/>
                </a:solidFill>
                <a:latin typeface="Poppins" panose="00000500000000000000" pitchFamily="2" charset="0"/>
              </a:rPr>
              <a:t> 고객 가치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EC30E8-DD14-4E8B-8AAC-FC28CF36E3C6}"/>
              </a:ext>
            </a:extLst>
          </p:cNvPr>
          <p:cNvSpPr/>
          <p:nvPr/>
        </p:nvSpPr>
        <p:spPr>
          <a:xfrm>
            <a:off x="514969" y="181530"/>
            <a:ext cx="45719" cy="298419"/>
          </a:xfrm>
          <a:prstGeom prst="rect">
            <a:avLst/>
          </a:prstGeom>
          <a:solidFill>
            <a:srgbClr val="EA2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 lang="ko-KR" altLang="en-US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145BFA4-011B-4CD0-934F-227401FF8857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17">
            <a:extLst>
              <a:ext uri="{FF2B5EF4-FFF2-40B4-BE49-F238E27FC236}">
                <a16:creationId xmlns:a16="http://schemas.microsoft.com/office/drawing/2014/main" id="{3F3121A8-23A6-4668-9D73-25F82314C82D}"/>
              </a:ext>
            </a:extLst>
          </p:cNvPr>
          <p:cNvSpPr txBox="1"/>
          <p:nvPr/>
        </p:nvSpPr>
        <p:spPr>
          <a:xfrm>
            <a:off x="612444" y="901196"/>
            <a:ext cx="11223187" cy="626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“임대인의 건축물 </a:t>
            </a:r>
            <a:r>
              <a:rPr lang="ko-KR" altLang="en-US" sz="14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관리자”이며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임차인의 공사 대리인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으로써의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양측 권한과 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FM </a:t>
            </a: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 노하우를 기반으로 고객에게 합리적인 정보 제공자이며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b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비용과 시간을 절감해 주는 파트너가 되고자 합니다</a:t>
            </a:r>
            <a:r>
              <a:rPr lang="en-US" altLang="ko-KR" sz="14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68A0AD14-7C64-493C-B75D-55801FD54F02}"/>
              </a:ext>
            </a:extLst>
          </p:cNvPr>
          <p:cNvSpPr txBox="1"/>
          <p:nvPr/>
        </p:nvSpPr>
        <p:spPr>
          <a:xfrm>
            <a:off x="696926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상품의뢰</a:t>
            </a:r>
            <a:endParaRPr lang="en-US" altLang="ko-KR" u="sng" dirty="0"/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06A4B26F-8F09-49CA-AABD-25C6400DE88B}"/>
              </a:ext>
            </a:extLst>
          </p:cNvPr>
          <p:cNvSpPr txBox="1"/>
          <p:nvPr/>
        </p:nvSpPr>
        <p:spPr>
          <a:xfrm>
            <a:off x="1902625" y="3660649"/>
            <a:ext cx="1688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복수업체 </a:t>
            </a:r>
            <a:r>
              <a:rPr lang="ko-KR" altLang="en-US" b="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서칭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Box 17">
            <a:extLst>
              <a:ext uri="{FF2B5EF4-FFF2-40B4-BE49-F238E27FC236}">
                <a16:creationId xmlns:a16="http://schemas.microsoft.com/office/drawing/2014/main" id="{675DD869-036A-4A7C-A0CE-ED0DC6613451}"/>
              </a:ext>
            </a:extLst>
          </p:cNvPr>
          <p:cNvSpPr txBox="1"/>
          <p:nvPr/>
        </p:nvSpPr>
        <p:spPr>
          <a:xfrm>
            <a:off x="2109231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업체조사</a:t>
            </a:r>
            <a:endParaRPr lang="en-US" altLang="ko-KR" u="sng" dirty="0"/>
          </a:p>
        </p:txBody>
      </p:sp>
      <p:sp>
        <p:nvSpPr>
          <p:cNvPr id="74" name="TextBox 17">
            <a:extLst>
              <a:ext uri="{FF2B5EF4-FFF2-40B4-BE49-F238E27FC236}">
                <a16:creationId xmlns:a16="http://schemas.microsoft.com/office/drawing/2014/main" id="{349024F9-D00B-48B8-BCB1-01C3CCCC4B3D}"/>
              </a:ext>
            </a:extLst>
          </p:cNvPr>
          <p:cNvSpPr txBox="1"/>
          <p:nvPr/>
        </p:nvSpPr>
        <p:spPr>
          <a:xfrm>
            <a:off x="3429592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복수견적</a:t>
            </a:r>
            <a:endParaRPr lang="en-US" altLang="ko-KR" u="sng" dirty="0"/>
          </a:p>
        </p:txBody>
      </p:sp>
      <p:sp>
        <p:nvSpPr>
          <p:cNvPr id="75" name="TextBox 17">
            <a:extLst>
              <a:ext uri="{FF2B5EF4-FFF2-40B4-BE49-F238E27FC236}">
                <a16:creationId xmlns:a16="http://schemas.microsoft.com/office/drawing/2014/main" id="{CD14EAB3-39E5-4D1A-97DA-90A966A6064F}"/>
              </a:ext>
            </a:extLst>
          </p:cNvPr>
          <p:cNvSpPr txBox="1"/>
          <p:nvPr/>
        </p:nvSpPr>
        <p:spPr>
          <a:xfrm>
            <a:off x="4815679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고객제안</a:t>
            </a:r>
            <a:endParaRPr lang="en-US" altLang="ko-KR" u="sng" dirty="0"/>
          </a:p>
        </p:txBody>
      </p:sp>
      <p:sp>
        <p:nvSpPr>
          <p:cNvPr id="76" name="TextBox 17">
            <a:extLst>
              <a:ext uri="{FF2B5EF4-FFF2-40B4-BE49-F238E27FC236}">
                <a16:creationId xmlns:a16="http://schemas.microsoft.com/office/drawing/2014/main" id="{E233EE68-153E-4140-AF03-D26D90EA85F0}"/>
              </a:ext>
            </a:extLst>
          </p:cNvPr>
          <p:cNvSpPr txBox="1"/>
          <p:nvPr/>
        </p:nvSpPr>
        <p:spPr>
          <a:xfrm>
            <a:off x="6102910" y="2852493"/>
            <a:ext cx="10476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u="sng" dirty="0"/>
              <a:t>임대인</a:t>
            </a:r>
            <a:r>
              <a:rPr lang="en-US" altLang="ko-KR" u="sng" dirty="0"/>
              <a:t>,</a:t>
            </a:r>
            <a:br>
              <a:rPr lang="en-US" altLang="ko-KR" u="sng" dirty="0"/>
            </a:br>
            <a:r>
              <a:rPr lang="ko-KR" altLang="en-US" u="sng" dirty="0"/>
              <a:t>임차인 합의</a:t>
            </a:r>
            <a:endParaRPr lang="en-US" altLang="ko-KR" u="sng" dirty="0"/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CA705942-0605-40F6-B1A1-82C688E523F0}"/>
              </a:ext>
            </a:extLst>
          </p:cNvPr>
          <p:cNvSpPr txBox="1"/>
          <p:nvPr/>
        </p:nvSpPr>
        <p:spPr>
          <a:xfrm>
            <a:off x="7784446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계약</a:t>
            </a:r>
            <a:endParaRPr lang="en-US" altLang="ko-KR" u="sng" dirty="0"/>
          </a:p>
        </p:txBody>
      </p:sp>
      <p:sp>
        <p:nvSpPr>
          <p:cNvPr id="78" name="TextBox 17">
            <a:extLst>
              <a:ext uri="{FF2B5EF4-FFF2-40B4-BE49-F238E27FC236}">
                <a16:creationId xmlns:a16="http://schemas.microsoft.com/office/drawing/2014/main" id="{D8800F97-916D-46DE-8ABB-05364C24307B}"/>
              </a:ext>
            </a:extLst>
          </p:cNvPr>
          <p:cNvSpPr txBox="1"/>
          <p:nvPr/>
        </p:nvSpPr>
        <p:spPr>
          <a:xfrm>
            <a:off x="9055364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공사관리</a:t>
            </a:r>
            <a:endParaRPr lang="en-US" altLang="ko-KR" u="sng" dirty="0"/>
          </a:p>
        </p:txBody>
      </p:sp>
      <p:sp>
        <p:nvSpPr>
          <p:cNvPr id="79" name="TextBox 17">
            <a:extLst>
              <a:ext uri="{FF2B5EF4-FFF2-40B4-BE49-F238E27FC236}">
                <a16:creationId xmlns:a16="http://schemas.microsoft.com/office/drawing/2014/main" id="{22987AFF-92E7-4E67-82D2-44067194C6FE}"/>
              </a:ext>
            </a:extLst>
          </p:cNvPr>
          <p:cNvSpPr txBox="1"/>
          <p:nvPr/>
        </p:nvSpPr>
        <p:spPr>
          <a:xfrm>
            <a:off x="10414625" y="2937131"/>
            <a:ext cx="1047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u="sng" dirty="0"/>
              <a:t>검수</a:t>
            </a:r>
            <a:r>
              <a:rPr lang="en-US" altLang="ko-KR" u="sng" dirty="0"/>
              <a:t>,</a:t>
            </a:r>
            <a:r>
              <a:rPr lang="ko-KR" altLang="en-US" u="sng" dirty="0"/>
              <a:t>정산</a:t>
            </a:r>
            <a:endParaRPr lang="en-US" altLang="ko-KR" u="sng" dirty="0"/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29B397B8-4E40-4B93-9221-82E770B48AF8}"/>
              </a:ext>
            </a:extLst>
          </p:cNvPr>
          <p:cNvSpPr txBox="1"/>
          <p:nvPr/>
        </p:nvSpPr>
        <p:spPr>
          <a:xfrm>
            <a:off x="3344657" y="3660649"/>
            <a:ext cx="168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현장설명회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자재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설비정보제공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복수견적취합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견적 비교분석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" name="TextBox 17">
            <a:extLst>
              <a:ext uri="{FF2B5EF4-FFF2-40B4-BE49-F238E27FC236}">
                <a16:creationId xmlns:a16="http://schemas.microsoft.com/office/drawing/2014/main" id="{B4010E6A-5457-48EE-919C-04400DF6E8D1}"/>
              </a:ext>
            </a:extLst>
          </p:cNvPr>
          <p:cNvSpPr txBox="1"/>
          <p:nvPr/>
        </p:nvSpPr>
        <p:spPr>
          <a:xfrm>
            <a:off x="696926" y="3660649"/>
            <a:ext cx="1688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공사의뢰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" name="TextBox 17">
            <a:extLst>
              <a:ext uri="{FF2B5EF4-FFF2-40B4-BE49-F238E27FC236}">
                <a16:creationId xmlns:a16="http://schemas.microsoft.com/office/drawing/2014/main" id="{3B64AB5E-D0AB-47AF-923F-D7F9C5C1785D}"/>
              </a:ext>
            </a:extLst>
          </p:cNvPr>
          <p:cNvSpPr txBox="1"/>
          <p:nvPr/>
        </p:nvSpPr>
        <p:spPr>
          <a:xfrm>
            <a:off x="6100975" y="3660649"/>
            <a:ext cx="1688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원상복구예치금외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임대보증금 반환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5" name="TextBox 17">
            <a:extLst>
              <a:ext uri="{FF2B5EF4-FFF2-40B4-BE49-F238E27FC236}">
                <a16:creationId xmlns:a16="http://schemas.microsoft.com/office/drawing/2014/main" id="{5018F101-7AE8-41A5-A706-28703240274A}"/>
              </a:ext>
            </a:extLst>
          </p:cNvPr>
          <p:cNvSpPr txBox="1"/>
          <p:nvPr/>
        </p:nvSpPr>
        <p:spPr>
          <a:xfrm>
            <a:off x="7596143" y="3660649"/>
            <a:ext cx="1688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매입계약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6" name="TextBox 17">
            <a:extLst>
              <a:ext uri="{FF2B5EF4-FFF2-40B4-BE49-F238E27FC236}">
                <a16:creationId xmlns:a16="http://schemas.microsoft.com/office/drawing/2014/main" id="{0F9A0E8C-C31A-485A-8165-825473D6DBE9}"/>
              </a:ext>
            </a:extLst>
          </p:cNvPr>
          <p:cNvSpPr txBox="1"/>
          <p:nvPr/>
        </p:nvSpPr>
        <p:spPr>
          <a:xfrm>
            <a:off x="8943762" y="3660649"/>
            <a:ext cx="13498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안전관리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민원처리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7" name="TextBox 17">
            <a:extLst>
              <a:ext uri="{FF2B5EF4-FFF2-40B4-BE49-F238E27FC236}">
                <a16:creationId xmlns:a16="http://schemas.microsoft.com/office/drawing/2014/main" id="{341CE5E3-2A91-46AC-AC54-687857C5CDA5}"/>
              </a:ext>
            </a:extLst>
          </p:cNvPr>
          <p:cNvSpPr txBox="1"/>
          <p:nvPr/>
        </p:nvSpPr>
        <p:spPr>
          <a:xfrm>
            <a:off x="10330052" y="3660649"/>
            <a:ext cx="13498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A/S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대금정산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8" name="TextBox 17">
            <a:extLst>
              <a:ext uri="{FF2B5EF4-FFF2-40B4-BE49-F238E27FC236}">
                <a16:creationId xmlns:a16="http://schemas.microsoft.com/office/drawing/2014/main" id="{11A0AF72-9372-473E-BE6E-455E02419761}"/>
              </a:ext>
            </a:extLst>
          </p:cNvPr>
          <p:cNvSpPr txBox="1"/>
          <p:nvPr/>
        </p:nvSpPr>
        <p:spPr>
          <a:xfrm>
            <a:off x="4771596" y="3660649"/>
            <a:ext cx="1688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견적</a:t>
            </a:r>
            <a:r>
              <a:rPr lang="en-US" altLang="ko-KR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시방제공</a:t>
            </a:r>
            <a:endParaRPr lang="en-US" altLang="ko-KR" b="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" name="TextBox 17">
            <a:extLst>
              <a:ext uri="{FF2B5EF4-FFF2-40B4-BE49-F238E27FC236}">
                <a16:creationId xmlns:a16="http://schemas.microsoft.com/office/drawing/2014/main" id="{13C33503-2351-41E1-9EF9-CE90F2CF7A4D}"/>
              </a:ext>
            </a:extLst>
          </p:cNvPr>
          <p:cNvSpPr txBox="1"/>
          <p:nvPr/>
        </p:nvSpPr>
        <p:spPr>
          <a:xfrm>
            <a:off x="2042693" y="4675885"/>
            <a:ext cx="2603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파트너사 활용으로 기간 단축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 정보를 도면</a:t>
            </a:r>
            <a:r>
              <a:rPr lang="en-US" altLang="ko-KR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2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영상정보 제공</a:t>
            </a:r>
            <a:endParaRPr lang="en-US" altLang="ko-KR" sz="1200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" name="TextBox 17">
            <a:extLst>
              <a:ext uri="{FF2B5EF4-FFF2-40B4-BE49-F238E27FC236}">
                <a16:creationId xmlns:a16="http://schemas.microsoft.com/office/drawing/2014/main" id="{633CED7E-244B-45C3-81D1-A0B1555D710F}"/>
              </a:ext>
            </a:extLst>
          </p:cNvPr>
          <p:cNvSpPr txBox="1"/>
          <p:nvPr/>
        </p:nvSpPr>
        <p:spPr>
          <a:xfrm>
            <a:off x="6087412" y="4691273"/>
            <a:ext cx="1562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영상정보기반 합의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합리적 예치금액 제시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" name="TextBox 17">
            <a:extLst>
              <a:ext uri="{FF2B5EF4-FFF2-40B4-BE49-F238E27FC236}">
                <a16:creationId xmlns:a16="http://schemas.microsoft.com/office/drawing/2014/main" id="{6E0B4AF1-F29D-43DF-807E-4F19B5C651AB}"/>
              </a:ext>
            </a:extLst>
          </p:cNvPr>
          <p:cNvSpPr txBox="1"/>
          <p:nvPr/>
        </p:nvSpPr>
        <p:spPr>
          <a:xfrm>
            <a:off x="8931794" y="4608671"/>
            <a:ext cx="23578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정확한 공사진행정보에 따른 불편안내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pc="-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사전 시뮬레이션을 통한 공사 지연 예방으로 임대료손실보상 예방</a:t>
            </a:r>
            <a:endParaRPr lang="en-US" altLang="ko-KR" spc="-50" dirty="0">
              <a:ln>
                <a:solidFill>
                  <a:schemeClr val="accent1">
                    <a:alpha val="0"/>
                  </a:schemeClr>
                </a:solidFill>
              </a:ln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7F3F46-0E39-42AE-9B3E-4DDFDE9C7765}"/>
              </a:ext>
            </a:extLst>
          </p:cNvPr>
          <p:cNvSpPr/>
          <p:nvPr/>
        </p:nvSpPr>
        <p:spPr>
          <a:xfrm>
            <a:off x="1934837" y="4591247"/>
            <a:ext cx="2729233" cy="60016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5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158A2C36-C29C-4D93-B190-E971E427EA18}"/>
              </a:ext>
            </a:extLst>
          </p:cNvPr>
          <p:cNvSpPr/>
          <p:nvPr/>
        </p:nvSpPr>
        <p:spPr>
          <a:xfrm>
            <a:off x="8863362" y="4606634"/>
            <a:ext cx="2447573" cy="60016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5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7B46DD8-192F-4369-89AB-EC19B8751411}"/>
              </a:ext>
            </a:extLst>
          </p:cNvPr>
          <p:cNvCxnSpPr/>
          <p:nvPr/>
        </p:nvCxnSpPr>
        <p:spPr>
          <a:xfrm>
            <a:off x="1902625" y="2261887"/>
            <a:ext cx="0" cy="32600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9F3776AA-AAB4-4860-A6A5-FDB43CF788E4}"/>
              </a:ext>
            </a:extLst>
          </p:cNvPr>
          <p:cNvCxnSpPr/>
          <p:nvPr/>
        </p:nvCxnSpPr>
        <p:spPr>
          <a:xfrm>
            <a:off x="4680484" y="2261887"/>
            <a:ext cx="0" cy="32600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A57EB8EA-D981-4A17-B4C6-9C0AB705871F}"/>
              </a:ext>
            </a:extLst>
          </p:cNvPr>
          <p:cNvCxnSpPr/>
          <p:nvPr/>
        </p:nvCxnSpPr>
        <p:spPr>
          <a:xfrm>
            <a:off x="6050756" y="2261887"/>
            <a:ext cx="0" cy="32600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76045FB5-894B-4F21-BF08-BFD638647E86}"/>
              </a:ext>
            </a:extLst>
          </p:cNvPr>
          <p:cNvCxnSpPr/>
          <p:nvPr/>
        </p:nvCxnSpPr>
        <p:spPr>
          <a:xfrm>
            <a:off x="7470650" y="2261887"/>
            <a:ext cx="0" cy="32600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436436A4-56FE-4161-8018-904663FEFB05}"/>
              </a:ext>
            </a:extLst>
          </p:cNvPr>
          <p:cNvCxnSpPr/>
          <p:nvPr/>
        </p:nvCxnSpPr>
        <p:spPr>
          <a:xfrm>
            <a:off x="8873149" y="2261887"/>
            <a:ext cx="0" cy="32600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700565C7-6F18-49A3-975C-17649A399EAD}"/>
              </a:ext>
            </a:extLst>
          </p:cNvPr>
          <p:cNvCxnSpPr/>
          <p:nvPr/>
        </p:nvCxnSpPr>
        <p:spPr>
          <a:xfrm>
            <a:off x="11300289" y="2261887"/>
            <a:ext cx="0" cy="326000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6EA5B435-5307-41B7-978B-6E4451C92B21}"/>
              </a:ext>
            </a:extLst>
          </p:cNvPr>
          <p:cNvSpPr/>
          <p:nvPr/>
        </p:nvSpPr>
        <p:spPr>
          <a:xfrm>
            <a:off x="6055201" y="4591247"/>
            <a:ext cx="1438486" cy="60016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5"/>
            </a:endParaRPr>
          </a:p>
        </p:txBody>
      </p:sp>
    </p:spTree>
    <p:extLst>
      <p:ext uri="{BB962C8B-B14F-4D97-AF65-F5344CB8AC3E}">
        <p14:creationId xmlns:p14="http://schemas.microsoft.com/office/powerpoint/2010/main" val="428564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16948F-338F-4BA9-97AF-2F3419CAD9E2}"/>
              </a:ext>
            </a:extLst>
          </p:cNvPr>
          <p:cNvSpPr/>
          <p:nvPr/>
        </p:nvSpPr>
        <p:spPr>
          <a:xfrm>
            <a:off x="6188400" y="885825"/>
            <a:ext cx="4581525" cy="57530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2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7EB641-AC11-465C-8135-DE7B516640CD}"/>
              </a:ext>
            </a:extLst>
          </p:cNvPr>
          <p:cNvSpPr/>
          <p:nvPr/>
        </p:nvSpPr>
        <p:spPr>
          <a:xfrm>
            <a:off x="733425" y="885825"/>
            <a:ext cx="4581525" cy="57530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2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8AB7FC-54A7-43E1-9F4E-7D150C0FC282}"/>
              </a:ext>
            </a:extLst>
          </p:cNvPr>
          <p:cNvSpPr/>
          <p:nvPr/>
        </p:nvSpPr>
        <p:spPr>
          <a:xfrm>
            <a:off x="513541" y="146074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222222"/>
                </a:solidFill>
                <a:latin typeface="Poppins" panose="00000500000000000000" pitchFamily="2" charset="0"/>
              </a:rPr>
              <a:t>파트너사 역량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F68FBE-1430-4616-AAF3-FF7A37C415E6}"/>
              </a:ext>
            </a:extLst>
          </p:cNvPr>
          <p:cNvSpPr/>
          <p:nvPr/>
        </p:nvSpPr>
        <p:spPr>
          <a:xfrm>
            <a:off x="514969" y="181530"/>
            <a:ext cx="45719" cy="298419"/>
          </a:xfrm>
          <a:prstGeom prst="rect">
            <a:avLst/>
          </a:prstGeom>
          <a:solidFill>
            <a:srgbClr val="EA27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defRPr/>
            </a:pPr>
            <a:endParaRPr lang="ko-KR" altLang="en-US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6A9D214-58DF-4688-97D9-61B4ABDCA946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4306785F-64F4-490D-8700-1E1587225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24" y="3764601"/>
            <a:ext cx="1905000" cy="2603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5E03E9-9632-426A-BC83-F7DB491FC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558" y="998436"/>
            <a:ext cx="1905001" cy="26138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DAD838-D579-4BED-BC5F-361DB12D5715}"/>
              </a:ext>
            </a:extLst>
          </p:cNvPr>
          <p:cNvSpPr txBox="1"/>
          <p:nvPr/>
        </p:nvSpPr>
        <p:spPr>
          <a:xfrm>
            <a:off x="3501843" y="2997070"/>
            <a:ext cx="1150429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실내건축공사업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348B6-98F3-4884-86E4-BBB95B80FCCC}"/>
              </a:ext>
            </a:extLst>
          </p:cNvPr>
          <p:cNvSpPr txBox="1"/>
          <p:nvPr/>
        </p:nvSpPr>
        <p:spPr>
          <a:xfrm>
            <a:off x="1270565" y="5653259"/>
            <a:ext cx="1475116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금속구조물창호공사업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58FCBBD-4067-4F52-B632-A63F13CEF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224" y="1020812"/>
            <a:ext cx="1905001" cy="25993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5D5EEA-22D9-4954-AC0C-10325E54055C}"/>
              </a:ext>
            </a:extLst>
          </p:cNvPr>
          <p:cNvSpPr txBox="1"/>
          <p:nvPr/>
        </p:nvSpPr>
        <p:spPr>
          <a:xfrm>
            <a:off x="1422075" y="2997070"/>
            <a:ext cx="1150429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건축공사업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EAB056D-0E36-4EF7-AC44-CB12B33A8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053" y="1096954"/>
            <a:ext cx="1851690" cy="25275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694814-AFFF-471B-A548-56F5F976B825}"/>
              </a:ext>
            </a:extLst>
          </p:cNvPr>
          <p:cNvSpPr txBox="1"/>
          <p:nvPr/>
        </p:nvSpPr>
        <p:spPr>
          <a:xfrm>
            <a:off x="6875852" y="2221547"/>
            <a:ext cx="1322497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안전보건경영시스템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EF13E03-FEC2-4490-B42A-DB7058F9B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5805" y="1084737"/>
            <a:ext cx="1793935" cy="25275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7E513F-2BED-4F9E-86DD-E3CF44C0278E}"/>
              </a:ext>
            </a:extLst>
          </p:cNvPr>
          <p:cNvSpPr txBox="1"/>
          <p:nvPr/>
        </p:nvSpPr>
        <p:spPr>
          <a:xfrm>
            <a:off x="8951997" y="2199726"/>
            <a:ext cx="1150429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환경경영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5B0489-2B9E-499B-92BD-461808E2A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487" y="3828526"/>
            <a:ext cx="1834256" cy="25397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1091DC-D6B6-47FD-A096-98ACA4BC408E}"/>
              </a:ext>
            </a:extLst>
          </p:cNvPr>
          <p:cNvSpPr txBox="1"/>
          <p:nvPr/>
        </p:nvSpPr>
        <p:spPr>
          <a:xfrm>
            <a:off x="6918683" y="5098395"/>
            <a:ext cx="1150429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품질경영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Box 34">
            <a:extLst>
              <a:ext uri="{FF2B5EF4-FFF2-40B4-BE49-F238E27FC236}">
                <a16:creationId xmlns:a16="http://schemas.microsoft.com/office/drawing/2014/main" id="{E7535A82-D055-4587-A612-CDED46221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239" y="4839162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7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 자격</a:t>
            </a:r>
            <a:endParaRPr kumimoji="0" lang="en-US" altLang="ko-KR" sz="1400" b="0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Box 34">
            <a:extLst>
              <a:ext uri="{FF2B5EF4-FFF2-40B4-BE49-F238E27FC236}">
                <a16:creationId xmlns:a16="http://schemas.microsoft.com/office/drawing/2014/main" id="{5D79FA40-AC74-4E37-AED0-3CD14E582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2559" y="4839162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7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ISO </a:t>
            </a:r>
            <a:r>
              <a:rPr lang="ko-KR" altLang="en-US" sz="1400" b="1" spc="-70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인증</a:t>
            </a:r>
            <a:endParaRPr kumimoji="0" lang="en-US" altLang="ko-KR" sz="1400" b="0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458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20EA4D0-CCB6-4B3B-81FF-298FF0BE4882}"/>
              </a:ext>
            </a:extLst>
          </p:cNvPr>
          <p:cNvSpPr txBox="1"/>
          <p:nvPr/>
        </p:nvSpPr>
        <p:spPr>
          <a:xfrm>
            <a:off x="152235" y="31520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상품카달로그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B18B46C-A2BE-4E74-B500-A629D8B33203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Group 2">
            <a:extLst>
              <a:ext uri="{FF2B5EF4-FFF2-40B4-BE49-F238E27FC236}">
                <a16:creationId xmlns:a16="http://schemas.microsoft.com/office/drawing/2014/main" id="{531960DC-39CC-4085-ADC9-87D2482007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358278"/>
              </p:ext>
            </p:extLst>
          </p:nvPr>
        </p:nvGraphicFramePr>
        <p:xfrm>
          <a:off x="152235" y="672902"/>
          <a:ext cx="11887530" cy="5586968"/>
        </p:xfrm>
        <a:graphic>
          <a:graphicData uri="http://schemas.openxmlformats.org/drawingml/2006/table">
            <a:tbl>
              <a:tblPr/>
              <a:tblGrid>
                <a:gridCol w="114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7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917">
                  <a:extLst>
                    <a:ext uri="{9D8B030D-6E8A-4147-A177-3AD203B41FA5}">
                      <a16:colId xmlns:a16="http://schemas.microsoft.com/office/drawing/2014/main" val="2788402363"/>
                    </a:ext>
                  </a:extLst>
                </a:gridCol>
                <a:gridCol w="851337">
                  <a:extLst>
                    <a:ext uri="{9D8B030D-6E8A-4147-A177-3AD203B41FA5}">
                      <a16:colId xmlns:a16="http://schemas.microsoft.com/office/drawing/2014/main" val="466813683"/>
                    </a:ext>
                  </a:extLst>
                </a:gridCol>
                <a:gridCol w="1088973">
                  <a:extLst>
                    <a:ext uri="{9D8B030D-6E8A-4147-A177-3AD203B41FA5}">
                      <a16:colId xmlns:a16="http://schemas.microsoft.com/office/drawing/2014/main" val="1320717705"/>
                    </a:ext>
                  </a:extLst>
                </a:gridCol>
                <a:gridCol w="2130303">
                  <a:extLst>
                    <a:ext uri="{9D8B030D-6E8A-4147-A177-3AD203B41FA5}">
                      <a16:colId xmlns:a16="http://schemas.microsoft.com/office/drawing/2014/main" val="1194320481"/>
                    </a:ext>
                  </a:extLst>
                </a:gridCol>
                <a:gridCol w="830424">
                  <a:extLst>
                    <a:ext uri="{9D8B030D-6E8A-4147-A177-3AD203B41FA5}">
                      <a16:colId xmlns:a16="http://schemas.microsoft.com/office/drawing/2014/main" val="3298937595"/>
                    </a:ext>
                  </a:extLst>
                </a:gridCol>
                <a:gridCol w="1850736">
                  <a:extLst>
                    <a:ext uri="{9D8B030D-6E8A-4147-A177-3AD203B41FA5}">
                      <a16:colId xmlns:a16="http://schemas.microsoft.com/office/drawing/2014/main" val="3023843295"/>
                    </a:ext>
                  </a:extLst>
                </a:gridCol>
              </a:tblGrid>
              <a:tr h="236829"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상품명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원상 복구 공사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Category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Interior</a:t>
                      </a:r>
                      <a:endParaRPr lang="ko-KR" altLang="en-US" sz="1100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출시 일정</a:t>
                      </a:r>
                      <a:endParaRPr lang="ko-KR" altLang="en-US" sz="1600"/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‘24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  <a:endParaRPr lang="ko-KR" altLang="en-US" sz="11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626"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PO(CM)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서성범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 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박현우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상품화담당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장재호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출시 유형</a:t>
                      </a:r>
                      <a:endParaRPr lang="ko-KR" altLang="en-US" sz="1600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Pilot</a:t>
                      </a:r>
                      <a:endParaRPr lang="ko-KR" altLang="en-US" sz="11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75"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 설명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임대차 계약만료 전</a:t>
                      </a: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100" b="1" i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임차 시점의 공간 상태로 임대인에게 반환하기 위한 상품 제공</a:t>
                      </a:r>
                      <a:endParaRPr lang="en-US" altLang="ko-KR" sz="1100" b="0" i="0" kern="12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kern="1200" spc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991">
                <a:tc rowSpan="3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서비스 유형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이미지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출시 가격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4,350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만원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(150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평 기준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평당 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29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만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매익률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31%)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공사범위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공사자재에 따라 가격 변동 有</a:t>
                      </a:r>
                      <a:endParaRPr kumimoji="1" lang="ko-KR" altLang="en-US" sz="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매출 유형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총액형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991">
                <a:tc v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타겟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사무실 이전 계획이 있는 기업체 담당자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업무지원팀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총무팀 등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창고 등 타용도로 사용 중인 공간을 오피스로 임대하고자 하는 임대인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Asset(PM, LM)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카테고리와 연계하여 중소형 빌딩 건물주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임차인 타겟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 타겟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  <a:defRPr/>
                      </a:pPr>
                      <a:endParaRPr lang="en-US" altLang="ko-KR" sz="1100" b="1" dirty="0">
                        <a:solidFill>
                          <a:prstClr val="black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6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매출 목표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prstClr val="black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당해 목표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매출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0.45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억원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수주확정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altLang="ko-KR" sz="1000" kern="1200" dirty="0">
                        <a:solidFill>
                          <a:prstClr val="black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16580"/>
                  </a:ext>
                </a:extLst>
              </a:tr>
              <a:tr h="1057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계획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4391025" algn="l"/>
                        </a:tabLst>
                        <a:defRPr/>
                      </a:pPr>
                      <a:r>
                        <a:rPr lang="ko-KR" altLang="en-US" sz="1200" b="1" dirty="0">
                          <a:solidFill>
                            <a:prstClr val="black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연말 사무실 이전 및 레이아웃 변경 계획이 있는 내부 사업장 고객사 대상</a:t>
                      </a:r>
                      <a:br>
                        <a:rPr lang="en-US" altLang="ko-KR" sz="1000" b="0" dirty="0">
                          <a:solidFill>
                            <a:prstClr val="black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1100" b="0" dirty="0">
                          <a:solidFill>
                            <a:prstClr val="black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KT&amp;G </a:t>
                      </a:r>
                      <a:r>
                        <a:rPr lang="ko-KR" altLang="en-US" sz="1100" b="0" dirty="0">
                          <a:solidFill>
                            <a:prstClr val="black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 내부 사업장 고객사</a:t>
                      </a:r>
                      <a:endParaRPr lang="en-US" altLang="ko-KR" sz="1100" b="0" dirty="0">
                        <a:solidFill>
                          <a:prstClr val="black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4391025" algn="l"/>
                        </a:tabLst>
                        <a:defRPr/>
                      </a:pPr>
                      <a:endParaRPr lang="en-US" altLang="ko-KR" sz="1100" b="0" dirty="0">
                        <a:solidFill>
                          <a:prstClr val="black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>
                          <a:tab pos="4391025" algn="l"/>
                        </a:tabLst>
                        <a:defRPr/>
                      </a:pPr>
                      <a:endParaRPr lang="en-US" altLang="ko-KR" sz="1100" b="0" dirty="0">
                        <a:solidFill>
                          <a:prstClr val="black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중장기 계획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-1714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  <a:defRPr/>
                      </a:pPr>
                      <a:r>
                        <a:rPr lang="ko-KR" altLang="en-US" sz="1050" b="1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사무환경개선 상품의 </a:t>
                      </a:r>
                      <a:r>
                        <a:rPr lang="en-US" altLang="ko-KR" sz="1050" b="1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Line-up </a:t>
                      </a:r>
                      <a:r>
                        <a:rPr lang="ko-KR" altLang="en-US" sz="1050" b="1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확대</a:t>
                      </a:r>
                      <a:endParaRPr lang="en-US" altLang="ko-KR" sz="1050" b="1" dirty="0">
                        <a:solidFill>
                          <a:prstClr val="black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lvl="0">
                        <a:spcBef>
                          <a:spcPts val="600"/>
                        </a:spcBef>
                        <a:defRPr/>
                      </a:pPr>
                      <a:r>
                        <a:rPr lang="en-US" altLang="ko-KR" sz="100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- 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사무환경개선 공사 전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공간상태를 영상과 데이터로 보관한 후</a:t>
                      </a:r>
                      <a:b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임대차계약 만료시점에 임대인과의 원상복구 협의 자료로 활용할 수 있도록 </a:t>
                      </a:r>
                      <a:b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정보를 제공함으로써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Long-term Customer 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수주에 기여</a:t>
                      </a:r>
                      <a:endParaRPr lang="en-US" altLang="ko-KR" sz="1050" dirty="0">
                        <a:solidFill>
                          <a:prstClr val="black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lvl="0">
                        <a:spcBef>
                          <a:spcPts val="600"/>
                        </a:spcBef>
                        <a:defRPr/>
                      </a:pP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- 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사무실 이전 정보를 취득하여 사무환경개선 상품 </a:t>
                      </a:r>
                      <a:r>
                        <a:rPr lang="en-US" altLang="ko-KR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Value chain</a:t>
                      </a:r>
                      <a:r>
                        <a:rPr lang="ko-KR" altLang="en-US" sz="1050" dirty="0">
                          <a:solidFill>
                            <a:prstClr val="black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으로 활용</a:t>
                      </a:r>
                      <a:endParaRPr lang="en-US" altLang="ko-KR" sz="1050" dirty="0">
                        <a:solidFill>
                          <a:prstClr val="black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indent="-1714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원상복구공사 후 인테리어 공사로 이어지는 공사의 연계성 확대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indent="-1714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  <a:defRPr/>
                      </a:pP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향후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Asset(PM, LM)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카테고리와 연계하여 중소형 빌딩 타겟 확대</a:t>
                      </a:r>
                      <a:endParaRPr lang="en-US" altLang="ko-KR" sz="1050" b="1" kern="12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171450" lvl="0" indent="-171450">
                        <a:buFont typeface="Wingdings" panose="05000000000000000000" pitchFamily="2" charset="2"/>
                        <a:buChar char="ü"/>
                        <a:defRPr/>
                      </a:pPr>
                      <a:endParaRPr lang="en-US" altLang="ko-KR" sz="1000" b="0" dirty="0">
                        <a:solidFill>
                          <a:prstClr val="black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628427"/>
                  </a:ext>
                </a:extLst>
              </a:tr>
              <a:tr h="280276">
                <a:tc rowSpan="4">
                  <a:txBody>
                    <a:bodyPr/>
                    <a:lstStyle/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니즈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358775" marR="0" lvl="0" indent="-358775" algn="ctr" defTabSz="957263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검증결과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Pilot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상품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‘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이용 고객사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’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해당 건물의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‘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임대인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’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을 대상으로 인터뷰를 진행하여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상품 출시 전에 </a:t>
                      </a:r>
                      <a:r>
                        <a:rPr kumimoji="0" lang="en-US" altLang="ko-K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USP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관점에서의 레퍼런스 보완 및 협력사와의 업무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Process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를 최적화하고자 함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파트너사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</a:p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 관련</a:t>
                      </a:r>
                      <a:endParaRPr lang="en-US" altLang="ko-KR" sz="9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중점 검토사항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파트너사 검토 의견 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개발구매팀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파트너사 검토 의견 </a:t>
                      </a:r>
                      <a:r>
                        <a:rPr lang="en-US" altLang="ko-KR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개발구매팀</a:t>
                      </a:r>
                      <a:r>
                        <a:rPr lang="en-US" altLang="ko-KR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파트너사 검토 의견 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개발구매팀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1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929070"/>
                  </a:ext>
                </a:extLst>
              </a:tr>
              <a:tr h="381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종합적으로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’23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결산까지 우수한 재무건전성을 보유하고 있으며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산업 평균을 크게 웃도는 매우 높은 성장성을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보이고 있어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파트너사 운용에 큰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RISK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는 보이지 않을 것으로 사료됨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종합적으로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’23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년 결산까지 우수한 재무건전성을 보유하고 있으며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산업 평균을 크게 웃도는 매우 높은 성장성을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보이고 있어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파트너사 운용에 큰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RISK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는 보이지 않을 것으로 사료됨</a:t>
                      </a:r>
                      <a:endParaRPr lang="ko-KR" altLang="en-US" dirty="0"/>
                    </a:p>
                  </a:txBody>
                  <a:tcPr anchor="ctr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종합적으로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’23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년 결산까지 우수한 재무건전성을 보유하고 있으며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산업 평균을 크게 웃도는 매우 높은 성장성을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보이고 있어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파트너사 운용에 큰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RISK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는 보이지 않을 것으로 사료됨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b="1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547784"/>
                  </a:ext>
                </a:extLst>
              </a:tr>
              <a:tr h="279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 검토 의견 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품질관리팀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안전보건팀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 검토 의견 </a:t>
                      </a:r>
                      <a:r>
                        <a:rPr lang="en-US" altLang="ko-KR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품질관리팀</a:t>
                      </a:r>
                      <a:r>
                        <a:rPr lang="en-US" altLang="ko-KR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안전보건팀</a:t>
                      </a:r>
                      <a:r>
                        <a:rPr lang="en-US" altLang="ko-KR" sz="11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dirty="0"/>
                    </a:p>
                  </a:txBody>
                  <a:tcPr anchor="ctr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 검토 의견 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품질관리팀</a:t>
                      </a:r>
                      <a:r>
                        <a:rPr lang="en-US" altLang="ko-KR" sz="11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1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215792"/>
                  </a:ext>
                </a:extLst>
              </a:tr>
              <a:tr h="680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품질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1)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 관리는 </a:t>
                      </a:r>
                      <a:r>
                        <a:rPr lang="en-US" altLang="ko-KR" sz="9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atG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 관리 </a:t>
                      </a:r>
                      <a:r>
                        <a:rPr lang="ko-KR" altLang="en-US" sz="9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매뉴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활용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 완료 확인서 수취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A/S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처리 절차 등 보완 완료 하였음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1)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고소 작업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비계 작업등당사 중대위험작업 시 해당 프로세스 절차에 맞춰 작업 실시 바람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.(</a:t>
                      </a:r>
                      <a:r>
                        <a:rPr lang="ko-KR" altLang="en-US" sz="9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공사성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제품에 따른 공사 수주심의 </a:t>
                      </a:r>
                      <a:b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 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및 </a:t>
                      </a:r>
                      <a:r>
                        <a:rPr lang="en-US" altLang="ko-KR" sz="9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atG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계약 필요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2)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설치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철거 중 안전사고 발생 가능성이 있는 요소가 다수 존재하므로 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 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혹은 안전관리 인원의 철저한 현장 관리 감독 필요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[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안전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] 1)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고소 작업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,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비계 작업 등 당사 중대위험작업 시 해당 프로세스 절차에 맞춰 작업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실시 바람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. (</a:t>
                      </a:r>
                      <a:r>
                        <a:rPr lang="ko-KR" altLang="en-US" sz="1050" dirty="0" err="1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공사성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제품에 따른 공사 수주심의 및 </a:t>
                      </a:r>
                      <a:b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</a:b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    </a:t>
                      </a:r>
                      <a:r>
                        <a:rPr lang="en-US" altLang="ko-KR" sz="1050" dirty="0" err="1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atG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계약 필요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2)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설치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/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철거 중 안전사고 발생 가능성이 있는 요소가 다수 존재하므로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PO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혹은 안전관리 인원의 철저한 현장 관리 감독 필요</a:t>
                      </a:r>
                      <a:endParaRPr lang="en-US" altLang="ko-KR" sz="1050" dirty="0">
                        <a:latin typeface="Poppins Light" panose="00000400000000000000" pitchFamily="2" charset="0"/>
                        <a:ea typeface="Pretendard" panose="02000503000000020004" pitchFamily="2" charset="-127"/>
                        <a:cs typeface="Poppins Light" panose="00000400000000000000" pitchFamily="2" charset="0"/>
                      </a:endParaRPr>
                    </a:p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[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품질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] 1)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관리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Process(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서비스관리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) :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있음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(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공사관리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)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공사관리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,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공사 진행관련 세부내역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/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기준 등 보완 되어야 하며 당사 관리 </a:t>
                      </a:r>
                      <a:b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</a:b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    Process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중 업체에 전달이 필요한 사항은 시방서를 통해 업체 전달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(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시방서 별첨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)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</a:t>
                      </a:r>
                      <a:endParaRPr lang="en-US" altLang="ko-KR" sz="1050" dirty="0">
                        <a:latin typeface="Poppins Light" panose="00000400000000000000" pitchFamily="2" charset="0"/>
                        <a:ea typeface="Pretendard" panose="02000503000000020004" pitchFamily="2" charset="-127"/>
                        <a:cs typeface="Poppins Light" panose="00000400000000000000" pitchFamily="2" charset="0"/>
                      </a:endParaRPr>
                    </a:p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2)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공사 점검 체크리스트 →공사 관리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Process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에 누가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,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언제 점검할 것인지 명확화 필요</a:t>
                      </a:r>
                    </a:p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3)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불만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/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불편 접수 대장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: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없음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(</a:t>
                      </a:r>
                      <a:r>
                        <a:rPr lang="ko-KR" altLang="en-US" sz="1050" dirty="0" err="1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출시후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판매 전까지 양식 구비 및 월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1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회 취합 필요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)</a:t>
                      </a:r>
                      <a:endParaRPr lang="ko-KR" altLang="en-US" dirty="0"/>
                    </a:p>
                  </a:txBody>
                  <a:tcPr anchor="ctr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[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안전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] 1)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고소 작업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,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비계 작업 등 당사 중대위험작업 시 해당 프로세스 절차에 맞춰 작업 </a:t>
                      </a:r>
                      <a:b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</a:b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  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실시 바람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. (</a:t>
                      </a:r>
                      <a:r>
                        <a:rPr lang="ko-KR" altLang="en-US" sz="1050" dirty="0" err="1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공사성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제품에 따른 공사 수주심의 및 </a:t>
                      </a:r>
                      <a:r>
                        <a:rPr lang="en-US" altLang="ko-KR" sz="1050" dirty="0" err="1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atG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계약 필요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2)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설치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/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철거 중 안전사고 발생 가능성이 있는 요소가 다수 존재하므로 </a:t>
                      </a: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PO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혹은 </a:t>
                      </a:r>
                      <a:b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</a:br>
                      <a:r>
                        <a:rPr lang="en-US" altLang="ko-KR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             </a:t>
                      </a:r>
                      <a:r>
                        <a:rPr lang="ko-KR" altLang="en-US" sz="1050" dirty="0">
                          <a:latin typeface="Poppins Light" panose="00000400000000000000" pitchFamily="2" charset="0"/>
                          <a:ea typeface="Pretendard" panose="02000503000000020004" pitchFamily="2" charset="-127"/>
                          <a:cs typeface="Poppins Light" panose="00000400000000000000" pitchFamily="2" charset="0"/>
                        </a:rPr>
                        <a:t>안전관리 인원의 철저한 현장 관리 감독 필요</a:t>
                      </a:r>
                    </a:p>
                    <a:p>
                      <a:pPr latinLnBrk="1"/>
                      <a:endParaRPr lang="ko-KR" altLang="en-US" sz="105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4239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9FFB55D-96F6-4141-83F6-48898DE298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714"/>
          <a:stretch/>
        </p:blipFill>
        <p:spPr>
          <a:xfrm>
            <a:off x="1406779" y="1794385"/>
            <a:ext cx="4637953" cy="11055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D087C03-A0CA-4956-947D-890FCBAA33F6}"/>
              </a:ext>
            </a:extLst>
          </p:cNvPr>
          <p:cNvSpPr/>
          <p:nvPr/>
        </p:nvSpPr>
        <p:spPr>
          <a:xfrm>
            <a:off x="383241" y="348344"/>
            <a:ext cx="99211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0070C0"/>
                </a:solidFill>
              </a:rPr>
              <a:t>https://</a:t>
            </a:r>
            <a:r>
              <a:rPr lang="en-US" altLang="ko-KR" sz="1050" dirty="0" err="1">
                <a:solidFill>
                  <a:srgbClr val="0070C0"/>
                </a:solidFill>
              </a:rPr>
              <a:t>app.swit.io</a:t>
            </a:r>
            <a:r>
              <a:rPr lang="en-US" altLang="ko-KR" sz="1050" dirty="0">
                <a:solidFill>
                  <a:srgbClr val="0070C0"/>
                </a:solidFill>
              </a:rPr>
              <a:t>/</a:t>
            </a:r>
            <a:r>
              <a:rPr lang="en-US" altLang="ko-KR" sz="1050" dirty="0" err="1">
                <a:solidFill>
                  <a:srgbClr val="0070C0"/>
                </a:solidFill>
              </a:rPr>
              <a:t>share-route?route_type</a:t>
            </a:r>
            <a:r>
              <a:rPr lang="en-US" altLang="ko-KR" sz="1050" dirty="0">
                <a:solidFill>
                  <a:srgbClr val="0070C0"/>
                </a:solidFill>
              </a:rPr>
              <a:t>=</a:t>
            </a:r>
            <a:r>
              <a:rPr lang="en-US" altLang="ko-KR" sz="1050" dirty="0" err="1">
                <a:solidFill>
                  <a:srgbClr val="0070C0"/>
                </a:solidFill>
              </a:rPr>
              <a:t>project&amp;route_variables</a:t>
            </a:r>
            <a:r>
              <a:rPr lang="en-US" altLang="ko-KR" sz="1050" dirty="0">
                <a:solidFill>
                  <a:srgbClr val="0070C0"/>
                </a:solidFill>
              </a:rPr>
              <a:t>=2203232318423801zWv%2C230209043740C7LjvOQ%2C24102901471056ZUT9E1%2C</a:t>
            </a:r>
            <a:endParaRPr lang="ko-KR" altLang="en-US" sz="1050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D38A6-C038-4AAA-A3CE-826F24DD088C}"/>
              </a:ext>
            </a:extLst>
          </p:cNvPr>
          <p:cNvSpPr txBox="1"/>
          <p:nvPr/>
        </p:nvSpPr>
        <p:spPr>
          <a:xfrm>
            <a:off x="11067883" y="152133"/>
            <a:ext cx="1061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Beta Release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9A02BE0-3B21-4694-9328-1E613E0A0F3E}"/>
              </a:ext>
            </a:extLst>
          </p:cNvPr>
          <p:cNvSpPr/>
          <p:nvPr/>
        </p:nvSpPr>
        <p:spPr>
          <a:xfrm>
            <a:off x="10796282" y="216186"/>
            <a:ext cx="162963" cy="1626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4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22775B-9FCF-4EAD-91A8-F7F8507E3FA7}"/>
              </a:ext>
            </a:extLst>
          </p:cNvPr>
          <p:cNvSpPr/>
          <p:nvPr/>
        </p:nvSpPr>
        <p:spPr>
          <a:xfrm>
            <a:off x="10796284" y="408523"/>
            <a:ext cx="162963" cy="162670"/>
          </a:xfrm>
          <a:prstGeom prst="rect">
            <a:avLst/>
          </a:prstGeom>
          <a:solidFill>
            <a:srgbClr val="E921C0"/>
          </a:solidFill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20A38-4640-4A47-82A3-EF4BAE60CD49}"/>
              </a:ext>
            </a:extLst>
          </p:cNvPr>
          <p:cNvSpPr txBox="1"/>
          <p:nvPr/>
        </p:nvSpPr>
        <p:spPr>
          <a:xfrm>
            <a:off x="10904922" y="350547"/>
            <a:ext cx="13047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Grand Launching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E5955A-395B-4BC2-9BC8-7DCF3315F7B2}"/>
              </a:ext>
            </a:extLst>
          </p:cNvPr>
          <p:cNvSpPr/>
          <p:nvPr/>
        </p:nvSpPr>
        <p:spPr>
          <a:xfrm>
            <a:off x="10796282" y="28235"/>
            <a:ext cx="162963" cy="16267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1D6B88-D88C-4946-AA47-8BF79FAA7CDF}"/>
              </a:ext>
            </a:extLst>
          </p:cNvPr>
          <p:cNvSpPr txBox="1"/>
          <p:nvPr/>
        </p:nvSpPr>
        <p:spPr>
          <a:xfrm>
            <a:off x="11683514" y="-37280"/>
            <a:ext cx="526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Pilot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40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27086AC-8338-4ED3-9223-D4D7EA8104D9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694FB1-2F8A-4B35-B81B-39E4B484CF98}"/>
              </a:ext>
            </a:extLst>
          </p:cNvPr>
          <p:cNvSpPr txBox="1"/>
          <p:nvPr/>
        </p:nvSpPr>
        <p:spPr>
          <a:xfrm>
            <a:off x="487183" y="4133704"/>
            <a:ext cx="6688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상품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프라이싱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타입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63559F1-C9E5-4BEE-BBC8-112D0D0BE6F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9006" y="4498317"/>
          <a:ext cx="6218002" cy="1932483"/>
        </p:xfrm>
        <a:graphic>
          <a:graphicData uri="http://schemas.openxmlformats.org/drawingml/2006/table">
            <a:tbl>
              <a:tblPr/>
              <a:tblGrid>
                <a:gridCol w="1746621">
                  <a:extLst>
                    <a:ext uri="{9D8B030D-6E8A-4147-A177-3AD203B41FA5}">
                      <a16:colId xmlns:a16="http://schemas.microsoft.com/office/drawing/2014/main" val="739331623"/>
                    </a:ext>
                  </a:extLst>
                </a:gridCol>
                <a:gridCol w="3837699">
                  <a:extLst>
                    <a:ext uri="{9D8B030D-6E8A-4147-A177-3AD203B41FA5}">
                      <a16:colId xmlns:a16="http://schemas.microsoft.com/office/drawing/2014/main" val="3962264189"/>
                    </a:ext>
                  </a:extLst>
                </a:gridCol>
                <a:gridCol w="633682">
                  <a:extLst>
                    <a:ext uri="{9D8B030D-6E8A-4147-A177-3AD203B41FA5}">
                      <a16:colId xmlns:a16="http://schemas.microsoft.com/office/drawing/2014/main" val="3618959617"/>
                    </a:ext>
                  </a:extLst>
                </a:gridCol>
              </a:tblGrid>
              <a:tr h="39674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</a:t>
                      </a:r>
                    </a:p>
                  </a:txBody>
                  <a:tcPr marL="16845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16845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해당</a:t>
                      </a:r>
                    </a:p>
                  </a:txBody>
                  <a:tcPr marL="16845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421503"/>
                  </a:ext>
                </a:extLst>
              </a:tr>
              <a:tr h="383935"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dirty="0">
                          <a:effectLst/>
                          <a:highlight>
                            <a:srgbClr val="FFFF00"/>
                          </a:highlight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이코노미</a:t>
                      </a:r>
                      <a:r>
                        <a:rPr lang="en-US" altLang="ko-KR" sz="1200" dirty="0">
                          <a:effectLst/>
                          <a:highlight>
                            <a:srgbClr val="FFFF00"/>
                          </a:highlight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Economy)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과열 경쟁시장으로 가격 경쟁력을 확보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최소한의 품질경쟁력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b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 상품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서비스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은 경쟁사 대비 낮은 가격에 공급 가능한가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dirty="0">
                          <a:effectLst/>
                          <a:highlight>
                            <a:srgbClr val="FFFF00"/>
                          </a:highlight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</a:t>
                      </a:r>
                    </a:p>
                  </a:txBody>
                  <a:tcPr marL="18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996607"/>
                  </a:ext>
                </a:extLst>
              </a:tr>
              <a:tr h="383935"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프리미엄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Premium)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경쟁 업체 대비 기술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가치 우위를 확보</a:t>
                      </a:r>
                      <a:b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 상품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서비스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은 고객에게 가치가 있는 </a:t>
                      </a:r>
                      <a:r>
                        <a:rPr lang="ko-KR" altLang="en-US" sz="11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베네핏을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제공하는가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346963"/>
                  </a:ext>
                </a:extLst>
              </a:tr>
              <a:tr h="383935"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스키밍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Skimming)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시장을 선점하여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독과점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가격 프리미엄 상한 적용</a:t>
                      </a:r>
                      <a:b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 제품 대비 가치로 고객을 설득할 수 있는가</a:t>
                      </a:r>
                      <a:r>
                        <a:rPr lang="en-US" altLang="ko-KR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100" b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620420"/>
                  </a:ext>
                </a:extLst>
              </a:tr>
              <a:tr h="383935"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b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침투 가격</a:t>
                      </a:r>
                      <a:r>
                        <a:rPr lang="en-US" altLang="ko-KR" sz="1200" b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sz="1200" b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Penetration)</a:t>
                      </a: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1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낮은 가격으로 시장을 선점한 확장성을 계획</a:t>
                      </a:r>
                      <a:endParaRPr lang="en-US" altLang="ko-KR" sz="110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8000" marR="16845" marT="11230" marB="1123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327840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E8A018-C810-4D0C-B8C0-5C2FFBA08967}"/>
              </a:ext>
            </a:extLst>
          </p:cNvPr>
          <p:cNvSpPr/>
          <p:nvPr/>
        </p:nvSpPr>
        <p:spPr>
          <a:xfrm>
            <a:off x="487183" y="1333485"/>
            <a:ext cx="3069749" cy="307777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1)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선정 및 상품 컨셉 재 정의</a:t>
            </a:r>
            <a:endParaRPr kumimoji="0" lang="en-US" altLang="ko-KR" sz="1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Box 34">
            <a:extLst>
              <a:ext uri="{FF2B5EF4-FFF2-40B4-BE49-F238E27FC236}">
                <a16:creationId xmlns:a16="http://schemas.microsoft.com/office/drawing/2014/main" id="{73C28064-48DE-4A17-B8A7-303426B74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170" y="756342"/>
            <a:ext cx="2294362" cy="37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가격 책정</a:t>
            </a:r>
            <a:endParaRPr kumimoji="0" lang="en-US" altLang="ko-KR" sz="1400" b="0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E67676-AF9C-48A0-BAE9-83621825609E}"/>
              </a:ext>
            </a:extLst>
          </p:cNvPr>
          <p:cNvSpPr txBox="1"/>
          <p:nvPr/>
        </p:nvSpPr>
        <p:spPr>
          <a:xfrm>
            <a:off x="249382" y="116378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경쟁시장 분석 및 가격 책정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6D70ECB-C846-42E3-BB24-AE6239EE506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9005" y="1717006"/>
          <a:ext cx="10850954" cy="2115704"/>
        </p:xfrm>
        <a:graphic>
          <a:graphicData uri="http://schemas.openxmlformats.org/drawingml/2006/table">
            <a:tbl>
              <a:tblPr/>
              <a:tblGrid>
                <a:gridCol w="656494">
                  <a:extLst>
                    <a:ext uri="{9D8B030D-6E8A-4147-A177-3AD203B41FA5}">
                      <a16:colId xmlns:a16="http://schemas.microsoft.com/office/drawing/2014/main" val="967711561"/>
                    </a:ext>
                  </a:extLst>
                </a:gridCol>
                <a:gridCol w="3902908">
                  <a:extLst>
                    <a:ext uri="{9D8B030D-6E8A-4147-A177-3AD203B41FA5}">
                      <a16:colId xmlns:a16="http://schemas.microsoft.com/office/drawing/2014/main" val="392958992"/>
                    </a:ext>
                  </a:extLst>
                </a:gridCol>
                <a:gridCol w="6291552">
                  <a:extLst>
                    <a:ext uri="{9D8B030D-6E8A-4147-A177-3AD203B41FA5}">
                      <a16:colId xmlns:a16="http://schemas.microsoft.com/office/drawing/2014/main" val="1956899167"/>
                    </a:ext>
                  </a:extLst>
                </a:gridCol>
              </a:tblGrid>
              <a:tr h="33572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16749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</a:t>
                      </a:r>
                    </a:p>
                  </a:txBody>
                  <a:tcPr marL="16749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원상 복구 공사</a:t>
                      </a:r>
                    </a:p>
                  </a:txBody>
                  <a:tcPr marL="16749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07751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16749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타겟 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누구에게 제안할 것인가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?)</a:t>
                      </a:r>
                    </a:p>
                  </a:txBody>
                  <a:tcPr marL="72000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사무실 이전 계획이 있는 기업체 담당자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업무지원팀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총무팀 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indent="-171450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창고 등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타용도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공간을 오피스 공간으로 임대하고자 하는 임대인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1014944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16749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니즈 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고객은 어떤 문제에 대한 해결이 필요한가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?)</a:t>
                      </a:r>
                    </a:p>
                  </a:txBody>
                  <a:tcPr marL="72000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사무실 이전에 따른 예산 수립의 타당성 및 적정 공사업체 선정의 어려움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원상복구에 대한 임대인과 임차인간의 기대 수준 차이에서 발생하는 갈등과 비용 이슈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3625476"/>
                  </a:ext>
                </a:extLst>
              </a:tr>
              <a:tr h="8769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16749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 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USP (</a:t>
                      </a:r>
                      <a:r>
                        <a:rPr lang="ko-KR" altLang="en-US" sz="120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소구</a:t>
                      </a:r>
                      <a:r>
                        <a:rPr lang="ko-KR" altLang="en-US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포인트</a:t>
                      </a:r>
                      <a:r>
                        <a:rPr lang="en-US" altLang="ko-KR" sz="12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72000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합리적 가격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사전에 협의된 최소한의 품질에 맞춤형 가격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편리성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심리적 가치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: FM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 관리와 일체화된 서비스 제공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타임차인들의 소음 및 비산먼지 발생에 따른 민원 응대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 인원 및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입출차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관리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FM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 및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공사</a:t>
                      </a:r>
                      <a:b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관리 표준 절차 준수 등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16749" marT="11166" marB="1116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151814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9B9FD2FB-CCF5-492B-AEF2-6E5BA6B15655}"/>
              </a:ext>
            </a:extLst>
          </p:cNvPr>
          <p:cNvGrpSpPr/>
          <p:nvPr/>
        </p:nvGrpSpPr>
        <p:grpSpPr>
          <a:xfrm>
            <a:off x="7529804" y="4292082"/>
            <a:ext cx="3166159" cy="2456861"/>
            <a:chOff x="1458407" y="4085438"/>
            <a:chExt cx="3080735" cy="253016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6C7DCA7-960C-4487-BF06-2BDFA6256F0B}"/>
                </a:ext>
              </a:extLst>
            </p:cNvPr>
            <p:cNvGrpSpPr/>
            <p:nvPr/>
          </p:nvGrpSpPr>
          <p:grpSpPr>
            <a:xfrm>
              <a:off x="1895911" y="4085438"/>
              <a:ext cx="2643231" cy="2252275"/>
              <a:chOff x="220133" y="457200"/>
              <a:chExt cx="8763000" cy="5867400"/>
            </a:xfrm>
          </p:grpSpPr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CB3D5927-2959-4C32-AC30-BC51C5C793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8600" y="457200"/>
                <a:ext cx="0" cy="5867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2D535105-900F-4CCF-BDBB-5F24B3007B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133" y="6307669"/>
                <a:ext cx="8763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7E5849EA-B458-4744-B04F-CF943DD2C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5911" y="4228051"/>
              <a:ext cx="2449586" cy="20966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E85DB2B-E22F-4AFD-BB84-4875CCAF0A4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911" y="5247157"/>
              <a:ext cx="264323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228522D-E135-4F21-9C24-91D4638D54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7603" y="4085438"/>
              <a:ext cx="0" cy="2239278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7346E1-16C8-43F8-88E0-2CF623492774}"/>
                </a:ext>
              </a:extLst>
            </p:cNvPr>
            <p:cNvSpPr txBox="1"/>
            <p:nvPr/>
          </p:nvSpPr>
          <p:spPr>
            <a:xfrm>
              <a:off x="1458407" y="5113631"/>
              <a:ext cx="41106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가격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F2408B-B231-4727-BE11-F5E4DA8C5D0F}"/>
                </a:ext>
              </a:extLst>
            </p:cNvPr>
            <p:cNvSpPr txBox="1"/>
            <p:nvPr/>
          </p:nvSpPr>
          <p:spPr>
            <a:xfrm>
              <a:off x="2992073" y="6369385"/>
              <a:ext cx="41106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품질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1D4277-F330-40FC-94EB-B1527A873798}"/>
                </a:ext>
              </a:extLst>
            </p:cNvPr>
            <p:cNvSpPr txBox="1"/>
            <p:nvPr/>
          </p:nvSpPr>
          <p:spPr>
            <a:xfrm>
              <a:off x="2119503" y="4443519"/>
              <a:ext cx="857062" cy="245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kumimoji="0" lang="ko-KR" altLang="en-US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스키밍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E3157B-1827-482A-8682-09D99CBE06B3}"/>
                </a:ext>
              </a:extLst>
            </p:cNvPr>
            <p:cNvSpPr txBox="1"/>
            <p:nvPr/>
          </p:nvSpPr>
          <p:spPr>
            <a:xfrm>
              <a:off x="3544307" y="4443519"/>
              <a:ext cx="857062" cy="245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kumimoji="0" lang="ko-KR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프리미엄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86A2D18-8C0C-4494-8C89-444AD1119CF6}"/>
                </a:ext>
              </a:extLst>
            </p:cNvPr>
            <p:cNvSpPr txBox="1"/>
            <p:nvPr/>
          </p:nvSpPr>
          <p:spPr>
            <a:xfrm>
              <a:off x="3544307" y="5593430"/>
              <a:ext cx="857062" cy="245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kumimoji="0" lang="ko-KR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침투가격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B4B71D-5CBB-4634-A3D0-F0D12A034870}"/>
                </a:ext>
              </a:extLst>
            </p:cNvPr>
            <p:cNvSpPr txBox="1"/>
            <p:nvPr/>
          </p:nvSpPr>
          <p:spPr>
            <a:xfrm>
              <a:off x="2119503" y="5593430"/>
              <a:ext cx="857062" cy="245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kumimoji="0" lang="ko-KR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이코노미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897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27086AC-8338-4ED3-9223-D4D7EA8104D9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E67676-AF9C-48A0-BAE9-83621825609E}"/>
              </a:ext>
            </a:extLst>
          </p:cNvPr>
          <p:cNvSpPr txBox="1"/>
          <p:nvPr/>
        </p:nvSpPr>
        <p:spPr>
          <a:xfrm>
            <a:off x="249382" y="116378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en-US" b="1" dirty="0">
                <a:solidFill>
                  <a:prstClr val="black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경쟁시장 분석 및 가격 책정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09870A-5C76-465E-9968-2F2067DD4B9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3126" y="1962991"/>
          <a:ext cx="10369065" cy="1289732"/>
        </p:xfrm>
        <a:graphic>
          <a:graphicData uri="http://schemas.openxmlformats.org/drawingml/2006/table">
            <a:tbl>
              <a:tblPr/>
              <a:tblGrid>
                <a:gridCol w="1938129">
                  <a:extLst>
                    <a:ext uri="{9D8B030D-6E8A-4147-A177-3AD203B41FA5}">
                      <a16:colId xmlns:a16="http://schemas.microsoft.com/office/drawing/2014/main" val="1049969860"/>
                    </a:ext>
                  </a:extLst>
                </a:gridCol>
                <a:gridCol w="1568696">
                  <a:extLst>
                    <a:ext uri="{9D8B030D-6E8A-4147-A177-3AD203B41FA5}">
                      <a16:colId xmlns:a16="http://schemas.microsoft.com/office/drawing/2014/main" val="3116205072"/>
                    </a:ext>
                  </a:extLst>
                </a:gridCol>
                <a:gridCol w="1568696">
                  <a:extLst>
                    <a:ext uri="{9D8B030D-6E8A-4147-A177-3AD203B41FA5}">
                      <a16:colId xmlns:a16="http://schemas.microsoft.com/office/drawing/2014/main" val="1273985187"/>
                    </a:ext>
                  </a:extLst>
                </a:gridCol>
                <a:gridCol w="1568696">
                  <a:extLst>
                    <a:ext uri="{9D8B030D-6E8A-4147-A177-3AD203B41FA5}">
                      <a16:colId xmlns:a16="http://schemas.microsoft.com/office/drawing/2014/main" val="2818718479"/>
                    </a:ext>
                  </a:extLst>
                </a:gridCol>
                <a:gridCol w="1568696">
                  <a:extLst>
                    <a:ext uri="{9D8B030D-6E8A-4147-A177-3AD203B41FA5}">
                      <a16:colId xmlns:a16="http://schemas.microsoft.com/office/drawing/2014/main" val="2319795032"/>
                    </a:ext>
                  </a:extLst>
                </a:gridCol>
                <a:gridCol w="2156152">
                  <a:extLst>
                    <a:ext uri="{9D8B030D-6E8A-4147-A177-3AD203B41FA5}">
                      <a16:colId xmlns:a16="http://schemas.microsoft.com/office/drawing/2014/main" val="3958808775"/>
                    </a:ext>
                  </a:extLst>
                </a:gridCol>
              </a:tblGrid>
              <a:tr h="318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 분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S&amp;I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㈜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국대인테리어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라움아이앤씨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아성디자인㈜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073576"/>
                  </a:ext>
                </a:extLst>
              </a:tr>
              <a:tr h="5897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Price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2860" marR="22860" marT="15240" marB="152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4,350</a:t>
                      </a:r>
                      <a:r>
                        <a:rPr lang="ko-KR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3,490</a:t>
                      </a:r>
                      <a:r>
                        <a:rPr lang="ko-KR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5,300</a:t>
                      </a:r>
                      <a:r>
                        <a:rPr lang="ko-KR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8,250</a:t>
                      </a:r>
                      <a:r>
                        <a:rPr lang="ko-KR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5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견적 기준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</a:p>
                    <a:p>
                      <a:pPr algn="l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오피스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py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석고보드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및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카페트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경량 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칸막이 회의실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개소 철거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원복자재는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사급자재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사용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설비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통신 공사 제외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0545595"/>
                  </a:ext>
                </a:extLst>
              </a:tr>
              <a:tr h="3811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price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per 3.3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㎡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r" rtl="0" font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2860" marR="22860" marT="15240" marB="152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6017585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D36E3B7A-9FF5-48C3-BD7A-11BC439BB32D}"/>
              </a:ext>
            </a:extLst>
          </p:cNvPr>
          <p:cNvSpPr txBox="1"/>
          <p:nvPr/>
        </p:nvSpPr>
        <p:spPr>
          <a:xfrm>
            <a:off x="422906" y="775548"/>
            <a:ext cx="10866618" cy="9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 </a:t>
            </a:r>
            <a:r>
              <a:rPr lang="ko-KR" altLang="en-US" sz="1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이코노미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가격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계약주체이지만 실사용자가 아닌 고객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임차인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에게 적합한 ‘이코노미’ 가격 제공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계약주체인 임차인은 퇴거로 인한 원상복구의무자로써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 보다는 최소 비용 지출의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Needs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큼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-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일반적으로 계약주체는 현장에 상주하지 않으며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 이슈는 이해관계자인 임대인과 갈등 요인이 되고 있어서 이의 중재 역량이 중요함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81C30B6-6B70-4F6D-A53D-741BF73B2F7A}"/>
              </a:ext>
            </a:extLst>
          </p:cNvPr>
          <p:cNvGrpSpPr/>
          <p:nvPr/>
        </p:nvGrpSpPr>
        <p:grpSpPr>
          <a:xfrm>
            <a:off x="2854555" y="3291455"/>
            <a:ext cx="3050381" cy="271907"/>
            <a:chOff x="2854555" y="3291455"/>
            <a:chExt cx="3050381" cy="271907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CF4D2ED-2DD1-4A08-804F-C5D8BB7B96C3}"/>
                </a:ext>
              </a:extLst>
            </p:cNvPr>
            <p:cNvSpPr/>
            <p:nvPr/>
          </p:nvSpPr>
          <p:spPr>
            <a:xfrm>
              <a:off x="2963469" y="3317141"/>
              <a:ext cx="29414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파트너사 및 매입가격 </a:t>
              </a:r>
              <a:r>
                <a:rPr lang="en-US" altLang="ko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</a:t>
              </a:r>
              <a:r>
                <a:rPr lang="ko-KR" altLang="en-US" sz="10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아이본건설</a:t>
              </a:r>
              <a:r>
                <a:rPr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㈜</a:t>
              </a:r>
              <a:r>
                <a:rPr lang="en-US" altLang="ko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; 3,010</a:t>
              </a:r>
              <a:r>
                <a:rPr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</a:t>
              </a:r>
              <a:endPara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1D5250DB-3BEF-4559-9A44-45E499D8736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555" y="3291455"/>
              <a:ext cx="165200" cy="137700"/>
            </a:xfrm>
            <a:prstGeom prst="bentConnector3">
              <a:avLst>
                <a:gd name="adj1" fmla="val -201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D9485D3-699C-4333-87D0-2BCEDCD1EA11}"/>
              </a:ext>
            </a:extLst>
          </p:cNvPr>
          <p:cNvGrpSpPr/>
          <p:nvPr/>
        </p:nvGrpSpPr>
        <p:grpSpPr>
          <a:xfrm>
            <a:off x="768005" y="3738541"/>
            <a:ext cx="5352677" cy="2531761"/>
            <a:chOff x="768005" y="3738541"/>
            <a:chExt cx="5352677" cy="2531761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8526E683-3417-45F3-8945-FACA4A7DEBB1}"/>
                </a:ext>
              </a:extLst>
            </p:cNvPr>
            <p:cNvGrpSpPr/>
            <p:nvPr/>
          </p:nvGrpSpPr>
          <p:grpSpPr>
            <a:xfrm>
              <a:off x="768005" y="3908508"/>
              <a:ext cx="5352677" cy="2300584"/>
              <a:chOff x="1029498" y="3383425"/>
              <a:chExt cx="5352677" cy="2963898"/>
            </a:xfrm>
          </p:grpSpPr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0CFA0477-15F0-4B26-BAEB-EF5D9ECA5E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1461" y="3664152"/>
                <a:ext cx="0" cy="2507338"/>
              </a:xfrm>
              <a:prstGeom prst="straightConnector1">
                <a:avLst/>
              </a:prstGeom>
              <a:ln w="158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AE20BC8-97FB-4C6D-BFEA-06B43088620A}"/>
                  </a:ext>
                </a:extLst>
              </p:cNvPr>
              <p:cNvSpPr txBox="1"/>
              <p:nvPr/>
            </p:nvSpPr>
            <p:spPr>
              <a:xfrm>
                <a:off x="1891071" y="3847360"/>
                <a:ext cx="1137503" cy="327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ko-KR" altLang="en-US" sz="105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경쟁 상한가격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6F83841-A3A7-488D-B517-4D0D00A8C077}"/>
                  </a:ext>
                </a:extLst>
              </p:cNvPr>
              <p:cNvSpPr txBox="1"/>
              <p:nvPr/>
            </p:nvSpPr>
            <p:spPr>
              <a:xfrm>
                <a:off x="1029498" y="4322249"/>
                <a:ext cx="769763" cy="337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시장가격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43CCFDD-C1F4-454E-8D6E-185F8993D8FF}"/>
                  </a:ext>
                </a:extLst>
              </p:cNvPr>
              <p:cNvSpPr txBox="1"/>
              <p:nvPr/>
            </p:nvSpPr>
            <p:spPr>
              <a:xfrm>
                <a:off x="2963433" y="3383425"/>
                <a:ext cx="5064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High</a:t>
                </a:r>
                <a:endPara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25DFE11-E8C3-43C0-BE12-0022CBDE5349}"/>
                  </a:ext>
                </a:extLst>
              </p:cNvPr>
              <p:cNvSpPr txBox="1"/>
              <p:nvPr/>
            </p:nvSpPr>
            <p:spPr>
              <a:xfrm>
                <a:off x="2948234" y="6101102"/>
                <a:ext cx="5064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Low</a:t>
                </a:r>
                <a:endPara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04" name="왼쪽 중괄호 103">
                <a:extLst>
                  <a:ext uri="{FF2B5EF4-FFF2-40B4-BE49-F238E27FC236}">
                    <a16:creationId xmlns:a16="http://schemas.microsoft.com/office/drawing/2014/main" id="{1DEACC03-8DBA-4B2D-AC74-259FCBD2F82F}"/>
                  </a:ext>
                </a:extLst>
              </p:cNvPr>
              <p:cNvSpPr/>
              <p:nvPr/>
            </p:nvSpPr>
            <p:spPr>
              <a:xfrm>
                <a:off x="1807925" y="4010923"/>
                <a:ext cx="188795" cy="929039"/>
              </a:xfrm>
              <a:prstGeom prst="leftBrac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3421996-8BF6-4477-83D9-B3F5E1328A15}"/>
                  </a:ext>
                </a:extLst>
              </p:cNvPr>
              <p:cNvSpPr txBox="1"/>
              <p:nvPr/>
            </p:nvSpPr>
            <p:spPr>
              <a:xfrm>
                <a:off x="4644859" y="5303845"/>
                <a:ext cx="1358705" cy="3172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spc="-70" dirty="0">
                    <a:solidFill>
                      <a:prstClr val="black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20</a:t>
                </a:r>
                <a:r>
                  <a:rPr lang="ko-KR" altLang="en-US" sz="1000" spc="-70" dirty="0">
                    <a:solidFill>
                      <a:prstClr val="black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만</a:t>
                </a:r>
                <a:r>
                  <a:rPr kumimoji="0" lang="ko-KR" altLang="en-US" sz="1000" b="0" i="0" u="none" strike="noStrike" kern="1200" cap="none" spc="-7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원</a:t>
                </a:r>
              </a:p>
            </p:txBody>
          </p:sp>
          <p:cxnSp>
            <p:nvCxnSpPr>
              <p:cNvPr id="106" name="직선 화살표 연결선 105">
                <a:extLst>
                  <a:ext uri="{FF2B5EF4-FFF2-40B4-BE49-F238E27FC236}">
                    <a16:creationId xmlns:a16="http://schemas.microsoft.com/office/drawing/2014/main" id="{58204A62-8851-4D6C-B4F5-CD0192AE3D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6635" y="4638147"/>
                <a:ext cx="0" cy="967568"/>
              </a:xfrm>
              <a:prstGeom prst="straightConnector1">
                <a:avLst/>
              </a:prstGeom>
              <a:ln w="158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2285144-82E2-438C-B4B8-4C9CC2394940}"/>
                  </a:ext>
                </a:extLst>
              </p:cNvPr>
              <p:cNvSpPr txBox="1"/>
              <p:nvPr/>
            </p:nvSpPr>
            <p:spPr>
              <a:xfrm>
                <a:off x="4714161" y="4897872"/>
                <a:ext cx="1212714" cy="317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매익률</a:t>
                </a:r>
                <a:r>
                  <a:rPr kumimoji="0" lang="ko-KR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( 31% </a:t>
                </a:r>
                <a:r>
                  <a:rPr kumimoji="0" lang="ko-KR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▲</a:t>
                </a:r>
                <a:r>
                  <a: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</a:t>
                </a:r>
                <a:endPara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7BA5682-57FD-40C2-812D-C4DD4BFC7DD4}"/>
                  </a:ext>
                </a:extLst>
              </p:cNvPr>
              <p:cNvSpPr txBox="1"/>
              <p:nvPr/>
            </p:nvSpPr>
            <p:spPr>
              <a:xfrm>
                <a:off x="5216470" y="5308836"/>
                <a:ext cx="1165705" cy="317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파트너사 </a:t>
                </a:r>
                <a:r>
                  <a:rPr lang="ko-KR" altLang="en-US" sz="1000" dirty="0">
                    <a:solidFill>
                      <a:prstClr val="black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매입</a:t>
                </a:r>
                <a:r>
                  <a:rPr kumimoji="0" lang="ko-KR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가</a:t>
                </a:r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C5A5C608-A170-4DBD-BF6E-DB260B3E49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5218" y="5617985"/>
                <a:ext cx="293754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7142C7CB-20AF-4843-9173-D220328C9185}"/>
                  </a:ext>
                </a:extLst>
              </p:cNvPr>
              <p:cNvSpPr/>
              <p:nvPr/>
            </p:nvSpPr>
            <p:spPr>
              <a:xfrm>
                <a:off x="3110564" y="5503172"/>
                <a:ext cx="173214" cy="2050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11" name="별: 꼭짓점 5개 110">
                <a:extLst>
                  <a:ext uri="{FF2B5EF4-FFF2-40B4-BE49-F238E27FC236}">
                    <a16:creationId xmlns:a16="http://schemas.microsoft.com/office/drawing/2014/main" id="{3B30CA48-D954-4796-8AB9-33F72A4D28E6}"/>
                  </a:ext>
                </a:extLst>
              </p:cNvPr>
              <p:cNvSpPr/>
              <p:nvPr/>
            </p:nvSpPr>
            <p:spPr>
              <a:xfrm>
                <a:off x="3114759" y="4496120"/>
                <a:ext cx="173214" cy="203106"/>
              </a:xfrm>
              <a:prstGeom prst="star5">
                <a:avLst/>
              </a:prstGeom>
              <a:solidFill>
                <a:srgbClr val="E921C0"/>
              </a:solidFill>
              <a:ln>
                <a:solidFill>
                  <a:srgbClr val="FF0000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EF27AC12-651B-464D-99B2-5776557A0CB2}"/>
                </a:ext>
              </a:extLst>
            </p:cNvPr>
            <p:cNvSpPr/>
            <p:nvPr/>
          </p:nvSpPr>
          <p:spPr>
            <a:xfrm>
              <a:off x="768005" y="3738541"/>
              <a:ext cx="5351897" cy="2531761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ko-KR" altLang="en-US" sz="900" dirty="0">
                <a:hlinkClick r:id="rId3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667CE0C-2572-4F0A-BA5B-EA579D22D642}"/>
                </a:ext>
              </a:extLst>
            </p:cNvPr>
            <p:cNvSpPr txBox="1"/>
            <p:nvPr/>
          </p:nvSpPr>
          <p:spPr>
            <a:xfrm>
              <a:off x="4890918" y="4588021"/>
              <a:ext cx="10893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 err="1">
                  <a:solidFill>
                    <a:srgbClr val="E921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판매책정가</a:t>
              </a:r>
              <a:endParaRPr lang="en-US" altLang="ko-KR" sz="1050" b="1" dirty="0">
                <a:solidFill>
                  <a:srgbClr val="E921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2EA192D5-5AA8-4E42-92CA-98CB321C5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7122" y="4854793"/>
              <a:ext cx="2797374" cy="0"/>
            </a:xfrm>
            <a:prstGeom prst="line">
              <a:avLst/>
            </a:prstGeom>
            <a:ln w="22225">
              <a:solidFill>
                <a:srgbClr val="E921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C27203AD-21E8-447D-86EA-16E7E7908613}"/>
                </a:ext>
              </a:extLst>
            </p:cNvPr>
            <p:cNvSpPr/>
            <p:nvPr/>
          </p:nvSpPr>
          <p:spPr>
            <a:xfrm>
              <a:off x="4230453" y="4579600"/>
              <a:ext cx="933857" cy="26446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E921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r>
                <a:rPr lang="ko-KR" altLang="en-US" sz="1000" b="1" dirty="0">
                  <a:solidFill>
                    <a:srgbClr val="E921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5CD754-0484-4583-BFE6-4B59EE696AA0}"/>
                </a:ext>
              </a:extLst>
            </p:cNvPr>
            <p:cNvSpPr txBox="1"/>
            <p:nvPr/>
          </p:nvSpPr>
          <p:spPr>
            <a:xfrm>
              <a:off x="3392525" y="4085866"/>
              <a:ext cx="7966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pc="-70" dirty="0">
                  <a:solidFill>
                    <a:srgbClr val="0000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55</a:t>
              </a:r>
              <a:r>
                <a:rPr lang="ko-KR" altLang="en-US" sz="1000" spc="-70" dirty="0">
                  <a:solidFill>
                    <a:srgbClr val="0000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</a:t>
              </a: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548E6FAB-7101-45B1-87C5-A91981259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2640" y="4354995"/>
              <a:ext cx="1377338" cy="0"/>
            </a:xfrm>
            <a:prstGeom prst="line">
              <a:avLst/>
            </a:prstGeom>
            <a:solidFill>
              <a:srgbClr val="0000FF"/>
            </a:solidFill>
            <a:ln w="19050">
              <a:solidFill>
                <a:srgbClr val="0000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79B4052-E6C3-45FA-8322-42A55388B6C5}"/>
                </a:ext>
              </a:extLst>
            </p:cNvPr>
            <p:cNvSpPr/>
            <p:nvPr/>
          </p:nvSpPr>
          <p:spPr>
            <a:xfrm>
              <a:off x="2865806" y="4275445"/>
              <a:ext cx="156476" cy="162181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26F05F9-38A7-4F42-B52E-F2DF8A0FF70A}"/>
                </a:ext>
              </a:extLst>
            </p:cNvPr>
            <p:cNvSpPr txBox="1"/>
            <p:nvPr/>
          </p:nvSpPr>
          <p:spPr>
            <a:xfrm>
              <a:off x="1663664" y="4997718"/>
              <a:ext cx="10893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경쟁 하한가격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17652B-D0C3-491A-AC78-A7FC37CCB62E}"/>
                </a:ext>
              </a:extLst>
            </p:cNvPr>
            <p:cNvSpPr txBox="1"/>
            <p:nvPr/>
          </p:nvSpPr>
          <p:spPr>
            <a:xfrm>
              <a:off x="3405019" y="5116879"/>
              <a:ext cx="7966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pc="-70" dirty="0">
                  <a:solidFill>
                    <a:srgbClr val="0000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r>
                <a:rPr lang="ko-KR" altLang="en-US" sz="1000" spc="-70" dirty="0">
                  <a:solidFill>
                    <a:srgbClr val="0000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</a:t>
              </a: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3432C8A7-1CB8-438D-8D3C-8C68469417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6395" y="5119263"/>
              <a:ext cx="1383583" cy="0"/>
            </a:xfrm>
            <a:prstGeom prst="line">
              <a:avLst/>
            </a:prstGeom>
            <a:solidFill>
              <a:srgbClr val="0000FF"/>
            </a:solidFill>
            <a:ln w="19050">
              <a:solidFill>
                <a:srgbClr val="0000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B718A3BC-CA50-414C-BC8B-6181984E6FF3}"/>
                </a:ext>
              </a:extLst>
            </p:cNvPr>
            <p:cNvSpPr/>
            <p:nvPr/>
          </p:nvSpPr>
          <p:spPr>
            <a:xfrm>
              <a:off x="2859561" y="5039713"/>
              <a:ext cx="156476" cy="162181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47CDE01-9634-497C-9A0C-7465A0768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188" y="3563362"/>
            <a:ext cx="2447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92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04B8744-1135-42DD-A4A2-D6F996251386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FBF5F29-4582-4E38-9576-E365FE2BA329}"/>
              </a:ext>
            </a:extLst>
          </p:cNvPr>
          <p:cNvSpPr/>
          <p:nvPr/>
        </p:nvSpPr>
        <p:spPr>
          <a:xfrm>
            <a:off x="209467" y="119680"/>
            <a:ext cx="41921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원상복구공사 공사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Process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_v1.0_241128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5D0FA58-9743-4060-97FE-54BB505BC8E1}"/>
              </a:ext>
            </a:extLst>
          </p:cNvPr>
          <p:cNvSpPr/>
          <p:nvPr/>
        </p:nvSpPr>
        <p:spPr>
          <a:xfrm>
            <a:off x="282258" y="886667"/>
            <a:ext cx="1718558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제안</a:t>
            </a:r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5FFC45F-5F0C-45E0-A362-B0029481D8C3}"/>
              </a:ext>
            </a:extLst>
          </p:cNvPr>
          <p:cNvSpPr/>
          <p:nvPr/>
        </p:nvSpPr>
        <p:spPr>
          <a:xfrm>
            <a:off x="2218098" y="889770"/>
            <a:ext cx="659497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41A2CEF-263F-419F-9B07-560696964A03}"/>
              </a:ext>
            </a:extLst>
          </p:cNvPr>
          <p:cNvSpPr/>
          <p:nvPr/>
        </p:nvSpPr>
        <p:spPr>
          <a:xfrm>
            <a:off x="9032631" y="889770"/>
            <a:ext cx="2849404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사후관리</a:t>
            </a:r>
            <a:endParaRPr lang="en-US" altLang="ko-KR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F80F917-27AF-4D1C-81E4-3B914FD11DCF}"/>
              </a:ext>
            </a:extLst>
          </p:cNvPr>
          <p:cNvSpPr/>
          <p:nvPr/>
        </p:nvSpPr>
        <p:spPr bwMode="auto">
          <a:xfrm>
            <a:off x="840840" y="1540163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발주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28B1F53-5DBE-4ED5-B383-736B243BC6B1}"/>
              </a:ext>
            </a:extLst>
          </p:cNvPr>
          <p:cNvSpPr/>
          <p:nvPr/>
        </p:nvSpPr>
        <p:spPr bwMode="auto">
          <a:xfrm>
            <a:off x="840486" y="2582444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계약정보공유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(PO </a:t>
            </a:r>
            <a:r>
              <a:rPr lang="en-US" altLang="ko-KR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유관부서</a:t>
            </a:r>
            <a:r>
              <a:rPr lang="en-US" altLang="ko-KR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8B884C94-9ABD-4ADB-8CB1-C80EDB01AD37}"/>
              </a:ext>
            </a:extLst>
          </p:cNvPr>
          <p:cNvCxnSpPr>
            <a:cxnSpLocks/>
            <a:stCxn id="116" idx="6"/>
            <a:endCxn id="79" idx="1"/>
          </p:cNvCxnSpPr>
          <p:nvPr/>
        </p:nvCxnSpPr>
        <p:spPr bwMode="auto">
          <a:xfrm flipV="1">
            <a:off x="652564" y="1748748"/>
            <a:ext cx="188276" cy="2494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07EF46A-9F28-412C-B46D-9EA63FA80E40}"/>
              </a:ext>
            </a:extLst>
          </p:cNvPr>
          <p:cNvSpPr/>
          <p:nvPr/>
        </p:nvSpPr>
        <p:spPr bwMode="auto">
          <a:xfrm>
            <a:off x="5165996" y="3711511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하자보수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25D5FEA-8AA8-4C5B-B42B-3202BFEF3B98}"/>
              </a:ext>
            </a:extLst>
          </p:cNvPr>
          <p:cNvSpPr/>
          <p:nvPr/>
        </p:nvSpPr>
        <p:spPr bwMode="auto">
          <a:xfrm>
            <a:off x="9225620" y="1544523"/>
            <a:ext cx="1030737" cy="4242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불편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불만 발생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4E4709D-CC37-4A09-8A04-3E9F3EF1EC5D}"/>
              </a:ext>
            </a:extLst>
          </p:cNvPr>
          <p:cNvSpPr/>
          <p:nvPr/>
        </p:nvSpPr>
        <p:spPr bwMode="auto">
          <a:xfrm>
            <a:off x="9225622" y="2552956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접수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0539A6F-F13F-488A-B515-32B9C998F324}"/>
              </a:ext>
            </a:extLst>
          </p:cNvPr>
          <p:cNvSpPr/>
          <p:nvPr/>
        </p:nvSpPr>
        <p:spPr bwMode="auto">
          <a:xfrm>
            <a:off x="9225622" y="3719041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r>
              <a:rPr lang="en-US" altLang="ko-KR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F90D8BE-54DC-4D1E-A062-B52501D34584}"/>
              </a:ext>
            </a:extLst>
          </p:cNvPr>
          <p:cNvSpPr/>
          <p:nvPr/>
        </p:nvSpPr>
        <p:spPr>
          <a:xfrm>
            <a:off x="9147241" y="4155810"/>
            <a:ext cx="99899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시공사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CM/PO</a:t>
            </a:r>
            <a:endParaRPr lang="ko-KR" altLang="en-US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25284B0-2A4A-4A39-A41A-3D9CA8113264}"/>
              </a:ext>
            </a:extLst>
          </p:cNvPr>
          <p:cNvSpPr/>
          <p:nvPr/>
        </p:nvSpPr>
        <p:spPr>
          <a:xfrm>
            <a:off x="9147241" y="2985627"/>
            <a:ext cx="1244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영업담당자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운영센터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※ 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콜센터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향후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92345C5-BF83-4810-897B-5EAFD2C55946}"/>
              </a:ext>
            </a:extLst>
          </p:cNvPr>
          <p:cNvSpPr txBox="1"/>
          <p:nvPr/>
        </p:nvSpPr>
        <p:spPr>
          <a:xfrm>
            <a:off x="5164886" y="1536490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無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C394C2F-30DF-44DF-B79C-91F2A1FE51BF}"/>
              </a:ext>
            </a:extLst>
          </p:cNvPr>
          <p:cNvSpPr/>
          <p:nvPr/>
        </p:nvSpPr>
        <p:spPr bwMode="auto">
          <a:xfrm>
            <a:off x="2476799" y="3711511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시공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57806E99-3B05-43F1-B20C-F285CCF2244E}"/>
              </a:ext>
            </a:extLst>
          </p:cNvPr>
          <p:cNvCxnSpPr>
            <a:cxnSpLocks/>
            <a:stCxn id="79" idx="2"/>
            <a:endCxn id="82" idx="0"/>
          </p:cNvCxnSpPr>
          <p:nvPr/>
        </p:nvCxnSpPr>
        <p:spPr bwMode="auto">
          <a:xfrm flipH="1">
            <a:off x="1355855" y="1957333"/>
            <a:ext cx="354" cy="625111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5EDEBD62-9957-4D22-815A-59E0FC9A398E}"/>
              </a:ext>
            </a:extLst>
          </p:cNvPr>
          <p:cNvCxnSpPr>
            <a:cxnSpLocks/>
            <a:stCxn id="82" idx="2"/>
            <a:endCxn id="99" idx="1"/>
          </p:cNvCxnSpPr>
          <p:nvPr/>
        </p:nvCxnSpPr>
        <p:spPr>
          <a:xfrm rot="16200000" flipH="1">
            <a:off x="1456086" y="2899383"/>
            <a:ext cx="920482" cy="11209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79754C38-AAAC-482E-99B9-E51F763B7C7F}"/>
              </a:ext>
            </a:extLst>
          </p:cNvPr>
          <p:cNvCxnSpPr>
            <a:cxnSpLocks/>
            <a:stCxn id="99" idx="3"/>
            <a:endCxn id="138" idx="2"/>
          </p:cNvCxnSpPr>
          <p:nvPr/>
        </p:nvCxnSpPr>
        <p:spPr>
          <a:xfrm flipV="1">
            <a:off x="3507536" y="3024772"/>
            <a:ext cx="439379" cy="8953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5833E3B4-B132-4F23-953E-220C29956CFD}"/>
              </a:ext>
            </a:extLst>
          </p:cNvPr>
          <p:cNvCxnSpPr>
            <a:cxnSpLocks/>
            <a:stCxn id="138" idx="1"/>
            <a:endCxn id="99" idx="0"/>
          </p:cNvCxnSpPr>
          <p:nvPr/>
        </p:nvCxnSpPr>
        <p:spPr>
          <a:xfrm rot="10800000" flipV="1">
            <a:off x="2992169" y="2819439"/>
            <a:ext cx="424633" cy="8920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9292229-E2ED-4E1E-B908-1C57D8311C59}"/>
              </a:ext>
            </a:extLst>
          </p:cNvPr>
          <p:cNvSpPr/>
          <p:nvPr/>
        </p:nvSpPr>
        <p:spPr bwMode="auto">
          <a:xfrm>
            <a:off x="9225621" y="4931804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유형별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이슈분석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1B685A99-B52F-4F26-A9C8-7999F4144B72}"/>
              </a:ext>
            </a:extLst>
          </p:cNvPr>
          <p:cNvCxnSpPr>
            <a:cxnSpLocks/>
            <a:stCxn id="90" idx="2"/>
            <a:endCxn id="91" idx="0"/>
          </p:cNvCxnSpPr>
          <p:nvPr/>
        </p:nvCxnSpPr>
        <p:spPr bwMode="auto">
          <a:xfrm>
            <a:off x="9740991" y="2970126"/>
            <a:ext cx="0" cy="748915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3F1DEA42-6873-496C-906B-98B2658D76CE}"/>
              </a:ext>
            </a:extLst>
          </p:cNvPr>
          <p:cNvCxnSpPr>
            <a:cxnSpLocks/>
            <a:stCxn id="88" idx="2"/>
            <a:endCxn id="90" idx="0"/>
          </p:cNvCxnSpPr>
          <p:nvPr/>
        </p:nvCxnSpPr>
        <p:spPr bwMode="auto">
          <a:xfrm>
            <a:off x="9740989" y="1968772"/>
            <a:ext cx="2" cy="584184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251C36C-7D9A-4ED3-B2C2-B43B4B082AC5}"/>
              </a:ext>
            </a:extLst>
          </p:cNvPr>
          <p:cNvSpPr/>
          <p:nvPr/>
        </p:nvSpPr>
        <p:spPr>
          <a:xfrm>
            <a:off x="9126343" y="5337774"/>
            <a:ext cx="64152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CM/PO</a:t>
            </a: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159C1D0A-E960-4816-BEE7-E135FFDB39A3}"/>
              </a:ext>
            </a:extLst>
          </p:cNvPr>
          <p:cNvCxnSpPr>
            <a:cxnSpLocks/>
            <a:stCxn id="116" idx="4"/>
            <a:endCxn id="115" idx="1"/>
          </p:cNvCxnSpPr>
          <p:nvPr/>
        </p:nvCxnSpPr>
        <p:spPr>
          <a:xfrm rot="16200000" flipH="1">
            <a:off x="685738" y="1721573"/>
            <a:ext cx="4197900" cy="46678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C814BC2-FBBB-40C0-8554-A72618CE3E9C}"/>
              </a:ext>
            </a:extLst>
          </p:cNvPr>
          <p:cNvSpPr/>
          <p:nvPr/>
        </p:nvSpPr>
        <p:spPr bwMode="auto">
          <a:xfrm>
            <a:off x="5118638" y="5945888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품질지표관리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61813A9A-1B77-4814-A14C-E8C7E79F5251}"/>
              </a:ext>
            </a:extLst>
          </p:cNvPr>
          <p:cNvSpPr/>
          <p:nvPr/>
        </p:nvSpPr>
        <p:spPr>
          <a:xfrm>
            <a:off x="248914" y="1545910"/>
            <a:ext cx="403650" cy="410663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ko-KR" altLang="en-US" sz="11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시작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39C4167-8E18-4E5C-9859-38C439BF4425}"/>
              </a:ext>
            </a:extLst>
          </p:cNvPr>
          <p:cNvSpPr/>
          <p:nvPr/>
        </p:nvSpPr>
        <p:spPr>
          <a:xfrm>
            <a:off x="5062689" y="6352417"/>
            <a:ext cx="64152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CM/PO</a:t>
            </a: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5017F1D9-58D8-4B0B-B636-72633AECE3F9}"/>
              </a:ext>
            </a:extLst>
          </p:cNvPr>
          <p:cNvCxnSpPr>
            <a:cxnSpLocks/>
            <a:stCxn id="91" idx="3"/>
            <a:endCxn id="183" idx="2"/>
          </p:cNvCxnSpPr>
          <p:nvPr/>
        </p:nvCxnSpPr>
        <p:spPr>
          <a:xfrm flipV="1">
            <a:off x="10256359" y="1968772"/>
            <a:ext cx="896970" cy="19588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0C944643-1A4B-4456-B6DE-0716CFB31F4A}"/>
              </a:ext>
            </a:extLst>
          </p:cNvPr>
          <p:cNvSpPr/>
          <p:nvPr/>
        </p:nvSpPr>
        <p:spPr>
          <a:xfrm>
            <a:off x="10247513" y="3569288"/>
            <a:ext cx="1117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운영센터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상주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영업담당자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비상주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92952CF-E3C2-471A-A3F6-B291E9BD5E93}"/>
              </a:ext>
            </a:extLst>
          </p:cNvPr>
          <p:cNvSpPr/>
          <p:nvPr/>
        </p:nvSpPr>
        <p:spPr bwMode="auto">
          <a:xfrm>
            <a:off x="10689230" y="4931804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8D873181-5E39-4F45-8B6A-9C42102F16EC}"/>
              </a:ext>
            </a:extLst>
          </p:cNvPr>
          <p:cNvCxnSpPr>
            <a:stCxn id="91" idx="2"/>
            <a:endCxn id="107" idx="0"/>
          </p:cNvCxnSpPr>
          <p:nvPr/>
        </p:nvCxnSpPr>
        <p:spPr>
          <a:xfrm flipH="1">
            <a:off x="9740990" y="4136211"/>
            <a:ext cx="1" cy="795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6A2DF5EE-3D16-466B-872E-13AA2D155739}"/>
              </a:ext>
            </a:extLst>
          </p:cNvPr>
          <p:cNvCxnSpPr>
            <a:stCxn id="107" idx="3"/>
            <a:endCxn id="122" idx="1"/>
          </p:cNvCxnSpPr>
          <p:nvPr/>
        </p:nvCxnSpPr>
        <p:spPr>
          <a:xfrm>
            <a:off x="10256358" y="5140389"/>
            <a:ext cx="432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8BBBEBD-BEDD-49C9-8804-A12CB03B5C35}"/>
              </a:ext>
            </a:extLst>
          </p:cNvPr>
          <p:cNvSpPr/>
          <p:nvPr/>
        </p:nvSpPr>
        <p:spPr>
          <a:xfrm>
            <a:off x="9147241" y="6352417"/>
            <a:ext cx="52129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CX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CD1F9CCA-7299-425E-A645-1FEE87325DF1}"/>
              </a:ext>
            </a:extLst>
          </p:cNvPr>
          <p:cNvCxnSpPr>
            <a:stCxn id="115" idx="3"/>
            <a:endCxn id="107" idx="2"/>
          </p:cNvCxnSpPr>
          <p:nvPr/>
        </p:nvCxnSpPr>
        <p:spPr>
          <a:xfrm flipV="1">
            <a:off x="6149375" y="5348974"/>
            <a:ext cx="3591615" cy="805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35FA2954-76A3-4A83-A20F-7BD6B44BD4FB}"/>
              </a:ext>
            </a:extLst>
          </p:cNvPr>
          <p:cNvSpPr/>
          <p:nvPr/>
        </p:nvSpPr>
        <p:spPr bwMode="auto">
          <a:xfrm>
            <a:off x="9225621" y="5942191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NPS/</a:t>
            </a:r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만족도조사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8" name="다이아몬드 137">
            <a:extLst>
              <a:ext uri="{FF2B5EF4-FFF2-40B4-BE49-F238E27FC236}">
                <a16:creationId xmlns:a16="http://schemas.microsoft.com/office/drawing/2014/main" id="{1A979F67-06E6-4FD2-9368-9B904C35A396}"/>
              </a:ext>
            </a:extLst>
          </p:cNvPr>
          <p:cNvSpPr/>
          <p:nvPr/>
        </p:nvSpPr>
        <p:spPr>
          <a:xfrm>
            <a:off x="3416801" y="2614107"/>
            <a:ext cx="1060227" cy="410665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</a:t>
            </a:r>
          </a:p>
        </p:txBody>
      </p:sp>
      <p:cxnSp>
        <p:nvCxnSpPr>
          <p:cNvPr id="139" name="연결선: 꺾임 138">
            <a:extLst>
              <a:ext uri="{FF2B5EF4-FFF2-40B4-BE49-F238E27FC236}">
                <a16:creationId xmlns:a16="http://schemas.microsoft.com/office/drawing/2014/main" id="{CC549885-A252-4EC9-99DF-991A79F9FCB2}"/>
              </a:ext>
            </a:extLst>
          </p:cNvPr>
          <p:cNvCxnSpPr>
            <a:cxnSpLocks/>
            <a:stCxn id="138" idx="0"/>
            <a:endCxn id="196" idx="1"/>
          </p:cNvCxnSpPr>
          <p:nvPr/>
        </p:nvCxnSpPr>
        <p:spPr>
          <a:xfrm rot="5400000" flipH="1" flipV="1">
            <a:off x="3682363" y="2004863"/>
            <a:ext cx="873797" cy="3446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73D7F14-CF85-41E4-A978-CE12527FF3B8}"/>
              </a:ext>
            </a:extLst>
          </p:cNvPr>
          <p:cNvSpPr txBox="1"/>
          <p:nvPr/>
        </p:nvSpPr>
        <p:spPr>
          <a:xfrm>
            <a:off x="4854048" y="2016022"/>
            <a:ext cx="821439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 </a:t>
            </a:r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추가요청 有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8A3EF8C9-11F8-43C9-AC6E-154734882583}"/>
              </a:ext>
            </a:extLst>
          </p:cNvPr>
          <p:cNvSpPr/>
          <p:nvPr/>
        </p:nvSpPr>
        <p:spPr bwMode="auto">
          <a:xfrm>
            <a:off x="2482205" y="4859471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공사관리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0E62D970-C468-464B-88FA-8E8AAE842839}"/>
              </a:ext>
            </a:extLst>
          </p:cNvPr>
          <p:cNvCxnSpPr>
            <a:cxnSpLocks/>
            <a:stCxn id="82" idx="2"/>
            <a:endCxn id="154" idx="1"/>
          </p:cNvCxnSpPr>
          <p:nvPr/>
        </p:nvCxnSpPr>
        <p:spPr>
          <a:xfrm rot="16200000" flipH="1">
            <a:off x="884809" y="3470660"/>
            <a:ext cx="2068442" cy="11263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연결선: 꺾임 159">
            <a:extLst>
              <a:ext uri="{FF2B5EF4-FFF2-40B4-BE49-F238E27FC236}">
                <a16:creationId xmlns:a16="http://schemas.microsoft.com/office/drawing/2014/main" id="{FA1DF45C-ADE2-49B9-9EAB-175F0AB93E4E}"/>
              </a:ext>
            </a:extLst>
          </p:cNvPr>
          <p:cNvCxnSpPr>
            <a:cxnSpLocks/>
            <a:stCxn id="154" idx="3"/>
            <a:endCxn id="138" idx="2"/>
          </p:cNvCxnSpPr>
          <p:nvPr/>
        </p:nvCxnSpPr>
        <p:spPr>
          <a:xfrm flipV="1">
            <a:off x="3512942" y="3024772"/>
            <a:ext cx="433973" cy="20432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타원 162">
            <a:extLst>
              <a:ext uri="{FF2B5EF4-FFF2-40B4-BE49-F238E27FC236}">
                <a16:creationId xmlns:a16="http://schemas.microsoft.com/office/drawing/2014/main" id="{5622087F-1082-4FD8-B6DE-F4FA95807072}"/>
              </a:ext>
            </a:extLst>
          </p:cNvPr>
          <p:cNvSpPr/>
          <p:nvPr/>
        </p:nvSpPr>
        <p:spPr>
          <a:xfrm>
            <a:off x="8110176" y="1552011"/>
            <a:ext cx="403650" cy="39347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종료</a:t>
            </a:r>
          </a:p>
        </p:txBody>
      </p:sp>
      <p:sp>
        <p:nvSpPr>
          <p:cNvPr id="165" name="직사각형 164">
            <a:hlinkClick r:id="rId3" action="ppaction://hlinkpres?slideindex=19&amp;slidetitle=PowerPoint 프레젠테이션"/>
            <a:extLst>
              <a:ext uri="{FF2B5EF4-FFF2-40B4-BE49-F238E27FC236}">
                <a16:creationId xmlns:a16="http://schemas.microsoft.com/office/drawing/2014/main" id="{F2EB69DE-1692-4CD6-BC1E-C442EC6B9607}"/>
              </a:ext>
            </a:extLst>
          </p:cNvPr>
          <p:cNvSpPr/>
          <p:nvPr/>
        </p:nvSpPr>
        <p:spPr>
          <a:xfrm>
            <a:off x="2760685" y="5495989"/>
            <a:ext cx="1348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9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atG</a:t>
            </a:r>
            <a:r>
              <a: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공사관리 체크리스트 </a:t>
            </a:r>
            <a:endParaRPr lang="en-US" altLang="ko-KR" sz="900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/>
            <a:r>
              <a: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위험성평가</a:t>
            </a:r>
            <a:r>
              <a: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품질점검</a:t>
            </a:r>
            <a:r>
              <a: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66" name="사각형: 둥근 모서리 165">
            <a:hlinkClick r:id="rId3" action="ppaction://hlinkpres?slideindex=19&amp;slidetitle=PowerPoint 프레젠테이션"/>
            <a:extLst>
              <a:ext uri="{FF2B5EF4-FFF2-40B4-BE49-F238E27FC236}">
                <a16:creationId xmlns:a16="http://schemas.microsoft.com/office/drawing/2014/main" id="{88A38671-3C2C-4DF1-952C-C4F57ADEE75D}"/>
              </a:ext>
            </a:extLst>
          </p:cNvPr>
          <p:cNvSpPr/>
          <p:nvPr/>
        </p:nvSpPr>
        <p:spPr>
          <a:xfrm>
            <a:off x="2478882" y="5579388"/>
            <a:ext cx="324252" cy="161359"/>
          </a:xfrm>
          <a:prstGeom prst="round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별첨</a:t>
            </a:r>
          </a:p>
        </p:txBody>
      </p: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D3FC0B7A-547F-4DDE-A32C-E06ABE6B12F7}"/>
              </a:ext>
            </a:extLst>
          </p:cNvPr>
          <p:cNvCxnSpPr>
            <a:cxnSpLocks/>
            <a:stCxn id="87" idx="3"/>
            <a:endCxn id="197" idx="2"/>
          </p:cNvCxnSpPr>
          <p:nvPr/>
        </p:nvCxnSpPr>
        <p:spPr>
          <a:xfrm flipV="1">
            <a:off x="6196733" y="2409655"/>
            <a:ext cx="558564" cy="15104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F80FF973-7951-47FE-AA4D-051DAE0F717C}"/>
              </a:ext>
            </a:extLst>
          </p:cNvPr>
          <p:cNvCxnSpPr>
            <a:cxnSpLocks/>
            <a:stCxn id="196" idx="2"/>
            <a:endCxn id="87" idx="1"/>
          </p:cNvCxnSpPr>
          <p:nvPr/>
        </p:nvCxnSpPr>
        <p:spPr>
          <a:xfrm rot="16200000" flipH="1">
            <a:off x="4006632" y="2760732"/>
            <a:ext cx="1974454" cy="3442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86E6C078-C8EB-4573-B233-2189E696348E}"/>
              </a:ext>
            </a:extLst>
          </p:cNvPr>
          <p:cNvSpPr txBox="1"/>
          <p:nvPr/>
        </p:nvSpPr>
        <p:spPr>
          <a:xfrm>
            <a:off x="6814690" y="1812715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無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4F1AF08-03FF-4814-B9D8-786F31AA2A2B}"/>
              </a:ext>
            </a:extLst>
          </p:cNvPr>
          <p:cNvGrpSpPr/>
          <p:nvPr/>
        </p:nvGrpSpPr>
        <p:grpSpPr>
          <a:xfrm>
            <a:off x="9294735" y="4511287"/>
            <a:ext cx="1556511" cy="230832"/>
            <a:chOff x="2907507" y="5876987"/>
            <a:chExt cx="1556511" cy="230832"/>
          </a:xfrm>
        </p:grpSpPr>
        <p:sp>
          <p:nvSpPr>
            <p:cNvPr id="181" name="직사각형 180">
              <a:hlinkClick r:id="rId3" action="ppaction://hlinkpres?slideindex=19&amp;slidetitle=PowerPoint 프레젠테이션"/>
              <a:extLst>
                <a:ext uri="{FF2B5EF4-FFF2-40B4-BE49-F238E27FC236}">
                  <a16:creationId xmlns:a16="http://schemas.microsoft.com/office/drawing/2014/main" id="{830B204C-12B2-45EC-AA40-15E5ABF3BD7E}"/>
                </a:ext>
              </a:extLst>
            </p:cNvPr>
            <p:cNvSpPr/>
            <p:nvPr/>
          </p:nvSpPr>
          <p:spPr>
            <a:xfrm>
              <a:off x="3189310" y="5876987"/>
              <a:ext cx="127470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ko-KR" altLang="en-US" sz="9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불편불만 접수</a:t>
              </a:r>
              <a:r>
                <a:rPr lang="en-US" altLang="ko-KR" sz="9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9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 대장</a:t>
              </a:r>
              <a:endPara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82" name="사각형: 둥근 모서리 181">
              <a:hlinkClick r:id="rId3" action="ppaction://hlinkpres?slideindex=19&amp;slidetitle=PowerPoint 프레젠테이션"/>
              <a:extLst>
                <a:ext uri="{FF2B5EF4-FFF2-40B4-BE49-F238E27FC236}">
                  <a16:creationId xmlns:a16="http://schemas.microsoft.com/office/drawing/2014/main" id="{58183A6C-2119-403F-9463-BE12D702B4F2}"/>
                </a:ext>
              </a:extLst>
            </p:cNvPr>
            <p:cNvSpPr/>
            <p:nvPr/>
          </p:nvSpPr>
          <p:spPr>
            <a:xfrm>
              <a:off x="2907507" y="5903236"/>
              <a:ext cx="324252" cy="161359"/>
            </a:xfrm>
            <a:prstGeom prst="round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lang="ko-KR" altLang="en-US" sz="800" dirty="0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별첨</a:t>
              </a:r>
            </a:p>
          </p:txBody>
        </p:sp>
      </p:grp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8C4ADD9D-95F8-4085-8771-B0979B94016B}"/>
              </a:ext>
            </a:extLst>
          </p:cNvPr>
          <p:cNvSpPr/>
          <p:nvPr/>
        </p:nvSpPr>
        <p:spPr bwMode="auto">
          <a:xfrm>
            <a:off x="10637960" y="1544523"/>
            <a:ext cx="1030737" cy="4242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 결과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E591784E-BD9F-4723-B2FF-981821202B24}"/>
              </a:ext>
            </a:extLst>
          </p:cNvPr>
          <p:cNvGrpSpPr/>
          <p:nvPr/>
        </p:nvGrpSpPr>
        <p:grpSpPr>
          <a:xfrm>
            <a:off x="5701924" y="6421577"/>
            <a:ext cx="864014" cy="230832"/>
            <a:chOff x="2907507" y="5876987"/>
            <a:chExt cx="864014" cy="230832"/>
          </a:xfrm>
        </p:grpSpPr>
        <p:sp>
          <p:nvSpPr>
            <p:cNvPr id="185" name="직사각형 184">
              <a:hlinkClick r:id="rId3" action="ppaction://hlinkpres?slideindex=19&amp;slidetitle=PowerPoint 프레젠테이션"/>
              <a:extLst>
                <a:ext uri="{FF2B5EF4-FFF2-40B4-BE49-F238E27FC236}">
                  <a16:creationId xmlns:a16="http://schemas.microsoft.com/office/drawing/2014/main" id="{A25C2323-1CDA-443A-BB14-C019741C390A}"/>
                </a:ext>
              </a:extLst>
            </p:cNvPr>
            <p:cNvSpPr/>
            <p:nvPr/>
          </p:nvSpPr>
          <p:spPr>
            <a:xfrm>
              <a:off x="3189310" y="5876987"/>
              <a:ext cx="582211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ko-KR" altLang="en-US" sz="9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품질지표</a:t>
              </a:r>
              <a:endPara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87" name="사각형: 둥근 모서리 186">
              <a:hlinkClick r:id="rId3" action="ppaction://hlinkpres?slideindex=19&amp;slidetitle=PowerPoint 프레젠테이션"/>
              <a:extLst>
                <a:ext uri="{FF2B5EF4-FFF2-40B4-BE49-F238E27FC236}">
                  <a16:creationId xmlns:a16="http://schemas.microsoft.com/office/drawing/2014/main" id="{8815E1E9-B17B-4F98-9EAD-2277CDF3BE21}"/>
                </a:ext>
              </a:extLst>
            </p:cNvPr>
            <p:cNvSpPr/>
            <p:nvPr/>
          </p:nvSpPr>
          <p:spPr>
            <a:xfrm>
              <a:off x="2907507" y="5903236"/>
              <a:ext cx="324252" cy="161359"/>
            </a:xfrm>
            <a:prstGeom prst="roundRect">
              <a:avLst/>
            </a:prstGeom>
            <a:solidFill>
              <a:srgbClr val="0070C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r>
                <a:rPr lang="ko-KR" altLang="en-US" sz="800" dirty="0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별첨</a:t>
              </a:r>
            </a:p>
          </p:txBody>
        </p:sp>
      </p:grp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31B9C782-D3E2-4D6B-B3D2-B229B996F382}"/>
              </a:ext>
            </a:extLst>
          </p:cNvPr>
          <p:cNvSpPr/>
          <p:nvPr/>
        </p:nvSpPr>
        <p:spPr>
          <a:xfrm>
            <a:off x="760264" y="3011595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운영센터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파트너사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매입 계약서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583A346-CFDB-461D-B401-BA038CC6A6BB}"/>
              </a:ext>
            </a:extLst>
          </p:cNvPr>
          <p:cNvSpPr txBox="1"/>
          <p:nvPr/>
        </p:nvSpPr>
        <p:spPr>
          <a:xfrm>
            <a:off x="2412102" y="4138189"/>
            <a:ext cx="18074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아이본건설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전 공사일정 공유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(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협력사 → 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PO)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E3B5E24E-ACC3-4CBE-B453-0904CFD90E3C}"/>
              </a:ext>
            </a:extLst>
          </p:cNvPr>
          <p:cNvSpPr/>
          <p:nvPr/>
        </p:nvSpPr>
        <p:spPr>
          <a:xfrm>
            <a:off x="2435996" y="5313125"/>
            <a:ext cx="66877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운영센터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EDDAA954-19E4-49D4-8EBB-CEB213166AB7}"/>
              </a:ext>
            </a:extLst>
          </p:cNvPr>
          <p:cNvSpPr/>
          <p:nvPr/>
        </p:nvSpPr>
        <p:spPr>
          <a:xfrm>
            <a:off x="3306241" y="3101602"/>
            <a:ext cx="66877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운영센터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FA7A9E1B-9F02-48E7-A0C6-5C8209371813}"/>
              </a:ext>
            </a:extLst>
          </p:cNvPr>
          <p:cNvCxnSpPr>
            <a:cxnSpLocks/>
            <a:stCxn id="197" idx="1"/>
            <a:endCxn id="87" idx="0"/>
          </p:cNvCxnSpPr>
          <p:nvPr/>
        </p:nvCxnSpPr>
        <p:spPr>
          <a:xfrm rot="10800000" flipV="1">
            <a:off x="5681365" y="2204323"/>
            <a:ext cx="543818" cy="15071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다이아몬드 195">
            <a:extLst>
              <a:ext uri="{FF2B5EF4-FFF2-40B4-BE49-F238E27FC236}">
                <a16:creationId xmlns:a16="http://schemas.microsoft.com/office/drawing/2014/main" id="{55E6A3B6-8267-4250-8818-D041412F1AEF}"/>
              </a:ext>
            </a:extLst>
          </p:cNvPr>
          <p:cNvSpPr/>
          <p:nvPr/>
        </p:nvSpPr>
        <p:spPr>
          <a:xfrm>
            <a:off x="4291608" y="1534977"/>
            <a:ext cx="1060227" cy="410665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endParaRPr lang="en-US" altLang="ko-KR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</a:t>
            </a:r>
          </a:p>
        </p:txBody>
      </p:sp>
      <p:sp>
        <p:nvSpPr>
          <p:cNvPr id="197" name="다이아몬드 196">
            <a:extLst>
              <a:ext uri="{FF2B5EF4-FFF2-40B4-BE49-F238E27FC236}">
                <a16:creationId xmlns:a16="http://schemas.microsoft.com/office/drawing/2014/main" id="{BAA1DAC2-E0D9-47D8-9DE2-DF3C312A41B5}"/>
              </a:ext>
            </a:extLst>
          </p:cNvPr>
          <p:cNvSpPr/>
          <p:nvPr/>
        </p:nvSpPr>
        <p:spPr>
          <a:xfrm>
            <a:off x="6225183" y="1998990"/>
            <a:ext cx="1060227" cy="410665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endParaRPr lang="en-US" altLang="ko-KR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E5F95AEF-6C28-4018-AABF-5210CB7E2E68}"/>
              </a:ext>
            </a:extLst>
          </p:cNvPr>
          <p:cNvCxnSpPr>
            <a:stCxn id="141" idx="1"/>
            <a:endCxn id="87" idx="0"/>
          </p:cNvCxnSpPr>
          <p:nvPr/>
        </p:nvCxnSpPr>
        <p:spPr>
          <a:xfrm rot="10800000" flipV="1">
            <a:off x="5681366" y="2794535"/>
            <a:ext cx="532911" cy="9169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F8A56DFF-0739-46B8-BC5A-EB12050A2A82}"/>
              </a:ext>
            </a:extLst>
          </p:cNvPr>
          <p:cNvSpPr/>
          <p:nvPr/>
        </p:nvSpPr>
        <p:spPr>
          <a:xfrm>
            <a:off x="10247513" y="3976297"/>
            <a:ext cx="201993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무상 </a:t>
            </a:r>
            <a:r>
              <a:rPr lang="en-US" altLang="ko-KR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A/S </a:t>
            </a: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endParaRPr lang="en-US" altLang="ko-KR" sz="8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fontAlgn="base"/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유상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 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계약과 다른 공사범위</a:t>
            </a:r>
            <a:endParaRPr lang="en-US" altLang="ko-KR" sz="8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fontAlgn="base"/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무상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 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</a:t>
            </a:r>
            <a:r>
              <a:rPr lang="en-US" altLang="ko-KR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8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계약상 공사 마감 미흡</a:t>
            </a:r>
            <a:endParaRPr lang="en-US" altLang="ko-KR" sz="8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직사각형 200">
            <a:hlinkClick r:id="rId3" action="ppaction://hlinkpres?slideindex=19&amp;slidetitle=PowerPoint 프레젠테이션"/>
            <a:extLst>
              <a:ext uri="{FF2B5EF4-FFF2-40B4-BE49-F238E27FC236}">
                <a16:creationId xmlns:a16="http://schemas.microsoft.com/office/drawing/2014/main" id="{FE005BB1-D095-4FCB-870C-EE8D901B69DD}"/>
              </a:ext>
            </a:extLst>
          </p:cNvPr>
          <p:cNvSpPr/>
          <p:nvPr/>
        </p:nvSpPr>
        <p:spPr>
          <a:xfrm>
            <a:off x="3656035" y="3257614"/>
            <a:ext cx="13484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9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atG</a:t>
            </a:r>
            <a:r>
              <a:rPr lang="en-US" altLang="ko-KR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준공검사 체크리스트 </a:t>
            </a:r>
            <a:endParaRPr lang="en-US" altLang="ko-KR" sz="900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2" name="사각형: 둥근 모서리 201">
            <a:hlinkClick r:id="rId3" action="ppaction://hlinkpres?slideindex=19&amp;slidetitle=PowerPoint 프레젠테이션"/>
            <a:extLst>
              <a:ext uri="{FF2B5EF4-FFF2-40B4-BE49-F238E27FC236}">
                <a16:creationId xmlns:a16="http://schemas.microsoft.com/office/drawing/2014/main" id="{28EE402E-80BC-4BDD-B3A3-F58E0220144F}"/>
              </a:ext>
            </a:extLst>
          </p:cNvPr>
          <p:cNvSpPr/>
          <p:nvPr/>
        </p:nvSpPr>
        <p:spPr>
          <a:xfrm>
            <a:off x="3374232" y="3293388"/>
            <a:ext cx="324252" cy="161359"/>
          </a:xfrm>
          <a:prstGeom prst="round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별첨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88F60DD3-16CC-4064-991E-75F1643B673E}"/>
              </a:ext>
            </a:extLst>
          </p:cNvPr>
          <p:cNvSpPr txBox="1"/>
          <p:nvPr/>
        </p:nvSpPr>
        <p:spPr>
          <a:xfrm>
            <a:off x="4002836" y="2403265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無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0534EAC-C623-40B8-9102-4BE83A3DCC53}"/>
              </a:ext>
            </a:extLst>
          </p:cNvPr>
          <p:cNvSpPr txBox="1"/>
          <p:nvPr/>
        </p:nvSpPr>
        <p:spPr>
          <a:xfrm>
            <a:off x="2587098" y="2616097"/>
            <a:ext cx="821439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 </a:t>
            </a:r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추가요청 有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5747425-7010-4225-B94C-5F310527BE26}"/>
              </a:ext>
            </a:extLst>
          </p:cNvPr>
          <p:cNvSpPr txBox="1"/>
          <p:nvPr/>
        </p:nvSpPr>
        <p:spPr>
          <a:xfrm>
            <a:off x="5413665" y="2409093"/>
            <a:ext cx="821439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 </a:t>
            </a:r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추가요청 有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9CAFF879-3603-4AF6-B888-F9C3723AB222}"/>
              </a:ext>
            </a:extLst>
          </p:cNvPr>
          <p:cNvSpPr txBox="1"/>
          <p:nvPr/>
        </p:nvSpPr>
        <p:spPr>
          <a:xfrm>
            <a:off x="6814690" y="2431840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無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1C90E56E-0833-4871-8609-CAE89C3A9611}"/>
              </a:ext>
            </a:extLst>
          </p:cNvPr>
          <p:cNvSpPr/>
          <p:nvPr/>
        </p:nvSpPr>
        <p:spPr bwMode="auto">
          <a:xfrm>
            <a:off x="7535997" y="1531724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공사완료 확인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(PO</a:t>
            </a:r>
            <a:r>
              <a:rPr lang="ko-KR" altLang="en-US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고객사</a:t>
            </a:r>
            <a:r>
              <a:rPr lang="en-US" altLang="ko-KR" sz="8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C0163EC3-47AE-42B6-B125-A9A2FAEE8B12}"/>
              </a:ext>
            </a:extLst>
          </p:cNvPr>
          <p:cNvSpPr/>
          <p:nvPr/>
        </p:nvSpPr>
        <p:spPr>
          <a:xfrm>
            <a:off x="7847626" y="2563049"/>
            <a:ext cx="403650" cy="410663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종료</a:t>
            </a: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8BFC8B96-983C-44C1-B76F-A90BB0ECBB95}"/>
              </a:ext>
            </a:extLst>
          </p:cNvPr>
          <p:cNvCxnSpPr>
            <a:cxnSpLocks/>
            <a:stCxn id="214" idx="2"/>
            <a:endCxn id="215" idx="0"/>
          </p:cNvCxnSpPr>
          <p:nvPr/>
        </p:nvCxnSpPr>
        <p:spPr bwMode="auto">
          <a:xfrm flipH="1">
            <a:off x="8049451" y="1948894"/>
            <a:ext cx="1915" cy="614155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직사각형 218">
            <a:hlinkClick r:id="rId3" action="ppaction://hlinkpres?slideindex=19&amp;slidetitle=PowerPoint 프레젠테이션"/>
            <a:extLst>
              <a:ext uri="{FF2B5EF4-FFF2-40B4-BE49-F238E27FC236}">
                <a16:creationId xmlns:a16="http://schemas.microsoft.com/office/drawing/2014/main" id="{7E24178C-C495-4185-B387-0C28D9267B87}"/>
              </a:ext>
            </a:extLst>
          </p:cNvPr>
          <p:cNvSpPr/>
          <p:nvPr/>
        </p:nvSpPr>
        <p:spPr>
          <a:xfrm>
            <a:off x="7808935" y="2000314"/>
            <a:ext cx="88036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공사완료확인서</a:t>
            </a:r>
            <a:endParaRPr lang="en-US" altLang="ko-KR" sz="900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0" name="사각형: 둥근 모서리 219">
            <a:hlinkClick r:id="rId3" action="ppaction://hlinkpres?slideindex=19&amp;slidetitle=PowerPoint 프레젠테이션"/>
            <a:extLst>
              <a:ext uri="{FF2B5EF4-FFF2-40B4-BE49-F238E27FC236}">
                <a16:creationId xmlns:a16="http://schemas.microsoft.com/office/drawing/2014/main" id="{36F9594A-9448-4774-BDB7-C7FA08817ADF}"/>
              </a:ext>
            </a:extLst>
          </p:cNvPr>
          <p:cNvSpPr/>
          <p:nvPr/>
        </p:nvSpPr>
        <p:spPr>
          <a:xfrm>
            <a:off x="7527132" y="2036088"/>
            <a:ext cx="324252" cy="161359"/>
          </a:xfrm>
          <a:prstGeom prst="round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별첨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9D1F0B55-EB1C-43F4-80C2-5E16B5FCC2BF}"/>
              </a:ext>
            </a:extLst>
          </p:cNvPr>
          <p:cNvSpPr/>
          <p:nvPr/>
        </p:nvSpPr>
        <p:spPr>
          <a:xfrm>
            <a:off x="6420916" y="3101602"/>
            <a:ext cx="66877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운영센터</a:t>
            </a:r>
            <a:endParaRPr lang="en-US" altLang="ko-KR" sz="90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9C161EFE-5119-4340-8F7F-1BDAA2980613}"/>
              </a:ext>
            </a:extLst>
          </p:cNvPr>
          <p:cNvCxnSpPr>
            <a:stCxn id="196" idx="3"/>
            <a:endCxn id="214" idx="1"/>
          </p:cNvCxnSpPr>
          <p:nvPr/>
        </p:nvCxnSpPr>
        <p:spPr>
          <a:xfrm flipV="1">
            <a:off x="5351835" y="1740309"/>
            <a:ext cx="21841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다이아몬드 140">
            <a:extLst>
              <a:ext uri="{FF2B5EF4-FFF2-40B4-BE49-F238E27FC236}">
                <a16:creationId xmlns:a16="http://schemas.microsoft.com/office/drawing/2014/main" id="{21C753DD-97EC-42B3-B911-34BAB5980D70}"/>
              </a:ext>
            </a:extLst>
          </p:cNvPr>
          <p:cNvSpPr/>
          <p:nvPr/>
        </p:nvSpPr>
        <p:spPr>
          <a:xfrm>
            <a:off x="6214276" y="2589202"/>
            <a:ext cx="1060227" cy="410665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재점검</a:t>
            </a:r>
          </a:p>
        </p:txBody>
      </p: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70C30227-6E2F-4419-912E-90EDB322AB56}"/>
              </a:ext>
            </a:extLst>
          </p:cNvPr>
          <p:cNvCxnSpPr>
            <a:cxnSpLocks/>
            <a:stCxn id="197" idx="0"/>
          </p:cNvCxnSpPr>
          <p:nvPr/>
        </p:nvCxnSpPr>
        <p:spPr>
          <a:xfrm flipV="1">
            <a:off x="6755297" y="1748748"/>
            <a:ext cx="0" cy="250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02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7264C54-2A64-4BEE-8EB0-10AB6B7CA9E2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0105778F-D49F-4D2B-AEC4-75FD9564FC89}"/>
              </a:ext>
            </a:extLst>
          </p:cNvPr>
          <p:cNvSpPr txBox="1">
            <a:spLocks/>
          </p:cNvSpPr>
          <p:nvPr/>
        </p:nvSpPr>
        <p:spPr>
          <a:xfrm>
            <a:off x="445763" y="912136"/>
            <a:ext cx="5055323" cy="300082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5848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위험성평가표 생성</a:t>
            </a:r>
            <a:endParaRPr kumimoji="1" lang="ko-KR" altLang="en-US" sz="1000" dirty="0">
              <a:ln w="3175">
                <a:solidFill>
                  <a:schemeClr val="tx1">
                    <a:alpha val="5000"/>
                  </a:schemeClr>
                </a:solidFill>
              </a:ln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684E358-4C0F-4A5E-BA7D-D8755209FBCC}"/>
              </a:ext>
            </a:extLst>
          </p:cNvPr>
          <p:cNvGrpSpPr/>
          <p:nvPr/>
        </p:nvGrpSpPr>
        <p:grpSpPr>
          <a:xfrm>
            <a:off x="714160" y="1233705"/>
            <a:ext cx="7483793" cy="4390590"/>
            <a:chOff x="714160" y="1233705"/>
            <a:chExt cx="7483793" cy="439059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2BE024F8-5F6C-45E3-99C7-AD2FF46C6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160" y="1233705"/>
              <a:ext cx="7483793" cy="4390590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BA4DCFD-70AE-4565-A02C-028118B16ED5}"/>
                </a:ext>
              </a:extLst>
            </p:cNvPr>
            <p:cNvSpPr/>
            <p:nvPr/>
          </p:nvSpPr>
          <p:spPr>
            <a:xfrm>
              <a:off x="1828799" y="1733006"/>
              <a:ext cx="2063931" cy="5486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endParaRPr lang="ko-KR" altLang="en-US" sz="12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231E879-41BE-4C23-A08C-00AD29D967C3}"/>
                </a:ext>
              </a:extLst>
            </p:cNvPr>
            <p:cNvSpPr/>
            <p:nvPr/>
          </p:nvSpPr>
          <p:spPr>
            <a:xfrm>
              <a:off x="5007369" y="2120538"/>
              <a:ext cx="2063931" cy="161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lnSpc>
                  <a:spcPct val="120000"/>
                </a:lnSpc>
                <a:spcAft>
                  <a:spcPct val="0"/>
                </a:spcAft>
              </a:pPr>
              <a:endParaRPr lang="ko-KR" altLang="en-US" sz="12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8A6A6D-5B7F-4961-9E83-9D70F01C2315}"/>
              </a:ext>
            </a:extLst>
          </p:cNvPr>
          <p:cNvSpPr/>
          <p:nvPr/>
        </p:nvSpPr>
        <p:spPr>
          <a:xfrm>
            <a:off x="269764" y="138006"/>
            <a:ext cx="612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시공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위험성 평가표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2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atG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11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7264C54-2A64-4BEE-8EB0-10AB6B7CA9E2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0105778F-D49F-4D2B-AEC4-75FD9564FC89}"/>
              </a:ext>
            </a:extLst>
          </p:cNvPr>
          <p:cNvSpPr txBox="1">
            <a:spLocks/>
          </p:cNvSpPr>
          <p:nvPr/>
        </p:nvSpPr>
        <p:spPr>
          <a:xfrm>
            <a:off x="445763" y="912136"/>
            <a:ext cx="5055323" cy="300082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5848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품질점검</a:t>
            </a:r>
            <a:endParaRPr kumimoji="1" lang="ko-KR" altLang="en-US" sz="1000" dirty="0">
              <a:ln w="3175">
                <a:solidFill>
                  <a:schemeClr val="tx1">
                    <a:alpha val="5000"/>
                  </a:schemeClr>
                </a:solidFill>
              </a:ln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F8DBF1-C6F4-4C33-942C-DC47459CE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233487"/>
            <a:ext cx="11405041" cy="27288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79388F3-EC5D-4C6A-ABDF-91003F29E1A9}"/>
              </a:ext>
            </a:extLst>
          </p:cNvPr>
          <p:cNvSpPr/>
          <p:nvPr/>
        </p:nvSpPr>
        <p:spPr>
          <a:xfrm>
            <a:off x="269764" y="138006"/>
            <a:ext cx="612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시공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품질점검 체크리스트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2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atG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6679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7264C54-2A64-4BEE-8EB0-10AB6B7CA9E2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텍스트 개체 틀 1">
            <a:extLst>
              <a:ext uri="{FF2B5EF4-FFF2-40B4-BE49-F238E27FC236}">
                <a16:creationId xmlns:a16="http://schemas.microsoft.com/office/drawing/2014/main" id="{0105778F-D49F-4D2B-AEC4-75FD9564FC89}"/>
              </a:ext>
            </a:extLst>
          </p:cNvPr>
          <p:cNvSpPr txBox="1">
            <a:spLocks/>
          </p:cNvSpPr>
          <p:nvPr/>
        </p:nvSpPr>
        <p:spPr>
          <a:xfrm>
            <a:off x="445763" y="912136"/>
            <a:ext cx="5055323" cy="300082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5848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ko-KR" altLang="en-US" sz="1400" b="1" dirty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준공 검사</a:t>
            </a:r>
            <a:endParaRPr kumimoji="1" lang="ko-KR" altLang="en-US" sz="1000" dirty="0">
              <a:ln w="3175">
                <a:solidFill>
                  <a:schemeClr val="tx1">
                    <a:alpha val="5000"/>
                  </a:schemeClr>
                </a:solidFill>
              </a:ln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16BEB84-8F33-4333-B9ED-06CA99EB5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79" y="1241820"/>
            <a:ext cx="10069418" cy="367521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23EAE3-AA11-47C7-911E-2F9A531CD3F8}"/>
              </a:ext>
            </a:extLst>
          </p:cNvPr>
          <p:cNvSpPr/>
          <p:nvPr/>
        </p:nvSpPr>
        <p:spPr>
          <a:xfrm>
            <a:off x="269764" y="138006"/>
            <a:ext cx="612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준공검사 체크리스트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2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atG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365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7264C54-2A64-4BEE-8EB0-10AB6B7CA9E2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AA2DC4-605B-4243-9C89-BC5DC62278B8}"/>
              </a:ext>
            </a:extLst>
          </p:cNvPr>
          <p:cNvSpPr txBox="1"/>
          <p:nvPr/>
        </p:nvSpPr>
        <p:spPr>
          <a:xfrm>
            <a:off x="7149204" y="4495916"/>
            <a:ext cx="4389653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고객과 최종 공사 완성을 확인 후 작업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완료 확인서를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수취한다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670C5-F776-493A-87A8-45D2FE005D3B}"/>
              </a:ext>
            </a:extLst>
          </p:cNvPr>
          <p:cNvSpPr/>
          <p:nvPr/>
        </p:nvSpPr>
        <p:spPr>
          <a:xfrm>
            <a:off x="5281513" y="1195373"/>
            <a:ext cx="162897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공사완료 확인서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5732917-B9E7-4272-8F09-C1F4BE02E87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7375" y="2405481"/>
          <a:ext cx="10872788" cy="1957467"/>
        </p:xfrm>
        <a:graphic>
          <a:graphicData uri="http://schemas.openxmlformats.org/drawingml/2006/table">
            <a:tbl>
              <a:tblPr/>
              <a:tblGrid>
                <a:gridCol w="1048478">
                  <a:extLst>
                    <a:ext uri="{9D8B030D-6E8A-4147-A177-3AD203B41FA5}">
                      <a16:colId xmlns:a16="http://schemas.microsoft.com/office/drawing/2014/main" val="1457497872"/>
                    </a:ext>
                  </a:extLst>
                </a:gridCol>
                <a:gridCol w="4756321">
                  <a:extLst>
                    <a:ext uri="{9D8B030D-6E8A-4147-A177-3AD203B41FA5}">
                      <a16:colId xmlns:a16="http://schemas.microsoft.com/office/drawing/2014/main" val="1788973922"/>
                    </a:ext>
                  </a:extLst>
                </a:gridCol>
                <a:gridCol w="1690777">
                  <a:extLst>
                    <a:ext uri="{9D8B030D-6E8A-4147-A177-3AD203B41FA5}">
                      <a16:colId xmlns:a16="http://schemas.microsoft.com/office/drawing/2014/main" val="3732130769"/>
                    </a:ext>
                  </a:extLst>
                </a:gridCol>
                <a:gridCol w="3377212">
                  <a:extLst>
                    <a:ext uri="{9D8B030D-6E8A-4147-A177-3AD203B41FA5}">
                      <a16:colId xmlns:a16="http://schemas.microsoft.com/office/drawing/2014/main" val="4025604178"/>
                    </a:ext>
                  </a:extLst>
                </a:gridCol>
              </a:tblGrid>
              <a:tr h="5396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구분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점검 항목</a:t>
                      </a:r>
                    </a:p>
                  </a:txBody>
                  <a:tcPr marL="6529" marR="6529" marT="65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점검 결과 </a:t>
                      </a:r>
                      <a:b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(○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양호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△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검토필요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, X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불량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6529" marR="6529" marT="65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비고</a:t>
                      </a:r>
                    </a:p>
                  </a:txBody>
                  <a:tcPr marL="6529" marR="6529" marT="65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52784"/>
                  </a:ext>
                </a:extLst>
              </a:tr>
              <a:tr h="28101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마감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바닥 면 마감재 처리 균일 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77942"/>
                  </a:ext>
                </a:extLst>
              </a:tr>
              <a:tr h="281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계약상 마감재 사용 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213000"/>
                  </a:ext>
                </a:extLst>
              </a:tr>
              <a:tr h="281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바닥 및 벽체 도색 균일 여부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339777"/>
                  </a:ext>
                </a:extLst>
              </a:tr>
              <a:tr h="2810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바닥 수평 마감 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869585"/>
                  </a:ext>
                </a:extLst>
              </a:tr>
              <a:tr h="2937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정리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폐자재 처리 및 청소 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　</a:t>
                      </a: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6529" marR="6529" marT="6529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25210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DF63C6-302B-4ED9-ABC1-FF176A8640CD}"/>
              </a:ext>
            </a:extLst>
          </p:cNvPr>
          <p:cNvSpPr/>
          <p:nvPr/>
        </p:nvSpPr>
        <p:spPr>
          <a:xfrm>
            <a:off x="587376" y="1816904"/>
            <a:ext cx="383797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en-US" sz="11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검수자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업체명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5A5702-C670-4536-90E1-5EFBEDD66FDB}"/>
              </a:ext>
            </a:extLst>
          </p:cNvPr>
          <p:cNvSpPr/>
          <p:nvPr/>
        </p:nvSpPr>
        <p:spPr>
          <a:xfrm>
            <a:off x="587376" y="2087386"/>
            <a:ext cx="383797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장   소 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  치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: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54F464-BBD8-4D79-B539-7ECB44F1A533}"/>
              </a:ext>
            </a:extLst>
          </p:cNvPr>
          <p:cNvSpPr/>
          <p:nvPr/>
        </p:nvSpPr>
        <p:spPr>
          <a:xfrm>
            <a:off x="6708775" y="2080009"/>
            <a:ext cx="383797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en-US" sz="11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공사명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솔루션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EF333D-FEDD-4232-9CBE-1CE9582688BE}"/>
              </a:ext>
            </a:extLst>
          </p:cNvPr>
          <p:cNvSpPr/>
          <p:nvPr/>
        </p:nvSpPr>
        <p:spPr>
          <a:xfrm>
            <a:off x="6708775" y="1828396"/>
            <a:ext cx="211716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점검일자 </a:t>
            </a:r>
            <a:r>
              <a:rPr lang="en-US" altLang="ko-KR" sz="11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B4651D2D-58B4-4D8E-A252-1B4670FF17F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118786" y="1206681"/>
          <a:ext cx="1341377" cy="636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94">
                  <a:extLst>
                    <a:ext uri="{9D8B030D-6E8A-4147-A177-3AD203B41FA5}">
                      <a16:colId xmlns:a16="http://schemas.microsoft.com/office/drawing/2014/main" val="288391924"/>
                    </a:ext>
                  </a:extLst>
                </a:gridCol>
                <a:gridCol w="995883">
                  <a:extLst>
                    <a:ext uri="{9D8B030D-6E8A-4147-A177-3AD203B41FA5}">
                      <a16:colId xmlns:a16="http://schemas.microsoft.com/office/drawing/2014/main" val="4107527000"/>
                    </a:ext>
                  </a:extLst>
                </a:gridCol>
              </a:tblGrid>
              <a:tr h="25170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latinLnBrk="1"/>
                      <a:endParaRPr lang="en-US" altLang="ko-KR" sz="1100" b="1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 객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44156"/>
                  </a:ext>
                </a:extLst>
              </a:tr>
              <a:tr h="385007"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9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98876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8AB790-3CA3-4E21-A9FD-B0BA9806614F}"/>
              </a:ext>
            </a:extLst>
          </p:cNvPr>
          <p:cNvSpPr/>
          <p:nvPr/>
        </p:nvSpPr>
        <p:spPr>
          <a:xfrm>
            <a:off x="269764" y="138006"/>
            <a:ext cx="612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공사완료 확인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공사완료 확인서</a:t>
            </a:r>
            <a:endParaRPr lang="en-US" altLang="ko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53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BA71E93-B741-4A0C-B940-7C68840F52B6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화살표: 오각형 24">
            <a:extLst>
              <a:ext uri="{FF2B5EF4-FFF2-40B4-BE49-F238E27FC236}">
                <a16:creationId xmlns:a16="http://schemas.microsoft.com/office/drawing/2014/main" id="{50E66959-9C98-4BDD-B44D-86CA3979F183}"/>
              </a:ext>
            </a:extLst>
          </p:cNvPr>
          <p:cNvSpPr/>
          <p:nvPr/>
        </p:nvSpPr>
        <p:spPr>
          <a:xfrm>
            <a:off x="2135770" y="1414346"/>
            <a:ext cx="1699962" cy="839972"/>
          </a:xfrm>
          <a:prstGeom prst="homePlate">
            <a:avLst>
              <a:gd name="adj" fmla="val 2974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 지표 </a:t>
            </a:r>
            <a:endParaRPr lang="en-US" altLang="ko-KR" sz="14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의견 검토</a:t>
            </a:r>
          </a:p>
        </p:txBody>
      </p:sp>
      <p:sp>
        <p:nvSpPr>
          <p:cNvPr id="26" name="화살표: 오각형 25">
            <a:extLst>
              <a:ext uri="{FF2B5EF4-FFF2-40B4-BE49-F238E27FC236}">
                <a16:creationId xmlns:a16="http://schemas.microsoft.com/office/drawing/2014/main" id="{7DE49725-512D-405B-8497-AD68FD47DBDD}"/>
              </a:ext>
            </a:extLst>
          </p:cNvPr>
          <p:cNvSpPr/>
          <p:nvPr/>
        </p:nvSpPr>
        <p:spPr>
          <a:xfrm>
            <a:off x="3888370" y="1404821"/>
            <a:ext cx="1699962" cy="839972"/>
          </a:xfrm>
          <a:prstGeom prst="homePlate">
            <a:avLst>
              <a:gd name="adj" fmla="val 2974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 지표 </a:t>
            </a:r>
            <a:endParaRPr lang="en-US" altLang="ko-KR" sz="14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추가</a:t>
            </a:r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개별</a:t>
            </a:r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화살표: 오각형 26">
            <a:extLst>
              <a:ext uri="{FF2B5EF4-FFF2-40B4-BE49-F238E27FC236}">
                <a16:creationId xmlns:a16="http://schemas.microsoft.com/office/drawing/2014/main" id="{354F294D-2BAE-4CB3-9D92-DBCA72A4CFFA}"/>
              </a:ext>
            </a:extLst>
          </p:cNvPr>
          <p:cNvSpPr/>
          <p:nvPr/>
        </p:nvSpPr>
        <p:spPr>
          <a:xfrm>
            <a:off x="5669545" y="1404821"/>
            <a:ext cx="1699962" cy="839972"/>
          </a:xfrm>
          <a:prstGeom prst="homePlate">
            <a:avLst>
              <a:gd name="adj" fmla="val 2974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</a:t>
            </a:r>
            <a:endParaRPr lang="en-US" altLang="ko-KR" sz="14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</a:t>
            </a:r>
          </a:p>
        </p:txBody>
      </p:sp>
      <p:sp>
        <p:nvSpPr>
          <p:cNvPr id="28" name="화살표: 오각형 27">
            <a:extLst>
              <a:ext uri="{FF2B5EF4-FFF2-40B4-BE49-F238E27FC236}">
                <a16:creationId xmlns:a16="http://schemas.microsoft.com/office/drawing/2014/main" id="{8DD58B0E-1FAA-4A1D-B59F-B64022CA8C18}"/>
              </a:ext>
            </a:extLst>
          </p:cNvPr>
          <p:cNvSpPr/>
          <p:nvPr/>
        </p:nvSpPr>
        <p:spPr>
          <a:xfrm>
            <a:off x="7431670" y="1404821"/>
            <a:ext cx="1699962" cy="839972"/>
          </a:xfrm>
          <a:prstGeom prst="homePlate">
            <a:avLst>
              <a:gd name="adj" fmla="val 2974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</a:t>
            </a:r>
            <a:endParaRPr lang="en-US" altLang="ko-KR" sz="14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</a:p>
        </p:txBody>
      </p:sp>
      <p:sp>
        <p:nvSpPr>
          <p:cNvPr id="29" name="화살표: 오각형 28">
            <a:extLst>
              <a:ext uri="{FF2B5EF4-FFF2-40B4-BE49-F238E27FC236}">
                <a16:creationId xmlns:a16="http://schemas.microsoft.com/office/drawing/2014/main" id="{B8F39CAA-13EE-4A33-8687-252749D00B56}"/>
              </a:ext>
            </a:extLst>
          </p:cNvPr>
          <p:cNvSpPr/>
          <p:nvPr/>
        </p:nvSpPr>
        <p:spPr>
          <a:xfrm>
            <a:off x="9212845" y="1404821"/>
            <a:ext cx="1699962" cy="839972"/>
          </a:xfrm>
          <a:prstGeom prst="homePlate">
            <a:avLst>
              <a:gd name="adj" fmla="val 2974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</a:t>
            </a:r>
            <a:endParaRPr lang="en-US" altLang="ko-KR" sz="14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4303AA-4AE4-444C-BE15-442A0A1A4901}"/>
              </a:ext>
            </a:extLst>
          </p:cNvPr>
          <p:cNvSpPr txBox="1"/>
          <p:nvPr/>
        </p:nvSpPr>
        <p:spPr>
          <a:xfrm>
            <a:off x="1134390" y="1680443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Process</a:t>
            </a:r>
            <a:endParaRPr lang="ko-KR" altLang="en-US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4CF174-026A-404E-801D-4D5CDEEC7A18}"/>
              </a:ext>
            </a:extLst>
          </p:cNvPr>
          <p:cNvSpPr txBox="1"/>
          <p:nvPr/>
        </p:nvSpPr>
        <p:spPr>
          <a:xfrm>
            <a:off x="2009122" y="2487141"/>
            <a:ext cx="1708484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품질관리팀에서 공유한 공통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개별지표 의견에 대하여 담당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검토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F5965A-3069-41D5-B1D2-EF5FE019D58E}"/>
              </a:ext>
            </a:extLst>
          </p:cNvPr>
          <p:cNvSpPr txBox="1"/>
          <p:nvPr/>
        </p:nvSpPr>
        <p:spPr>
          <a:xfrm>
            <a:off x="3837695" y="2487141"/>
            <a:ext cx="1708484" cy="144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고객과 약속한 내용을 바탕으로 추가로 필요한 지표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입력하여 품질관리팀에 공유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A3C7B1-5ECF-414D-85A8-7B41D0133BDA}"/>
              </a:ext>
            </a:extLst>
          </p:cNvPr>
          <p:cNvSpPr txBox="1"/>
          <p:nvPr/>
        </p:nvSpPr>
        <p:spPr>
          <a:xfrm>
            <a:off x="5642843" y="2487141"/>
            <a:ext cx="1708484" cy="144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 관리 기준 및 관리 목표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 방안</a:t>
            </a:r>
            <a:b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확정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 관리 담당자 확정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업체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또는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PO)</a:t>
            </a:r>
            <a:endParaRPr lang="ko-KR" alt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16C664-46E2-4AF4-9F7A-3B596ADC053A}"/>
              </a:ext>
            </a:extLst>
          </p:cNvPr>
          <p:cNvSpPr txBox="1"/>
          <p:nvPr/>
        </p:nvSpPr>
        <p:spPr>
          <a:xfrm>
            <a:off x="7447991" y="2487141"/>
            <a:ext cx="1708484" cy="1168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단위 데이터 취합</a:t>
            </a:r>
            <a:b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담당자 자체 관리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미달성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지표 사유 및 원인 확인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3067C1-C124-4B7B-8D86-39BC1D84CE3A}"/>
              </a:ext>
            </a:extLst>
          </p:cNvPr>
          <p:cNvSpPr txBox="1"/>
          <p:nvPr/>
        </p:nvSpPr>
        <p:spPr>
          <a:xfrm>
            <a:off x="9212845" y="2487141"/>
            <a:ext cx="1708484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품질관리팀 대시보드 작성 및 전사 공유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B2AB0D-F142-488A-B522-1B388707C627}"/>
              </a:ext>
            </a:extLst>
          </p:cNvPr>
          <p:cNvSpPr txBox="1"/>
          <p:nvPr/>
        </p:nvSpPr>
        <p:spPr>
          <a:xfrm>
            <a:off x="1134390" y="4065668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예상 품질지표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BDB063F-BF42-4291-BA0C-B073426B692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55295" y="4065668"/>
          <a:ext cx="6175096" cy="1750662"/>
        </p:xfrm>
        <a:graphic>
          <a:graphicData uri="http://schemas.openxmlformats.org/drawingml/2006/table">
            <a:tbl>
              <a:tblPr/>
              <a:tblGrid>
                <a:gridCol w="575740">
                  <a:extLst>
                    <a:ext uri="{9D8B030D-6E8A-4147-A177-3AD203B41FA5}">
                      <a16:colId xmlns:a16="http://schemas.microsoft.com/office/drawing/2014/main" val="1970929778"/>
                    </a:ext>
                  </a:extLst>
                </a:gridCol>
                <a:gridCol w="1377261">
                  <a:extLst>
                    <a:ext uri="{9D8B030D-6E8A-4147-A177-3AD203B41FA5}">
                      <a16:colId xmlns:a16="http://schemas.microsoft.com/office/drawing/2014/main" val="1644182366"/>
                    </a:ext>
                  </a:extLst>
                </a:gridCol>
                <a:gridCol w="4222095">
                  <a:extLst>
                    <a:ext uri="{9D8B030D-6E8A-4147-A177-3AD203B41FA5}">
                      <a16:colId xmlns:a16="http://schemas.microsoft.com/office/drawing/2014/main" val="584939595"/>
                    </a:ext>
                  </a:extLst>
                </a:gridCol>
              </a:tblGrid>
              <a:tr h="3106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구 분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지표 구분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지표 항목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587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1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공통지표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중대 사고 건 수</a:t>
                      </a:r>
                    </a:p>
                  </a:txBody>
                  <a:tcPr marL="10404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8867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2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일반 사고 건 수</a:t>
                      </a:r>
                    </a:p>
                  </a:txBody>
                  <a:tcPr marL="10404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45227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3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불편 불만 건 수</a:t>
                      </a:r>
                    </a:p>
                  </a:txBody>
                  <a:tcPr marL="10404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2313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4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개별지표</a:t>
                      </a:r>
                    </a:p>
                  </a:txBody>
                  <a:tcPr marL="693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해당 없음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추가 관리 지표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) –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</a:rPr>
                        <a:t>추후 하자처리율 등 관리 검토 </a:t>
                      </a:r>
                    </a:p>
                  </a:txBody>
                  <a:tcPr marL="104046" marR="6936" marT="69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927738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F740-C6FD-4200-9993-002C5836028C}"/>
              </a:ext>
            </a:extLst>
          </p:cNvPr>
          <p:cNvSpPr/>
          <p:nvPr/>
        </p:nvSpPr>
        <p:spPr>
          <a:xfrm>
            <a:off x="269764" y="138006"/>
            <a:ext cx="612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품질지표 관리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품질관리 지표</a:t>
            </a:r>
            <a:endParaRPr lang="en-US" altLang="ko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554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CA560DA-FFC0-4DEB-8379-E64AFB97E9C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7374" y="3287124"/>
          <a:ext cx="10872793" cy="2995350"/>
        </p:xfrm>
        <a:graphic>
          <a:graphicData uri="http://schemas.openxmlformats.org/drawingml/2006/table">
            <a:tbl>
              <a:tblPr/>
              <a:tblGrid>
                <a:gridCol w="217855">
                  <a:extLst>
                    <a:ext uri="{9D8B030D-6E8A-4147-A177-3AD203B41FA5}">
                      <a16:colId xmlns:a16="http://schemas.microsoft.com/office/drawing/2014/main" val="1795997687"/>
                    </a:ext>
                  </a:extLst>
                </a:gridCol>
                <a:gridCol w="579174">
                  <a:extLst>
                    <a:ext uri="{9D8B030D-6E8A-4147-A177-3AD203B41FA5}">
                      <a16:colId xmlns:a16="http://schemas.microsoft.com/office/drawing/2014/main" val="570323716"/>
                    </a:ext>
                  </a:extLst>
                </a:gridCol>
                <a:gridCol w="520726">
                  <a:extLst>
                    <a:ext uri="{9D8B030D-6E8A-4147-A177-3AD203B41FA5}">
                      <a16:colId xmlns:a16="http://schemas.microsoft.com/office/drawing/2014/main" val="1629946160"/>
                    </a:ext>
                  </a:extLst>
                </a:gridCol>
                <a:gridCol w="520726">
                  <a:extLst>
                    <a:ext uri="{9D8B030D-6E8A-4147-A177-3AD203B41FA5}">
                      <a16:colId xmlns:a16="http://schemas.microsoft.com/office/drawing/2014/main" val="4088234214"/>
                    </a:ext>
                  </a:extLst>
                </a:gridCol>
                <a:gridCol w="786401">
                  <a:extLst>
                    <a:ext uri="{9D8B030D-6E8A-4147-A177-3AD203B41FA5}">
                      <a16:colId xmlns:a16="http://schemas.microsoft.com/office/drawing/2014/main" val="2847440022"/>
                    </a:ext>
                  </a:extLst>
                </a:gridCol>
                <a:gridCol w="745222">
                  <a:extLst>
                    <a:ext uri="{9D8B030D-6E8A-4147-A177-3AD203B41FA5}">
                      <a16:colId xmlns:a16="http://schemas.microsoft.com/office/drawing/2014/main" val="4269856750"/>
                    </a:ext>
                  </a:extLst>
                </a:gridCol>
                <a:gridCol w="1540921">
                  <a:extLst>
                    <a:ext uri="{9D8B030D-6E8A-4147-A177-3AD203B41FA5}">
                      <a16:colId xmlns:a16="http://schemas.microsoft.com/office/drawing/2014/main" val="3886211795"/>
                    </a:ext>
                  </a:extLst>
                </a:gridCol>
                <a:gridCol w="2980884">
                  <a:extLst>
                    <a:ext uri="{9D8B030D-6E8A-4147-A177-3AD203B41FA5}">
                      <a16:colId xmlns:a16="http://schemas.microsoft.com/office/drawing/2014/main" val="4147374288"/>
                    </a:ext>
                  </a:extLst>
                </a:gridCol>
                <a:gridCol w="2980884">
                  <a:extLst>
                    <a:ext uri="{9D8B030D-6E8A-4147-A177-3AD203B41FA5}">
                      <a16:colId xmlns:a16="http://schemas.microsoft.com/office/drawing/2014/main" val="2951775538"/>
                    </a:ext>
                  </a:extLst>
                </a:gridCol>
              </a:tblGrid>
              <a:tr h="4283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No.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VoC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채널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일자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접수시간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상품명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고객명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제목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조치내역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410511"/>
                  </a:ext>
                </a:extLst>
              </a:tr>
              <a:tr h="1281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전화응대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2024-03-15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15:41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원상복구공사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남*우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연락 지연 불만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최초접수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2.26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독촉 유선접수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2.27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현재까지 연락 없어 재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인입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→ 담당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에게 전달 완료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스윗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713383"/>
                  </a:ext>
                </a:extLst>
              </a:tr>
              <a:tr h="42835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434401"/>
                  </a:ext>
                </a:extLst>
              </a:tr>
              <a:tr h="42835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926563"/>
                  </a:ext>
                </a:extLst>
              </a:tr>
              <a:tr h="42835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311" marR="5311" marT="53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87242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4C08B63-4565-469B-8283-D92BA2D69D5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7374" y="1032566"/>
          <a:ext cx="10872784" cy="2124240"/>
        </p:xfrm>
        <a:graphic>
          <a:graphicData uri="http://schemas.openxmlformats.org/drawingml/2006/table">
            <a:tbl>
              <a:tblPr/>
              <a:tblGrid>
                <a:gridCol w="977800">
                  <a:extLst>
                    <a:ext uri="{9D8B030D-6E8A-4147-A177-3AD203B41FA5}">
                      <a16:colId xmlns:a16="http://schemas.microsoft.com/office/drawing/2014/main" val="4193665464"/>
                    </a:ext>
                  </a:extLst>
                </a:gridCol>
                <a:gridCol w="977800">
                  <a:extLst>
                    <a:ext uri="{9D8B030D-6E8A-4147-A177-3AD203B41FA5}">
                      <a16:colId xmlns:a16="http://schemas.microsoft.com/office/drawing/2014/main" val="4051784872"/>
                    </a:ext>
                  </a:extLst>
                </a:gridCol>
                <a:gridCol w="530957">
                  <a:extLst>
                    <a:ext uri="{9D8B030D-6E8A-4147-A177-3AD203B41FA5}">
                      <a16:colId xmlns:a16="http://schemas.microsoft.com/office/drawing/2014/main" val="4001989648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2678204964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2613575945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1641639217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886093291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3014926514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808996921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4103879895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3817394371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4277793010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2569781965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2562606750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1820717760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1378100998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358997078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1604823129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2530018618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238939433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3853519168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3597608961"/>
                    </a:ext>
                  </a:extLst>
                </a:gridCol>
                <a:gridCol w="346962">
                  <a:extLst>
                    <a:ext uri="{9D8B030D-6E8A-4147-A177-3AD203B41FA5}">
                      <a16:colId xmlns:a16="http://schemas.microsoft.com/office/drawing/2014/main" val="899037290"/>
                    </a:ext>
                  </a:extLst>
                </a:gridCol>
                <a:gridCol w="1446987">
                  <a:extLst>
                    <a:ext uri="{9D8B030D-6E8A-4147-A177-3AD203B41FA5}">
                      <a16:colId xmlns:a16="http://schemas.microsoft.com/office/drawing/2014/main" val="3648728935"/>
                    </a:ext>
                  </a:extLst>
                </a:gridCol>
              </a:tblGrid>
              <a:tr h="17702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카테고리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상품명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접수경로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누적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당월 </a:t>
                      </a:r>
                      <a:r>
                        <a:rPr lang="en-US" altLang="ko-K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VoC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이슈사항</a:t>
                      </a:r>
                      <a:r>
                        <a:rPr lang="ko-KR" alt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</a:t>
                      </a:r>
                      <a:r>
                        <a:rPr lang="en-US" altLang="ko-KR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563771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597318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불만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392565"/>
                  </a:ext>
                </a:extLst>
              </a:tr>
              <a:tr h="177020">
                <a:tc rowSpan="3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 합계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Web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086348"/>
                  </a:ext>
                </a:extLst>
              </a:tr>
              <a:tr h="17702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Phone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66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62100"/>
                  </a:ext>
                </a:extLst>
              </a:tr>
              <a:tr h="17702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Email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112023"/>
                  </a:ext>
                </a:extLst>
              </a:tr>
              <a:tr h="17702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원상복구공사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콜센터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Web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40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387357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Phone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81486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Email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803140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Web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40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33482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Phone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 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468298"/>
                  </a:ext>
                </a:extLst>
              </a:tr>
              <a:tr h="177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Email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</a:t>
                      </a:r>
                    </a:p>
                  </a:txBody>
                  <a:tcPr marL="3553" marR="3553" marT="355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923419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0560439-79F3-468B-8F27-9573492D46C8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A6DC77-B325-48FD-BEE9-E87AD12199F5}"/>
              </a:ext>
            </a:extLst>
          </p:cNvPr>
          <p:cNvSpPr/>
          <p:nvPr/>
        </p:nvSpPr>
        <p:spPr>
          <a:xfrm>
            <a:off x="269764" y="138006"/>
            <a:ext cx="6121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2000" b="1" dirty="0">
                <a:latin typeface="+mj-lt"/>
                <a:ea typeface="Pretendard" panose="02000503000000020004" pitchFamily="2" charset="-127"/>
                <a:cs typeface="Pretendard" panose="02000503000000020004" pitchFamily="2" charset="-127"/>
              </a:rPr>
              <a:t>사후관리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불편 불만 접수 대응 대장</a:t>
            </a:r>
            <a:endParaRPr lang="en-US" altLang="ko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6320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hyperlink" Target="http://nmail.sni.co.kr/eW/eWM/Mail/Read/ReadMail.aspx?curPage=1&amp;pageList=15" TargetMode="External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defRPr sz="900" dirty="0">
            <a:hlinkClick xmlns:r="http://schemas.openxmlformats.org/officeDocument/2006/relationships" r:id="rId1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20791</TotalTime>
  <Words>2389</Words>
  <Application>Microsoft Office PowerPoint</Application>
  <PresentationFormat>와이드스크린</PresentationFormat>
  <Paragraphs>672</Paragraphs>
  <Slides>15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31" baseType="lpstr">
      <vt:lpstr>LG스마트체 Regular</vt:lpstr>
      <vt:lpstr>LG스마트체 SemiBold</vt:lpstr>
      <vt:lpstr>Pretendard</vt:lpstr>
      <vt:lpstr>Pretendard ExtraBold</vt:lpstr>
      <vt:lpstr>Pretendard Light</vt:lpstr>
      <vt:lpstr>Pretendard Medium</vt:lpstr>
      <vt:lpstr>Pretendard SemiBold</vt:lpstr>
      <vt:lpstr>굴림</vt:lpstr>
      <vt:lpstr>맑은 고딕</vt:lpstr>
      <vt:lpstr>Arial</vt:lpstr>
      <vt:lpstr>Arial Narrow</vt:lpstr>
      <vt:lpstr>Calibri</vt:lpstr>
      <vt:lpstr>Poppins</vt:lpstr>
      <vt:lpstr>Poppins SemiBold</vt:lpstr>
      <vt:lpstr>Wingdings</vt:lpstr>
      <vt:lpstr>Office 테마</vt:lpstr>
      <vt:lpstr>NPD_ Pilot (Test)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‘24년 Agile NPD 체계 운영 방향</dc:title>
  <dc:creator>Administrator</dc:creator>
  <cp:lastModifiedBy>Administrator</cp:lastModifiedBy>
  <cp:revision>1199</cp:revision>
  <dcterms:created xsi:type="dcterms:W3CDTF">2024-02-14T00:14:53Z</dcterms:created>
  <dcterms:modified xsi:type="dcterms:W3CDTF">2024-11-29T08:21:45Z</dcterms:modified>
</cp:coreProperties>
</file>