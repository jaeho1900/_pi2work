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0" autoAdjust="0"/>
    <p:restoredTop sz="94660"/>
  </p:normalViewPr>
  <p:slideViewPr>
    <p:cSldViewPr snapToGrid="0">
      <p:cViewPr>
        <p:scale>
          <a:sx n="75" d="100"/>
          <a:sy n="75" d="100"/>
        </p:scale>
        <p:origin x="1584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4B51A-A919-4A31-9B0C-6D8CA4844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63F7FD-1ABD-478E-BD3B-7FDE29751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534B6F-C91C-43B5-A68D-DA30EB662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CB60-E4A6-4148-80FA-A322E4BD446C}" type="datetimeFigureOut">
              <a:rPr lang="ko-KR" altLang="en-US" smtClean="0"/>
              <a:t>2023-12-20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0FB4C5-8B40-42C1-87C6-E55858FC0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46E0D1-D08A-429E-AF82-0C9835154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4A43-F5AF-4E35-A0AC-F463DA0E2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327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442A2E-F77A-4C0A-A0B7-FDBB883C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30B41B-2E94-42EE-B959-DE664115D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21462A-19D4-4E87-8A7C-AA9E2A9C2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CB60-E4A6-4148-80FA-A322E4BD446C}" type="datetimeFigureOut">
              <a:rPr lang="ko-KR" altLang="en-US" smtClean="0"/>
              <a:t>2023-12-20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CA9EA0-9464-4436-8B69-8A107B724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E67D36-611A-4941-A5A7-DABE3106F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4A43-F5AF-4E35-A0AC-F463DA0E2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479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AFB304-599C-42DD-A755-84216809A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D44892-E8F3-4AAC-A95A-F183C0F70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CDFDF1-5138-4809-95B0-3983F5F9A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CB60-E4A6-4148-80FA-A322E4BD446C}" type="datetimeFigureOut">
              <a:rPr lang="ko-KR" altLang="en-US" smtClean="0"/>
              <a:t>2023-12-20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FFD6FB-7C1D-4F7B-93FA-211835553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21CE1F-4BD0-428D-AF90-38DDA3D81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4A43-F5AF-4E35-A0AC-F463DA0E2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856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754D6A-CE8B-4D44-88DB-4446FD0F9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C0A15B-947C-4756-A82E-EEEBE663A9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5425EC-2540-43C8-ACE6-4E41D051E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B4154D-21D1-485C-B3F7-A5D965D4B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CB60-E4A6-4148-80FA-A322E4BD446C}" type="datetimeFigureOut">
              <a:rPr lang="ko-KR" altLang="en-US" smtClean="0"/>
              <a:t>2023-12-20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F57DB1-0665-4672-A7DE-164F8039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01E14B-88CB-477B-A2D4-849A51497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4A43-F5AF-4E35-A0AC-F463DA0E2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8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39A183-1BFF-4201-BC24-D3AEF02C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D752D6-DAE7-4EA7-9283-91158F512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A2482D-A5E5-40A0-B8C9-390544B58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0F0B4C-CF26-4666-9C14-F716B61C72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97B5A4-EE15-41D1-AFAA-D21A0CD441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7BB129-BE95-4D95-9F7E-86E41DE4D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CB60-E4A6-4148-80FA-A322E4BD446C}" type="datetimeFigureOut">
              <a:rPr lang="ko-KR" altLang="en-US" smtClean="0"/>
              <a:t>2023-12-20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B2F3BA-0BCB-44A8-B6EC-D6E531E0A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715676-F9F5-4822-9716-633E9A73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4A43-F5AF-4E35-A0AC-F463DA0E2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993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A95B97-9C1D-4CD7-8D58-D83ABB49A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A2E643-E978-42C5-A036-29BDB5320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CB60-E4A6-4148-80FA-A322E4BD446C}" type="datetimeFigureOut">
              <a:rPr lang="ko-KR" altLang="en-US" smtClean="0"/>
              <a:t>2023-12-20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7657B2-63DC-432E-B751-356488BB6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C4903E7-5C98-4B29-AAEE-EAD10BF14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4A43-F5AF-4E35-A0AC-F463DA0E2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175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D602A49-CE33-4A1A-A172-C4335FAE4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CB60-E4A6-4148-80FA-A322E4BD446C}" type="datetimeFigureOut">
              <a:rPr lang="ko-KR" altLang="en-US" smtClean="0"/>
              <a:t>2023-12-20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F0010C-1CF0-4D84-A53D-E966F2DB5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5CF070-DBE5-4E05-91D2-EB348A337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4A43-F5AF-4E35-A0AC-F463DA0E2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197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EB049-FCD9-4EBF-9238-43F5F8394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BE2CDB-FCBA-40D9-80D8-1CA3A4C60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E2C2B7-3C5F-475C-8D25-B17BE9287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CBD90A-2598-4A34-87C1-ED8F6067E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CB60-E4A6-4148-80FA-A322E4BD446C}" type="datetimeFigureOut">
              <a:rPr lang="ko-KR" altLang="en-US" smtClean="0"/>
              <a:t>2023-12-20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987DA3-8F76-4A33-A14D-DA494A048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B02494-9859-469B-8CD2-224C0B4B8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4A43-F5AF-4E35-A0AC-F463DA0E2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821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DCBBD9-1003-4B80-BDBC-639852CD1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7F06986-510D-4726-A551-E09147A4B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EC4CA2-251A-4B3B-B1EE-F8A77EEBC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4F3055-5449-4778-A993-1703473AA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CB60-E4A6-4148-80FA-A322E4BD446C}" type="datetimeFigureOut">
              <a:rPr lang="ko-KR" altLang="en-US" smtClean="0"/>
              <a:t>2023-12-20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45BBA2-17BA-4CF3-911F-AB7D1876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0C6A4D-07D8-401B-AE59-CD5E87D29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4A43-F5AF-4E35-A0AC-F463DA0E2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455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CB62E-C3CD-4265-A350-4A37A5A3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E4A280-FF5B-4D19-BB66-C1A939758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CA781E-730C-4906-8E94-9A3BCB453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CB60-E4A6-4148-80FA-A322E4BD446C}" type="datetimeFigureOut">
              <a:rPr lang="ko-KR" altLang="en-US" smtClean="0"/>
              <a:t>2023-12-20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1B2EF5-52DF-451E-8FBB-9455FD95D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BB777B-484F-4E6C-87DD-735F5A105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4A43-F5AF-4E35-A0AC-F463DA0E2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50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F4DB953-8481-417A-9F30-68D45B8FA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5067D0-5D83-4A04-85CC-2F2E9DF79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DAD75D-B3A7-49F9-8F00-672F4B85E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7CB60-E4A6-4148-80FA-A322E4BD446C}" type="datetimeFigureOut">
              <a:rPr lang="ko-KR" altLang="en-US" smtClean="0"/>
              <a:t>2023-12-20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428BA6-0D97-499B-AD6B-5BD264555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A468DF-8511-4C7D-821D-0E604D1C1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74A43-F5AF-4E35-A0AC-F463DA0E2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558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72331E9-FBE0-4BC9-ACE6-7E6E786C5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069A74-490B-46D8-A10E-D32E9C03D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DFFCCA-CCF8-4BF4-A5A4-71AC64E6E6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7CB60-E4A6-4148-80FA-A322E4BD446C}" type="datetimeFigureOut">
              <a:rPr lang="ko-KR" altLang="en-US" smtClean="0"/>
              <a:t>2023-12-20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5CDBF5-7DAA-420E-9539-A9F48D784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0258AF-1E59-429D-936B-EAAAAE387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74A43-F5AF-4E35-A0AC-F463DA0E2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381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0DEC91E-29A6-4829-8258-DCF29DE65C8E}"/>
              </a:ext>
            </a:extLst>
          </p:cNvPr>
          <p:cNvSpPr/>
          <p:nvPr/>
        </p:nvSpPr>
        <p:spPr>
          <a:xfrm>
            <a:off x="427866" y="33567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재무상태표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008EA55-862B-44F5-9E24-3C4CF3BE7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194399"/>
              </p:ext>
            </p:extLst>
          </p:nvPr>
        </p:nvGraphicFramePr>
        <p:xfrm>
          <a:off x="290329" y="822531"/>
          <a:ext cx="3535462" cy="3250544"/>
        </p:xfrm>
        <a:graphic>
          <a:graphicData uri="http://schemas.openxmlformats.org/drawingml/2006/table">
            <a:tbl>
              <a:tblPr/>
              <a:tblGrid>
                <a:gridCol w="1892140">
                  <a:extLst>
                    <a:ext uri="{9D8B030D-6E8A-4147-A177-3AD203B41FA5}">
                      <a16:colId xmlns:a16="http://schemas.microsoft.com/office/drawing/2014/main" val="3328403880"/>
                    </a:ext>
                  </a:extLst>
                </a:gridCol>
                <a:gridCol w="821661">
                  <a:extLst>
                    <a:ext uri="{9D8B030D-6E8A-4147-A177-3AD203B41FA5}">
                      <a16:colId xmlns:a16="http://schemas.microsoft.com/office/drawing/2014/main" val="4279270878"/>
                    </a:ext>
                  </a:extLst>
                </a:gridCol>
                <a:gridCol w="821661">
                  <a:extLst>
                    <a:ext uri="{9D8B030D-6E8A-4147-A177-3AD203B41FA5}">
                      <a16:colId xmlns:a16="http://schemas.microsoft.com/office/drawing/2014/main" val="1530491947"/>
                    </a:ext>
                  </a:extLst>
                </a:gridCol>
              </a:tblGrid>
              <a:tr h="9923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>
                          <a:effectLst/>
                          <a:latin typeface="DartNBSP"/>
                        </a:rPr>
                        <a:t>　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제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54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제 </a:t>
                      </a:r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53 </a:t>
                      </a:r>
                      <a:r>
                        <a:rPr lang="ko-KR" altLang="en-US" sz="800" b="0" dirty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890663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자산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800">
                          <a:effectLst/>
                          <a:latin typeface="DartNBSP"/>
                        </a:rPr>
                        <a:t>　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800" dirty="0">
                          <a:effectLst/>
                          <a:latin typeface="DartNBSP"/>
                        </a:rPr>
                        <a:t>　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0198667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유동자산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218,470,581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218,163,185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8829603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현금및현금성자산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49,680,710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39,031,415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579240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단기금융상품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65,102,886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81,708,986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09597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단기상각후원가금융자산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414,610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3,369,034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8158787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단기당기손익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-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공정가치금융자산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29,080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40,757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369983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매출채권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35,721,563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40,713,415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565480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미수금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6,149,209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4,497,257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4329653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선급비용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2,867,823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2,336,252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826830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재고자산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52,187,866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41,384,404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1345863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기타유동자산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6,316,834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5,081,665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2299740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매각예정분류자산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0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0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874487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비유동자산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229,953,926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208,457,973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655271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기타포괄손익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-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공정가치금융자산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11,397,012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13,965,839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592997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당기손익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-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공정가치금융자산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1,405,468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1,525,344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6652517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관계기업 및 공동기업 투자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10,893,869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8,932,251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9431931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유형자산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168,045,388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149,928,539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341708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무형자산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20,217,754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20,236,244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501477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순확정급여자산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5,851,972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2,809,590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209488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이연법인세자산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5,101,318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4,261,214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319751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기타비유동자산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7,041,145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6,798,952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327001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자산총계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448,424,507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426,621,158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743998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AE52B86-FFAC-4BBA-93F4-D35E74F265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302355"/>
              </p:ext>
            </p:extLst>
          </p:nvPr>
        </p:nvGraphicFramePr>
        <p:xfrm>
          <a:off x="290329" y="4095506"/>
          <a:ext cx="3535462" cy="4946480"/>
        </p:xfrm>
        <a:graphic>
          <a:graphicData uri="http://schemas.openxmlformats.org/drawingml/2006/table">
            <a:tbl>
              <a:tblPr/>
              <a:tblGrid>
                <a:gridCol w="1892140">
                  <a:extLst>
                    <a:ext uri="{9D8B030D-6E8A-4147-A177-3AD203B41FA5}">
                      <a16:colId xmlns:a16="http://schemas.microsoft.com/office/drawing/2014/main" val="3328403880"/>
                    </a:ext>
                  </a:extLst>
                </a:gridCol>
                <a:gridCol w="821661">
                  <a:extLst>
                    <a:ext uri="{9D8B030D-6E8A-4147-A177-3AD203B41FA5}">
                      <a16:colId xmlns:a16="http://schemas.microsoft.com/office/drawing/2014/main" val="4279270878"/>
                    </a:ext>
                  </a:extLst>
                </a:gridCol>
                <a:gridCol w="821661">
                  <a:extLst>
                    <a:ext uri="{9D8B030D-6E8A-4147-A177-3AD203B41FA5}">
                      <a16:colId xmlns:a16="http://schemas.microsoft.com/office/drawing/2014/main" val="1530491947"/>
                    </a:ext>
                  </a:extLst>
                </a:gridCol>
              </a:tblGrid>
              <a:tr h="9923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>
                          <a:effectLst/>
                          <a:latin typeface="DartNBSP"/>
                        </a:rPr>
                        <a:t>　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제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54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제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53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기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890663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부채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800">
                          <a:effectLst/>
                          <a:latin typeface="DartNBSP"/>
                        </a:rPr>
                        <a:t>　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800">
                          <a:effectLst/>
                          <a:latin typeface="DartNBSP"/>
                        </a:rPr>
                        <a:t>　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739350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유동부채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78,344,852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88,117,133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4407730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매입채무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10,644,686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13,453,351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924039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단기차입금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5,147,315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13,687,793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830313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미지급금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17,592,366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15,584,866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918090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선수금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1,314,934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1,224,812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3140568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예수금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1,298,244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1,294,052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7095312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미지급비용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29,211,487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27,928,031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044683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당기법인세부채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4,250,397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6,749,149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530224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유동성장기부채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1,089,162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1,329,968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0813626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충당부채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5,844,907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5,372,872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6234682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기타유동부채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1,951,354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1,492,239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9299380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매각예정분류부채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0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0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808541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비유동부채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15,330,051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33,604,094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416930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사채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536,093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508,232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206059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장기차입금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3,560,672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2,866,156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432894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장기미지급금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2,753,305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2,991,440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5726237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순확정급여부채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268,370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465,884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5822304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이연법인세부채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5,111,332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23,198,205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72868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장기충당부채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1,928,518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2,306,994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3906614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기타비유동부채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1,171,761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1,267,183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401450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부채총계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93,674,903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121,721,227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429524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자본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800">
                          <a:effectLst/>
                          <a:latin typeface="DartNBSP"/>
                        </a:rPr>
                        <a:t>　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800">
                          <a:effectLst/>
                          <a:latin typeface="DartNBSP"/>
                        </a:rPr>
                        <a:t>　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272273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지배기업 소유주지분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345,186,142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296,237,697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8940752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자본금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897,514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897,514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0104507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　우선주자본금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119,467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119,467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3878237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　보통주자본금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778,047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778,047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6600344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주식발행초과금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4,403,893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4,403,893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768352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이익잉여금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결손금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)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337,946,407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293,064,763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613430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기타자본항목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1,938,328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(2,128,473)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374718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매각예정분류기타자본항목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0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0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042595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비지배지분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9,563,462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8,662,234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223146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자본총계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354,749,604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304,899,931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110022"/>
                  </a:ext>
                </a:extLst>
              </a:tr>
              <a:tr h="99239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부채와자본총계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448,424,507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426,621,158</a:t>
                      </a:r>
                    </a:p>
                  </a:txBody>
                  <a:tcPr marL="12939" marR="12939" marT="12939" marB="6469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589757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25A75133-FE5C-45A9-984A-8D336ACC6817}"/>
              </a:ext>
            </a:extLst>
          </p:cNvPr>
          <p:cNvSpPr/>
          <p:nvPr/>
        </p:nvSpPr>
        <p:spPr>
          <a:xfrm>
            <a:off x="4155198" y="33567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손익계산서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9F7FE28-849A-41C6-8D0A-744BAB75C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763398"/>
              </p:ext>
            </p:extLst>
          </p:nvPr>
        </p:nvGraphicFramePr>
        <p:xfrm>
          <a:off x="4008952" y="822531"/>
          <a:ext cx="4021696" cy="3666600"/>
        </p:xfrm>
        <a:graphic>
          <a:graphicData uri="http://schemas.openxmlformats.org/drawingml/2006/table">
            <a:tbl>
              <a:tblPr/>
              <a:tblGrid>
                <a:gridCol w="2418190">
                  <a:extLst>
                    <a:ext uri="{9D8B030D-6E8A-4147-A177-3AD203B41FA5}">
                      <a16:colId xmlns:a16="http://schemas.microsoft.com/office/drawing/2014/main" val="4226380019"/>
                    </a:ext>
                  </a:extLst>
                </a:gridCol>
                <a:gridCol w="801753">
                  <a:extLst>
                    <a:ext uri="{9D8B030D-6E8A-4147-A177-3AD203B41FA5}">
                      <a16:colId xmlns:a16="http://schemas.microsoft.com/office/drawing/2014/main" val="60759959"/>
                    </a:ext>
                  </a:extLst>
                </a:gridCol>
                <a:gridCol w="801753">
                  <a:extLst>
                    <a:ext uri="{9D8B030D-6E8A-4147-A177-3AD203B41FA5}">
                      <a16:colId xmlns:a16="http://schemas.microsoft.com/office/drawing/2014/main" val="2646980560"/>
                    </a:ext>
                  </a:extLst>
                </a:gridCol>
              </a:tblGrid>
              <a:tr h="1640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>
                          <a:effectLst/>
                          <a:latin typeface="DartNBSP"/>
                        </a:rPr>
                        <a:t>　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제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54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기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제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53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기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869463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수익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매출액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)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302,231,360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279,604,799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4793699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매출원가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190,041,770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166,411,342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045971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매출총이익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112,189,590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113,193,457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20293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판매비와관리비</a:t>
                      </a:r>
                      <a:endParaRPr lang="ko-KR" altLang="en-US" sz="800" dirty="0">
                        <a:solidFill>
                          <a:srgbClr val="000000"/>
                        </a:solidFill>
                        <a:effectLst/>
                        <a:latin typeface="DartNBSP"/>
                      </a:endParaRP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68,812,960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61,559,601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0198590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영업이익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43,376,630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51,633,856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401598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기타수익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1,962,071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2,205,695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941555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기타비용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1,790,176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2,055,971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6249842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지분법이익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1,090,643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729,614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065052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금융수익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20,828,995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8,543,187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360950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금융비용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19,027,689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7,704,554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7631914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법인세비용차감전순이익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손실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)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46,440,474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53,351,827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0819502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법인세비용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(9,213,603)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13,444,377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5969159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계속영업이익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손실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)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55,654,077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39,907,450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7619494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당기순이익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손실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)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55,654,077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39,907,450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547789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당기순이익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손실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)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의 귀속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800">
                          <a:effectLst/>
                          <a:latin typeface="DartNBSP"/>
                        </a:rPr>
                        <a:t>　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800">
                          <a:effectLst/>
                          <a:latin typeface="DartNBSP"/>
                        </a:rPr>
                        <a:t>　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5834630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지배기업의 소유주에게 귀속되는 당기순이익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손실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)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54,730,018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39,243,791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0874370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비지배지분에 귀속되는 당기순이익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손실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)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924,059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663,659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8261656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주당이익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800">
                          <a:effectLst/>
                          <a:latin typeface="DartNBSP"/>
                        </a:rPr>
                        <a:t>　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800">
                          <a:effectLst/>
                          <a:latin typeface="DartNBSP"/>
                        </a:rPr>
                        <a:t>　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9090765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기본주당이익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손실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) (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단위 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: 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원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)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8,057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5,777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391134"/>
                  </a:ext>
                </a:extLst>
              </a:tr>
              <a:tr h="164032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희석주당이익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손실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) (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단위 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: 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원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)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8,057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5,777</a:t>
                      </a:r>
                    </a:p>
                  </a:txBody>
                  <a:tcPr marL="35120" marR="35120" marT="35120" marB="1756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90261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5D2DFF5A-F847-4C51-85D7-813682081445}"/>
              </a:ext>
            </a:extLst>
          </p:cNvPr>
          <p:cNvSpPr/>
          <p:nvPr/>
        </p:nvSpPr>
        <p:spPr>
          <a:xfrm>
            <a:off x="8371310" y="332701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현금흐름표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3BE3C8A-BD55-4C5C-B739-068106DEC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214591"/>
              </p:ext>
            </p:extLst>
          </p:nvPr>
        </p:nvGraphicFramePr>
        <p:xfrm>
          <a:off x="8164869" y="819562"/>
          <a:ext cx="3838490" cy="6226920"/>
        </p:xfrm>
        <a:graphic>
          <a:graphicData uri="http://schemas.openxmlformats.org/drawingml/2006/table">
            <a:tbl>
              <a:tblPr/>
              <a:tblGrid>
                <a:gridCol w="2333073">
                  <a:extLst>
                    <a:ext uri="{9D8B030D-6E8A-4147-A177-3AD203B41FA5}">
                      <a16:colId xmlns:a16="http://schemas.microsoft.com/office/drawing/2014/main" val="1033353532"/>
                    </a:ext>
                  </a:extLst>
                </a:gridCol>
                <a:gridCol w="755967">
                  <a:extLst>
                    <a:ext uri="{9D8B030D-6E8A-4147-A177-3AD203B41FA5}">
                      <a16:colId xmlns:a16="http://schemas.microsoft.com/office/drawing/2014/main" val="3430671309"/>
                    </a:ext>
                  </a:extLst>
                </a:gridCol>
                <a:gridCol w="749450">
                  <a:extLst>
                    <a:ext uri="{9D8B030D-6E8A-4147-A177-3AD203B41FA5}">
                      <a16:colId xmlns:a16="http://schemas.microsoft.com/office/drawing/2014/main" val="2503620272"/>
                    </a:ext>
                  </a:extLst>
                </a:gridCol>
              </a:tblGrid>
              <a:tr h="10360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>
                          <a:effectLst/>
                          <a:latin typeface="DartNBSP"/>
                        </a:rPr>
                        <a:t>　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제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54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기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제 </a:t>
                      </a:r>
                      <a:r>
                        <a:rPr lang="en-US" altLang="ko-KR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53 </a:t>
                      </a:r>
                      <a:r>
                        <a:rPr lang="ko-KR" altLang="en-US" sz="800" b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기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131735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영업활동 현금흐름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62,181,346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65,105,448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592598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영업에서 창출된 현금흐름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71,728,568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72,676,199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2421624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당기순이익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55,654,077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39,907,450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261199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조정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33,073,439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49,055,633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050445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　영업활동으로 인한 자산부채의 변동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(16,998,948)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(16,286,884)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354833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이자의 수취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2,136,795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1,406,706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6928718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이자의 지급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(714,543)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(434,441)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6550745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배당금 수입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529,421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299,033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592491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법인세 납부액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(11,498,895)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(8,842,049)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80558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투자활동 현금흐름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(31,602,804)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(33,047,763)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51479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단기금융상품의 순감소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증가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15,214,321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10,917,128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078126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단기상각후원가금융자산의 순감소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증가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3,050,104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(336,959)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925934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단기당기손익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-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공정가치금융자산의 순감소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증가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11,677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30,694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064442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장기금융상품의 처분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8,272,909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10,216,082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1718512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장기금융상품의 취득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(4,393,754)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(6,981,810)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3270448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상각후원가금융자산의 처분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0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0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1897768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상각후원가금융자산의 취득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0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0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281998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기타포괄손익</a:t>
                      </a:r>
                      <a:r>
                        <a:rPr lang="en-US" altLang="ko-KR" sz="800" dirty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-</a:t>
                      </a:r>
                      <a:r>
                        <a:rPr lang="ko-KR" altLang="en-US" sz="800" dirty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공정가치금융자산의 처분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496,090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2,919,888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460227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기타포괄손익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-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공정가치금융자산의 취득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(37,687)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(1,121,201)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7870205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당기손익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-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공정가치금융자산의 처분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166,315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350,212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8783056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당기손익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-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공정가치금융자산의 취득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(158,244)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(208,262)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875741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관계기업 및 공동기업 투자의 처분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13,233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19,169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564423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관계기업 및 공동기업 투자의 취득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(907,958)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(47,090)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577415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유형자산의 처분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217,878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358,284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849190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유형자산의 취득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(49,430,428)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(47,122,106)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7519218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무형자산의 처분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23,462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1,752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131303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무형자산의 취득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(3,696,304)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(2,706,915)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281284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사업결합으로 인한 현금유출액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(31,383)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(5,926)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8677152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매각예정자산의 처분으로 인한 현금유입액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0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661,168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128927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기타투자활동으로 인한 현금유출입액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(413,035)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8,129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490181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재무활동 현금흐름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(19,390,049)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(23,991,033)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4875631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단기차입금의 순증가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감소</a:t>
                      </a:r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(8,339,149)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(2,616,943)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0132871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장기차입금의 차입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271,997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58,279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318791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사채 및 장기차입금의 상환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(1,508,465)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(894,749)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306287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배당금의 지급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(9,814,426)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(20,510,350)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7365139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　비지배지분의 증감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(6)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(27,270)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6181689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매각예정분류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0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139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98718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외화환산으로 인한 현금의 변동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(539,198)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1,582,046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852390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현금및현금성자산의 순증감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10,649,295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9,648,837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6669444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기초의 현금및현금성자산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39,031,415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29,382,578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996181"/>
                  </a:ext>
                </a:extLst>
              </a:tr>
              <a:tr h="103603">
                <a:tc>
                  <a:txBody>
                    <a:bodyPr/>
                    <a:lstStyle/>
                    <a:p>
                      <a:r>
                        <a:rPr lang="ko-KR" altLang="en-US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기말의 현금및현금성자산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49,680,710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rgbClr val="000000"/>
                          </a:solidFill>
                          <a:effectLst/>
                          <a:latin typeface="DartNBSP"/>
                        </a:rPr>
                        <a:t>39,031,415</a:t>
                      </a:r>
                    </a:p>
                  </a:txBody>
                  <a:tcPr marL="17560" marR="17560" marT="17560" marB="878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412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8940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</Words>
  <Application>Microsoft Office PowerPoint</Application>
  <PresentationFormat>와이드스크린</PresentationFormat>
  <Paragraphs>366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DartNBSP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Odin</dc:creator>
  <cp:lastModifiedBy>Odin</cp:lastModifiedBy>
  <cp:revision>1</cp:revision>
  <dcterms:created xsi:type="dcterms:W3CDTF">2023-12-20T00:28:42Z</dcterms:created>
  <dcterms:modified xsi:type="dcterms:W3CDTF">2023-12-20T00:28:51Z</dcterms:modified>
</cp:coreProperties>
</file>