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4"/>
  </p:notesMasterIdLst>
  <p:sldIdLst>
    <p:sldId id="294" r:id="rId2"/>
    <p:sldId id="295" r:id="rId3"/>
  </p:sldIdLst>
  <p:sldSz cx="9906000" cy="6858000" type="A4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82" userDrawn="1">
          <p15:clr>
            <a:srgbClr val="A4A3A4"/>
          </p15:clr>
        </p15:guide>
        <p15:guide id="2" pos="2304" userDrawn="1">
          <p15:clr>
            <a:srgbClr val="A4A3A4"/>
          </p15:clr>
        </p15:guide>
        <p15:guide id="3" orient="horz" pos="3974" userDrawn="1">
          <p15:clr>
            <a:srgbClr val="A4A3A4"/>
          </p15:clr>
        </p15:guide>
        <p15:guide id="4" pos="240" userDrawn="1">
          <p15:clr>
            <a:srgbClr val="A4A3A4"/>
          </p15:clr>
        </p15:guide>
        <p15:guide id="5" orient="horz" pos="709" userDrawn="1">
          <p15:clr>
            <a:srgbClr val="A4A3A4"/>
          </p15:clr>
        </p15:guide>
        <p15:guide id="6" orient="horz" pos="3997" userDrawn="1">
          <p15:clr>
            <a:srgbClr val="A4A3A4"/>
          </p15:clr>
        </p15:guide>
        <p15:guide id="7" pos="1669" userDrawn="1">
          <p15:clr>
            <a:srgbClr val="A4A3A4"/>
          </p15:clr>
        </p15:guide>
        <p15:guide id="8" pos="3097" userDrawn="1">
          <p15:clr>
            <a:srgbClr val="A4A3A4"/>
          </p15:clr>
        </p15:guide>
        <p15:guide id="9" pos="6091" userDrawn="1">
          <p15:clr>
            <a:srgbClr val="A4A3A4"/>
          </p15:clr>
        </p15:guide>
        <p15:guide id="10" orient="horz" pos="1117" userDrawn="1">
          <p15:clr>
            <a:srgbClr val="A4A3A4"/>
          </p15:clr>
        </p15:guide>
        <p15:guide id="11" orient="horz" pos="61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13233"/>
    <a:srgbClr val="E7E7E7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9" autoAdjust="0"/>
    <p:restoredTop sz="96214" autoAdjust="0"/>
  </p:normalViewPr>
  <p:slideViewPr>
    <p:cSldViewPr snapToGrid="0">
      <p:cViewPr varScale="1">
        <p:scale>
          <a:sx n="111" d="100"/>
          <a:sy n="111" d="100"/>
        </p:scale>
        <p:origin x="480" y="96"/>
      </p:cViewPr>
      <p:guideLst>
        <p:guide orient="horz" pos="482"/>
        <p:guide pos="2304"/>
        <p:guide orient="horz" pos="3974"/>
        <p:guide pos="240"/>
        <p:guide orient="horz" pos="709"/>
        <p:guide orient="horz" pos="3997"/>
        <p:guide pos="1669"/>
        <p:guide pos="3097"/>
        <p:guide pos="6091"/>
        <p:guide orient="horz" pos="1117"/>
        <p:guide orient="horz" pos="618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0D5C7A-3438-47A9-A18D-F71A75FD9F26}" type="datetimeFigureOut">
              <a:rPr lang="ko-KR" altLang="en-US" smtClean="0"/>
              <a:t>2024-05-21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79488" y="1241425"/>
            <a:ext cx="483870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10B856-9CD6-4752-B1F1-1D6EF79385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350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F38D8-1047-4586-9080-A60583901D1F}" type="datetime1">
              <a:rPr lang="ko-KR" altLang="en-US" smtClean="0"/>
              <a:t>2024-05-21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C00A1-05A8-4FFD-B80E-FDE16F8F74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79064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6C6D9-6798-4E20-AC32-B74C329AC606}" type="datetime1">
              <a:rPr lang="ko-KR" altLang="en-US" smtClean="0"/>
              <a:t>2024-05-21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C00A1-05A8-4FFD-B80E-FDE16F8F74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1443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EAA5E-C4DF-401B-8613-61DB2E496300}" type="datetime1">
              <a:rPr lang="ko-KR" altLang="en-US" smtClean="0"/>
              <a:t>2024-05-21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C00A1-05A8-4FFD-B80E-FDE16F8F74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255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30EFD-69BC-4D8B-BCAC-93805E938002}" type="datetime1">
              <a:rPr lang="ko-KR" altLang="en-US" smtClean="0"/>
              <a:t>2024-05-21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C00A1-05A8-4FFD-B80E-FDE16F8F74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74456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F97B8-D5B7-4494-B1C8-226D036966C7}" type="datetime1">
              <a:rPr lang="ko-KR" altLang="en-US" smtClean="0"/>
              <a:t>2024-05-21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C00A1-05A8-4FFD-B80E-FDE16F8F74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43182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31150-DD2C-4E17-8382-7597C1A0EDE0}" type="datetime1">
              <a:rPr lang="ko-KR" altLang="en-US" smtClean="0"/>
              <a:t>2024-05-21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C00A1-05A8-4FFD-B80E-FDE16F8F74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87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36574-54C3-4364-8CEC-841391665530}" type="datetime1">
              <a:rPr lang="ko-KR" altLang="en-US" smtClean="0"/>
              <a:t>2024-05-21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847481" y="6356352"/>
            <a:ext cx="2228850" cy="365125"/>
          </a:xfrm>
        </p:spPr>
        <p:txBody>
          <a:bodyPr/>
          <a:lstStyle>
            <a:lvl1pPr algn="ctr">
              <a:defRPr sz="100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r>
              <a:rPr lang="en-US" altLang="ko-KR" dirty="0"/>
              <a:t>-</a:t>
            </a:r>
            <a:fld id="{D11C00A1-05A8-4FFD-B80E-FDE16F8F749C}" type="slidenum">
              <a:rPr lang="ko-KR" altLang="en-US" smtClean="0"/>
              <a:pPr/>
              <a:t>‹#›</a:t>
            </a:fld>
            <a:r>
              <a:rPr lang="en-US" altLang="ko-KR" dirty="0"/>
              <a:t>-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802671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964D6-493D-45BD-B3E4-F5CA212DB5D9}" type="datetime1">
              <a:rPr lang="ko-KR" altLang="en-US" smtClean="0"/>
              <a:t>2024-05-21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C00A1-05A8-4FFD-B80E-FDE16F8F74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8515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7B014-A72F-429F-A56A-A2A70A75BD6F}" type="datetime1">
              <a:rPr lang="ko-KR" altLang="en-US" smtClean="0"/>
              <a:t>2024-05-21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C00A1-05A8-4FFD-B80E-FDE16F8F74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52556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78055-1BE0-4DA5-A2B6-6E4E91C45F7C}" type="datetime1">
              <a:rPr lang="ko-KR" altLang="en-US" smtClean="0"/>
              <a:t>2024-05-21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C00A1-05A8-4FFD-B80E-FDE16F8F74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81853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08119-058F-4CE5-B7C3-C5CE798FBE3E}" type="datetime1">
              <a:rPr lang="ko-KR" altLang="en-US" smtClean="0"/>
              <a:t>2024-05-21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C00A1-05A8-4FFD-B80E-FDE16F8F74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00152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94743D-D19E-4CAE-959D-80583DFF4FCC}" type="datetime1">
              <a:rPr lang="ko-KR" altLang="en-US" smtClean="0"/>
              <a:t>2024-05-21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1C00A1-05A8-4FFD-B80E-FDE16F8F74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0508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68464" y="155326"/>
            <a:ext cx="53030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■ </a:t>
            </a:r>
            <a:r>
              <a:rPr lang="en-US" altLang="ko-KR" sz="16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OO</a:t>
            </a:r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스티커 가격 책정</a:t>
            </a:r>
          </a:p>
        </p:txBody>
      </p:sp>
      <p:cxnSp>
        <p:nvCxnSpPr>
          <p:cNvPr id="5" name="직선 연결선 4"/>
          <p:cNvCxnSpPr/>
          <p:nvPr/>
        </p:nvCxnSpPr>
        <p:spPr>
          <a:xfrm>
            <a:off x="373409" y="558266"/>
            <a:ext cx="9144000" cy="0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Box 34">
            <a:extLst>
              <a:ext uri="{FF2B5EF4-FFF2-40B4-BE49-F238E27FC236}">
                <a16:creationId xmlns:a16="http://schemas.microsoft.com/office/drawing/2014/main" id="{69430EC9-2C5C-4FD3-B49C-62C1A70C6C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464" y="929705"/>
            <a:ext cx="2294362" cy="3782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ko-KR"/>
            </a:defPPr>
            <a:lvl1pPr marL="0" indent="0" algn="ctr">
              <a:buNone/>
              <a:defRPr sz="900" b="0">
                <a:gradFill>
                  <a:gsLst>
                    <a:gs pos="0">
                      <a:srgbClr val="141414"/>
                    </a:gs>
                    <a:gs pos="100000">
                      <a:srgbClr val="141414"/>
                    </a:gs>
                  </a:gsLst>
                  <a:lin ang="5400000" scaled="0"/>
                </a:gradFill>
                <a:latin typeface="LG스마트체 SemiBold" pitchFamily="50" charset="-127"/>
                <a:ea typeface="LG스마트체 SemiBold" pitchFamily="50" charset="-127"/>
                <a:cs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latin typeface="굴림" charset="-127"/>
                <a:ea typeface="굴림" charset="-127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latin typeface="굴림" charset="-127"/>
                <a:ea typeface="굴림" charset="-127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latin typeface="굴림" charset="-127"/>
                <a:ea typeface="굴림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굴림" charset="-127"/>
                <a:ea typeface="굴림" charset="-127"/>
              </a:defRPr>
            </a:lvl9pPr>
          </a:lstStyle>
          <a:p>
            <a:pPr algn="l" defTabSz="45720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1400" b="1" spc="-70" dirty="0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1.</a:t>
            </a:r>
            <a:r>
              <a:rPr lang="ko-KR" altLang="en-US" sz="1400" b="1" spc="-70" dirty="0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경쟁 시장 가격 분석</a:t>
            </a:r>
            <a:endParaRPr lang="en-US" altLang="ko-KR" sz="1400" spc="-70" dirty="0">
              <a:solidFill>
                <a:prstClr val="black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6FAAFD5-014D-45C5-A54A-60CBC7AC0AC4}"/>
              </a:ext>
            </a:extLst>
          </p:cNvPr>
          <p:cNvSpPr/>
          <p:nvPr/>
        </p:nvSpPr>
        <p:spPr>
          <a:xfrm>
            <a:off x="695286" y="1307950"/>
            <a:ext cx="7818986" cy="6140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 err="1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OO</a:t>
            </a:r>
            <a:r>
              <a:rPr lang="ko-KR" altLang="en-US" sz="12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스티커는 </a:t>
            </a:r>
            <a:r>
              <a:rPr lang="en-US" altLang="ko-KR" sz="12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B2C </a:t>
            </a:r>
            <a:r>
              <a:rPr lang="ko-KR" altLang="en-US" sz="12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에서도 판매되는 일반 상품임</a:t>
            </a:r>
            <a:endParaRPr lang="en-US" altLang="ko-KR" sz="1200" dirty="0">
              <a:solidFill>
                <a:prstClr val="black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A </a:t>
            </a:r>
            <a:r>
              <a:rPr lang="ko-KR" altLang="en-US" sz="12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업체는 시장에서 </a:t>
            </a:r>
            <a:r>
              <a:rPr lang="en-US" altLang="ko-KR" sz="12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~~ </a:t>
            </a:r>
            <a:r>
              <a:rPr lang="ko-KR" altLang="en-US" sz="12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지위에 있는 업체로써</a:t>
            </a:r>
            <a:r>
              <a:rPr lang="en-US" altLang="ko-KR" sz="12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2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당사에 </a:t>
            </a:r>
            <a:r>
              <a:rPr lang="ko-KR" altLang="en-US" sz="1200" dirty="0" err="1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경쟁력있는</a:t>
            </a:r>
            <a:r>
              <a:rPr lang="ko-KR" altLang="en-US" sz="12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가격으로 납품 할 수 있는 역량을 갖춤</a:t>
            </a:r>
            <a:endParaRPr lang="en-US" altLang="ko-KR" sz="1200" dirty="0">
              <a:solidFill>
                <a:prstClr val="black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2E369C1C-66AB-4E27-A9DE-A2BDF98500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0827018"/>
              </p:ext>
            </p:extLst>
          </p:nvPr>
        </p:nvGraphicFramePr>
        <p:xfrm>
          <a:off x="695286" y="2407931"/>
          <a:ext cx="8276184" cy="3915231"/>
        </p:xfrm>
        <a:graphic>
          <a:graphicData uri="http://schemas.openxmlformats.org/drawingml/2006/table">
            <a:tbl>
              <a:tblPr/>
              <a:tblGrid>
                <a:gridCol w="1254284">
                  <a:extLst>
                    <a:ext uri="{9D8B030D-6E8A-4147-A177-3AD203B41FA5}">
                      <a16:colId xmlns:a16="http://schemas.microsoft.com/office/drawing/2014/main" val="2048359258"/>
                    </a:ext>
                  </a:extLst>
                </a:gridCol>
                <a:gridCol w="1755475">
                  <a:extLst>
                    <a:ext uri="{9D8B030D-6E8A-4147-A177-3AD203B41FA5}">
                      <a16:colId xmlns:a16="http://schemas.microsoft.com/office/drawing/2014/main" val="2364773646"/>
                    </a:ext>
                  </a:extLst>
                </a:gridCol>
                <a:gridCol w="1755475">
                  <a:extLst>
                    <a:ext uri="{9D8B030D-6E8A-4147-A177-3AD203B41FA5}">
                      <a16:colId xmlns:a16="http://schemas.microsoft.com/office/drawing/2014/main" val="3455270969"/>
                    </a:ext>
                  </a:extLst>
                </a:gridCol>
                <a:gridCol w="1755475">
                  <a:extLst>
                    <a:ext uri="{9D8B030D-6E8A-4147-A177-3AD203B41FA5}">
                      <a16:colId xmlns:a16="http://schemas.microsoft.com/office/drawing/2014/main" val="1944020459"/>
                    </a:ext>
                  </a:extLst>
                </a:gridCol>
                <a:gridCol w="1755475">
                  <a:extLst>
                    <a:ext uri="{9D8B030D-6E8A-4147-A177-3AD203B41FA5}">
                      <a16:colId xmlns:a16="http://schemas.microsoft.com/office/drawing/2014/main" val="2204846633"/>
                    </a:ext>
                  </a:extLst>
                </a:gridCol>
              </a:tblGrid>
              <a:tr h="49948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비교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A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B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C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5990470"/>
                  </a:ext>
                </a:extLst>
              </a:tr>
              <a:tr h="104347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이미지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2000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2000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2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2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8099336"/>
                  </a:ext>
                </a:extLst>
              </a:tr>
              <a:tr h="47445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판매 가격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2000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2000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2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2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2398696"/>
                  </a:ext>
                </a:extLst>
              </a:tr>
              <a:tr h="89712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주요 특징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2000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2000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2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2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0117232"/>
                  </a:ext>
                </a:extLst>
              </a:tr>
              <a:tr h="100069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분석 의견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A 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업체의 경우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B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사보다 가격은 높지만 고객의 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Needs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를 </a:t>
                      </a:r>
                      <a:r>
                        <a:rPr lang="ko-KR" altLang="en-US" sz="11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만족시킬만한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접착력이 우수하고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당사에 제안한 납품 가격 또한 타 업체 대비 </a:t>
                      </a:r>
                      <a:r>
                        <a:rPr lang="en-US" altLang="ko-KR" sz="11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OO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% 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수준으로 재무적 기여도 우수하여 당사의 얼라이언스 업체로 적합함</a:t>
                      </a:r>
                    </a:p>
                  </a:txBody>
                  <a:tcPr marL="72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2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2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2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6098310"/>
                  </a:ext>
                </a:extLst>
              </a:tr>
            </a:tbl>
          </a:graphicData>
        </a:graphic>
      </p:graphicFrame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5966D57-1981-463D-807A-72749484B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C00A1-05A8-4FFD-B80E-FDE16F8F749C}" type="slidenum">
              <a:rPr lang="ko-KR" altLang="en-US" smtClean="0"/>
              <a:t>1</a:t>
            </a:fld>
            <a:endParaRPr lang="ko-KR" altLang="en-US"/>
          </a:p>
        </p:txBody>
      </p:sp>
      <p:sp>
        <p:nvSpPr>
          <p:cNvPr id="11" name="제목 1">
            <a:extLst>
              <a:ext uri="{FF2B5EF4-FFF2-40B4-BE49-F238E27FC236}">
                <a16:creationId xmlns:a16="http://schemas.microsoft.com/office/drawing/2014/main" id="{7298E842-6809-44F6-8CF2-12838FF7BCBB}"/>
              </a:ext>
            </a:extLst>
          </p:cNvPr>
          <p:cNvSpPr txBox="1">
            <a:spLocks/>
          </p:cNvSpPr>
          <p:nvPr/>
        </p:nvSpPr>
        <p:spPr>
          <a:xfrm>
            <a:off x="8514272" y="163201"/>
            <a:ext cx="1375020" cy="39506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ko-KR" altLang="en-US" sz="10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상품기획팀</a:t>
            </a:r>
            <a:endParaRPr lang="en-US" altLang="ko-KR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2024.05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3" name="Text Box 34">
            <a:extLst>
              <a:ext uri="{FF2B5EF4-FFF2-40B4-BE49-F238E27FC236}">
                <a16:creationId xmlns:a16="http://schemas.microsoft.com/office/drawing/2014/main" id="{C0F5FDCF-CD91-4BC4-8D6A-333A5AED8A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5490" y="2018316"/>
            <a:ext cx="2294362" cy="33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ko-KR"/>
            </a:defPPr>
            <a:lvl1pPr marL="0" indent="0" algn="ctr">
              <a:buNone/>
              <a:defRPr sz="900" b="0">
                <a:gradFill>
                  <a:gsLst>
                    <a:gs pos="0">
                      <a:srgbClr val="141414"/>
                    </a:gs>
                    <a:gs pos="100000">
                      <a:srgbClr val="141414"/>
                    </a:gs>
                  </a:gsLst>
                  <a:lin ang="5400000" scaled="0"/>
                </a:gradFill>
                <a:latin typeface="LG스마트체 SemiBold" pitchFamily="50" charset="-127"/>
                <a:ea typeface="LG스마트체 SemiBold" pitchFamily="50" charset="-127"/>
                <a:cs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latin typeface="굴림" charset="-127"/>
                <a:ea typeface="굴림" charset="-127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latin typeface="굴림" charset="-127"/>
                <a:ea typeface="굴림" charset="-127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latin typeface="굴림" charset="-127"/>
                <a:ea typeface="굴림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굴림" charset="-127"/>
                <a:ea typeface="굴림" charset="-127"/>
              </a:defRPr>
            </a:lvl9pPr>
          </a:lstStyle>
          <a:p>
            <a:pPr algn="l" defTabSz="45720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 sz="1200" spc="-70" dirty="0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□ 주요 경쟁 상품 비교</a:t>
            </a:r>
            <a:r>
              <a:rPr lang="en-US" altLang="ko-KR" sz="1200" spc="-70" dirty="0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</a:t>
            </a:r>
            <a:r>
              <a:rPr lang="ko-KR" altLang="en-US" sz="1200" spc="-70" dirty="0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</a:t>
            </a:r>
            <a:endParaRPr lang="en-US" altLang="ko-KR" sz="1200" spc="-70" dirty="0">
              <a:solidFill>
                <a:prstClr val="black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12692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68464" y="155326"/>
            <a:ext cx="53030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■ </a:t>
            </a:r>
            <a:r>
              <a:rPr lang="en-US" altLang="ko-KR" sz="16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OO</a:t>
            </a:r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스티커 가격 책정</a:t>
            </a:r>
          </a:p>
        </p:txBody>
      </p:sp>
      <p:cxnSp>
        <p:nvCxnSpPr>
          <p:cNvPr id="5" name="직선 연결선 4"/>
          <p:cNvCxnSpPr/>
          <p:nvPr/>
        </p:nvCxnSpPr>
        <p:spPr>
          <a:xfrm>
            <a:off x="373409" y="558266"/>
            <a:ext cx="9144000" cy="0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Box 34">
            <a:extLst>
              <a:ext uri="{FF2B5EF4-FFF2-40B4-BE49-F238E27FC236}">
                <a16:creationId xmlns:a16="http://schemas.microsoft.com/office/drawing/2014/main" id="{69430EC9-2C5C-4FD3-B49C-62C1A70C6C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464" y="929705"/>
            <a:ext cx="2294362" cy="3782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ko-KR"/>
            </a:defPPr>
            <a:lvl1pPr marL="0" indent="0" algn="ctr">
              <a:buNone/>
              <a:defRPr sz="900" b="0">
                <a:gradFill>
                  <a:gsLst>
                    <a:gs pos="0">
                      <a:srgbClr val="141414"/>
                    </a:gs>
                    <a:gs pos="100000">
                      <a:srgbClr val="141414"/>
                    </a:gs>
                  </a:gsLst>
                  <a:lin ang="5400000" scaled="0"/>
                </a:gradFill>
                <a:latin typeface="LG스마트체 SemiBold" pitchFamily="50" charset="-127"/>
                <a:ea typeface="LG스마트체 SemiBold" pitchFamily="50" charset="-127"/>
                <a:cs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latin typeface="굴림" charset="-127"/>
                <a:ea typeface="굴림" charset="-127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latin typeface="굴림" charset="-127"/>
                <a:ea typeface="굴림" charset="-127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latin typeface="굴림" charset="-127"/>
                <a:ea typeface="굴림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굴림" charset="-127"/>
                <a:ea typeface="굴림" charset="-127"/>
              </a:defRPr>
            </a:lvl9pPr>
          </a:lstStyle>
          <a:p>
            <a:pPr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1400" b="1" spc="-70" dirty="0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2.</a:t>
            </a:r>
            <a:r>
              <a:rPr lang="ko-KR" altLang="en-US" sz="1400" b="1" spc="-70" dirty="0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고객 중심 가격 책정</a:t>
            </a:r>
            <a:endParaRPr lang="en-US" altLang="ko-KR" sz="1400" spc="-70" dirty="0">
              <a:solidFill>
                <a:prstClr val="black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6FAAFD5-014D-45C5-A54A-60CBC7AC0AC4}"/>
              </a:ext>
            </a:extLst>
          </p:cNvPr>
          <p:cNvSpPr/>
          <p:nvPr/>
        </p:nvSpPr>
        <p:spPr>
          <a:xfrm>
            <a:off x="695285" y="1307950"/>
            <a:ext cx="8379703" cy="11680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유사한 </a:t>
            </a:r>
            <a:r>
              <a:rPr lang="en-US" altLang="ko-KR" sz="12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Quality </a:t>
            </a:r>
            <a:r>
              <a:rPr lang="ko-KR" altLang="en-US" sz="12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상품의 평균 가격은 </a:t>
            </a:r>
            <a:r>
              <a:rPr lang="en-US" altLang="ko-KR" sz="12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~~ </a:t>
            </a:r>
            <a:r>
              <a:rPr lang="ko-KR" altLang="en-US" sz="12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이며</a:t>
            </a:r>
            <a:r>
              <a:rPr lang="en-US" altLang="ko-KR" sz="12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A</a:t>
            </a:r>
            <a:r>
              <a:rPr lang="ko-KR" altLang="en-US" sz="12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사의 노출가격도 </a:t>
            </a:r>
            <a:r>
              <a:rPr lang="en-US" altLang="ko-KR" sz="12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~~ </a:t>
            </a:r>
            <a:r>
              <a:rPr lang="ko-KR" altLang="en-US" sz="12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임</a:t>
            </a:r>
            <a:endParaRPr lang="en-US" altLang="ko-KR" sz="1200" dirty="0">
              <a:solidFill>
                <a:prstClr val="black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현재 </a:t>
            </a:r>
            <a:r>
              <a:rPr lang="en-US" altLang="ko-KR" sz="12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A</a:t>
            </a:r>
            <a:r>
              <a:rPr lang="ko-KR" altLang="en-US" sz="12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사의 노출가격은 </a:t>
            </a:r>
            <a:r>
              <a:rPr lang="en-US" altLang="ko-KR" sz="12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B2C </a:t>
            </a:r>
            <a:r>
              <a:rPr lang="ko-KR" altLang="en-US" sz="12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기준이므로</a:t>
            </a:r>
            <a:r>
              <a:rPr lang="en-US" altLang="ko-KR" sz="12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lang="ko-KR" altLang="en-US" sz="12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고객의 구매 수요를 충족시키기 위하여 </a:t>
            </a:r>
            <a:r>
              <a:rPr lang="en-US" altLang="ko-KR" sz="1200" dirty="0" err="1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OO</a:t>
            </a:r>
            <a:r>
              <a:rPr lang="en-US" altLang="ko-KR" sz="12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% Off </a:t>
            </a:r>
            <a:r>
              <a:rPr lang="ko-KR" altLang="en-US" sz="12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된 가격으로 책정</a:t>
            </a:r>
            <a:br>
              <a:rPr lang="en-US" altLang="ko-KR" sz="12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12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(B2B </a:t>
            </a:r>
            <a:r>
              <a:rPr lang="ko-KR" altLang="en-US" sz="12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시장에서의 평균 </a:t>
            </a:r>
            <a:r>
              <a:rPr lang="en-US" altLang="ko-KR" sz="1200" dirty="0" err="1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Nego</a:t>
            </a:r>
            <a:r>
              <a:rPr lang="en-US" altLang="ko-KR" sz="12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2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율</a:t>
            </a:r>
            <a:r>
              <a:rPr lang="en-US" altLang="ko-KR" sz="12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2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반영</a:t>
            </a:r>
            <a:r>
              <a:rPr lang="en-US" altLang="ko-KR" sz="12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매입가능원가 대비 판매책정가격은 </a:t>
            </a:r>
            <a:r>
              <a:rPr lang="en-US" altLang="ko-KR" sz="12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00%</a:t>
            </a:r>
            <a:r>
              <a:rPr lang="ko-KR" altLang="en-US" sz="12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의 판매이익률을 보장</a:t>
            </a:r>
            <a:endParaRPr lang="en-US" altLang="ko-KR" sz="1200" dirty="0">
              <a:solidFill>
                <a:prstClr val="black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5966D57-1981-463D-807A-72749484B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C00A1-05A8-4FFD-B80E-FDE16F8F749C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11" name="제목 1">
            <a:extLst>
              <a:ext uri="{FF2B5EF4-FFF2-40B4-BE49-F238E27FC236}">
                <a16:creationId xmlns:a16="http://schemas.microsoft.com/office/drawing/2014/main" id="{7298E842-6809-44F6-8CF2-12838FF7BCBB}"/>
              </a:ext>
            </a:extLst>
          </p:cNvPr>
          <p:cNvSpPr txBox="1">
            <a:spLocks/>
          </p:cNvSpPr>
          <p:nvPr/>
        </p:nvSpPr>
        <p:spPr>
          <a:xfrm>
            <a:off x="8514272" y="163201"/>
            <a:ext cx="1375020" cy="39506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ko-KR" altLang="en-US" sz="10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상품기획팀</a:t>
            </a:r>
            <a:endParaRPr lang="en-US" altLang="ko-KR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2024.05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3" name="Text Box 34">
            <a:extLst>
              <a:ext uri="{FF2B5EF4-FFF2-40B4-BE49-F238E27FC236}">
                <a16:creationId xmlns:a16="http://schemas.microsoft.com/office/drawing/2014/main" id="{5B7B8163-7085-4BF6-9BEE-4F54C80CE8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5285" y="2711293"/>
            <a:ext cx="2294362" cy="33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ko-KR"/>
            </a:defPPr>
            <a:lvl1pPr marL="0" indent="0" algn="ctr">
              <a:buNone/>
              <a:defRPr sz="900" b="0">
                <a:gradFill>
                  <a:gsLst>
                    <a:gs pos="0">
                      <a:srgbClr val="141414"/>
                    </a:gs>
                    <a:gs pos="100000">
                      <a:srgbClr val="141414"/>
                    </a:gs>
                  </a:gsLst>
                  <a:lin ang="5400000" scaled="0"/>
                </a:gradFill>
                <a:latin typeface="LG스마트체 SemiBold" pitchFamily="50" charset="-127"/>
                <a:ea typeface="LG스마트체 SemiBold" pitchFamily="50" charset="-127"/>
                <a:cs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latin typeface="굴림" charset="-127"/>
                <a:ea typeface="굴림" charset="-127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latin typeface="굴림" charset="-127"/>
                <a:ea typeface="굴림" charset="-127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latin typeface="굴림" charset="-127"/>
                <a:ea typeface="굴림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굴림" charset="-127"/>
                <a:ea typeface="굴림" charset="-127"/>
              </a:defRPr>
            </a:lvl9pPr>
          </a:lstStyle>
          <a:p>
            <a:pPr algn="l" defTabSz="45720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 sz="1200" spc="-70" dirty="0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□ 가격 책정 </a:t>
            </a:r>
            <a:r>
              <a:rPr lang="en-US" altLang="ko-KR" sz="1200" spc="-70" dirty="0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Logic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8903CB0-4AD0-4F55-BE55-B3E56F4DE5FD}"/>
              </a:ext>
            </a:extLst>
          </p:cNvPr>
          <p:cNvSpPr txBox="1"/>
          <p:nvPr/>
        </p:nvSpPr>
        <p:spPr>
          <a:xfrm>
            <a:off x="313320" y="6366341"/>
            <a:ext cx="361028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※ 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준거가격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고객이 과거 경험 또는 시장정보를 통해 생각하고 있는 심리적 가격</a:t>
            </a:r>
          </a:p>
        </p:txBody>
      </p: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F98340B6-1E95-418A-84B9-EC0E39F181D5}"/>
              </a:ext>
            </a:extLst>
          </p:cNvPr>
          <p:cNvGrpSpPr/>
          <p:nvPr/>
        </p:nvGrpSpPr>
        <p:grpSpPr>
          <a:xfrm>
            <a:off x="1161456" y="3169050"/>
            <a:ext cx="5541269" cy="2329216"/>
            <a:chOff x="1161456" y="2996524"/>
            <a:chExt cx="5541269" cy="2329216"/>
          </a:xfrm>
        </p:grpSpPr>
        <p:cxnSp>
          <p:nvCxnSpPr>
            <p:cNvPr id="27" name="직선 화살표 연결선 26">
              <a:extLst>
                <a:ext uri="{FF2B5EF4-FFF2-40B4-BE49-F238E27FC236}">
                  <a16:creationId xmlns:a16="http://schemas.microsoft.com/office/drawing/2014/main" id="{D7E3DE76-5B70-4FD9-990C-C2DF07F04E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94295" y="3105635"/>
              <a:ext cx="0" cy="2108425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타원 33">
              <a:extLst>
                <a:ext uri="{FF2B5EF4-FFF2-40B4-BE49-F238E27FC236}">
                  <a16:creationId xmlns:a16="http://schemas.microsoft.com/office/drawing/2014/main" id="{D9B55CA5-B4E2-4F1E-924E-06F0A8119687}"/>
                </a:ext>
              </a:extLst>
            </p:cNvPr>
            <p:cNvSpPr/>
            <p:nvPr/>
          </p:nvSpPr>
          <p:spPr>
            <a:xfrm>
              <a:off x="2832658" y="3457915"/>
              <a:ext cx="123275" cy="12327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6B81E548-647C-4614-A234-A8F45BA32A0E}"/>
                </a:ext>
              </a:extLst>
            </p:cNvPr>
            <p:cNvSpPr/>
            <p:nvPr/>
          </p:nvSpPr>
          <p:spPr>
            <a:xfrm>
              <a:off x="2832658" y="4380092"/>
              <a:ext cx="123275" cy="12327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별: 꼭짓점 5개 35">
              <a:extLst>
                <a:ext uri="{FF2B5EF4-FFF2-40B4-BE49-F238E27FC236}">
                  <a16:creationId xmlns:a16="http://schemas.microsoft.com/office/drawing/2014/main" id="{6839CAAE-EEE0-4E6A-9622-DF396270B2E6}"/>
                </a:ext>
              </a:extLst>
            </p:cNvPr>
            <p:cNvSpPr/>
            <p:nvPr/>
          </p:nvSpPr>
          <p:spPr>
            <a:xfrm>
              <a:off x="2822004" y="3785873"/>
              <a:ext cx="150390" cy="150390"/>
            </a:xfrm>
            <a:prstGeom prst="star5">
              <a:avLst/>
            </a:prstGeom>
            <a:solidFill>
              <a:srgbClr val="C00000"/>
            </a:solidFill>
            <a:ln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171C5A0E-8844-4303-8444-1FE266ADA861}"/>
                </a:ext>
              </a:extLst>
            </p:cNvPr>
            <p:cNvSpPr txBox="1"/>
            <p:nvPr/>
          </p:nvSpPr>
          <p:spPr>
            <a:xfrm>
              <a:off x="2180513" y="3417782"/>
              <a:ext cx="646331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ko-KR" altLang="en-US" sz="900" dirty="0">
                  <a:latin typeface="Poppins SemiBold" panose="00000700000000000000" pitchFamily="2" charset="0"/>
                  <a:cs typeface="Poppins SemiBold" panose="00000700000000000000" pitchFamily="2" charset="0"/>
                </a:rPr>
                <a:t>준거가격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9677B649-1F26-4DEF-A958-F7B5986CF076}"/>
                </a:ext>
              </a:extLst>
            </p:cNvPr>
            <p:cNvSpPr txBox="1"/>
            <p:nvPr/>
          </p:nvSpPr>
          <p:spPr>
            <a:xfrm>
              <a:off x="2134874" y="4323880"/>
              <a:ext cx="723275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ko-KR" altLang="en-US" sz="700" dirty="0">
                  <a:latin typeface="Poppins SemiBold" panose="00000700000000000000" pitchFamily="2" charset="0"/>
                  <a:cs typeface="Poppins SemiBold" panose="00000700000000000000" pitchFamily="2" charset="0"/>
                </a:rPr>
                <a:t>최저수용가격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57D9F51D-5BCE-41BF-9D66-794AA3B32811}"/>
                </a:ext>
              </a:extLst>
            </p:cNvPr>
            <p:cNvSpPr txBox="1"/>
            <p:nvPr/>
          </p:nvSpPr>
          <p:spPr>
            <a:xfrm>
              <a:off x="1276872" y="3837580"/>
              <a:ext cx="788999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dirty="0">
                  <a:latin typeface="Poppins SemiBold" panose="00000700000000000000" pitchFamily="2" charset="0"/>
                  <a:cs typeface="Poppins SemiBold" panose="00000700000000000000" pitchFamily="2" charset="0"/>
                </a:rPr>
                <a:t>싸다고 느낌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9422EF29-7441-4A07-8AE9-1084FF4FCAE1}"/>
                </a:ext>
              </a:extLst>
            </p:cNvPr>
            <p:cNvSpPr txBox="1"/>
            <p:nvPr/>
          </p:nvSpPr>
          <p:spPr>
            <a:xfrm>
              <a:off x="1161456" y="4577091"/>
              <a:ext cx="904415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dirty="0" err="1">
                  <a:latin typeface="Poppins SemiBold" panose="00000700000000000000" pitchFamily="2" charset="0"/>
                  <a:cs typeface="Poppins SemiBold" panose="00000700000000000000" pitchFamily="2" charset="0"/>
                </a:rPr>
                <a:t>너무싸서</a:t>
              </a:r>
              <a:r>
                <a:rPr lang="ko-KR" altLang="en-US" sz="900" dirty="0">
                  <a:latin typeface="Poppins SemiBold" panose="00000700000000000000" pitchFamily="2" charset="0"/>
                  <a:cs typeface="Poppins SemiBold" panose="00000700000000000000" pitchFamily="2" charset="0"/>
                </a:rPr>
                <a:t> 의심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6079B48-3328-4314-92EB-9A9594B56BB9}"/>
                </a:ext>
              </a:extLst>
            </p:cNvPr>
            <p:cNvSpPr txBox="1"/>
            <p:nvPr/>
          </p:nvSpPr>
          <p:spPr>
            <a:xfrm>
              <a:off x="2894295" y="2996524"/>
              <a:ext cx="48282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dirty="0">
                  <a:latin typeface="Poppins SemiBold" panose="00000700000000000000" pitchFamily="2" charset="0"/>
                  <a:cs typeface="Poppins SemiBold" panose="00000700000000000000" pitchFamily="2" charset="0"/>
                </a:rPr>
                <a:t>High</a:t>
              </a:r>
              <a:endParaRPr lang="ko-KR" altLang="en-US" sz="1000" dirty="0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3FE75B07-059C-4986-9761-57986DF2CB4A}"/>
                </a:ext>
              </a:extLst>
            </p:cNvPr>
            <p:cNvSpPr txBox="1"/>
            <p:nvPr/>
          </p:nvSpPr>
          <p:spPr>
            <a:xfrm>
              <a:off x="2894295" y="5079519"/>
              <a:ext cx="43473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dirty="0">
                  <a:latin typeface="Poppins SemiBold" panose="00000700000000000000" pitchFamily="2" charset="0"/>
                  <a:cs typeface="Poppins SemiBold" panose="00000700000000000000" pitchFamily="2" charset="0"/>
                </a:rPr>
                <a:t>Low</a:t>
              </a:r>
              <a:endParaRPr lang="ko-KR" altLang="en-US" sz="1000" dirty="0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50" name="왼쪽 중괄호 49">
              <a:extLst>
                <a:ext uri="{FF2B5EF4-FFF2-40B4-BE49-F238E27FC236}">
                  <a16:creationId xmlns:a16="http://schemas.microsoft.com/office/drawing/2014/main" id="{A41D4D26-899C-4424-B557-92497A51B1E9}"/>
                </a:ext>
              </a:extLst>
            </p:cNvPr>
            <p:cNvSpPr/>
            <p:nvPr/>
          </p:nvSpPr>
          <p:spPr>
            <a:xfrm>
              <a:off x="2037324" y="3624521"/>
              <a:ext cx="137622" cy="633134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51" name="왼쪽 중괄호 50">
              <a:extLst>
                <a:ext uri="{FF2B5EF4-FFF2-40B4-BE49-F238E27FC236}">
                  <a16:creationId xmlns:a16="http://schemas.microsoft.com/office/drawing/2014/main" id="{708D3311-BF3C-4268-81EA-23F23C48B0B1}"/>
                </a:ext>
              </a:extLst>
            </p:cNvPr>
            <p:cNvSpPr/>
            <p:nvPr/>
          </p:nvSpPr>
          <p:spPr>
            <a:xfrm>
              <a:off x="2011447" y="4526256"/>
              <a:ext cx="138998" cy="553264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cxnSp>
          <p:nvCxnSpPr>
            <p:cNvPr id="53" name="직선 연결선 52">
              <a:extLst>
                <a:ext uri="{FF2B5EF4-FFF2-40B4-BE49-F238E27FC236}">
                  <a16:creationId xmlns:a16="http://schemas.microsoft.com/office/drawing/2014/main" id="{B87852B3-9675-4C7B-AEBB-BC27B3B5E67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58149" y="4727179"/>
              <a:ext cx="3844576" cy="0"/>
            </a:xfrm>
            <a:prstGeom prst="line">
              <a:avLst/>
            </a:prstGeom>
            <a:ln w="19050"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직선 연결선 56">
              <a:extLst>
                <a:ext uri="{FF2B5EF4-FFF2-40B4-BE49-F238E27FC236}">
                  <a16:creationId xmlns:a16="http://schemas.microsoft.com/office/drawing/2014/main" id="{63420607-3F83-4D1E-9A0C-D4C911F66C9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58150" y="3884507"/>
              <a:ext cx="3844575" cy="0"/>
            </a:xfrm>
            <a:prstGeom prst="line">
              <a:avLst/>
            </a:prstGeom>
            <a:ln w="19050">
              <a:solidFill>
                <a:srgbClr val="C0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직선 연결선 64">
              <a:extLst>
                <a:ext uri="{FF2B5EF4-FFF2-40B4-BE49-F238E27FC236}">
                  <a16:creationId xmlns:a16="http://schemas.microsoft.com/office/drawing/2014/main" id="{4B048E63-C219-4B6A-870A-C985A1A621C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58150" y="3533198"/>
              <a:ext cx="3844575" cy="0"/>
            </a:xfrm>
            <a:prstGeom prst="line">
              <a:avLst/>
            </a:prstGeom>
            <a:ln w="19050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8" name="TextBox 57">
            <a:extLst>
              <a:ext uri="{FF2B5EF4-FFF2-40B4-BE49-F238E27FC236}">
                <a16:creationId xmlns:a16="http://schemas.microsoft.com/office/drawing/2014/main" id="{CCA58FA4-CF53-499B-A45F-E518B3804AB4}"/>
              </a:ext>
            </a:extLst>
          </p:cNvPr>
          <p:cNvSpPr txBox="1"/>
          <p:nvPr/>
        </p:nvSpPr>
        <p:spPr>
          <a:xfrm>
            <a:off x="4276671" y="4651897"/>
            <a:ext cx="196653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 err="1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ooo</a:t>
            </a:r>
            <a:r>
              <a:rPr lang="ko-KR" altLang="en-US" sz="105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원</a:t>
            </a:r>
            <a:r>
              <a:rPr lang="en-US" altLang="ko-KR" sz="105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, </a:t>
            </a:r>
            <a:r>
              <a:rPr lang="ko-KR" altLang="en-US" sz="105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매입 가능 가격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8A60B21-C43A-49BC-AFE0-F1704DDD9BA7}"/>
              </a:ext>
            </a:extLst>
          </p:cNvPr>
          <p:cNvSpPr txBox="1"/>
          <p:nvPr/>
        </p:nvSpPr>
        <p:spPr>
          <a:xfrm>
            <a:off x="2989647" y="3565661"/>
            <a:ext cx="1191673" cy="2616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sz="1100" spc="-70" dirty="0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000</a:t>
            </a:r>
            <a:r>
              <a:rPr lang="ko-KR" altLang="en-US" sz="1100" spc="-70" dirty="0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r>
              <a:rPr lang="en-US" altLang="ko-KR" sz="1100" spc="-70" dirty="0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 </a:t>
            </a:r>
            <a:r>
              <a:rPr lang="ko-KR" altLang="en-US" sz="1100" spc="-70" dirty="0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노출 평균가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8F911E3-7E5D-44B2-9434-259A6D28E828}"/>
              </a:ext>
            </a:extLst>
          </p:cNvPr>
          <p:cNvSpPr txBox="1"/>
          <p:nvPr/>
        </p:nvSpPr>
        <p:spPr>
          <a:xfrm>
            <a:off x="2989647" y="4488827"/>
            <a:ext cx="1191673" cy="2616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sz="1100" spc="-70" dirty="0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000</a:t>
            </a:r>
            <a:r>
              <a:rPr lang="ko-KR" altLang="en-US" sz="1100" spc="-70" dirty="0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r>
              <a:rPr lang="en-US" altLang="ko-KR" sz="1100" spc="-70" dirty="0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 </a:t>
            </a:r>
            <a:r>
              <a:rPr lang="ko-KR" altLang="en-US" sz="1100" spc="-70" dirty="0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노출 최저가</a:t>
            </a:r>
          </a:p>
        </p:txBody>
      </p:sp>
      <p:cxnSp>
        <p:nvCxnSpPr>
          <p:cNvPr id="67" name="직선 화살표 연결선 66">
            <a:extLst>
              <a:ext uri="{FF2B5EF4-FFF2-40B4-BE49-F238E27FC236}">
                <a16:creationId xmlns:a16="http://schemas.microsoft.com/office/drawing/2014/main" id="{62520ACD-0564-4F6E-96FC-AC149D75F3FC}"/>
              </a:ext>
            </a:extLst>
          </p:cNvPr>
          <p:cNvCxnSpPr/>
          <p:nvPr/>
        </p:nvCxnSpPr>
        <p:spPr>
          <a:xfrm>
            <a:off x="6452558" y="3705724"/>
            <a:ext cx="0" cy="32787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30CB0AD6-3C2B-4651-A2D7-00196316E558}"/>
              </a:ext>
            </a:extLst>
          </p:cNvPr>
          <p:cNvSpPr txBox="1"/>
          <p:nvPr/>
        </p:nvSpPr>
        <p:spPr>
          <a:xfrm>
            <a:off x="6557690" y="3756935"/>
            <a:ext cx="209063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latin typeface="Poppins SemiBold" panose="00000700000000000000" pitchFamily="2" charset="0"/>
                <a:cs typeface="Poppins SemiBold" panose="00000700000000000000" pitchFamily="2" charset="0"/>
              </a:rPr>
              <a:t>B2B </a:t>
            </a:r>
            <a:r>
              <a:rPr lang="ko-KR" altLang="en-US" sz="1000" b="1" dirty="0">
                <a:latin typeface="Poppins SemiBold" panose="00000700000000000000" pitchFamily="2" charset="0"/>
                <a:cs typeface="Poppins SemiBold" panose="00000700000000000000" pitchFamily="2" charset="0"/>
              </a:rPr>
              <a:t>시장</a:t>
            </a:r>
            <a:r>
              <a:rPr lang="en-US" altLang="ko-KR" sz="1000" b="1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ko-KR" altLang="en-US" sz="1000" b="1" dirty="0">
                <a:latin typeface="Poppins SemiBold" panose="00000700000000000000" pitchFamily="2" charset="0"/>
                <a:cs typeface="Poppins SemiBold" panose="00000700000000000000" pitchFamily="2" charset="0"/>
              </a:rPr>
              <a:t>고객 수준 반영</a:t>
            </a:r>
            <a:r>
              <a:rPr lang="en-US" altLang="ko-KR" sz="1000" b="1" dirty="0">
                <a:latin typeface="Poppins SemiBold" panose="00000700000000000000" pitchFamily="2" charset="0"/>
                <a:cs typeface="Poppins SemiBold" panose="00000700000000000000" pitchFamily="2" charset="0"/>
              </a:rPr>
              <a:t>( O% </a:t>
            </a:r>
            <a:r>
              <a:rPr lang="ko-KR" altLang="en-US" sz="1000" b="1" dirty="0">
                <a:latin typeface="Poppins SemiBold" panose="00000700000000000000" pitchFamily="2" charset="0"/>
                <a:cs typeface="Poppins SemiBold" panose="00000700000000000000" pitchFamily="2" charset="0"/>
              </a:rPr>
              <a:t>▽</a:t>
            </a:r>
            <a:r>
              <a:rPr lang="en-US" altLang="ko-KR" sz="1000" b="1" dirty="0">
                <a:latin typeface="Poppins SemiBold" panose="00000700000000000000" pitchFamily="2" charset="0"/>
                <a:cs typeface="Poppins SemiBold" panose="00000700000000000000" pitchFamily="2" charset="0"/>
              </a:rPr>
              <a:t>)</a:t>
            </a:r>
            <a:endParaRPr lang="ko-KR" altLang="en-US" sz="1000" b="1" dirty="0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74EDEA04-72B0-437E-9A4A-90CB7FBF54C9}"/>
              </a:ext>
            </a:extLst>
          </p:cNvPr>
          <p:cNvCxnSpPr>
            <a:cxnSpLocks/>
          </p:cNvCxnSpPr>
          <p:nvPr/>
        </p:nvCxnSpPr>
        <p:spPr>
          <a:xfrm>
            <a:off x="6452558" y="4077003"/>
            <a:ext cx="0" cy="78803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F71EBBE0-D939-4F45-A2D9-5D702A4C1489}"/>
              </a:ext>
            </a:extLst>
          </p:cNvPr>
          <p:cNvSpPr txBox="1"/>
          <p:nvPr/>
        </p:nvSpPr>
        <p:spPr>
          <a:xfrm>
            <a:off x="6557690" y="4350212"/>
            <a:ext cx="16642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latin typeface="Poppins SemiBold" panose="00000700000000000000" pitchFamily="2" charset="0"/>
                <a:cs typeface="Poppins SemiBold" panose="00000700000000000000" pitchFamily="2" charset="0"/>
              </a:rPr>
              <a:t>판매이익률 보장 </a:t>
            </a:r>
            <a:r>
              <a:rPr lang="en-US" altLang="ko-KR" sz="1000" b="1" dirty="0">
                <a:latin typeface="Poppins SemiBold" panose="00000700000000000000" pitchFamily="2" charset="0"/>
                <a:cs typeface="Poppins SemiBold" panose="00000700000000000000" pitchFamily="2" charset="0"/>
              </a:rPr>
              <a:t>( O% </a:t>
            </a:r>
            <a:r>
              <a:rPr lang="ko-KR" altLang="en-US" sz="1000" b="1" dirty="0">
                <a:latin typeface="Poppins SemiBold" panose="00000700000000000000" pitchFamily="2" charset="0"/>
                <a:cs typeface="Poppins SemiBold" panose="00000700000000000000" pitchFamily="2" charset="0"/>
              </a:rPr>
              <a:t>▲</a:t>
            </a:r>
            <a:r>
              <a:rPr lang="en-US" altLang="ko-KR" sz="1000" b="1" dirty="0">
                <a:latin typeface="Poppins SemiBold" panose="00000700000000000000" pitchFamily="2" charset="0"/>
                <a:cs typeface="Poppins SemiBold" panose="00000700000000000000" pitchFamily="2" charset="0"/>
              </a:rPr>
              <a:t>)</a:t>
            </a:r>
            <a:endParaRPr lang="ko-KR" altLang="en-US" sz="1000" b="1" dirty="0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8265655A-512E-428F-81E3-E7F018998A26}"/>
              </a:ext>
            </a:extLst>
          </p:cNvPr>
          <p:cNvGrpSpPr/>
          <p:nvPr/>
        </p:nvGrpSpPr>
        <p:grpSpPr>
          <a:xfrm>
            <a:off x="4241387" y="3788073"/>
            <a:ext cx="1439836" cy="256969"/>
            <a:chOff x="4241387" y="3805325"/>
            <a:chExt cx="1439836" cy="256969"/>
          </a:xfrm>
        </p:grpSpPr>
        <p:sp>
          <p:nvSpPr>
            <p:cNvPr id="72" name="사각형: 둥근 모서리 71">
              <a:extLst>
                <a:ext uri="{FF2B5EF4-FFF2-40B4-BE49-F238E27FC236}">
                  <a16:creationId xmlns:a16="http://schemas.microsoft.com/office/drawing/2014/main" id="{B92CD2CC-970B-4CB8-956E-8138D5495675}"/>
                </a:ext>
              </a:extLst>
            </p:cNvPr>
            <p:cNvSpPr/>
            <p:nvPr/>
          </p:nvSpPr>
          <p:spPr>
            <a:xfrm>
              <a:off x="4241387" y="3818165"/>
              <a:ext cx="1439831" cy="244129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C1A1FE41-E011-4F73-BB7F-4606CDDF6C10}"/>
                </a:ext>
              </a:extLst>
            </p:cNvPr>
            <p:cNvSpPr txBox="1"/>
            <p:nvPr/>
          </p:nvSpPr>
          <p:spPr>
            <a:xfrm>
              <a:off x="4276671" y="3805325"/>
              <a:ext cx="1404552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dirty="0" err="1">
                  <a:solidFill>
                    <a:schemeClr val="bg1"/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ooo</a:t>
              </a:r>
              <a:r>
                <a:rPr lang="ko-KR" altLang="en-US" sz="1050" dirty="0">
                  <a:solidFill>
                    <a:schemeClr val="bg1"/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 원</a:t>
              </a:r>
              <a:r>
                <a:rPr lang="en-US" altLang="ko-KR" sz="1050" dirty="0">
                  <a:solidFill>
                    <a:schemeClr val="bg1"/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, </a:t>
              </a:r>
              <a:r>
                <a:rPr lang="ko-KR" altLang="en-US" sz="1050" dirty="0">
                  <a:solidFill>
                    <a:schemeClr val="bg1"/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금번 판매 가격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53165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4630</TotalTime>
  <Words>216</Words>
  <Application>Microsoft Office PowerPoint</Application>
  <PresentationFormat>A4 용지(210x297mm)</PresentationFormat>
  <Paragraphs>41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11" baseType="lpstr">
      <vt:lpstr>Pretendard</vt:lpstr>
      <vt:lpstr>Pretendard SemiBold</vt:lpstr>
      <vt:lpstr>나눔고딕</vt:lpstr>
      <vt:lpstr>맑은 고딕</vt:lpstr>
      <vt:lpstr>Arial</vt:lpstr>
      <vt:lpstr>Calibri</vt:lpstr>
      <vt:lpstr>Calibri Light</vt:lpstr>
      <vt:lpstr>Poppins SemiBold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Administrator</cp:lastModifiedBy>
  <cp:revision>582</cp:revision>
  <cp:lastPrinted>2022-12-23T03:34:47Z</cp:lastPrinted>
  <dcterms:created xsi:type="dcterms:W3CDTF">2022-11-29T06:03:49Z</dcterms:created>
  <dcterms:modified xsi:type="dcterms:W3CDTF">2024-05-21T01:34:37Z</dcterms:modified>
</cp:coreProperties>
</file>