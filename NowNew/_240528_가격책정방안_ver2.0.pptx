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80" r:id="rId2"/>
    <p:sldId id="294" r:id="rId3"/>
    <p:sldId id="295" r:id="rId4"/>
    <p:sldId id="296" r:id="rId5"/>
    <p:sldId id="302" r:id="rId6"/>
    <p:sldId id="301" r:id="rId7"/>
    <p:sldId id="288" r:id="rId8"/>
    <p:sldId id="289" r:id="rId9"/>
    <p:sldId id="292" r:id="rId10"/>
    <p:sldId id="297" r:id="rId11"/>
    <p:sldId id="298" r:id="rId12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3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3975" userDrawn="1">
          <p15:clr>
            <a:srgbClr val="A4A3A4"/>
          </p15:clr>
        </p15:guide>
        <p15:guide id="4" pos="241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97" userDrawn="1">
          <p15:clr>
            <a:srgbClr val="A4A3A4"/>
          </p15:clr>
        </p15:guide>
        <p15:guide id="7" pos="1671" userDrawn="1">
          <p15:clr>
            <a:srgbClr val="A4A3A4"/>
          </p15:clr>
        </p15:guide>
        <p15:guide id="8" pos="3097" userDrawn="1">
          <p15:clr>
            <a:srgbClr val="A4A3A4"/>
          </p15:clr>
        </p15:guide>
        <p15:guide id="9" pos="6091" userDrawn="1">
          <p15:clr>
            <a:srgbClr val="A4A3A4"/>
          </p15:clr>
        </p15:guide>
        <p15:guide id="10" orient="horz" pos="1117" userDrawn="1">
          <p15:clr>
            <a:srgbClr val="A4A3A4"/>
          </p15:clr>
        </p15:guide>
        <p15:guide id="11" orient="horz" pos="6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AFDE"/>
    <a:srgbClr val="3281C8"/>
    <a:srgbClr val="1F4F7B"/>
    <a:srgbClr val="313233"/>
    <a:srgbClr val="E7E7E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6214" autoAdjust="0"/>
  </p:normalViewPr>
  <p:slideViewPr>
    <p:cSldViewPr snapToGrid="0">
      <p:cViewPr>
        <p:scale>
          <a:sx n="100" d="100"/>
          <a:sy n="100" d="100"/>
        </p:scale>
        <p:origin x="804" y="324"/>
      </p:cViewPr>
      <p:guideLst>
        <p:guide orient="horz" pos="483"/>
        <p:guide pos="2304"/>
        <p:guide orient="horz" pos="3975"/>
        <p:guide pos="241"/>
        <p:guide orient="horz" pos="709"/>
        <p:guide orient="horz" pos="3997"/>
        <p:guide pos="1671"/>
        <p:guide pos="3097"/>
        <p:guide pos="6091"/>
        <p:guide orient="horz" pos="1117"/>
        <p:guide orient="horz" pos="6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0D5C7A-3438-47A9-A18D-F71A75FD9F26}" type="datetimeFigureOut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0B856-9CD6-4752-B1F1-1D6EF79385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5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6" indent="0" algn="ctr">
              <a:buNone/>
              <a:defRPr sz="1600"/>
            </a:lvl4pPr>
            <a:lvl5pPr marL="1828836" indent="0" algn="ctr">
              <a:buNone/>
              <a:defRPr sz="1600"/>
            </a:lvl5pPr>
            <a:lvl6pPr marL="2286044" indent="0" algn="ctr">
              <a:buNone/>
              <a:defRPr sz="1600"/>
            </a:lvl6pPr>
            <a:lvl7pPr marL="2743254" indent="0" algn="ctr">
              <a:buNone/>
              <a:defRPr sz="1600"/>
            </a:lvl7pPr>
            <a:lvl8pPr marL="3200461" indent="0" algn="ctr">
              <a:buNone/>
              <a:defRPr sz="1600"/>
            </a:lvl8pPr>
            <a:lvl9pPr marL="365767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F38D8-1047-4586-9080-A60583901D1F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7906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6C6D9-6798-4E20-AC32-B74C329AC606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2" y="1709746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2" y="4589471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7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EAA5E-C4DF-401B-8613-61DB2E496300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5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30EFD-69BC-4D8B-BCAC-93805E938002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44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365129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31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6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4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7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31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6" indent="0">
              <a:buNone/>
              <a:defRPr sz="1600" b="1"/>
            </a:lvl4pPr>
            <a:lvl5pPr marL="1828836" indent="0">
              <a:buNone/>
              <a:defRPr sz="1600" b="1"/>
            </a:lvl5pPr>
            <a:lvl6pPr marL="2286044" indent="0">
              <a:buNone/>
              <a:defRPr sz="1600" b="1"/>
            </a:lvl6pPr>
            <a:lvl7pPr marL="2743254" indent="0">
              <a:buNone/>
              <a:defRPr sz="1600" b="1"/>
            </a:lvl7pPr>
            <a:lvl8pPr marL="3200461" indent="0">
              <a:buNone/>
              <a:defRPr sz="1600" b="1"/>
            </a:lvl8pPr>
            <a:lvl9pPr marL="365767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97B8-D5B7-4494-B1C8-226D036966C7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318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1150-DD2C-4E17-8382-7597C1A0EDE0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6574-54C3-4364-8CEC-841391665530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847481" y="6356358"/>
            <a:ext cx="2228850" cy="365125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-</a:t>
            </a:r>
            <a:fld id="{D11C00A1-05A8-4FFD-B80E-FDE16F8F749C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02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1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2" y="987433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1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6" indent="0">
              <a:buNone/>
              <a:defRPr sz="1000"/>
            </a:lvl4pPr>
            <a:lvl5pPr marL="1828836" indent="0">
              <a:buNone/>
              <a:defRPr sz="1000"/>
            </a:lvl5pPr>
            <a:lvl6pPr marL="2286044" indent="0">
              <a:buNone/>
              <a:defRPr sz="1000"/>
            </a:lvl6pPr>
            <a:lvl7pPr marL="2743254" indent="0">
              <a:buNone/>
              <a:defRPr sz="1000"/>
            </a:lvl7pPr>
            <a:lvl8pPr marL="3200461" indent="0">
              <a:buNone/>
              <a:defRPr sz="1000"/>
            </a:lvl8pPr>
            <a:lvl9pPr marL="365767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964D6-493D-45BD-B3E4-F5CA212DB5D9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1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2" y="987433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6" indent="0">
              <a:buNone/>
              <a:defRPr sz="2000"/>
            </a:lvl4pPr>
            <a:lvl5pPr marL="1828836" indent="0">
              <a:buNone/>
              <a:defRPr sz="2000"/>
            </a:lvl5pPr>
            <a:lvl6pPr marL="2286044" indent="0">
              <a:buNone/>
              <a:defRPr sz="2000"/>
            </a:lvl6pPr>
            <a:lvl7pPr marL="2743254" indent="0">
              <a:buNone/>
              <a:defRPr sz="2000"/>
            </a:lvl7pPr>
            <a:lvl8pPr marL="3200461" indent="0">
              <a:buNone/>
              <a:defRPr sz="2000"/>
            </a:lvl8pPr>
            <a:lvl9pPr marL="365767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1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6" indent="0">
              <a:buNone/>
              <a:defRPr sz="1000"/>
            </a:lvl4pPr>
            <a:lvl5pPr marL="1828836" indent="0">
              <a:buNone/>
              <a:defRPr sz="1000"/>
            </a:lvl5pPr>
            <a:lvl6pPr marL="2286044" indent="0">
              <a:buNone/>
              <a:defRPr sz="1000"/>
            </a:lvl6pPr>
            <a:lvl7pPr marL="2743254" indent="0">
              <a:buNone/>
              <a:defRPr sz="1000"/>
            </a:lvl7pPr>
            <a:lvl8pPr marL="3200461" indent="0">
              <a:buNone/>
              <a:defRPr sz="1000"/>
            </a:lvl8pPr>
            <a:lvl9pPr marL="365767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7B014-A72F-429F-A56A-A2A70A75BD6F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255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8055-1BE0-4DA5-A2B6-6E4E91C45F7C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3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9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08119-058F-4CE5-B7C3-C5CE798FBE3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0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9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4743D-D19E-4CAE-959D-80583DFF4FCC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4" y="6356358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8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C00A1-05A8-4FFD-B80E-FDE16F8F74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50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18" rtl="0" eaLnBrk="1" latinLnBrk="1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8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3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1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1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0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8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7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6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5" indent="-228604" algn="l" defTabSz="914418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6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6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4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4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1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0" algn="l" defTabSz="91441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8.xml"/><Relationship Id="rId4" Type="http://schemas.openxmlformats.org/officeDocument/2006/relationships/slide" Target="slide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slide" Target="slide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3BD9DE8-B76D-4EC7-AB08-79547C6C4C8F}"/>
              </a:ext>
            </a:extLst>
          </p:cNvPr>
          <p:cNvCxnSpPr>
            <a:cxnSpLocks/>
          </p:cNvCxnSpPr>
          <p:nvPr/>
        </p:nvCxnSpPr>
        <p:spPr>
          <a:xfrm>
            <a:off x="1369161" y="2304807"/>
            <a:ext cx="74326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67F49A27-A52D-47EA-9434-7B757EF01493}"/>
              </a:ext>
            </a:extLst>
          </p:cNvPr>
          <p:cNvSpPr txBox="1">
            <a:spLocks/>
          </p:cNvSpPr>
          <p:nvPr/>
        </p:nvSpPr>
        <p:spPr>
          <a:xfrm>
            <a:off x="3772015" y="5245450"/>
            <a:ext cx="2361983" cy="1197835"/>
          </a:xfrm>
          <a:prstGeom prst="rect">
            <a:avLst/>
          </a:prstGeom>
          <a:ln>
            <a:noFill/>
          </a:ln>
        </p:spPr>
        <p:txBody>
          <a:bodyPr vert="horz" lIns="91440" tIns="45721" rIns="91440" bIns="45721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상품기획팀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2024.05</a:t>
            </a:r>
            <a:endParaRPr lang="ko-KR" alt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761828-F1FD-44A1-AF19-0147AB9486CD}"/>
              </a:ext>
            </a:extLst>
          </p:cNvPr>
          <p:cNvSpPr txBox="1"/>
          <p:nvPr/>
        </p:nvSpPr>
        <p:spPr>
          <a:xfrm>
            <a:off x="3213886" y="1781590"/>
            <a:ext cx="4524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고객의 선택을 받는 여정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DE76F-6024-4906-8534-C120789FC8C6}"/>
              </a:ext>
            </a:extLst>
          </p:cNvPr>
          <p:cNvSpPr txBox="1"/>
          <p:nvPr/>
        </p:nvSpPr>
        <p:spPr>
          <a:xfrm>
            <a:off x="3989181" y="2394989"/>
            <a:ext cx="3131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( 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두 번째 고개 넘기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)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8EE07-6420-4B3C-AAEB-32CE338054BD}"/>
              </a:ext>
            </a:extLst>
          </p:cNvPr>
          <p:cNvSpPr txBox="1"/>
          <p:nvPr/>
        </p:nvSpPr>
        <p:spPr>
          <a:xfrm>
            <a:off x="5795798" y="2333434"/>
            <a:ext cx="340990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※ 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고개 </a:t>
            </a:r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타깃고객층을 분류하고 </a:t>
            </a:r>
            <a:r>
              <a:rPr lang="ko-KR" altLang="en-US" sz="9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고객니즈를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파악하는 단계</a:t>
            </a:r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(NPD)</a:t>
            </a:r>
            <a:endParaRPr lang="ko-KR" altLang="en-US" sz="9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83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A76CAC-EA2E-467A-A767-D7A8547C604C}"/>
              </a:ext>
            </a:extLst>
          </p:cNvPr>
          <p:cNvSpPr/>
          <p:nvPr/>
        </p:nvSpPr>
        <p:spPr>
          <a:xfrm>
            <a:off x="0" y="5984144"/>
            <a:ext cx="9914906" cy="873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고객의 시각에서 본 가격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3131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결코 호구가 되지 않겠다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?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EAD17-D151-4DB7-A291-1FE73AF6E02C}"/>
              </a:ext>
            </a:extLst>
          </p:cNvPr>
          <p:cNvSpPr/>
          <p:nvPr/>
        </p:nvSpPr>
        <p:spPr>
          <a:xfrm>
            <a:off x="4840352" y="2868638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가치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(Customer Value)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893944-8E0E-4CDD-87BD-D424E262B207}"/>
              </a:ext>
            </a:extLst>
          </p:cNvPr>
          <p:cNvSpPr/>
          <p:nvPr/>
        </p:nvSpPr>
        <p:spPr>
          <a:xfrm>
            <a:off x="4840352" y="3437981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(Competition)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876C66-7F3D-42ED-AE36-88C59DE24584}"/>
              </a:ext>
            </a:extLst>
          </p:cNvPr>
          <p:cNvSpPr/>
          <p:nvPr/>
        </p:nvSpPr>
        <p:spPr>
          <a:xfrm>
            <a:off x="4840352" y="4018816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원가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(Cost)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284D3C-339E-4D28-8BA4-3EF9820FD6BD}"/>
              </a:ext>
            </a:extLst>
          </p:cNvPr>
          <p:cNvSpPr/>
          <p:nvPr/>
        </p:nvSpPr>
        <p:spPr>
          <a:xfrm>
            <a:off x="6180321" y="2878539"/>
            <a:ext cx="29325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상품기획에서 타깃고객의 니즈 분석은 필수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423F3D-A8D0-4A4F-8740-4F6F0B05D690}"/>
              </a:ext>
            </a:extLst>
          </p:cNvPr>
          <p:cNvSpPr/>
          <p:nvPr/>
        </p:nvSpPr>
        <p:spPr>
          <a:xfrm>
            <a:off x="6180321" y="3500924"/>
            <a:ext cx="29325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경쟁에서 살아남으려면 경쟁상품분석이 중요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279C43-E6D9-4332-BD15-A67269EFACA4}"/>
              </a:ext>
            </a:extLst>
          </p:cNvPr>
          <p:cNvSpPr/>
          <p:nvPr/>
        </p:nvSpPr>
        <p:spPr>
          <a:xfrm>
            <a:off x="6180321" y="4041799"/>
            <a:ext cx="2932519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내부역량을 분석해야 무엇을 할 수 있는지 알 수 있음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B13B20-065A-4B76-BBE4-453EF3126038}"/>
              </a:ext>
            </a:extLst>
          </p:cNvPr>
          <p:cNvSpPr txBox="1"/>
          <p:nvPr/>
        </p:nvSpPr>
        <p:spPr>
          <a:xfrm>
            <a:off x="283519" y="5709453"/>
            <a:ext cx="56364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※ 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준거가격</a:t>
            </a:r>
            <a:r>
              <a:rPr lang="en-US" altLang="ko-KR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고객이 과거 경험 또는 시장 정보를 통해 획득한 가격 정보와 자사 여력을 고려하여 구매하고 싶은 심리적 가격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6C11147-AABF-43F1-86E7-4B5CB0CD0143}"/>
              </a:ext>
            </a:extLst>
          </p:cNvPr>
          <p:cNvGrpSpPr/>
          <p:nvPr/>
        </p:nvGrpSpPr>
        <p:grpSpPr>
          <a:xfrm>
            <a:off x="670718" y="2035303"/>
            <a:ext cx="3439652" cy="2982903"/>
            <a:chOff x="390219" y="1863500"/>
            <a:chExt cx="3439652" cy="2982903"/>
          </a:xfrm>
        </p:grpSpPr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67E1FFA-D42C-438D-BC0F-0D5B39C07A65}"/>
                </a:ext>
              </a:extLst>
            </p:cNvPr>
            <p:cNvCxnSpPr>
              <a:cxnSpLocks/>
              <a:stCxn id="50" idx="0"/>
              <a:endCxn id="30" idx="2"/>
            </p:cNvCxnSpPr>
            <p:nvPr/>
          </p:nvCxnSpPr>
          <p:spPr>
            <a:xfrm flipH="1" flipV="1">
              <a:off x="2137750" y="2109721"/>
              <a:ext cx="1" cy="249046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F99FBD-5439-4EC5-9E8A-A34DF5F5080E}"/>
                </a:ext>
              </a:extLst>
            </p:cNvPr>
            <p:cNvSpPr txBox="1"/>
            <p:nvPr/>
          </p:nvSpPr>
          <p:spPr>
            <a:xfrm>
              <a:off x="1469248" y="2275747"/>
              <a:ext cx="60946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수용 상한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701CB7-D968-4C2D-AFE7-26DF4A1EA86A}"/>
                </a:ext>
              </a:extLst>
            </p:cNvPr>
            <p:cNvSpPr txBox="1"/>
            <p:nvPr/>
          </p:nvSpPr>
          <p:spPr>
            <a:xfrm>
              <a:off x="3130641" y="3239535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Max Profit</a:t>
              </a:r>
              <a:endParaRPr lang="ko-KR" altLang="en-US" sz="9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A53A482-062A-4629-9663-94B591D7DEF5}"/>
                </a:ext>
              </a:extLst>
            </p:cNvPr>
            <p:cNvSpPr txBox="1"/>
            <p:nvPr/>
          </p:nvSpPr>
          <p:spPr>
            <a:xfrm>
              <a:off x="1756876" y="1863500"/>
              <a:ext cx="7617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High Price</a:t>
              </a:r>
              <a:endPara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E3AAB0D-E2DF-4DA6-8FA0-A2E6F7EB8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37750" y="4202273"/>
              <a:ext cx="1183420" cy="0"/>
            </a:xfrm>
            <a:prstGeom prst="line">
              <a:avLst/>
            </a:prstGeom>
            <a:ln w="1905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4416805D-4EB2-40E5-A409-3F839F9D67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74091" y="3171162"/>
              <a:ext cx="1627903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AD0AFD40-5B80-4FF2-97B7-8D5ED17547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370" y="2486940"/>
              <a:ext cx="23958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D69E762-22B0-4848-AD30-8FC86AA13F58}"/>
                </a:ext>
              </a:extLst>
            </p:cNvPr>
            <p:cNvSpPr txBox="1"/>
            <p:nvPr/>
          </p:nvSpPr>
          <p:spPr>
            <a:xfrm>
              <a:off x="2236894" y="2923595"/>
              <a:ext cx="62709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900" b="1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defRPr>
              </a:lvl1pPr>
            </a:lstStyle>
            <a:p>
              <a:r>
                <a:rPr lang="ko-KR" altLang="en-US" sz="1000" dirty="0">
                  <a:solidFill>
                    <a:srgbClr val="C00000"/>
                  </a:solidFill>
                </a:rPr>
                <a:t>준거가격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C801E7F-A68B-41ED-9FA5-D5B246F5BAC7}"/>
                </a:ext>
              </a:extLst>
            </p:cNvPr>
            <p:cNvSpPr txBox="1"/>
            <p:nvPr/>
          </p:nvSpPr>
          <p:spPr>
            <a:xfrm>
              <a:off x="1768098" y="4600182"/>
              <a:ext cx="73930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Low Price</a:t>
              </a:r>
              <a:endParaRPr lang="ko-KR" altLang="en-US" sz="1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8B3BAE-DE48-4C65-9CC9-C4E2C7213DA5}"/>
                </a:ext>
              </a:extLst>
            </p:cNvPr>
            <p:cNvSpPr txBox="1"/>
            <p:nvPr/>
          </p:nvSpPr>
          <p:spPr>
            <a:xfrm>
              <a:off x="1469247" y="3724611"/>
              <a:ext cx="60946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수용 하한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E661576-20B8-43D1-89E5-16112A0481DE}"/>
                </a:ext>
              </a:extLst>
            </p:cNvPr>
            <p:cNvSpPr/>
            <p:nvPr/>
          </p:nvSpPr>
          <p:spPr>
            <a:xfrm>
              <a:off x="390219" y="3042736"/>
              <a:ext cx="88357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Competition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B7607B8-E518-4590-B5B1-EBD96EB3CC6F}"/>
                </a:ext>
              </a:extLst>
            </p:cNvPr>
            <p:cNvSpPr/>
            <p:nvPr/>
          </p:nvSpPr>
          <p:spPr>
            <a:xfrm>
              <a:off x="1705116" y="4080097"/>
              <a:ext cx="45236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Cost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7924405-9B47-4D1C-97B8-86C395A0099D}"/>
                </a:ext>
              </a:extLst>
            </p:cNvPr>
            <p:cNvSpPr/>
            <p:nvPr/>
          </p:nvSpPr>
          <p:spPr>
            <a:xfrm>
              <a:off x="2078709" y="2411656"/>
              <a:ext cx="123275" cy="123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ADA3FBF2-7E74-4A1C-A38D-BAC08D750D40}"/>
                </a:ext>
              </a:extLst>
            </p:cNvPr>
            <p:cNvCxnSpPr/>
            <p:nvPr/>
          </p:nvCxnSpPr>
          <p:spPr>
            <a:xfrm flipV="1">
              <a:off x="1705117" y="2506579"/>
              <a:ext cx="0" cy="64393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C366C19-DEE7-48E7-A720-DC582A2CC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5742" y="2506579"/>
              <a:ext cx="0" cy="119477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C7AFFC5-0A5A-4BD6-B36D-3F9BF98E20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5370" y="3738687"/>
              <a:ext cx="1615500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E2F62555-2A4D-4A4C-B253-3FBD44EC05B8}"/>
                </a:ext>
              </a:extLst>
            </p:cNvPr>
            <p:cNvSpPr/>
            <p:nvPr/>
          </p:nvSpPr>
          <p:spPr>
            <a:xfrm>
              <a:off x="2078709" y="3670264"/>
              <a:ext cx="123275" cy="12327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5AEA527E-8584-4E00-98D0-95AAD061C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8812" y="3017505"/>
              <a:ext cx="257873" cy="261610"/>
            </a:xfrm>
            <a:prstGeom prst="rect">
              <a:avLst/>
            </a:prstGeom>
          </p:spPr>
        </p:pic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E717530C-0BBC-48CC-BEE9-FF590FE2B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5894" y="2534931"/>
              <a:ext cx="0" cy="164637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7638EC-AF01-4053-9265-4675D0A89217}"/>
                </a:ext>
              </a:extLst>
            </p:cNvPr>
            <p:cNvSpPr/>
            <p:nvPr/>
          </p:nvSpPr>
          <p:spPr>
            <a:xfrm>
              <a:off x="1332258" y="2649971"/>
              <a:ext cx="74571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Customer</a:t>
              </a:r>
            </a:p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value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</p:grp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4BA8BE-3C79-4164-9256-1267676629A3}"/>
              </a:ext>
            </a:extLst>
          </p:cNvPr>
          <p:cNvCxnSpPr/>
          <p:nvPr/>
        </p:nvCxnSpPr>
        <p:spPr>
          <a:xfrm>
            <a:off x="4908384" y="2646889"/>
            <a:ext cx="1500028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71F39C8-ADA7-44A2-B931-FBCDF4395BFC}"/>
              </a:ext>
            </a:extLst>
          </p:cNvPr>
          <p:cNvSpPr/>
          <p:nvPr/>
        </p:nvSpPr>
        <p:spPr>
          <a:xfrm>
            <a:off x="4846631" y="2348185"/>
            <a:ext cx="1600118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3C</a:t>
            </a:r>
            <a:r>
              <a:rPr lang="ko-KR" altLang="en-US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분석을 통한 가격 책정</a:t>
            </a:r>
          </a:p>
        </p:txBody>
      </p:sp>
    </p:spTree>
    <p:extLst>
      <p:ext uri="{BB962C8B-B14F-4D97-AF65-F5344CB8AC3E}">
        <p14:creationId xmlns:p14="http://schemas.microsoft.com/office/powerpoint/2010/main" val="275249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A76CAC-EA2E-467A-A767-D7A8547C604C}"/>
              </a:ext>
            </a:extLst>
          </p:cNvPr>
          <p:cNvSpPr/>
          <p:nvPr/>
        </p:nvSpPr>
        <p:spPr>
          <a:xfrm>
            <a:off x="0" y="5984144"/>
            <a:ext cx="9914906" cy="87385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고객의 선택을 받고 싶다면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590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생각보다 저렴한 가격 제안 보다는 생각지도 못했던 가치 제안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!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DEAD17-D151-4DB7-A291-1FE73AF6E02C}"/>
              </a:ext>
            </a:extLst>
          </p:cNvPr>
          <p:cNvSpPr/>
          <p:nvPr/>
        </p:nvSpPr>
        <p:spPr>
          <a:xfrm>
            <a:off x="4840352" y="2868638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가치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(Customer Value)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893944-8E0E-4CDD-87BD-D424E262B207}"/>
              </a:ext>
            </a:extLst>
          </p:cNvPr>
          <p:cNvSpPr/>
          <p:nvPr/>
        </p:nvSpPr>
        <p:spPr>
          <a:xfrm>
            <a:off x="4840352" y="3437981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(Competition)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876C66-7F3D-42ED-AE36-88C59DE24584}"/>
              </a:ext>
            </a:extLst>
          </p:cNvPr>
          <p:cNvSpPr/>
          <p:nvPr/>
        </p:nvSpPr>
        <p:spPr>
          <a:xfrm>
            <a:off x="4840352" y="4018816"/>
            <a:ext cx="1612676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원가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(Cost)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284D3C-339E-4D28-8BA4-3EF9820FD6BD}"/>
              </a:ext>
            </a:extLst>
          </p:cNvPr>
          <p:cNvSpPr/>
          <p:nvPr/>
        </p:nvSpPr>
        <p:spPr>
          <a:xfrm>
            <a:off x="6180321" y="2878539"/>
            <a:ext cx="2932519" cy="577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고객의 선택을 받기위한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Factor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유무상여부 구분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유상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Factor Data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축적으로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Add-Value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정량화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423F3D-A8D0-4A4F-8740-4F6F0B05D690}"/>
              </a:ext>
            </a:extLst>
          </p:cNvPr>
          <p:cNvSpPr/>
          <p:nvPr/>
        </p:nvSpPr>
        <p:spPr>
          <a:xfrm>
            <a:off x="6180321" y="3500924"/>
            <a:ext cx="2932519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출시예정상품과 가장 유사한 경쟁상품 비교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준거가격 제시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고객도 시장조사 통상 시행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)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5279C43-E6D9-4332-BD15-A67269EFACA4}"/>
              </a:ext>
            </a:extLst>
          </p:cNvPr>
          <p:cNvSpPr/>
          <p:nvPr/>
        </p:nvSpPr>
        <p:spPr>
          <a:xfrm>
            <a:off x="6180321" y="4041799"/>
            <a:ext cx="2932519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내부역량을 분석해야 무엇을 할 수 있는지 알 수 있음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4BA8BE-3C79-4164-9256-1267676629A3}"/>
              </a:ext>
            </a:extLst>
          </p:cNvPr>
          <p:cNvCxnSpPr>
            <a:cxnSpLocks/>
          </p:cNvCxnSpPr>
          <p:nvPr/>
        </p:nvCxnSpPr>
        <p:spPr>
          <a:xfrm>
            <a:off x="4908384" y="2646889"/>
            <a:ext cx="1837473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71F39C8-ADA7-44A2-B931-FBCDF4395BFC}"/>
              </a:ext>
            </a:extLst>
          </p:cNvPr>
          <p:cNvSpPr/>
          <p:nvPr/>
        </p:nvSpPr>
        <p:spPr>
          <a:xfrm>
            <a:off x="4846631" y="2348185"/>
            <a:ext cx="1970411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3C</a:t>
            </a:r>
            <a:r>
              <a:rPr lang="ko-KR" altLang="en-US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분석을 통한 가격 책정 </a:t>
            </a:r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실무</a:t>
            </a:r>
            <a:r>
              <a:rPr lang="en-US" altLang="ko-KR" sz="11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endParaRPr lang="ko-KR" altLang="en-US" sz="1100" b="1" dirty="0">
              <a:solidFill>
                <a:prstClr val="black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F574D3-7957-4FA0-AA88-C16C5BFDD0C2}"/>
              </a:ext>
            </a:extLst>
          </p:cNvPr>
          <p:cNvGrpSpPr/>
          <p:nvPr/>
        </p:nvGrpSpPr>
        <p:grpSpPr>
          <a:xfrm>
            <a:off x="194935" y="2357947"/>
            <a:ext cx="4218531" cy="2143613"/>
            <a:chOff x="194935" y="2357947"/>
            <a:chExt cx="4218531" cy="214361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106A27D-56AD-4A6F-8F29-48D58218D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3929" y="2577738"/>
              <a:ext cx="3639537" cy="192382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1521F7A-2D6A-47BB-A325-D62EFB977AEB}"/>
                </a:ext>
              </a:extLst>
            </p:cNvPr>
            <p:cNvSpPr/>
            <p:nvPr/>
          </p:nvSpPr>
          <p:spPr>
            <a:xfrm>
              <a:off x="1086929" y="3644889"/>
              <a:ext cx="931400" cy="413853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50E6160-8D3F-4ADF-9074-CE64543E0F37}"/>
                </a:ext>
              </a:extLst>
            </p:cNvPr>
            <p:cNvSpPr/>
            <p:nvPr/>
          </p:nvSpPr>
          <p:spPr>
            <a:xfrm>
              <a:off x="1086930" y="4073224"/>
              <a:ext cx="3260784" cy="413853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E661576-20B8-43D1-89E5-16112A0481DE}"/>
                </a:ext>
              </a:extLst>
            </p:cNvPr>
            <p:cNvSpPr/>
            <p:nvPr/>
          </p:nvSpPr>
          <p:spPr>
            <a:xfrm>
              <a:off x="2858643" y="2357947"/>
              <a:ext cx="883575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Competition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B7607B8-E518-4590-B5B1-EBD96EB3CC6F}"/>
                </a:ext>
              </a:extLst>
            </p:cNvPr>
            <p:cNvSpPr/>
            <p:nvPr/>
          </p:nvSpPr>
          <p:spPr>
            <a:xfrm>
              <a:off x="194935" y="4111277"/>
              <a:ext cx="8739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Cost</a:t>
              </a:r>
              <a:b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</a:br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(</a:t>
              </a:r>
              <a:r>
                <a: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평판</a:t>
              </a:r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, A/S </a:t>
              </a:r>
              <a:r>
                <a: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등</a:t>
              </a:r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)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C7638EC-AF01-4053-9265-4675D0A89217}"/>
                </a:ext>
              </a:extLst>
            </p:cNvPr>
            <p:cNvSpPr/>
            <p:nvPr/>
          </p:nvSpPr>
          <p:spPr>
            <a:xfrm>
              <a:off x="279011" y="3654026"/>
              <a:ext cx="74571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Customer</a:t>
              </a:r>
            </a:p>
            <a:p>
              <a:pPr algn="ctr"/>
              <a:r>
                <a:rPr lang="en-US" altLang="ko-KR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rPr>
                <a:t>value</a:t>
              </a:r>
              <a:endParaRPr lang="ko-KR" altLang="en-US" sz="900" b="1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A49DD5C-A9FD-4A61-BC8B-B942FFE84AEE}"/>
                </a:ext>
              </a:extLst>
            </p:cNvPr>
            <p:cNvSpPr/>
            <p:nvPr/>
          </p:nvSpPr>
          <p:spPr>
            <a:xfrm>
              <a:off x="2018328" y="2641559"/>
              <a:ext cx="2329386" cy="1417182"/>
            </a:xfrm>
            <a:prstGeom prst="rect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ACF74CF-29E6-4280-B398-F275FC95B223}"/>
              </a:ext>
            </a:extLst>
          </p:cNvPr>
          <p:cNvGrpSpPr/>
          <p:nvPr/>
        </p:nvGrpSpPr>
        <p:grpSpPr>
          <a:xfrm>
            <a:off x="5646690" y="4984467"/>
            <a:ext cx="1161193" cy="235886"/>
            <a:chOff x="6323162" y="4608975"/>
            <a:chExt cx="1161193" cy="235886"/>
          </a:xfrm>
        </p:grpSpPr>
        <p:sp>
          <p:nvSpPr>
            <p:cNvPr id="27" name="실행 단추: 앞으로 또는 다음으로 이동 26">
              <a:hlinkClick r:id="rId3" action="ppaction://hlinksldjump" highlightClick="1"/>
              <a:extLst>
                <a:ext uri="{FF2B5EF4-FFF2-40B4-BE49-F238E27FC236}">
                  <a16:creationId xmlns:a16="http://schemas.microsoft.com/office/drawing/2014/main" id="{9A9AD7B3-41A4-4BD2-8ADE-5893C1EA84D5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0FDC244-9220-4CDC-BAD0-C4F6EA9C8161}"/>
                </a:ext>
              </a:extLst>
            </p:cNvPr>
            <p:cNvSpPr txBox="1"/>
            <p:nvPr/>
          </p:nvSpPr>
          <p:spPr>
            <a:xfrm>
              <a:off x="6559102" y="4608975"/>
              <a:ext cx="92525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고객 가치 측정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50BE254-141F-4174-AE6A-29C430E0A327}"/>
              </a:ext>
            </a:extLst>
          </p:cNvPr>
          <p:cNvGrpSpPr/>
          <p:nvPr/>
        </p:nvGrpSpPr>
        <p:grpSpPr>
          <a:xfrm>
            <a:off x="5646690" y="5413948"/>
            <a:ext cx="907919" cy="235886"/>
            <a:chOff x="6323162" y="4608975"/>
            <a:chExt cx="907919" cy="235886"/>
          </a:xfrm>
        </p:grpSpPr>
        <p:sp>
          <p:nvSpPr>
            <p:cNvPr id="30" name="실행 단추: 앞으로 또는 다음으로 이동 29">
              <a:hlinkClick r:id="rId4" action="ppaction://hlinksldjump" highlightClick="1"/>
              <a:extLst>
                <a:ext uri="{FF2B5EF4-FFF2-40B4-BE49-F238E27FC236}">
                  <a16:creationId xmlns:a16="http://schemas.microsoft.com/office/drawing/2014/main" id="{26A203D3-FEFA-4703-8191-6D03FA687F61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3D210AB-4CE5-4149-930B-0F46E3F1EA95}"/>
                </a:ext>
              </a:extLst>
            </p:cNvPr>
            <p:cNvSpPr txBox="1"/>
            <p:nvPr/>
          </p:nvSpPr>
          <p:spPr>
            <a:xfrm>
              <a:off x="6559102" y="4608975"/>
              <a:ext cx="6719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활용방안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006EAD4-C566-4C00-9AF5-70C8B9FF78D5}"/>
              </a:ext>
            </a:extLst>
          </p:cNvPr>
          <p:cNvGrpSpPr/>
          <p:nvPr/>
        </p:nvGrpSpPr>
        <p:grpSpPr>
          <a:xfrm>
            <a:off x="7014089" y="4984467"/>
            <a:ext cx="1161193" cy="235886"/>
            <a:chOff x="6323162" y="4608975"/>
            <a:chExt cx="1161193" cy="235886"/>
          </a:xfrm>
        </p:grpSpPr>
        <p:sp>
          <p:nvSpPr>
            <p:cNvPr id="33" name="실행 단추: 앞으로 또는 다음으로 이동 32">
              <a:hlinkClick r:id="rId5" action="ppaction://hlinksldjump" highlightClick="1"/>
              <a:extLst>
                <a:ext uri="{FF2B5EF4-FFF2-40B4-BE49-F238E27FC236}">
                  <a16:creationId xmlns:a16="http://schemas.microsoft.com/office/drawing/2014/main" id="{A7E8750E-88CD-48C4-B8F2-E805B9744AF9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C7050F9-3774-4961-BF69-5B810A0F62ED}"/>
                </a:ext>
              </a:extLst>
            </p:cNvPr>
            <p:cNvSpPr txBox="1"/>
            <p:nvPr/>
          </p:nvSpPr>
          <p:spPr>
            <a:xfrm>
              <a:off x="6559102" y="4608975"/>
              <a:ext cx="92525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경쟁 환경 분석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7CD8571-7CF2-48AA-85ED-7F4ECE4DCD16}"/>
              </a:ext>
            </a:extLst>
          </p:cNvPr>
          <p:cNvGrpSpPr/>
          <p:nvPr/>
        </p:nvGrpSpPr>
        <p:grpSpPr>
          <a:xfrm>
            <a:off x="8381489" y="4984467"/>
            <a:ext cx="935170" cy="235886"/>
            <a:chOff x="6323162" y="4608975"/>
            <a:chExt cx="935170" cy="235886"/>
          </a:xfrm>
        </p:grpSpPr>
        <p:sp>
          <p:nvSpPr>
            <p:cNvPr id="36" name="실행 단추: 앞으로 또는 다음으로 이동 35">
              <a:hlinkClick r:id="rId6" action="ppaction://hlinksldjump" highlightClick="1"/>
              <a:extLst>
                <a:ext uri="{FF2B5EF4-FFF2-40B4-BE49-F238E27FC236}">
                  <a16:creationId xmlns:a16="http://schemas.microsoft.com/office/drawing/2014/main" id="{506C097D-866E-434F-ACFF-40BFBE0DA5D0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0177D5-2D33-472A-859A-EF18E33AD7AD}"/>
                </a:ext>
              </a:extLst>
            </p:cNvPr>
            <p:cNvSpPr txBox="1"/>
            <p:nvPr/>
          </p:nvSpPr>
          <p:spPr>
            <a:xfrm>
              <a:off x="6559102" y="4608975"/>
              <a:ext cx="6992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원가 관리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1253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051ED6E-C5F6-4FFD-80E7-089BD8C34661}"/>
              </a:ext>
            </a:extLst>
          </p:cNvPr>
          <p:cNvSpPr/>
          <p:nvPr/>
        </p:nvSpPr>
        <p:spPr>
          <a:xfrm>
            <a:off x="5997687" y="2191365"/>
            <a:ext cx="3602444" cy="978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우리는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590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 err="1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에자일하게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 실행하고 평가하고 수정합니다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!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49CBA23C-116F-470D-9E46-2DAAA13AA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397775"/>
              </p:ext>
            </p:extLst>
          </p:nvPr>
        </p:nvGraphicFramePr>
        <p:xfrm>
          <a:off x="305870" y="2191365"/>
          <a:ext cx="5399605" cy="3815617"/>
        </p:xfrm>
        <a:graphic>
          <a:graphicData uri="http://schemas.openxmlformats.org/drawingml/2006/table">
            <a:tbl>
              <a:tblPr/>
              <a:tblGrid>
                <a:gridCol w="896324">
                  <a:extLst>
                    <a:ext uri="{9D8B030D-6E8A-4147-A177-3AD203B41FA5}">
                      <a16:colId xmlns:a16="http://schemas.microsoft.com/office/drawing/2014/main" val="621664322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664956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</a:tblGrid>
              <a:tr h="2600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3C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내용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수용도 가설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6792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Customer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타깃분류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서울소재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 이상 사업체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업체수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310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종사자수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667,246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099336"/>
                  </a:ext>
                </a:extLst>
              </a:tr>
              <a:tr h="4244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니즈수용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교육시간 부담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교육설문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일반기업에 맞지 않는 체험 존재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4009596"/>
                  </a:ext>
                </a:extLst>
              </a:tr>
              <a:tr h="67778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지급여력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한국무역보험공사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(84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=6.8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/817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KB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자산운용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(62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=2.36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/380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서울시설공단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(17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=6.86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억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/3970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43607"/>
                  </a:ext>
                </a:extLst>
              </a:tr>
              <a:tr h="7537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기회비용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서울여의도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제천교육장 이동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5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연봉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천만원기준 시급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99,000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경기권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전세버스 임차료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-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교육생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명기준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33,000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132,000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284342"/>
                  </a:ext>
                </a:extLst>
              </a:tr>
              <a:tr h="6777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Competition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경쟁환경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경쟁업체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en-US" altLang="ko-K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KTservice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교육시간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3hr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교육내용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체험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심폐소생술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90,000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836584"/>
                  </a:ext>
                </a:extLst>
              </a:tr>
              <a:tr h="4539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Cost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원가분석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교육시간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3hr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교육포함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체험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93,000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748101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3A2B48BA-88BA-475B-9FD5-413C5CC183A1}"/>
              </a:ext>
            </a:extLst>
          </p:cNvPr>
          <p:cNvSpPr/>
          <p:nvPr/>
        </p:nvSpPr>
        <p:spPr>
          <a:xfrm>
            <a:off x="6302598" y="2191365"/>
            <a:ext cx="3104962" cy="891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일반업종 대상 안전체험교육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신설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-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교육비   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70,000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-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교육시간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2hr (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체험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※ 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고객니즈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수용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6EE7DAE-D4A3-4E3C-AC56-B63714A16A5E}"/>
              </a:ext>
            </a:extLst>
          </p:cNvPr>
          <p:cNvGrpSpPr/>
          <p:nvPr/>
        </p:nvGrpSpPr>
        <p:grpSpPr>
          <a:xfrm>
            <a:off x="5915176" y="3271414"/>
            <a:ext cx="3737499" cy="2982903"/>
            <a:chOff x="219226" y="2033294"/>
            <a:chExt cx="3737499" cy="2982903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38EDAE6-54F1-4E6F-8608-3DB7B2160605}"/>
                </a:ext>
              </a:extLst>
            </p:cNvPr>
            <p:cNvGrpSpPr/>
            <p:nvPr/>
          </p:nvGrpSpPr>
          <p:grpSpPr>
            <a:xfrm>
              <a:off x="219226" y="2033294"/>
              <a:ext cx="3469560" cy="2982903"/>
              <a:chOff x="390219" y="1863500"/>
              <a:chExt cx="3469560" cy="2982903"/>
            </a:xfrm>
          </p:grpSpPr>
          <p:cxnSp>
            <p:nvCxnSpPr>
              <p:cNvPr id="23" name="직선 화살표 연결선 22">
                <a:extLst>
                  <a:ext uri="{FF2B5EF4-FFF2-40B4-BE49-F238E27FC236}">
                    <a16:creationId xmlns:a16="http://schemas.microsoft.com/office/drawing/2014/main" id="{8C2D9653-0CF5-4A3B-9986-1E796C5D577C}"/>
                  </a:ext>
                </a:extLst>
              </p:cNvPr>
              <p:cNvCxnSpPr>
                <a:cxnSpLocks/>
                <a:stCxn id="32" idx="0"/>
                <a:endCxn id="27" idx="2"/>
              </p:cNvCxnSpPr>
              <p:nvPr/>
            </p:nvCxnSpPr>
            <p:spPr>
              <a:xfrm flipH="1" flipV="1">
                <a:off x="2137750" y="2109721"/>
                <a:ext cx="1" cy="249046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BD4A64E-7F75-47A9-9B58-A625A9C7B50C}"/>
                  </a:ext>
                </a:extLst>
              </p:cNvPr>
              <p:cNvSpPr txBox="1"/>
              <p:nvPr/>
            </p:nvSpPr>
            <p:spPr>
              <a:xfrm>
                <a:off x="1469248" y="2275747"/>
                <a:ext cx="60946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sz="9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수용 상한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FE42F0-19FF-4A08-B7BD-29AA21F79844}"/>
                  </a:ext>
                </a:extLst>
              </p:cNvPr>
              <p:cNvSpPr txBox="1"/>
              <p:nvPr/>
            </p:nvSpPr>
            <p:spPr>
              <a:xfrm>
                <a:off x="3160549" y="3362974"/>
                <a:ext cx="69923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Max Profit</a:t>
                </a:r>
                <a:endPara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4E1B0C-537A-4A4C-8EB3-4C95D34CD9A6}"/>
                  </a:ext>
                </a:extLst>
              </p:cNvPr>
              <p:cNvSpPr txBox="1"/>
              <p:nvPr/>
            </p:nvSpPr>
            <p:spPr>
              <a:xfrm>
                <a:off x="1756876" y="1863500"/>
                <a:ext cx="7617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High Price</a:t>
                </a:r>
                <a:endPara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83A7174C-AEE9-42E5-875B-D2AFF88C27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37750" y="4202273"/>
                <a:ext cx="1183420" cy="0"/>
              </a:xfrm>
              <a:prstGeom prst="line">
                <a:avLst/>
              </a:prstGeom>
              <a:ln w="19050">
                <a:solidFill>
                  <a:srgbClr val="0070C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33D0AB8F-7210-4802-AE26-E315A6C1DA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74092" y="3171162"/>
                <a:ext cx="1947078" cy="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0E524493-7E01-4442-BE01-85EBB88C18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5370" y="2486940"/>
                <a:ext cx="239580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CC04F6-046D-4A70-87D9-82A286E33AF2}"/>
                  </a:ext>
                </a:extLst>
              </p:cNvPr>
              <p:cNvSpPr txBox="1"/>
              <p:nvPr/>
            </p:nvSpPr>
            <p:spPr>
              <a:xfrm>
                <a:off x="2236894" y="2923595"/>
                <a:ext cx="109677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900" b="1"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defRPr>
                </a:lvl1pPr>
              </a:lstStyle>
              <a:p>
                <a:r>
                  <a:rPr lang="ko-KR" altLang="en-US" sz="1000" dirty="0">
                    <a:solidFill>
                      <a:srgbClr val="C00000"/>
                    </a:solidFill>
                  </a:rPr>
                  <a:t>신규상품 출시가격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2AF9DF5-7CE3-4D83-8AE9-5457F47096A5}"/>
                  </a:ext>
                </a:extLst>
              </p:cNvPr>
              <p:cNvSpPr txBox="1"/>
              <p:nvPr/>
            </p:nvSpPr>
            <p:spPr>
              <a:xfrm>
                <a:off x="1768098" y="4600182"/>
                <a:ext cx="73930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Low Price</a:t>
                </a:r>
                <a:endPara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7B5A23-F248-41B6-8170-2D9975E46D94}"/>
                  </a:ext>
                </a:extLst>
              </p:cNvPr>
              <p:cNvSpPr txBox="1"/>
              <p:nvPr/>
            </p:nvSpPr>
            <p:spPr>
              <a:xfrm>
                <a:off x="1469247" y="3724611"/>
                <a:ext cx="609462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ko-KR" altLang="en-US" sz="900" dirty="0">
                    <a:latin typeface="Pretendard Light" panose="02000403000000020004" pitchFamily="2" charset="-127"/>
                    <a:ea typeface="Pretendard Light" panose="02000403000000020004" pitchFamily="2" charset="-127"/>
                    <a:cs typeface="Pretendard Light" panose="02000403000000020004" pitchFamily="2" charset="-127"/>
                  </a:rPr>
                  <a:t>수용 하한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62713038-EBFB-4A07-BFE6-DB979BBC0CA5}"/>
                  </a:ext>
                </a:extLst>
              </p:cNvPr>
              <p:cNvSpPr/>
              <p:nvPr/>
            </p:nvSpPr>
            <p:spPr>
              <a:xfrm>
                <a:off x="390219" y="3042736"/>
                <a:ext cx="88357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dirty="0"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Competition</a:t>
                </a:r>
                <a:endPara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31DBDCD-E9DA-4249-A818-50E4EF854265}"/>
                  </a:ext>
                </a:extLst>
              </p:cNvPr>
              <p:cNvSpPr/>
              <p:nvPr/>
            </p:nvSpPr>
            <p:spPr>
              <a:xfrm>
                <a:off x="1705116" y="4080097"/>
                <a:ext cx="45236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dirty="0"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Cost</a:t>
                </a:r>
                <a:endPara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67F77073-72C5-4247-BFBB-9E9470B91081}"/>
                  </a:ext>
                </a:extLst>
              </p:cNvPr>
              <p:cNvSpPr/>
              <p:nvPr/>
            </p:nvSpPr>
            <p:spPr>
              <a:xfrm>
                <a:off x="2078709" y="2411656"/>
                <a:ext cx="123275" cy="12327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2B8D1CEE-09DB-4E26-9E60-0FA9DD9CBFAE}"/>
                  </a:ext>
                </a:extLst>
              </p:cNvPr>
              <p:cNvCxnSpPr/>
              <p:nvPr/>
            </p:nvCxnSpPr>
            <p:spPr>
              <a:xfrm flipV="1">
                <a:off x="1705117" y="2506579"/>
                <a:ext cx="0" cy="643937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DAF92AFC-63AE-48DE-8D3E-DB5C044E96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15742" y="2506579"/>
                <a:ext cx="0" cy="1194778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55F2EEA0-73F8-4F94-88E8-7BAC8114A5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25370" y="3738687"/>
                <a:ext cx="2395800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D18176AB-A1EB-40BE-A89C-23B79010C166}"/>
                  </a:ext>
                </a:extLst>
              </p:cNvPr>
              <p:cNvSpPr/>
              <p:nvPr/>
            </p:nvSpPr>
            <p:spPr>
              <a:xfrm>
                <a:off x="2078709" y="3670264"/>
                <a:ext cx="123275" cy="12327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endParaRPr>
              </a:p>
            </p:txBody>
          </p:sp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71477659-41A7-4966-9921-5E0512628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08812" y="3017505"/>
                <a:ext cx="257873" cy="261610"/>
              </a:xfrm>
              <a:prstGeom prst="rect">
                <a:avLst/>
              </a:prstGeom>
            </p:spPr>
          </p:pic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628FDE8F-BC0A-4AB0-A20A-4761198A62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5894" y="3169816"/>
                <a:ext cx="0" cy="1011485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479EE0C9-1251-4BE6-845E-2ADCE356141B}"/>
                  </a:ext>
                </a:extLst>
              </p:cNvPr>
              <p:cNvSpPr/>
              <p:nvPr/>
            </p:nvSpPr>
            <p:spPr>
              <a:xfrm>
                <a:off x="1332258" y="2649971"/>
                <a:ext cx="74571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900" b="1" dirty="0"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Customer</a:t>
                </a:r>
              </a:p>
              <a:p>
                <a:pPr algn="ctr"/>
                <a:r>
                  <a:rPr lang="en-US" altLang="ko-KR" sz="900" b="1" dirty="0">
                    <a:latin typeface="Pretendard Black" panose="02000A03000000020004" pitchFamily="2" charset="-127"/>
                    <a:ea typeface="Pretendard Black" panose="02000A03000000020004" pitchFamily="2" charset="-127"/>
                    <a:cs typeface="Pretendard Black" panose="02000A03000000020004" pitchFamily="2" charset="-127"/>
                  </a:rPr>
                  <a:t>value</a:t>
                </a:r>
                <a:endParaRPr lang="ko-KR" altLang="en-US" sz="900" b="1" dirty="0">
                  <a:latin typeface="Pretendard Black" panose="02000A03000000020004" pitchFamily="2" charset="-127"/>
                  <a:ea typeface="Pretendard Black" panose="02000A03000000020004" pitchFamily="2" charset="-127"/>
                  <a:cs typeface="Pretendard Black" panose="02000A03000000020004" pitchFamily="2" charset="-127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55CADA-E9BB-418F-96CA-988994CD31A6}"/>
                </a:ext>
              </a:extLst>
            </p:cNvPr>
            <p:cNvSpPr txBox="1"/>
            <p:nvPr/>
          </p:nvSpPr>
          <p:spPr>
            <a:xfrm>
              <a:off x="3207871" y="2525929"/>
              <a:ext cx="703719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93,000</a:t>
              </a:r>
              <a:r>
                <a:rPr lang="ko-KR" altLang="en-US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37B41E-FC50-47DC-AC6F-29C03B7CD644}"/>
                </a:ext>
              </a:extLst>
            </p:cNvPr>
            <p:cNvSpPr txBox="1"/>
            <p:nvPr/>
          </p:nvSpPr>
          <p:spPr>
            <a:xfrm>
              <a:off x="3256212" y="3763600"/>
              <a:ext cx="70051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90,000</a:t>
              </a:r>
              <a:r>
                <a:rPr lang="ko-KR" altLang="en-US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B197B0-1047-4212-87AC-344244792CD1}"/>
                </a:ext>
              </a:extLst>
            </p:cNvPr>
            <p:cNvSpPr txBox="1"/>
            <p:nvPr/>
          </p:nvSpPr>
          <p:spPr>
            <a:xfrm>
              <a:off x="3208470" y="3154614"/>
              <a:ext cx="737381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100" b="1" spc="-70" dirty="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70,000</a:t>
              </a:r>
              <a:r>
                <a:rPr lang="ko-KR" altLang="en-US" sz="1100" b="1" spc="-70" dirty="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1805C5CA-8771-44F0-BDCA-423A8B3285F7}"/>
              </a:ext>
            </a:extLst>
          </p:cNvPr>
          <p:cNvGrpSpPr/>
          <p:nvPr/>
        </p:nvGrpSpPr>
        <p:grpSpPr>
          <a:xfrm>
            <a:off x="5997686" y="4450650"/>
            <a:ext cx="851515" cy="1315037"/>
            <a:chOff x="9981776" y="4392734"/>
            <a:chExt cx="851515" cy="1315037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95CD0FF-8F3D-438F-B545-88BC828F6642}"/>
                </a:ext>
              </a:extLst>
            </p:cNvPr>
            <p:cNvSpPr txBox="1"/>
            <p:nvPr/>
          </p:nvSpPr>
          <p:spPr>
            <a:xfrm>
              <a:off x="9981776" y="4392734"/>
              <a:ext cx="851515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35,000</a:t>
              </a:r>
              <a:r>
                <a:rPr lang="ko-KR" altLang="en-US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</a:t>
              </a:r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100" spc="-70" dirty="0" err="1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hr</a:t>
              </a:r>
              <a:endPara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9DCEE34-52DB-4EDA-B580-EF15052C5E35}"/>
                </a:ext>
              </a:extLst>
            </p:cNvPr>
            <p:cNvSpPr txBox="1"/>
            <p:nvPr/>
          </p:nvSpPr>
          <p:spPr>
            <a:xfrm>
              <a:off x="9981776" y="4989335"/>
              <a:ext cx="84991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30,000</a:t>
              </a:r>
              <a:r>
                <a:rPr lang="ko-KR" altLang="en-US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</a:t>
              </a:r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100" spc="-70" dirty="0" err="1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hr</a:t>
              </a:r>
              <a:endPara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40360C7-F94B-4F79-8728-CBFFDA72784F}"/>
                </a:ext>
              </a:extLst>
            </p:cNvPr>
            <p:cNvSpPr txBox="1"/>
            <p:nvPr/>
          </p:nvSpPr>
          <p:spPr>
            <a:xfrm>
              <a:off x="9981776" y="5446161"/>
              <a:ext cx="829073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31,000</a:t>
              </a:r>
              <a:r>
                <a:rPr lang="ko-KR" altLang="en-US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</a:t>
              </a:r>
              <a:r>
                <a:rPr lang="en-US" altLang="ko-KR" sz="1100" spc="-70" dirty="0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/</a:t>
              </a:r>
              <a:r>
                <a:rPr lang="en-US" altLang="ko-KR" sz="1100" spc="-70" dirty="0" err="1">
                  <a:solidFill>
                    <a:prstClr val="black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hr</a:t>
              </a:r>
              <a:endParaRPr lang="ko-KR" altLang="en-US" sz="1100" spc="-7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47" name="Text Box 34">
            <a:extLst>
              <a:ext uri="{FF2B5EF4-FFF2-40B4-BE49-F238E27FC236}">
                <a16:creationId xmlns:a16="http://schemas.microsoft.com/office/drawing/2014/main" id="{FCD885F0-FFC1-4B4B-9F6E-F31A8632B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238" y="1722694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체험형 안전교육 </a:t>
            </a:r>
            <a:r>
              <a:rPr lang="en-US" altLang="ko-KR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(PO </a:t>
            </a:r>
            <a:r>
              <a:rPr lang="ko-KR" altLang="en-US" sz="1401" b="1" spc="-71" dirty="0" err="1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조예람</a:t>
            </a:r>
            <a:r>
              <a:rPr lang="en-US" altLang="ko-KR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4EC9A0F-3EAC-4716-AF3E-C5A6B715A394}"/>
              </a:ext>
            </a:extLst>
          </p:cNvPr>
          <p:cNvGrpSpPr/>
          <p:nvPr/>
        </p:nvGrpSpPr>
        <p:grpSpPr>
          <a:xfrm>
            <a:off x="282782" y="6063727"/>
            <a:ext cx="1206077" cy="235886"/>
            <a:chOff x="6323162" y="4608975"/>
            <a:chExt cx="1206077" cy="235886"/>
          </a:xfrm>
        </p:grpSpPr>
        <p:sp>
          <p:nvSpPr>
            <p:cNvPr id="49" name="실행 단추: 앞으로 또는 다음으로 이동 48">
              <a:hlinkClick r:id="rId3" action="ppaction://hlinksldjump" highlightClick="1"/>
              <a:extLst>
                <a:ext uri="{FF2B5EF4-FFF2-40B4-BE49-F238E27FC236}">
                  <a16:creationId xmlns:a16="http://schemas.microsoft.com/office/drawing/2014/main" id="{E09910A2-A756-4936-81E7-730F185F55BC}"/>
                </a:ext>
              </a:extLst>
            </p:cNvPr>
            <p:cNvSpPr/>
            <p:nvPr/>
          </p:nvSpPr>
          <p:spPr>
            <a:xfrm>
              <a:off x="6323162" y="4634039"/>
              <a:ext cx="241539" cy="210822"/>
            </a:xfrm>
            <a:prstGeom prst="actionButtonForwardNex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30426D0-16AC-4DFA-A5B8-12F5554E544B}"/>
                </a:ext>
              </a:extLst>
            </p:cNvPr>
            <p:cNvSpPr txBox="1"/>
            <p:nvPr/>
          </p:nvSpPr>
          <p:spPr>
            <a:xfrm>
              <a:off x="6559102" y="4608975"/>
              <a:ext cx="9701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※ </a:t>
              </a:r>
              <a:r>
                <a:rPr lang="ko-KR" altLang="en-US" sz="9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경쟁환경조사표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289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44249-D9BE-437D-8173-83AAEE7C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02B04A-3777-4F13-B225-E7ED0882F115}"/>
              </a:ext>
            </a:extLst>
          </p:cNvPr>
          <p:cNvSpPr/>
          <p:nvPr/>
        </p:nvSpPr>
        <p:spPr>
          <a:xfrm>
            <a:off x="0" y="603683"/>
            <a:ext cx="532660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2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6F437A-2D07-47C5-86C4-9653CAAF5CE7}"/>
              </a:ext>
            </a:extLst>
          </p:cNvPr>
          <p:cNvSpPr txBox="1"/>
          <p:nvPr/>
        </p:nvSpPr>
        <p:spPr>
          <a:xfrm>
            <a:off x="712227" y="603683"/>
            <a:ext cx="7017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3. </a:t>
            </a:r>
            <a:r>
              <a:rPr lang="ko-KR" altLang="en-US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우리는</a:t>
            </a:r>
            <a:r>
              <a:rPr lang="en-US" altLang="ko-KR" sz="24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?</a:t>
            </a:r>
            <a:endParaRPr lang="ko-KR" altLang="en-US" sz="24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5A243-EFC5-4B32-82C1-58E45128C325}"/>
              </a:ext>
            </a:extLst>
          </p:cNvPr>
          <p:cNvSpPr txBox="1"/>
          <p:nvPr/>
        </p:nvSpPr>
        <p:spPr>
          <a:xfrm>
            <a:off x="978563" y="1126904"/>
            <a:ext cx="590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- </a:t>
            </a:r>
            <a:r>
              <a:rPr lang="ko-KR" altLang="en-US" sz="1600" dirty="0" err="1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에자일하게</a:t>
            </a:r>
            <a:r>
              <a:rPr lang="ko-KR" altLang="en-US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 실행하고 평가하고 수정합니다</a:t>
            </a:r>
            <a:r>
              <a:rPr lang="en-US" altLang="ko-KR" sz="1600" dirty="0">
                <a:latin typeface="나눔고딕 Light" panose="020D0904000000000000" pitchFamily="50" charset="-127"/>
                <a:ea typeface="나눔고딕 Light" panose="020D0904000000000000" pitchFamily="50" charset="-127"/>
              </a:rPr>
              <a:t>!</a:t>
            </a:r>
            <a:endParaRPr lang="ko-KR" altLang="en-US" sz="1600" dirty="0">
              <a:latin typeface="나눔고딕 Light" panose="020D0904000000000000" pitchFamily="50" charset="-127"/>
              <a:ea typeface="나눔고딕 Light" panose="020D0904000000000000" pitchFamily="50" charset="-127"/>
            </a:endParaRPr>
          </a:p>
        </p:txBody>
      </p:sp>
      <p:sp>
        <p:nvSpPr>
          <p:cNvPr id="47" name="Text Box 34">
            <a:extLst>
              <a:ext uri="{FF2B5EF4-FFF2-40B4-BE49-F238E27FC236}">
                <a16:creationId xmlns:a16="http://schemas.microsoft.com/office/drawing/2014/main" id="{D6B516D9-B8CB-4355-9733-30E915C1D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876" y="1612596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적용된 가격 전략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1DB2FDC9-DD88-42F8-ADF2-2651FD79A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580797"/>
              </p:ext>
            </p:extLst>
          </p:nvPr>
        </p:nvGraphicFramePr>
        <p:xfrm>
          <a:off x="759484" y="2148297"/>
          <a:ext cx="8276184" cy="3954283"/>
        </p:xfrm>
        <a:graphic>
          <a:graphicData uri="http://schemas.openxmlformats.org/drawingml/2006/table">
            <a:tbl>
              <a:tblPr/>
              <a:tblGrid>
                <a:gridCol w="1142140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345527096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1944020459"/>
                    </a:ext>
                  </a:extLst>
                </a:gridCol>
                <a:gridCol w="1783511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</a:tblGrid>
              <a:tr h="4994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스키밍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가격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이코노미 가격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 믹스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89712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전략 목표</a:t>
                      </a:r>
                    </a:p>
                    <a:p>
                      <a:pPr algn="ctr" fontAlgn="ctr"/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투자금 조기 회수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고가격 설정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확대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 장벽 높이기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라인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선택 사양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묶음 상품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세분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차별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8099336"/>
                  </a:ext>
                </a:extLst>
              </a:tr>
              <a:tr h="255767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개념도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098310"/>
                  </a:ext>
                </a:extLst>
              </a:tr>
            </a:tbl>
          </a:graphicData>
        </a:graphic>
      </p:graphicFrame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3CCF3426-A07B-45B2-8E5F-4360F9FFC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290730"/>
              </p:ext>
            </p:extLst>
          </p:nvPr>
        </p:nvGraphicFramePr>
        <p:xfrm>
          <a:off x="5941119" y="4181450"/>
          <a:ext cx="2933700" cy="12573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136036425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34504868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3282873309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433978106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100,000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묶음상품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4618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93,000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기본과정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(3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hr, 18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9914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90,000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(3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hr, 13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86225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</a:t>
                      </a:r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70,000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신설과정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hr, 9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0721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　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…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9200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하한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30,000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심폐소생술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(2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hr)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66971"/>
                  </a:ext>
                </a:extLst>
              </a:tr>
            </a:tbl>
          </a:graphicData>
        </a:graphic>
      </p:graphicFrame>
      <p:grpSp>
        <p:nvGrpSpPr>
          <p:cNvPr id="51" name="그룹 50">
            <a:extLst>
              <a:ext uri="{FF2B5EF4-FFF2-40B4-BE49-F238E27FC236}">
                <a16:creationId xmlns:a16="http://schemas.microsoft.com/office/drawing/2014/main" id="{C6AC0D23-8662-41AD-AAC9-AE80FDECD66A}"/>
              </a:ext>
            </a:extLst>
          </p:cNvPr>
          <p:cNvGrpSpPr/>
          <p:nvPr/>
        </p:nvGrpSpPr>
        <p:grpSpPr>
          <a:xfrm>
            <a:off x="6273393" y="4125439"/>
            <a:ext cx="1239351" cy="1424867"/>
            <a:chOff x="6209199" y="3785308"/>
            <a:chExt cx="1239351" cy="1424867"/>
          </a:xfrm>
        </p:grpSpPr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93CFA0AD-7967-44B3-8E9D-07CBFBFB9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9199" y="3785308"/>
              <a:ext cx="1" cy="1424867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948390C6-761D-41D1-9062-61756050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5" y="3981450"/>
              <a:ext cx="257175" cy="592492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A6FB4D9D-85F7-4180-9BAD-EA1199FC31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91375" y="3981450"/>
              <a:ext cx="257175" cy="1000126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B4F370F-15B7-422B-B412-D656796AE944}"/>
              </a:ext>
            </a:extLst>
          </p:cNvPr>
          <p:cNvGrpSpPr/>
          <p:nvPr/>
        </p:nvGrpSpPr>
        <p:grpSpPr>
          <a:xfrm>
            <a:off x="2077694" y="3673647"/>
            <a:ext cx="3366604" cy="2295994"/>
            <a:chOff x="7075497" y="5301388"/>
            <a:chExt cx="3366604" cy="2295994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07079657-CB6A-46BD-9D2F-8018B97F1B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7024" y="5725385"/>
              <a:ext cx="2485160" cy="1485036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0D66C09D-8E48-4B4F-985C-90B7F2C9D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9141" y="5301388"/>
              <a:ext cx="2654453" cy="2295994"/>
            </a:xfrm>
            <a:prstGeom prst="rect">
              <a:avLst/>
            </a:prstGeom>
          </p:spPr>
        </p:pic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8CB60CE8-8378-48B3-A960-9C598B1D069D}"/>
                </a:ext>
              </a:extLst>
            </p:cNvPr>
            <p:cNvSpPr/>
            <p:nvPr/>
          </p:nvSpPr>
          <p:spPr>
            <a:xfrm>
              <a:off x="7498544" y="6678203"/>
              <a:ext cx="1003097" cy="394253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A4CB5EDC-49F9-4418-AB71-E31761F83E5D}"/>
                </a:ext>
              </a:extLst>
            </p:cNvPr>
            <p:cNvCxnSpPr/>
            <p:nvPr/>
          </p:nvCxnSpPr>
          <p:spPr>
            <a:xfrm>
              <a:off x="8565252" y="5624698"/>
              <a:ext cx="0" cy="178399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81D78B08-D487-4A40-B180-172376B6AF16}"/>
                </a:ext>
              </a:extLst>
            </p:cNvPr>
            <p:cNvCxnSpPr>
              <a:cxnSpLocks/>
            </p:cNvCxnSpPr>
            <p:nvPr/>
          </p:nvCxnSpPr>
          <p:spPr>
            <a:xfrm>
              <a:off x="7450319" y="6495661"/>
              <a:ext cx="222986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95E9702-0BC3-4728-A746-2E30B9C07979}"/>
                </a:ext>
              </a:extLst>
            </p:cNvPr>
            <p:cNvSpPr/>
            <p:nvPr/>
          </p:nvSpPr>
          <p:spPr>
            <a:xfrm>
              <a:off x="8315584" y="7327394"/>
              <a:ext cx="509069" cy="2344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품질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18C01EB-23B8-48B3-8F84-7256EB34055B}"/>
                </a:ext>
              </a:extLst>
            </p:cNvPr>
            <p:cNvSpPr/>
            <p:nvPr/>
          </p:nvSpPr>
          <p:spPr>
            <a:xfrm>
              <a:off x="7075497" y="6362093"/>
              <a:ext cx="509069" cy="2344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7676848-5E05-4453-9DAC-179F81131D6F}"/>
                </a:ext>
              </a:extLst>
            </p:cNvPr>
            <p:cNvSpPr/>
            <p:nvPr/>
          </p:nvSpPr>
          <p:spPr>
            <a:xfrm>
              <a:off x="9764423" y="5553459"/>
              <a:ext cx="677678" cy="1988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가격곡선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2155B93-7C4F-40D9-A516-29C503756620}"/>
                </a:ext>
              </a:extLst>
            </p:cNvPr>
            <p:cNvSpPr/>
            <p:nvPr/>
          </p:nvSpPr>
          <p:spPr>
            <a:xfrm>
              <a:off x="8973199" y="6757867"/>
              <a:ext cx="627718" cy="227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65000"/>
                    </a:schemeClr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 Black" panose="02000A03000000020004" pitchFamily="2" charset="-127"/>
                </a:rPr>
                <a:t>침투 가격</a:t>
              </a:r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D5286255-1403-4996-8980-AAA6646A5759}"/>
                </a:ext>
              </a:extLst>
            </p:cNvPr>
            <p:cNvSpPr/>
            <p:nvPr/>
          </p:nvSpPr>
          <p:spPr>
            <a:xfrm>
              <a:off x="7434933" y="5710631"/>
              <a:ext cx="1003097" cy="39425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DCA789A-9727-45C9-98AE-94B8319DE3D7}"/>
                </a:ext>
              </a:extLst>
            </p:cNvPr>
            <p:cNvSpPr/>
            <p:nvPr/>
          </p:nvSpPr>
          <p:spPr>
            <a:xfrm>
              <a:off x="7553202" y="5800834"/>
              <a:ext cx="76655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b="1" dirty="0" err="1">
                  <a:solidFill>
                    <a:schemeClr val="accent1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스키밍</a:t>
              </a:r>
              <a:r>
                <a:rPr lang="ko-KR" altLang="en-US" sz="1000" b="1" dirty="0">
                  <a:solidFill>
                    <a:schemeClr val="accent1">
                      <a:lumMod val="7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가격</a:t>
              </a:r>
            </a:p>
          </p:txBody>
        </p:sp>
        <p:sp>
          <p:nvSpPr>
            <p:cNvPr id="67" name="화살표: 아래쪽 34">
              <a:extLst>
                <a:ext uri="{FF2B5EF4-FFF2-40B4-BE49-F238E27FC236}">
                  <a16:creationId xmlns:a16="http://schemas.microsoft.com/office/drawing/2014/main" id="{9206B869-A317-4658-BC18-E691715A0112}"/>
                </a:ext>
              </a:extLst>
            </p:cNvPr>
            <p:cNvSpPr/>
            <p:nvPr/>
          </p:nvSpPr>
          <p:spPr>
            <a:xfrm>
              <a:off x="7791634" y="6185380"/>
              <a:ext cx="352818" cy="459541"/>
            </a:xfrm>
            <a:custGeom>
              <a:avLst/>
              <a:gdLst>
                <a:gd name="connsiteX0" fmla="*/ 0 w 1842411"/>
                <a:gd name="connsiteY0" fmla="*/ 753883 h 1507766"/>
                <a:gd name="connsiteX1" fmla="*/ 460603 w 1842411"/>
                <a:gd name="connsiteY1" fmla="*/ 753883 h 1507766"/>
                <a:gd name="connsiteX2" fmla="*/ 460603 w 1842411"/>
                <a:gd name="connsiteY2" fmla="*/ 0 h 1507766"/>
                <a:gd name="connsiteX3" fmla="*/ 1381808 w 1842411"/>
                <a:gd name="connsiteY3" fmla="*/ 0 h 1507766"/>
                <a:gd name="connsiteX4" fmla="*/ 1381808 w 1842411"/>
                <a:gd name="connsiteY4" fmla="*/ 753883 h 1507766"/>
                <a:gd name="connsiteX5" fmla="*/ 1842411 w 1842411"/>
                <a:gd name="connsiteY5" fmla="*/ 753883 h 1507766"/>
                <a:gd name="connsiteX6" fmla="*/ 921206 w 1842411"/>
                <a:gd name="connsiteY6" fmla="*/ 1507766 h 1507766"/>
                <a:gd name="connsiteX7" fmla="*/ 0 w 1842411"/>
                <a:gd name="connsiteY7" fmla="*/ 753883 h 1507766"/>
                <a:gd name="connsiteX0" fmla="*/ 0 w 1842411"/>
                <a:gd name="connsiteY0" fmla="*/ 753883 h 1507766"/>
                <a:gd name="connsiteX1" fmla="*/ 460603 w 1842411"/>
                <a:gd name="connsiteY1" fmla="*/ 753883 h 1507766"/>
                <a:gd name="connsiteX2" fmla="*/ 460603 w 1842411"/>
                <a:gd name="connsiteY2" fmla="*/ 0 h 1507766"/>
                <a:gd name="connsiteX3" fmla="*/ 1381808 w 1842411"/>
                <a:gd name="connsiteY3" fmla="*/ 753883 h 1507766"/>
                <a:gd name="connsiteX4" fmla="*/ 1842411 w 1842411"/>
                <a:gd name="connsiteY4" fmla="*/ 753883 h 1507766"/>
                <a:gd name="connsiteX5" fmla="*/ 921206 w 1842411"/>
                <a:gd name="connsiteY5" fmla="*/ 1507766 h 1507766"/>
                <a:gd name="connsiteX6" fmla="*/ 0 w 1842411"/>
                <a:gd name="connsiteY6" fmla="*/ 753883 h 1507766"/>
                <a:gd name="connsiteX0" fmla="*/ 0 w 1842411"/>
                <a:gd name="connsiteY0" fmla="*/ 1334908 h 2088791"/>
                <a:gd name="connsiteX1" fmla="*/ 460603 w 1842411"/>
                <a:gd name="connsiteY1" fmla="*/ 1334908 h 2088791"/>
                <a:gd name="connsiteX2" fmla="*/ 889228 w 1842411"/>
                <a:gd name="connsiteY2" fmla="*/ 0 h 2088791"/>
                <a:gd name="connsiteX3" fmla="*/ 1381808 w 1842411"/>
                <a:gd name="connsiteY3" fmla="*/ 1334908 h 2088791"/>
                <a:gd name="connsiteX4" fmla="*/ 1842411 w 1842411"/>
                <a:gd name="connsiteY4" fmla="*/ 1334908 h 2088791"/>
                <a:gd name="connsiteX5" fmla="*/ 921206 w 1842411"/>
                <a:gd name="connsiteY5" fmla="*/ 2088791 h 2088791"/>
                <a:gd name="connsiteX6" fmla="*/ 0 w 1842411"/>
                <a:gd name="connsiteY6" fmla="*/ 1334908 h 2088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2411" h="2088791">
                  <a:moveTo>
                    <a:pt x="0" y="1334908"/>
                  </a:moveTo>
                  <a:lnTo>
                    <a:pt x="460603" y="1334908"/>
                  </a:lnTo>
                  <a:lnTo>
                    <a:pt x="889228" y="0"/>
                  </a:lnTo>
                  <a:lnTo>
                    <a:pt x="1381808" y="1334908"/>
                  </a:lnTo>
                  <a:lnTo>
                    <a:pt x="1842411" y="1334908"/>
                  </a:lnTo>
                  <a:lnTo>
                    <a:pt x="921206" y="2088791"/>
                  </a:lnTo>
                  <a:lnTo>
                    <a:pt x="0" y="133490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 w="28575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D61D3D9E-9F1B-4742-9717-64EC841DEEC4}"/>
                </a:ext>
              </a:extLst>
            </p:cNvPr>
            <p:cNvSpPr/>
            <p:nvPr/>
          </p:nvSpPr>
          <p:spPr>
            <a:xfrm>
              <a:off x="7548592" y="6774728"/>
              <a:ext cx="87716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이코노미 가격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ADC1B293-5867-47BF-8BF8-A0894A9FD4B3}"/>
                </a:ext>
              </a:extLst>
            </p:cNvPr>
            <p:cNvSpPr/>
            <p:nvPr/>
          </p:nvSpPr>
          <p:spPr>
            <a:xfrm>
              <a:off x="8880768" y="5836990"/>
              <a:ext cx="842247" cy="2272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b="1" dirty="0">
                  <a:solidFill>
                    <a:schemeClr val="bg1">
                      <a:lumMod val="65000"/>
                    </a:schemeClr>
                  </a:solidFill>
                  <a:latin typeface="나눔스퀘어라운드 Light" panose="020B0600000101010101" pitchFamily="50" charset="-127"/>
                  <a:ea typeface="나눔스퀘어라운드 Light" panose="020B0600000101010101" pitchFamily="50" charset="-127"/>
                  <a:cs typeface="Pretendard Black" panose="02000A03000000020004" pitchFamily="2" charset="-127"/>
                </a:rPr>
                <a:t>프리미엄 가격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361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 조사표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966D57-1981-463D-807A-72749484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6</a:t>
            </a:fld>
            <a:endParaRPr lang="ko-KR" altLang="en-US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FCBAD85-5391-4D7C-A52A-EA4695B4A24C}"/>
              </a:ext>
            </a:extLst>
          </p:cNvPr>
          <p:cNvCxnSpPr>
            <a:cxnSpLocks/>
          </p:cNvCxnSpPr>
          <p:nvPr/>
        </p:nvCxnSpPr>
        <p:spPr>
          <a:xfrm>
            <a:off x="4034264" y="1464743"/>
            <a:ext cx="1837473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65BC1F-DAD4-430E-9220-F983A05B6C2E}"/>
              </a:ext>
            </a:extLst>
          </p:cNvPr>
          <p:cNvSpPr/>
          <p:nvPr/>
        </p:nvSpPr>
        <p:spPr>
          <a:xfrm>
            <a:off x="4396075" y="1135746"/>
            <a:ext cx="120417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경쟁 환경 조사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90CE4BE1-CC87-4999-B69F-555F132780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37718"/>
              </p:ext>
            </p:extLst>
          </p:nvPr>
        </p:nvGraphicFramePr>
        <p:xfrm>
          <a:off x="968136" y="1866133"/>
          <a:ext cx="7966315" cy="3401192"/>
        </p:xfrm>
        <a:graphic>
          <a:graphicData uri="http://schemas.openxmlformats.org/drawingml/2006/table">
            <a:tbl>
              <a:tblPr/>
              <a:tblGrid>
                <a:gridCol w="1129283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1709258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9258">
                  <a:extLst>
                    <a:ext uri="{9D8B030D-6E8A-4147-A177-3AD203B41FA5}">
                      <a16:colId xmlns:a16="http://schemas.microsoft.com/office/drawing/2014/main" val="1944020459"/>
                    </a:ext>
                  </a:extLst>
                </a:gridCol>
                <a:gridCol w="1709258">
                  <a:extLst>
                    <a:ext uri="{9D8B030D-6E8A-4147-A177-3AD203B41FA5}">
                      <a16:colId xmlns:a16="http://schemas.microsoft.com/office/drawing/2014/main" val="2204846633"/>
                    </a:ext>
                  </a:extLst>
                </a:gridCol>
                <a:gridCol w="1709258">
                  <a:extLst>
                    <a:ext uri="{9D8B030D-6E8A-4147-A177-3AD203B41FA5}">
                      <a16:colId xmlns:a16="http://schemas.microsoft.com/office/drawing/2014/main" val="1541063214"/>
                    </a:ext>
                  </a:extLst>
                </a:gridCol>
              </a:tblGrid>
              <a:tr h="5127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업체 명칭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S&amp;I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corp.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KT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service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현대건설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삼성이앤에이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안전보건공단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6737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 가격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93,000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8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90,000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원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외부인 사전 문의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무료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398696"/>
                  </a:ext>
                </a:extLst>
              </a:tr>
              <a:tr h="92085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특징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서울시 마포구 소재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교육시간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3hr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 강서구 소재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교육시간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3hr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 소재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건설업 특화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제천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공주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경산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담양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김해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여수 소재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(6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개소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교육시간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4hr</a:t>
                      </a: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0117232"/>
                  </a:ext>
                </a:extLst>
              </a:tr>
              <a:tr h="12938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의견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안전보건공단에 등록된 민간안전체험교육장 총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34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개소 중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서울 소재 교육장은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개소이며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일반 기업이 현실적으로 이용 가능한 체험교육장은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개소임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독과점 구조의 상품이나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법정 의무교육이 아닌 자발적인 선택과정으로 가격 책정에 제약이 존재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교육생들에게는 테마파크와 같은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신박한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경험과 안전의식 고취를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목적으로하며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고객사 교육담당자에게는 교육생들의</a:t>
                      </a:r>
                      <a:b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</a:b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성취도와 만족도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교육비의 적정성도 매우 중요함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098310"/>
                  </a:ext>
                </a:extLst>
              </a:tr>
            </a:tbl>
          </a:graphicData>
        </a:graphic>
      </p:graphicFrame>
      <p:sp>
        <p:nvSpPr>
          <p:cNvPr id="31" name="실행 단추: 돌아가기 3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F57FB97-A33A-4E1F-A114-BE83B08FA064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50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고객 가치 측정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6" y="920698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고객 가치 정량화 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872475"/>
              </p:ext>
            </p:extLst>
          </p:nvPr>
        </p:nvGraphicFramePr>
        <p:xfrm>
          <a:off x="695287" y="1532125"/>
          <a:ext cx="6043952" cy="1611758"/>
        </p:xfrm>
        <a:graphic>
          <a:graphicData uri="http://schemas.openxmlformats.org/drawingml/2006/table">
            <a:tbl>
              <a:tblPr/>
              <a:tblGrid>
                <a:gridCol w="1390684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51856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1412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2522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6184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사전 예측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니즈 및 선호도 리서치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가격 민감도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 수용도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가설 수립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  <a:tr h="66810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사후 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고객군별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선호하는 가치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Factor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분류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기판매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고객에 대한 가격 차액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-Data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및 예측 모델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2586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C5FBAA6-0482-4F85-ADBE-778F7DE67274}"/>
              </a:ext>
            </a:extLst>
          </p:cNvPr>
          <p:cNvSpPr txBox="1"/>
          <p:nvPr/>
        </p:nvSpPr>
        <p:spPr>
          <a:xfrm>
            <a:off x="570915" y="6084416"/>
            <a:ext cx="4120039" cy="215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준거가격</a:t>
            </a:r>
            <a:r>
              <a:rPr lang="en-US" altLang="ko-KR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799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과거 구매 경험이나 가지고 있는 가격정보를 기초로 형성된 고객의 심리적 가격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EE1B4E8-D26F-4503-BC67-84DD41A2A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287" y="3469168"/>
            <a:ext cx="3871296" cy="2085013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B571EB-D077-4BA8-AB88-E42FF7E7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실행 단추: 돌아가기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8F1F158-5198-4D6D-AC44-B6F861E214E0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25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경쟁 환경 분석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34">
            <a:extLst>
              <a:ext uri="{FF2B5EF4-FFF2-40B4-BE49-F238E27FC236}">
                <a16:creationId xmlns:a16="http://schemas.microsoft.com/office/drawing/2014/main" id="{69430EC9-2C5C-4FD3-B49C-62C1A70C6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76" y="937949"/>
            <a:ext cx="2294364" cy="37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ctr">
              <a:buNone/>
              <a:defRPr sz="900" b="0">
                <a:gradFill>
                  <a:gsLst>
                    <a:gs pos="0">
                      <a:srgbClr val="141414"/>
                    </a:gs>
                    <a:gs pos="100000">
                      <a:srgbClr val="141414"/>
                    </a:gs>
                  </a:gsLst>
                  <a:lin ang="5400000" scaled="0"/>
                </a:gradFill>
                <a:latin typeface="LG스마트체 SemiBold" pitchFamily="50" charset="-127"/>
                <a:ea typeface="LG스마트체 SemiBold" pitchFamily="50" charset="-127"/>
                <a:cs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latin typeface="굴림" charset="-127"/>
                <a:ea typeface="굴림" charset="-127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굴림" charset="-127"/>
                <a:ea typeface="굴림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굴림" charset="-127"/>
                <a:ea typeface="굴림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굴림" charset="-127"/>
                <a:ea typeface="굴림" charset="-127"/>
              </a:defRPr>
            </a:lvl9pPr>
          </a:lstStyle>
          <a:p>
            <a:pPr algn="l" defTabSz="45718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</a:t>
            </a:r>
            <a:r>
              <a:rPr lang="en-US" altLang="ko-KR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1" b="1" spc="-71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경쟁 환경 분석</a:t>
            </a:r>
            <a:endParaRPr lang="en-US" altLang="ko-KR" sz="1401" spc="-71" dirty="0">
              <a:solidFill>
                <a:prstClr val="black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E369C1C-66AB-4E27-A9DE-A2BDF98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916566"/>
              </p:ext>
            </p:extLst>
          </p:nvPr>
        </p:nvGraphicFramePr>
        <p:xfrm>
          <a:off x="721170" y="1514238"/>
          <a:ext cx="6024691" cy="1607726"/>
        </p:xfrm>
        <a:graphic>
          <a:graphicData uri="http://schemas.openxmlformats.org/drawingml/2006/table">
            <a:tbl>
              <a:tblPr/>
              <a:tblGrid>
                <a:gridCol w="1382847">
                  <a:extLst>
                    <a:ext uri="{9D8B030D-6E8A-4147-A177-3AD203B41FA5}">
                      <a16:colId xmlns:a16="http://schemas.microsoft.com/office/drawing/2014/main" val="2048359258"/>
                    </a:ext>
                  </a:extLst>
                </a:gridCol>
                <a:gridCol w="2932713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1709131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활동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5389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 시장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점유율 현황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시장 플레이어 및 경쟁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상품군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업종 현황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기업 자료 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69011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분석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경쟁사 선정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경쟁사 가격 전략 분석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비교 우위 전략 수립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주요 고객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가격 정책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 fontAlgn="ctr"/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영업 채널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58C1310-3141-4EB0-8FA4-EB1E07408682}"/>
              </a:ext>
            </a:extLst>
          </p:cNvPr>
          <p:cNvGrpSpPr/>
          <p:nvPr/>
        </p:nvGrpSpPr>
        <p:grpSpPr>
          <a:xfrm>
            <a:off x="721170" y="3612671"/>
            <a:ext cx="7345211" cy="2176192"/>
            <a:chOff x="721165" y="3612670"/>
            <a:chExt cx="7345209" cy="217619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CC1D8DB-143C-4F60-8858-3389D2ABE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165" y="3612670"/>
              <a:ext cx="5476155" cy="2176192"/>
            </a:xfrm>
            <a:prstGeom prst="rect">
              <a:avLst/>
            </a:prstGeom>
          </p:spPr>
        </p:pic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3E4A0B0-D5F0-4B6F-BC23-1F95D1796701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1199077" y="4183751"/>
              <a:ext cx="5088927" cy="7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3F1C42-080E-4B11-A3E8-F5897719C5F3}"/>
                </a:ext>
              </a:extLst>
            </p:cNvPr>
            <p:cNvSpPr txBox="1"/>
            <p:nvPr/>
          </p:nvSpPr>
          <p:spPr>
            <a:xfrm>
              <a:off x="6288004" y="4076093"/>
              <a:ext cx="561372" cy="215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4,150</a:t>
              </a:r>
              <a:r>
                <a:rPr lang="ko-KR" altLang="en-US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8AF41F-D372-423A-9AF9-3CC55E9961F5}"/>
                </a:ext>
              </a:extLst>
            </p:cNvPr>
            <p:cNvSpPr txBox="1"/>
            <p:nvPr/>
          </p:nvSpPr>
          <p:spPr>
            <a:xfrm>
              <a:off x="6288004" y="3797166"/>
              <a:ext cx="561372" cy="2153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4,500</a:t>
              </a:r>
              <a:r>
                <a:rPr lang="ko-KR" altLang="en-US" sz="799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원</a:t>
              </a: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CD79AEED-5B9A-4C6E-AF00-76807CE7B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96792" y="3917062"/>
              <a:ext cx="1991211" cy="131155"/>
            </a:xfrm>
            <a:prstGeom prst="line">
              <a:avLst/>
            </a:prstGeom>
            <a:ln w="12700">
              <a:solidFill>
                <a:srgbClr val="C00000"/>
              </a:solidFill>
              <a:prstDash val="solid"/>
              <a:headEnd type="arrow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AE0DA5B-85B1-42F4-9A23-FCC3D5EF17A6}"/>
                </a:ext>
              </a:extLst>
            </p:cNvPr>
            <p:cNvSpPr/>
            <p:nvPr/>
          </p:nvSpPr>
          <p:spPr>
            <a:xfrm>
              <a:off x="6849372" y="3703255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2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8ABA08E8-1DD9-4A9F-92BF-14C544DCA172}"/>
                </a:ext>
              </a:extLst>
            </p:cNvPr>
            <p:cNvSpPr/>
            <p:nvPr/>
          </p:nvSpPr>
          <p:spPr>
            <a:xfrm>
              <a:off x="6849371" y="4070079"/>
              <a:ext cx="1217002" cy="31521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2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AD315A-D1D6-494D-A148-26717FC802AA}"/>
                </a:ext>
              </a:extLst>
            </p:cNvPr>
            <p:cNvSpPr txBox="1"/>
            <p:nvPr/>
          </p:nvSpPr>
          <p:spPr>
            <a:xfrm>
              <a:off x="6970137" y="4123490"/>
              <a:ext cx="941283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1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경쟁사 평균가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588385E-43E7-4DB9-8272-DB98AB8506BE}"/>
                </a:ext>
              </a:extLst>
            </p:cNvPr>
            <p:cNvSpPr txBox="1"/>
            <p:nvPr/>
          </p:nvSpPr>
          <p:spPr>
            <a:xfrm>
              <a:off x="6875254" y="3750689"/>
              <a:ext cx="1096775" cy="246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1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목표 경쟁 </a:t>
              </a:r>
              <a:r>
                <a:rPr lang="ko-KR" altLang="en-US" sz="1001" b="1" dirty="0" err="1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타깃가</a:t>
              </a:r>
              <a:endParaRPr lang="ko-KR" altLang="en-US" sz="1001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67B812-3F65-493F-9F9F-D8AB71A7D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9" name="실행 단추: 돌아가기 1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FA3C7B3-0259-4267-A75D-E69984AE12B6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51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981BA2FE-AAE2-4585-8C99-41D2905ED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330816"/>
              </p:ext>
            </p:extLst>
          </p:nvPr>
        </p:nvGraphicFramePr>
        <p:xfrm>
          <a:off x="468472" y="978383"/>
          <a:ext cx="8898043" cy="4909694"/>
        </p:xfrm>
        <a:graphic>
          <a:graphicData uri="http://schemas.openxmlformats.org/drawingml/2006/table">
            <a:tbl>
              <a:tblPr/>
              <a:tblGrid>
                <a:gridCol w="757300">
                  <a:extLst>
                    <a:ext uri="{9D8B030D-6E8A-4147-A177-3AD203B41FA5}">
                      <a16:colId xmlns:a16="http://schemas.microsoft.com/office/drawing/2014/main" val="620945613"/>
                    </a:ext>
                  </a:extLst>
                </a:gridCol>
                <a:gridCol w="2713581">
                  <a:extLst>
                    <a:ext uri="{9D8B030D-6E8A-4147-A177-3AD203B41FA5}">
                      <a16:colId xmlns:a16="http://schemas.microsoft.com/office/drawing/2014/main" val="2364773646"/>
                    </a:ext>
                  </a:extLst>
                </a:gridCol>
                <a:gridCol w="2713581">
                  <a:extLst>
                    <a:ext uri="{9D8B030D-6E8A-4147-A177-3AD203B41FA5}">
                      <a16:colId xmlns:a16="http://schemas.microsoft.com/office/drawing/2014/main" val="2831894605"/>
                    </a:ext>
                  </a:extLst>
                </a:gridCol>
                <a:gridCol w="2713581">
                  <a:extLst>
                    <a:ext uri="{9D8B030D-6E8A-4147-A177-3AD203B41FA5}">
                      <a16:colId xmlns:a16="http://schemas.microsoft.com/office/drawing/2014/main" val="1041108495"/>
                    </a:ext>
                  </a:extLst>
                </a:gridCol>
              </a:tblGrid>
              <a:tr h="37865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유형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동행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I 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동행 </a:t>
                      </a:r>
                      <a:r>
                        <a:rPr lang="en-US" altLang="ko-KR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II </a:t>
                      </a: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고딕 ExtraBold" panose="020D0904000000000000" pitchFamily="50" charset="-127"/>
                          <a:ea typeface="나눔고딕 ExtraBold" panose="020D0904000000000000" pitchFamily="50" charset="-127"/>
                        </a:rPr>
                        <a:t>주도 형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0470"/>
                  </a:ext>
                </a:extLst>
              </a:tr>
              <a:tr h="2431040">
                <a:tc>
                  <a:txBody>
                    <a:bodyPr/>
                    <a:lstStyle/>
                    <a:p>
                      <a:pPr marL="0" indent="0" algn="ctr" fontAlgn="ctr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개념도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432293"/>
                  </a:ext>
                </a:extLst>
              </a:tr>
              <a:tr h="70000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변동원가 </a:t>
                      </a:r>
                      <a:r>
                        <a:rPr lang="en-US" altLang="ko-KR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100%</a:t>
                      </a:r>
                      <a:endParaRPr lang="ko-KR" altLang="en-US" sz="1100" b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판매수량별</a:t>
                      </a: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단가할인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변동원가 </a:t>
                      </a:r>
                      <a:r>
                        <a:rPr lang="en-US" altLang="ko-KR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50%, </a:t>
                      </a:r>
                      <a:r>
                        <a:rPr lang="ko-KR" altLang="en-US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고정원가 </a:t>
                      </a:r>
                      <a:r>
                        <a:rPr lang="en-US" altLang="ko-KR" sz="1100" b="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50%</a:t>
                      </a:r>
                      <a:endParaRPr lang="ko-KR" altLang="en-US" sz="1100" b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39528"/>
                  </a:ext>
                </a:extLst>
              </a:tr>
              <a:tr h="700001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기여도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              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    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Zero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         High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Middle 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재무 볼륨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업 기여      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이익률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기여                 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High</a:t>
                      </a: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038276"/>
                  </a:ext>
                </a:extLst>
              </a:tr>
              <a:tr h="700001"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상품군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용역형 상품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소기업 제공 상품</a:t>
                      </a:r>
                      <a:endParaRPr lang="en-US" altLang="ko-KR" sz="1100" b="0" i="0" u="none" strike="noStrike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박리다매형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신기술주기가 짧은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초기 투자비가 필요한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자가 개발형 상품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(OEM, </a:t>
                      </a:r>
                      <a:r>
                        <a:rPr kumimoji="0" lang="en-US" altLang="ko-K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ODM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포함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공급 체인이 결합된 기업 상품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2001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2334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원가 관리 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4D853765-A22C-4672-AFCE-8A41C599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752" y="1684290"/>
            <a:ext cx="2694111" cy="202948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D0D41D49-5E71-4870-9DB9-9262AC3B6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95" y="1684291"/>
            <a:ext cx="2634769" cy="2029483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DB15C54F-0B88-4872-9324-AEC746700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8448" y="1684289"/>
            <a:ext cx="2539823" cy="2029483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D75E7-DED8-4A43-91B3-C90C1C3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실행 단추: 돌아가기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7A5BECD-461D-44E9-8F95-8D9AF90BF6DA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564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8471" y="155329"/>
            <a:ext cx="5303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첨부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 가격 활용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373409" y="558269"/>
            <a:ext cx="9144000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D75E7-DED8-4A43-91B3-C90C1C31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C00A1-05A8-4FFD-B80E-FDE16F8F749C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실행 단추: 돌아가기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7A5BECD-461D-44E9-8F95-8D9AF90BF6DA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FDEC5E-A03B-4F03-B6B4-C89BDAA5852C}"/>
              </a:ext>
            </a:extLst>
          </p:cNvPr>
          <p:cNvSpPr/>
          <p:nvPr/>
        </p:nvSpPr>
        <p:spPr>
          <a:xfrm>
            <a:off x="5542438" y="1984260"/>
            <a:ext cx="2359830" cy="2247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Ⅰ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상품매출액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Ⅱ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상품매출원가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상품구입액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- </a:t>
            </a:r>
            <a:r>
              <a:rPr lang="ko-KR" altLang="en-US" sz="105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직접인건비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전담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PO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Ⅲ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매출총이익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Ⅳ </a:t>
            </a:r>
            <a:r>
              <a:rPr lang="ko-KR" altLang="en-US" sz="105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판매비와일반관리비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마케팅비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사업확대전략수반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Ⅴ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영업이익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D99CF2-3E07-46ED-9E0C-C286034AFE14}"/>
              </a:ext>
            </a:extLst>
          </p:cNvPr>
          <p:cNvSpPr/>
          <p:nvPr/>
        </p:nvSpPr>
        <p:spPr>
          <a:xfrm>
            <a:off x="7407615" y="1984260"/>
            <a:ext cx="2228849" cy="306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기준가격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예상수요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F0F07F-58A6-4D37-86C4-73807D0964C7}"/>
              </a:ext>
            </a:extLst>
          </p:cNvPr>
          <p:cNvSpPr/>
          <p:nvPr/>
        </p:nvSpPr>
        <p:spPr>
          <a:xfrm>
            <a:off x="5589519" y="1391075"/>
            <a:ext cx="29325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 계획 수립 및 평가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9E836B-B07A-445F-9E37-4FB22234846E}"/>
              </a:ext>
            </a:extLst>
          </p:cNvPr>
          <p:cNvSpPr/>
          <p:nvPr/>
        </p:nvSpPr>
        <p:spPr>
          <a:xfrm>
            <a:off x="2177662" y="1929693"/>
            <a:ext cx="1307408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재무 목표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충족 여부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EE541E-AC72-4C2C-B2F2-B215A6DE4EB7}"/>
              </a:ext>
            </a:extLst>
          </p:cNvPr>
          <p:cNvSpPr/>
          <p:nvPr/>
        </p:nvSpPr>
        <p:spPr>
          <a:xfrm>
            <a:off x="7407614" y="2462907"/>
            <a:ext cx="2228849" cy="306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1" dirty="0">
                <a:highlight>
                  <a:srgbClr val="C0C0C0"/>
                </a:highlight>
                <a:latin typeface="나눔고딕" panose="020D0604000000000000" pitchFamily="50" charset="-127"/>
                <a:ea typeface="나눔고딕" panose="020D0604000000000000" pitchFamily="50" charset="-127"/>
              </a:rPr>
              <a:t>매입원가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 </a:t>
            </a:r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예상수요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DE410CD-4C10-4222-97CF-F7C1009E759A}"/>
              </a:ext>
            </a:extLst>
          </p:cNvPr>
          <p:cNvCxnSpPr/>
          <p:nvPr/>
        </p:nvCxnSpPr>
        <p:spPr>
          <a:xfrm flipH="1">
            <a:off x="6608305" y="2160778"/>
            <a:ext cx="799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1D3483-7C3A-4D8F-A1F9-680481BFE0A1}"/>
              </a:ext>
            </a:extLst>
          </p:cNvPr>
          <p:cNvCxnSpPr/>
          <p:nvPr/>
        </p:nvCxnSpPr>
        <p:spPr>
          <a:xfrm flipH="1">
            <a:off x="6608305" y="2617978"/>
            <a:ext cx="799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71BCB9-D9E4-49CC-A0E0-F7823255D59F}"/>
              </a:ext>
            </a:extLst>
          </p:cNvPr>
          <p:cNvSpPr/>
          <p:nvPr/>
        </p:nvSpPr>
        <p:spPr>
          <a:xfrm>
            <a:off x="5469618" y="1798469"/>
            <a:ext cx="3433314" cy="241276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CD507D-C38B-4E78-A579-6A1A07151B8C}"/>
              </a:ext>
            </a:extLst>
          </p:cNvPr>
          <p:cNvSpPr/>
          <p:nvPr/>
        </p:nvSpPr>
        <p:spPr>
          <a:xfrm>
            <a:off x="2203540" y="3466519"/>
            <a:ext cx="1307408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 전략</a:t>
            </a:r>
            <a:endParaRPr lang="en-US" altLang="ko-KR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필요 여부</a:t>
            </a:r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35CCBE9B-71AD-4B3D-9BEB-DEBFD4F812EF}"/>
              </a:ext>
            </a:extLst>
          </p:cNvPr>
          <p:cNvSpPr/>
          <p:nvPr/>
        </p:nvSpPr>
        <p:spPr>
          <a:xfrm>
            <a:off x="1890724" y="1538808"/>
            <a:ext cx="1307408" cy="1163136"/>
          </a:xfrm>
          <a:prstGeom prst="flowChartDecisi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순서도: 판단 21">
            <a:extLst>
              <a:ext uri="{FF2B5EF4-FFF2-40B4-BE49-F238E27FC236}">
                <a16:creationId xmlns:a16="http://schemas.microsoft.com/office/drawing/2014/main" id="{0040F1BB-3356-4D3D-9B69-743D77474BC3}"/>
              </a:ext>
            </a:extLst>
          </p:cNvPr>
          <p:cNvSpPr/>
          <p:nvPr/>
        </p:nvSpPr>
        <p:spPr>
          <a:xfrm>
            <a:off x="1890724" y="3092829"/>
            <a:ext cx="1307408" cy="1163136"/>
          </a:xfrm>
          <a:prstGeom prst="flowChartDecisi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2FF1E7-754A-4236-8167-01A793BB0F62}"/>
              </a:ext>
            </a:extLst>
          </p:cNvPr>
          <p:cNvSpPr/>
          <p:nvPr/>
        </p:nvSpPr>
        <p:spPr>
          <a:xfrm>
            <a:off x="886790" y="5105312"/>
            <a:ext cx="919219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런칭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FB31B7-5E95-4A3C-9BE3-0A01671CF005}"/>
              </a:ext>
            </a:extLst>
          </p:cNvPr>
          <p:cNvSpPr/>
          <p:nvPr/>
        </p:nvSpPr>
        <p:spPr>
          <a:xfrm>
            <a:off x="3094618" y="5050068"/>
            <a:ext cx="988190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1">
                <a:latin typeface="나눔고딕" panose="020D0604000000000000" pitchFamily="50" charset="-127"/>
                <a:ea typeface="나눔고딕" panose="020D0604000000000000" pitchFamily="50" charset="-127"/>
              </a:rPr>
              <a:t>상품 런칭 보류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F4857146-AF9C-407F-9AA6-84AA954690DD}"/>
              </a:ext>
            </a:extLst>
          </p:cNvPr>
          <p:cNvSpPr/>
          <p:nvPr/>
        </p:nvSpPr>
        <p:spPr>
          <a:xfrm>
            <a:off x="733246" y="4912127"/>
            <a:ext cx="1202156" cy="621091"/>
          </a:xfrm>
          <a:prstGeom prst="flowChartProcess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872D0D3F-81D8-4CEA-AF09-7A58AA771510}"/>
              </a:ext>
            </a:extLst>
          </p:cNvPr>
          <p:cNvSpPr/>
          <p:nvPr/>
        </p:nvSpPr>
        <p:spPr>
          <a:xfrm>
            <a:off x="2999237" y="4912127"/>
            <a:ext cx="1202156" cy="621091"/>
          </a:xfrm>
          <a:prstGeom prst="flowChartProcess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AD12F5C3-19C0-49EC-8CDA-3479B6C36826}"/>
              </a:ext>
            </a:extLst>
          </p:cNvPr>
          <p:cNvCxnSpPr>
            <a:cxnSpLocks/>
            <a:endCxn id="16" idx="3"/>
          </p:cNvCxnSpPr>
          <p:nvPr/>
        </p:nvCxnSpPr>
        <p:spPr>
          <a:xfrm rot="10800000">
            <a:off x="3198132" y="2120377"/>
            <a:ext cx="2344306" cy="1716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8A084A35-5AD3-4BBB-9D27-3FADF9A804DD}"/>
              </a:ext>
            </a:extLst>
          </p:cNvPr>
          <p:cNvCxnSpPr>
            <a:stCxn id="16" idx="1"/>
            <a:endCxn id="17" idx="0"/>
          </p:cNvCxnSpPr>
          <p:nvPr/>
        </p:nvCxnSpPr>
        <p:spPr>
          <a:xfrm rot="10800000" flipV="1">
            <a:off x="1334324" y="2120375"/>
            <a:ext cx="556400" cy="27917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5C144A1-1889-4A86-B8D1-983E08F9B626}"/>
              </a:ext>
            </a:extLst>
          </p:cNvPr>
          <p:cNvSpPr/>
          <p:nvPr/>
        </p:nvSpPr>
        <p:spPr>
          <a:xfrm>
            <a:off x="1444130" y="1865273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C0206DF-0C6C-45A9-9740-29CC65462F06}"/>
              </a:ext>
            </a:extLst>
          </p:cNvPr>
          <p:cNvCxnSpPr>
            <a:stCxn id="16" idx="2"/>
            <a:endCxn id="22" idx="0"/>
          </p:cNvCxnSpPr>
          <p:nvPr/>
        </p:nvCxnSpPr>
        <p:spPr>
          <a:xfrm>
            <a:off x="2544428" y="2701944"/>
            <a:ext cx="0" cy="390885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0D70D9-36F1-4D77-B844-CF6429C1C71C}"/>
              </a:ext>
            </a:extLst>
          </p:cNvPr>
          <p:cNvSpPr/>
          <p:nvPr/>
        </p:nvSpPr>
        <p:spPr>
          <a:xfrm>
            <a:off x="1438780" y="3409503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54857DA-689D-4269-ACE6-D1D0B6C1EB74}"/>
              </a:ext>
            </a:extLst>
          </p:cNvPr>
          <p:cNvSpPr/>
          <p:nvPr/>
        </p:nvSpPr>
        <p:spPr>
          <a:xfrm>
            <a:off x="2226318" y="2666426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52D7DF6-B800-4841-859E-939A7B663D23}"/>
              </a:ext>
            </a:extLst>
          </p:cNvPr>
          <p:cNvCxnSpPr>
            <a:cxnSpLocks/>
            <a:stCxn id="22" idx="1"/>
            <a:endCxn id="17" idx="0"/>
          </p:cNvCxnSpPr>
          <p:nvPr/>
        </p:nvCxnSpPr>
        <p:spPr>
          <a:xfrm rot="10800000" flipV="1">
            <a:off x="1334324" y="3674397"/>
            <a:ext cx="556400" cy="12377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7BE58D8A-8705-4B9E-90ED-3CA8D263E446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 rot="16200000" flipH="1">
            <a:off x="2744290" y="4056102"/>
            <a:ext cx="656162" cy="1055887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1B9FD71-E71B-418D-A850-86762773A206}"/>
              </a:ext>
            </a:extLst>
          </p:cNvPr>
          <p:cNvSpPr/>
          <p:nvPr/>
        </p:nvSpPr>
        <p:spPr>
          <a:xfrm>
            <a:off x="2226318" y="4330001"/>
            <a:ext cx="281700" cy="254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1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endParaRPr lang="ko-KR" altLang="en-US" sz="105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7FDC43A-73D2-496F-B92B-BDD0B014EF80}"/>
              </a:ext>
            </a:extLst>
          </p:cNvPr>
          <p:cNvCxnSpPr/>
          <p:nvPr/>
        </p:nvCxnSpPr>
        <p:spPr>
          <a:xfrm>
            <a:off x="5589519" y="1645119"/>
            <a:ext cx="1500028" cy="0"/>
          </a:xfrm>
          <a:prstGeom prst="line">
            <a:avLst/>
          </a:prstGeom>
          <a:ln w="28575" cmpd="dbl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hlinkClick r:id="rId3" action="ppaction://hlinksldjump"/>
            <a:extLst>
              <a:ext uri="{FF2B5EF4-FFF2-40B4-BE49-F238E27FC236}">
                <a16:creationId xmlns:a16="http://schemas.microsoft.com/office/drawing/2014/main" id="{F2806834-AE0B-4E56-BE44-612D8A5AAB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353" y="4554046"/>
            <a:ext cx="2116347" cy="35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79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EDE4AB-2057-4AAF-908F-29BC92DB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D11C00A1-05A8-4FFD-B80E-FDE16F8F749C}" type="slidenum">
              <a:rPr lang="ko-KR" altLang="en-US" smtClean="0"/>
              <a:pPr/>
              <a:t>11</a:t>
            </a:fld>
            <a:r>
              <a:rPr lang="en-US" altLang="ko-KR"/>
              <a:t>-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A418D1-AF51-4C2B-9082-ED415E777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0965"/>
            <a:ext cx="9906000" cy="1676069"/>
          </a:xfrm>
          <a:prstGeom prst="rect">
            <a:avLst/>
          </a:prstGeom>
        </p:spPr>
      </p:pic>
      <p:sp>
        <p:nvSpPr>
          <p:cNvPr id="4" name="실행 단추: 돌아가기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3297240-9C21-45B2-8343-182AD58724E8}"/>
              </a:ext>
            </a:extLst>
          </p:cNvPr>
          <p:cNvSpPr/>
          <p:nvPr/>
        </p:nvSpPr>
        <p:spPr>
          <a:xfrm>
            <a:off x="9031799" y="6070586"/>
            <a:ext cx="319936" cy="285772"/>
          </a:xfrm>
          <a:prstGeom prst="actionButtonRetur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79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5821</TotalTime>
  <Words>977</Words>
  <Application>Microsoft Office PowerPoint</Application>
  <PresentationFormat>A4 용지(210x297mm)</PresentationFormat>
  <Paragraphs>264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5" baseType="lpstr">
      <vt:lpstr>Pretendard</vt:lpstr>
      <vt:lpstr>Pretendard Black</vt:lpstr>
      <vt:lpstr>Pretendard Light</vt:lpstr>
      <vt:lpstr>나눔고딕</vt:lpstr>
      <vt:lpstr>나눔고딕 ExtraBold</vt:lpstr>
      <vt:lpstr>나눔고딕 Light</vt:lpstr>
      <vt:lpstr>나눔스퀘어라운드 ExtraBold</vt:lpstr>
      <vt:lpstr>나눔스퀘어라운드 Light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740</cp:revision>
  <cp:lastPrinted>2022-12-23T03:34:47Z</cp:lastPrinted>
  <dcterms:created xsi:type="dcterms:W3CDTF">2022-11-29T06:03:49Z</dcterms:created>
  <dcterms:modified xsi:type="dcterms:W3CDTF">2024-05-24T02:50:09Z</dcterms:modified>
</cp:coreProperties>
</file>