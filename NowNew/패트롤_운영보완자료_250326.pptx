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147380016" r:id="rId2"/>
    <p:sldId id="2147380019" r:id="rId3"/>
    <p:sldId id="214738001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>
    <p:extLst>
      <p:ext uri="{19B8F6BF-5375-455C-9EA6-DF929625EA0E}">
        <p15:presenceInfo xmlns:p15="http://schemas.microsoft.com/office/powerpoint/2012/main" userId="9350f35a92ecda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FF"/>
    <a:srgbClr val="006600"/>
    <a:srgbClr val="0164CA"/>
    <a:srgbClr val="E921C0"/>
    <a:srgbClr val="EA27C2"/>
    <a:srgbClr val="EF28C1"/>
    <a:srgbClr val="006650"/>
    <a:srgbClr val="CACACA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486" autoAdjust="0"/>
    <p:restoredTop sz="96370" autoAdjust="0"/>
  </p:normalViewPr>
  <p:slideViewPr>
    <p:cSldViewPr snapToGrid="0">
      <p:cViewPr varScale="1">
        <p:scale>
          <a:sx n="110" d="100"/>
          <a:sy n="110" d="100"/>
        </p:scale>
        <p:origin x="10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50F3D5-998A-4939-BFF2-6E78B3AECAB0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389BB-2063-413E-AFA2-B386D7E56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177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A40E0F-A953-463C-908B-2E350F967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379062-E748-43C5-BB89-BBDBCDBEB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63D26D-C437-49B1-97E0-EF1E7315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07011D-45B8-4BDF-9833-BF9E4A21A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475E2D-F6F4-40D8-91C7-4808DDD7A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500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CF1FA-21EC-49F6-B08F-32C101FB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B2E7BF-5AD8-42BB-8EDF-1F670835C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9D8CFF-DE7B-458E-97D4-2726C84E2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D1C6A3-B5C7-47EE-81E1-78D393A2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656746-9D55-41FD-8539-C48E8026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25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31658-2848-4D57-ACC7-21020D76B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31CD87-09D2-4E08-87FC-800DCA5F0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81A07D-B3D5-419D-811E-5500FEEFE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FEB865-85E1-428D-829E-CDBE5D2E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CC498A-A06B-480B-B8B7-2903C1B10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37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9101D9-1783-469B-8D30-21B7EE65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5D0D82-B96E-401B-884B-B03956099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5A98A5-1B48-4AA2-840E-D8B40D170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6D7014-DF29-4ABF-8DA0-4810A0DD3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46A129-655F-489A-84EC-649C4BFEB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11562C-BC74-47C6-8C53-45DD9371F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62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3EA093-2048-4E83-BEE1-2490D7474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406B79-A13F-4200-80AF-F657A7984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F77995-1A10-457C-9D29-C073D341F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AE47AF-8FE5-4A24-94B4-6DFC561B5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1E2CC3-31E5-4D7D-943F-6B0E62CF1D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BEEDF42-FF2F-4101-82B4-E71157736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284BE37-2E10-4AA1-8E2F-07EB692B6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B030A33-9647-434D-B4AB-58D785FC6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837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5BC4A8-BA91-4DD1-88B3-C995439CB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9C8F2A-24DB-42E1-861B-CB0364518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E4727DF-8DDC-4402-969D-5CF6BC715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6D374E-F978-4E60-B7B4-0AF3682EF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10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7819DD5-49FC-4C99-80D4-958D74130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F09E5DE-89AA-4AE2-87EB-2DCDAA6FD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657F4-ECD3-4131-B0DD-E5E7D9C6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955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1A0FBF-0F6F-426E-A0B1-3AA03FF4D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7C8B95-4A7F-40DC-9E9C-79B233998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FDD19C-E049-41D5-8518-F84CFC033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77FBFA-3EB7-42A9-8028-C965264C2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A6647F-82BE-427C-9088-1B7E1E4D1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084898-AAD6-4EE5-AFE6-5C3B52853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073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488636-8A53-465D-81EE-FAAB0E56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1105D5-5693-4C04-A4C8-9B0A9183D7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240401-05CE-4D0F-94E2-67F2D3342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614030-E6B5-492D-9245-5C22F93F3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312F78-4ACD-4759-877A-8AC0D21E2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A88542-A1EE-4617-A72F-43E2CDAD0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232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B3A4F-DB56-41B8-816E-9E02E6422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F976A2-8AA1-407E-A9C9-CCC8F1B2A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A7BA8C-5590-4EC9-8E60-4F6535FD6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28FDC0-DCE1-4DCC-BBB4-E061154A3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A3B4F7-D173-4954-840D-B546CA1F1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886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0FA18F-5F56-443E-A03F-850F834376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82AA188-457B-4EE0-8105-A8C7C3185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9857DD-FD22-4485-895F-4C7BF0427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4C6AE-661A-42CD-93BA-B747CCE3F5D6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6026B8-980E-48EB-A136-0E21D552D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0A086F-208F-417A-87F9-0C2E2F7DF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90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706341-81BF-4D57-82EF-0F3AF523B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6FC917-D5B2-4B20-B422-91F1E688C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568151-C9C8-480F-8D83-D507EFE28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4C6AE-661A-42CD-93BA-B747CCE3F5D6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FDC9CA-0F0B-4E30-AD20-1B3593CB58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25888B-A8F1-4357-9BD6-F4EC879D2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19CAB-B2E7-40A5-8403-63FBD88888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176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nmail.sni.co.kr/eW/eWM/Mail/Read/ReadMail.aspx?curPage=1&amp;pageList=15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nmail.sni.co.kr/eW/eWM/Mail/Read/ReadMail.aspx?curPage=1&amp;pageList=1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1B795741-7EA4-4E4A-ACD2-399937042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842" y="3090906"/>
            <a:ext cx="2798307" cy="3255546"/>
          </a:xfrm>
          <a:prstGeom prst="rect">
            <a:avLst/>
          </a:prstGeom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80A55996-C5D6-4F0F-A820-33B38B55A549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2780A97-48D0-4310-8879-7557FB9915A9}"/>
              </a:ext>
            </a:extLst>
          </p:cNvPr>
          <p:cNvSpPr txBox="1"/>
          <p:nvPr/>
        </p:nvSpPr>
        <p:spPr>
          <a:xfrm>
            <a:off x="249382" y="116378"/>
            <a:ext cx="651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비상주 시설물 순회 점검 서비스</a:t>
            </a: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45DF99C5-6A9E-4B83-8986-E42ECBC90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734391"/>
              </p:ext>
            </p:extLst>
          </p:nvPr>
        </p:nvGraphicFramePr>
        <p:xfrm>
          <a:off x="4735481" y="3090559"/>
          <a:ext cx="7187577" cy="3255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942">
                  <a:extLst>
                    <a:ext uri="{9D8B030D-6E8A-4147-A177-3AD203B41FA5}">
                      <a16:colId xmlns:a16="http://schemas.microsoft.com/office/drawing/2014/main" val="2931488791"/>
                    </a:ext>
                  </a:extLst>
                </a:gridCol>
                <a:gridCol w="5934635">
                  <a:extLst>
                    <a:ext uri="{9D8B030D-6E8A-4147-A177-3AD203B41FA5}">
                      <a16:colId xmlns:a16="http://schemas.microsoft.com/office/drawing/2014/main" val="1848235907"/>
                    </a:ext>
                  </a:extLst>
                </a:gridCol>
              </a:tblGrid>
              <a:tr h="3145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검토 항목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검토 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045282"/>
                  </a:ext>
                </a:extLst>
              </a:tr>
              <a:tr h="5429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서비스 역량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서비스 역량</a:t>
                      </a:r>
                      <a:endParaRPr lang="en-US" altLang="ko-KR" sz="1100" b="0" dirty="0">
                        <a:solidFill>
                          <a:srgbClr val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>
                        <a:spcAft>
                          <a:spcPts val="600"/>
                        </a:spcAft>
                        <a:defRPr/>
                      </a:pP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  - 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순회점검 서비스직원 뿐만 아니라 담당 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PO 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및 영업문의 대응에 최적인 지역</a:t>
                      </a:r>
                      <a:endParaRPr lang="en-US" altLang="ko-KR" sz="1100" b="0" dirty="0">
                        <a:solidFill>
                          <a:srgbClr val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  <a:defRPr/>
                      </a:pP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  - 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당사 뿐만 아니라 협력사 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Pool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을 통한 고객 요구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수선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보수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사고처리 등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 최적인 지역</a:t>
                      </a:r>
                      <a:endParaRPr lang="en-US" altLang="ko-KR" sz="1100" b="0" dirty="0">
                        <a:solidFill>
                          <a:srgbClr val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경제성 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이동 시간을 최소화 할 수 있는 지역</a:t>
                      </a:r>
                      <a:endParaRPr lang="en-US" altLang="ko-KR" sz="1100" b="0" dirty="0">
                        <a:solidFill>
                          <a:srgbClr val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>
                        <a:spcAft>
                          <a:spcPts val="1200"/>
                        </a:spcAft>
                        <a:defRPr/>
                      </a:pP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  - 1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회 출동으로 다수의 점검이 가능한 지역</a:t>
                      </a:r>
                      <a:endParaRPr lang="en-US" altLang="ko-KR" sz="1100" b="0" dirty="0">
                        <a:solidFill>
                          <a:srgbClr val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438480"/>
                  </a:ext>
                </a:extLst>
              </a:tr>
              <a:tr h="5429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법정 관리자</a:t>
                      </a:r>
                      <a:endParaRPr lang="en-US" altLang="ko-KR" sz="1100" b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 latinLnBrk="1"/>
                      <a:r>
                        <a:rPr lang="ko-KR" altLang="en-US" sz="11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선임 규정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전기안전관리자 선임</a:t>
                      </a:r>
                      <a:endParaRPr lang="en-US" altLang="ko-KR" sz="1100" b="0" dirty="0">
                        <a:solidFill>
                          <a:srgbClr val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>
                        <a:spcAft>
                          <a:spcPts val="600"/>
                        </a:spcAft>
                        <a:defRPr/>
                      </a:pP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  - 1,000kW 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이상 수전설비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500kW 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이상의 발전설비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3,000kW 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이상의 태양광 발전설비</a:t>
                      </a:r>
                      <a:endParaRPr lang="en-US" altLang="ko-KR" sz="1100" b="0" dirty="0">
                        <a:solidFill>
                          <a:srgbClr val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소방안전관리자 선임</a:t>
                      </a:r>
                      <a:endParaRPr lang="en-US" altLang="ko-KR" sz="1100" b="0" dirty="0">
                        <a:solidFill>
                          <a:srgbClr val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>
                        <a:spcAft>
                          <a:spcPts val="600"/>
                        </a:spcAft>
                        <a:defRPr/>
                      </a:pP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 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1100" b="0" u="sng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연면적 </a:t>
                      </a:r>
                      <a:r>
                        <a:rPr lang="en-US" altLang="ko-KR" sz="1100" b="0" u="sng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15,000 </a:t>
                      </a:r>
                      <a:r>
                        <a:rPr lang="ko-KR" altLang="en-US" sz="1100" b="0" u="sng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㎡</a:t>
                      </a:r>
                      <a:r>
                        <a:rPr lang="en-US" altLang="ko-KR" sz="1100" b="0" u="sng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100" b="0" u="sng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이상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스프링클러설비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옥내소화전설비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100" b="0" dirty="0" err="1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자동화재탐지설비등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설치대상 건축물</a:t>
                      </a:r>
                      <a:endParaRPr lang="en-US" altLang="ko-KR" sz="1100" b="0" dirty="0">
                        <a:solidFill>
                          <a:srgbClr val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기계설비유지관리자 선임</a:t>
                      </a:r>
                      <a:endParaRPr lang="en-US" altLang="ko-KR" sz="1100" b="0" dirty="0">
                        <a:solidFill>
                          <a:srgbClr val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>
                        <a:spcAft>
                          <a:spcPts val="600"/>
                        </a:spcAft>
                        <a:defRPr/>
                      </a:pP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 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 </a:t>
                      </a:r>
                      <a:r>
                        <a:rPr lang="ko-KR" altLang="en-US" sz="1100" b="0" u="sng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연면적 </a:t>
                      </a:r>
                      <a:r>
                        <a:rPr lang="en-US" altLang="ko-KR" sz="1100" b="0" u="sng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10,000 </a:t>
                      </a:r>
                      <a:r>
                        <a:rPr lang="ko-KR" altLang="en-US" sz="1100" b="0" u="sng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㎡</a:t>
                      </a:r>
                      <a:r>
                        <a:rPr lang="en-US" altLang="ko-KR" sz="1100" b="0" u="sng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100" b="0" u="sng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이상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의 건축물</a:t>
                      </a:r>
                      <a:r>
                        <a:rPr lang="en-US" altLang="ko-KR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500</a:t>
                      </a:r>
                      <a:r>
                        <a:rPr lang="ko-KR" altLang="en-US" sz="1100" b="0" dirty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세대 이상의 </a:t>
                      </a:r>
                      <a:r>
                        <a:rPr lang="ko-KR" altLang="en-US" sz="1100" b="0" dirty="0" err="1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공동주택등</a:t>
                      </a:r>
                      <a:endParaRPr lang="en-US" altLang="ko-KR" sz="1100" b="0" dirty="0">
                        <a:solidFill>
                          <a:srgbClr val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979021"/>
                  </a:ext>
                </a:extLst>
              </a:tr>
            </a:tbl>
          </a:graphicData>
        </a:graphic>
      </p:graphicFrame>
      <p:sp>
        <p:nvSpPr>
          <p:cNvPr id="22" name="Text Box 7">
            <a:extLst>
              <a:ext uri="{FF2B5EF4-FFF2-40B4-BE49-F238E27FC236}">
                <a16:creationId xmlns:a16="http://schemas.microsoft.com/office/drawing/2014/main" id="{F1E4CFF0-36A3-4D6F-8E6F-5A75E9292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070" y="917450"/>
            <a:ext cx="9605600" cy="31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5738" indent="-185738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latinLnBrk="0">
              <a:lnSpc>
                <a:spcPct val="110000"/>
              </a:lnSpc>
              <a:spcBef>
                <a:spcPct val="50000"/>
              </a:spcBef>
              <a:buSzPct val="80000"/>
              <a:buNone/>
            </a:pP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비상주 사업장에 대하여</a:t>
            </a:r>
            <a:r>
              <a:rPr lang="en-US" altLang="ko-KR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전문 기술인으로써 </a:t>
            </a:r>
            <a:r>
              <a:rPr lang="en-US" altLang="ko-KR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lang="ko-KR" altLang="en-US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정기적인 안전 점검 업무를 수행하여 인명과 재산을 보호</a:t>
            </a:r>
            <a:r>
              <a:rPr lang="en-US" altLang="ko-KR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”</a:t>
            </a: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한다</a:t>
            </a:r>
            <a:r>
              <a:rPr lang="en-US" altLang="ko-KR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5FD2C74-B00E-4CE9-9329-A11BC2D464E4}"/>
              </a:ext>
            </a:extLst>
          </p:cNvPr>
          <p:cNvSpPr/>
          <p:nvPr/>
        </p:nvSpPr>
        <p:spPr>
          <a:xfrm>
            <a:off x="385772" y="848939"/>
            <a:ext cx="1559569" cy="382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○ </a:t>
            </a:r>
            <a:r>
              <a:rPr kumimoji="1"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Mission</a:t>
            </a:r>
            <a:r>
              <a:rPr kumimoji="1" lang="ko-KR" altLang="en-US" sz="1600" b="1" spc="-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kumimoji="1" lang="en-US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49BBB63-AB6E-4EFF-AE85-2366ACBE572D}"/>
              </a:ext>
            </a:extLst>
          </p:cNvPr>
          <p:cNvSpPr/>
          <p:nvPr/>
        </p:nvSpPr>
        <p:spPr>
          <a:xfrm>
            <a:off x="385772" y="3004471"/>
            <a:ext cx="1837233" cy="702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○ </a:t>
            </a:r>
            <a:r>
              <a:rPr kumimoji="1"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Beginning</a:t>
            </a:r>
          </a:p>
          <a:p>
            <a:pPr>
              <a:lnSpc>
                <a:spcPct val="130000"/>
              </a:lnSpc>
            </a:pPr>
            <a:r>
              <a:rPr kumimoji="1"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Target</a:t>
            </a:r>
            <a:endParaRPr kumimoji="1" lang="en-US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3F7BF76-7853-438F-A839-4D9B60261096}"/>
              </a:ext>
            </a:extLst>
          </p:cNvPr>
          <p:cNvSpPr/>
          <p:nvPr/>
        </p:nvSpPr>
        <p:spPr>
          <a:xfrm>
            <a:off x="385773" y="1564016"/>
            <a:ext cx="1954016" cy="702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○ </a:t>
            </a:r>
            <a:r>
              <a:rPr kumimoji="1"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Customer</a:t>
            </a:r>
          </a:p>
          <a:p>
            <a:pPr>
              <a:lnSpc>
                <a:spcPct val="130000"/>
              </a:lnSpc>
            </a:pPr>
            <a:r>
              <a:rPr kumimoji="1"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</a:t>
            </a:r>
            <a:r>
              <a:rPr kumimoji="1" lang="en-US" altLang="ko-KR" sz="1600" b="1" spc="-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Values</a:t>
            </a:r>
            <a:endParaRPr kumimoji="1" lang="en-US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887A10-D79B-49B0-A0A2-6AA010600EB3}"/>
              </a:ext>
            </a:extLst>
          </p:cNvPr>
          <p:cNvSpPr txBox="1"/>
          <p:nvPr/>
        </p:nvSpPr>
        <p:spPr>
          <a:xfrm>
            <a:off x="2046070" y="1566332"/>
            <a:ext cx="764253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주기적인 안전 점검을 통한 사고 예방</a:t>
            </a:r>
            <a:endParaRPr lang="en-US" altLang="ko-KR" sz="14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예방적 조치 및 체계적인 설비 관리를 통한 대수선 비용 절감</a:t>
            </a:r>
            <a:endParaRPr lang="en-US" altLang="ko-KR" sz="14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전문 </a:t>
            </a:r>
            <a:r>
              <a:rPr lang="en-US" altLang="ko-KR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FM</a:t>
            </a:r>
            <a:r>
              <a:rPr lang="ko-KR" altLang="en-US" sz="14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업체로서의</a:t>
            </a: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서비스 품질 보장</a:t>
            </a:r>
            <a:endParaRPr lang="en-US" altLang="ko-KR" sz="14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D789133-205A-49E9-B89B-23C053705904}"/>
              </a:ext>
            </a:extLst>
          </p:cNvPr>
          <p:cNvSpPr/>
          <p:nvPr/>
        </p:nvSpPr>
        <p:spPr>
          <a:xfrm>
            <a:off x="2192665" y="4089518"/>
            <a:ext cx="2408154" cy="906082"/>
          </a:xfrm>
          <a:prstGeom prst="rect">
            <a:avLst/>
          </a:prstGeom>
          <a:solidFill>
            <a:srgbClr val="FFFFFF">
              <a:alpha val="56078"/>
            </a:srgbClr>
          </a:solidFill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ko-KR" altLang="en-US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연면적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10,000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㎡</a:t>
            </a:r>
            <a:r>
              <a:rPr lang="en-US" altLang="ko-KR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미만의</a:t>
            </a:r>
            <a:endParaRPr lang="en-US" altLang="ko-KR" sz="14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30000"/>
              </a:lnSpc>
            </a:pPr>
            <a:r>
              <a:rPr lang="ko-KR" altLang="en-US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서울권역</a:t>
            </a:r>
            <a:endParaRPr lang="en-US" altLang="ko-KR" sz="14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30000"/>
              </a:lnSpc>
            </a:pPr>
            <a:r>
              <a:rPr lang="ko-KR" altLang="en-US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건축물 관리</a:t>
            </a:r>
            <a:r>
              <a:rPr lang="en-US" altLang="ko-KR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소유</a:t>
            </a:r>
            <a:r>
              <a:rPr lang="en-US" altLang="ko-KR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</a:t>
            </a:r>
            <a:endParaRPr kumimoji="1" lang="en-US" altLang="ko-KR" sz="14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136DDA-4254-43CB-A3F3-2D24C14390A6}"/>
              </a:ext>
            </a:extLst>
          </p:cNvPr>
          <p:cNvSpPr txBox="1"/>
          <p:nvPr/>
        </p:nvSpPr>
        <p:spPr>
          <a:xfrm>
            <a:off x="4735480" y="6276498"/>
            <a:ext cx="7028875" cy="306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ko-KR"/>
            </a:defPPr>
            <a:lvl1pPr indent="0" defTabSz="4572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sz="1000" b="0" spc="-70">
                <a:solidFill>
                  <a:srgbClr val="0066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r>
              <a:rPr lang="en-US" altLang="ko-KR" sz="1050" dirty="0"/>
              <a:t>※  </a:t>
            </a:r>
            <a:r>
              <a:rPr lang="ko-KR" altLang="en-US" sz="1050" dirty="0"/>
              <a:t>연면적 </a:t>
            </a:r>
            <a:r>
              <a:rPr lang="en-US" altLang="ko-KR" sz="1050" dirty="0"/>
              <a:t>10,000 ㎡ </a:t>
            </a:r>
            <a:r>
              <a:rPr lang="ko-KR" altLang="en-US" sz="1050" dirty="0"/>
              <a:t>이상의 건축물은 </a:t>
            </a:r>
            <a:r>
              <a:rPr lang="en-US" altLang="ko-KR" sz="1050" dirty="0"/>
              <a:t>SANDI</a:t>
            </a:r>
            <a:r>
              <a:rPr lang="ko-KR" altLang="en-US" sz="1050" dirty="0"/>
              <a:t>법정점검대행솔루션</a:t>
            </a:r>
            <a:r>
              <a:rPr lang="en-US" altLang="ko-KR" sz="1050" dirty="0"/>
              <a:t>(</a:t>
            </a:r>
            <a:r>
              <a:rPr lang="ko-KR" altLang="en-US" sz="1050" dirty="0"/>
              <a:t>기계설비성능점검</a:t>
            </a:r>
            <a:r>
              <a:rPr lang="en-US" altLang="ko-KR" sz="1050" dirty="0"/>
              <a:t>, </a:t>
            </a:r>
            <a:r>
              <a:rPr lang="ko-KR" altLang="en-US" sz="1050" dirty="0"/>
              <a:t>빌딩 법정의무소독</a:t>
            </a:r>
            <a:r>
              <a:rPr lang="en-US" altLang="ko-KR" sz="1050" dirty="0"/>
              <a:t>)</a:t>
            </a:r>
            <a:r>
              <a:rPr lang="ko-KR" altLang="en-US" sz="1050" dirty="0"/>
              <a:t>의 타겟 </a:t>
            </a:r>
            <a:r>
              <a:rPr lang="ko-KR" altLang="en-US" sz="1050" dirty="0" err="1"/>
              <a:t>고객군</a:t>
            </a:r>
            <a:endParaRPr lang="en-US" altLang="ko-KR" sz="105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B06482-F107-49F4-A585-902C357559F5}"/>
              </a:ext>
            </a:extLst>
          </p:cNvPr>
          <p:cNvSpPr txBox="1"/>
          <p:nvPr/>
        </p:nvSpPr>
        <p:spPr>
          <a:xfrm>
            <a:off x="4970611" y="2270980"/>
            <a:ext cx="7028875" cy="306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ko-KR"/>
            </a:defPPr>
            <a:lvl1pPr indent="0" defTabSz="4572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sz="1000" b="0" spc="-70">
                <a:solidFill>
                  <a:srgbClr val="0066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r>
              <a:rPr lang="en-US" altLang="ko-KR" sz="1050" dirty="0"/>
              <a:t>※  </a:t>
            </a:r>
            <a:r>
              <a:rPr lang="ko-KR" altLang="en-US" sz="1050" dirty="0"/>
              <a:t>고객 </a:t>
            </a:r>
            <a:r>
              <a:rPr lang="en-US" altLang="ko-KR" sz="1050" dirty="0"/>
              <a:t>Pain point :  </a:t>
            </a:r>
            <a:r>
              <a:rPr lang="ko-KR" altLang="en-US" sz="1050" dirty="0"/>
              <a:t>저가의 점검 후 수선공사를 강매하는 영업 행태와 공사 후에도 지속되는 하자로 인한 저가 업체에 대한 품질 불만이 축적됨</a:t>
            </a:r>
            <a:endParaRPr lang="en-US" altLang="ko-KR" sz="1050" dirty="0"/>
          </a:p>
        </p:txBody>
      </p:sp>
    </p:spTree>
    <p:extLst>
      <p:ext uri="{BB962C8B-B14F-4D97-AF65-F5344CB8AC3E}">
        <p14:creationId xmlns:p14="http://schemas.microsoft.com/office/powerpoint/2010/main" val="3973213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타원 11">
            <a:extLst>
              <a:ext uri="{FF2B5EF4-FFF2-40B4-BE49-F238E27FC236}">
                <a16:creationId xmlns:a16="http://schemas.microsoft.com/office/drawing/2014/main" id="{1CCD2F39-52A7-4C4B-A47D-5D734ED89ACB}"/>
              </a:ext>
            </a:extLst>
          </p:cNvPr>
          <p:cNvSpPr/>
          <p:nvPr/>
        </p:nvSpPr>
        <p:spPr>
          <a:xfrm>
            <a:off x="1553953" y="3107662"/>
            <a:ext cx="1954016" cy="1954016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ko-KR" altLang="en-US" sz="900" dirty="0">
              <a:hlinkClick r:id="rId2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80A55996-C5D6-4F0F-A820-33B38B55A549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2780A97-48D0-4310-8879-7557FB9915A9}"/>
              </a:ext>
            </a:extLst>
          </p:cNvPr>
          <p:cNvSpPr txBox="1"/>
          <p:nvPr/>
        </p:nvSpPr>
        <p:spPr>
          <a:xfrm>
            <a:off x="249382" y="116378"/>
            <a:ext cx="651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비상주 시설물 순회 점검 서비스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794612-9966-4BC9-97F3-D4D29DCC6B7D}"/>
              </a:ext>
            </a:extLst>
          </p:cNvPr>
          <p:cNvSpPr/>
          <p:nvPr/>
        </p:nvSpPr>
        <p:spPr>
          <a:xfrm>
            <a:off x="431144" y="869815"/>
            <a:ext cx="1954016" cy="38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600" b="1" dirty="0">
                <a:solidFill>
                  <a:srgbClr val="000000"/>
                </a:solidFill>
                <a:latin typeface="Poppins" panose="00000500000000000000" pitchFamily="2" charset="0"/>
                <a:ea typeface="Pretendard" panose="02000503000000020004" pitchFamily="2" charset="-127"/>
                <a:cs typeface="Poppins" panose="00000500000000000000" pitchFamily="2" charset="0"/>
              </a:rPr>
              <a:t>○ </a:t>
            </a:r>
            <a:r>
              <a:rPr kumimoji="1" lang="en-US" altLang="ko-KR" sz="1600" b="1" dirty="0">
                <a:solidFill>
                  <a:srgbClr val="000000"/>
                </a:solidFill>
                <a:latin typeface="Poppins" panose="00000500000000000000" pitchFamily="2" charset="0"/>
                <a:ea typeface="Pretendard" panose="02000503000000020004" pitchFamily="2" charset="-127"/>
                <a:cs typeface="Poppins" panose="00000500000000000000" pitchFamily="2" charset="0"/>
              </a:rPr>
              <a:t>USP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B4C717-4EE8-4464-BBA4-3A2D4FFA3B2A}"/>
              </a:ext>
            </a:extLst>
          </p:cNvPr>
          <p:cNvSpPr txBox="1"/>
          <p:nvPr/>
        </p:nvSpPr>
        <p:spPr>
          <a:xfrm>
            <a:off x="728982" y="5524457"/>
            <a:ext cx="25050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□ </a:t>
            </a:r>
            <a:r>
              <a:rPr lang="ko-KR" altLang="en-US" sz="1400" dirty="0">
                <a:solidFill>
                  <a:srgbClr val="000000"/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회사 규모</a:t>
            </a:r>
            <a:endParaRPr lang="en-US" altLang="ko-KR" sz="1400" dirty="0">
              <a:solidFill>
                <a:srgbClr val="000000"/>
              </a:solidFill>
              <a:highlight>
                <a:srgbClr val="FFFF00"/>
              </a:highlight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□ </a:t>
            </a:r>
            <a:r>
              <a:rPr lang="en-US" altLang="ko-KR" sz="1400" dirty="0">
                <a:solidFill>
                  <a:srgbClr val="000000"/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FM </a:t>
            </a:r>
            <a:r>
              <a:rPr lang="ko-KR" altLang="en-US" sz="1400" dirty="0">
                <a:solidFill>
                  <a:srgbClr val="000000"/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 실적</a:t>
            </a:r>
            <a:endParaRPr lang="en-US" altLang="ko-KR" sz="1400" dirty="0">
              <a:solidFill>
                <a:srgbClr val="000000"/>
              </a:solidFill>
              <a:highlight>
                <a:srgbClr val="FFFF00"/>
              </a:highlight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□ 신용평가기관 신용도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8897CC98-C2D5-40F5-814A-537E6A806FB1}"/>
              </a:ext>
            </a:extLst>
          </p:cNvPr>
          <p:cNvSpPr/>
          <p:nvPr/>
        </p:nvSpPr>
        <p:spPr>
          <a:xfrm>
            <a:off x="2811518" y="3957143"/>
            <a:ext cx="1392903" cy="139290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전문성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E3F64AD1-8C4C-4D1A-988B-4F45275E9911}"/>
              </a:ext>
            </a:extLst>
          </p:cNvPr>
          <p:cNvSpPr/>
          <p:nvPr/>
        </p:nvSpPr>
        <p:spPr>
          <a:xfrm>
            <a:off x="711700" y="4002116"/>
            <a:ext cx="1392903" cy="139290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대외 신인도</a:t>
            </a: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9024B50-99CA-47EB-82B4-14580A5B46F4}"/>
              </a:ext>
            </a:extLst>
          </p:cNvPr>
          <p:cNvSpPr/>
          <p:nvPr/>
        </p:nvSpPr>
        <p:spPr>
          <a:xfrm>
            <a:off x="1782582" y="2274476"/>
            <a:ext cx="1392903" cy="139290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편의성</a:t>
            </a:r>
            <a:endParaRPr lang="en-US" altLang="ko-KR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</a:t>
            </a:r>
            <a:r>
              <a:rPr lang="ko-KR" alt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투명성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263676-CE00-45E8-B68B-DB5A51F3BE2E}"/>
              </a:ext>
            </a:extLst>
          </p:cNvPr>
          <p:cNvSpPr txBox="1"/>
          <p:nvPr/>
        </p:nvSpPr>
        <p:spPr>
          <a:xfrm>
            <a:off x="4350222" y="4315040"/>
            <a:ext cx="551747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□ </a:t>
            </a:r>
            <a:r>
              <a:rPr lang="en-US" altLang="ko-KR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FM </a:t>
            </a: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전문기업의 </a:t>
            </a:r>
            <a:r>
              <a:rPr lang="ko-KR" altLang="en-US" sz="1400" dirty="0">
                <a:solidFill>
                  <a:srgbClr val="000000"/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직영 인력에 의한 품질 보증</a:t>
            </a:r>
            <a:endParaRPr lang="en-US" altLang="ko-KR" sz="1400" dirty="0">
              <a:solidFill>
                <a:srgbClr val="000000"/>
              </a:solidFill>
              <a:highlight>
                <a:srgbClr val="FFFF00"/>
              </a:highlight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□ 당사 파트너사의 </a:t>
            </a:r>
            <a:r>
              <a:rPr lang="ko-KR" altLang="en-US" sz="1400" dirty="0">
                <a:solidFill>
                  <a:srgbClr val="000000"/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하자 발생에 대한 책임 보증</a:t>
            </a:r>
            <a:endParaRPr lang="en-US" altLang="ko-KR" sz="1400" dirty="0">
              <a:solidFill>
                <a:srgbClr val="000000"/>
              </a:solidFill>
              <a:highlight>
                <a:srgbClr val="FFFF00"/>
              </a:highlight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9F8E63D-B40A-431E-9E0D-2F7E9C895E3F}"/>
              </a:ext>
            </a:extLst>
          </p:cNvPr>
          <p:cNvSpPr txBox="1"/>
          <p:nvPr/>
        </p:nvSpPr>
        <p:spPr>
          <a:xfrm>
            <a:off x="3175485" y="2335437"/>
            <a:ext cx="880077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□ 수선공사 기준 가격 제공으로 고객의 </a:t>
            </a:r>
            <a:r>
              <a:rPr lang="ko-KR" altLang="en-US" sz="1400" dirty="0">
                <a:solidFill>
                  <a:srgbClr val="000000"/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수선 계획 수립 및 업체간 가격 비교의 편의성 제공</a:t>
            </a:r>
            <a:endParaRPr lang="en-US" altLang="ko-KR" sz="1400" dirty="0">
              <a:solidFill>
                <a:srgbClr val="000000"/>
              </a:solidFill>
              <a:highlight>
                <a:srgbClr val="FFFF00"/>
              </a:highlight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□ 수선업체 탐색</a:t>
            </a:r>
            <a:r>
              <a:rPr lang="en-US" altLang="ko-KR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altLang="ko-KR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문의</a:t>
            </a:r>
            <a:r>
              <a:rPr lang="en-US" altLang="ko-KR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가격협의 등 비전문분야인 수선업무로 인한 </a:t>
            </a:r>
            <a:r>
              <a:rPr lang="ko-KR" altLang="en-US" sz="1400" dirty="0">
                <a:solidFill>
                  <a:srgbClr val="000000"/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고객의 시간과 대면 미팅에 따른 부담 감소</a:t>
            </a:r>
            <a:endParaRPr lang="en-US" altLang="ko-KR" sz="1400" dirty="0">
              <a:solidFill>
                <a:srgbClr val="000000"/>
              </a:solidFill>
              <a:highlight>
                <a:srgbClr val="FFFF00"/>
              </a:highlight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□ 고객 선택의 자유 보장 </a:t>
            </a:r>
            <a:r>
              <a:rPr lang="en-US" altLang="ko-KR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고객이 직접 발주한 </a:t>
            </a:r>
            <a:r>
              <a:rPr lang="ko-KR" altLang="en-US" sz="1400" dirty="0">
                <a:solidFill>
                  <a:srgbClr val="000000"/>
                </a:solidFill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타 업체가 수행한 수선공사도 무료 하자 점검</a:t>
            </a: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정기 점검 리포트에 포함</a:t>
            </a:r>
            <a:r>
              <a:rPr lang="en-US" altLang="ko-KR" sz="14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4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9" name="Text Box 34">
            <a:extLst>
              <a:ext uri="{FF2B5EF4-FFF2-40B4-BE49-F238E27FC236}">
                <a16:creationId xmlns:a16="http://schemas.microsoft.com/office/drawing/2014/main" id="{8D8FB4ED-7521-4AEE-A162-529511081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2582" y="801482"/>
            <a:ext cx="9835725" cy="102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marL="171450" indent="-171450" algn="l" defTabSz="4572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  <a:defRPr/>
            </a:pPr>
            <a:r>
              <a:rPr lang="en-US" altLang="ko-KR" sz="14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lang="ko-KR" altLang="en-US" sz="14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똥도 약에 쓰려면 없다＂ 정보의 홍수에 살고 있어도 정작 수선업무와 관련하여 속 시원하게 가격을 오픈하여 상담할 수 있는 곳을 찾을 수 없다</a:t>
            </a:r>
            <a:r>
              <a:rPr lang="en-US" altLang="ko-KR" sz="14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71450" indent="-171450" algn="l" defTabSz="4572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  <a:defRPr/>
            </a:pPr>
            <a:r>
              <a:rPr lang="ko-KR" altLang="en-US" sz="14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비전문가인 내가 전문가인 그 들과 협의한들 </a:t>
            </a:r>
            <a:r>
              <a:rPr lang="ko-KR" altLang="en-US" sz="1400" spc="-70" dirty="0" err="1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눈땡이</a:t>
            </a:r>
            <a:r>
              <a:rPr lang="ko-KR" altLang="en-US" sz="14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맞지 않는다는 보장이 어디 있는가</a:t>
            </a:r>
            <a:r>
              <a:rPr lang="en-US" altLang="ko-KR" sz="14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 </a:t>
            </a:r>
          </a:p>
          <a:p>
            <a:pPr algn="l" defTabSz="4572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4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믿고 맡길 수 있는 그런 곳이라면 </a:t>
            </a:r>
            <a:r>
              <a:rPr lang="en-US" altLang="ko-KR" sz="14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S&amp;I corp. </a:t>
            </a:r>
            <a:r>
              <a:rPr lang="ko-KR" altLang="en-US" sz="14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가</a:t>
            </a:r>
            <a:r>
              <a:rPr lang="en-US" altLang="ko-KR" sz="14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14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대안이 될 수 있겠구나 </a:t>
            </a:r>
            <a:r>
              <a:rPr lang="en-US" altLang="ko-KR" sz="14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!!</a:t>
            </a:r>
            <a:endParaRPr lang="en-US" altLang="ko-KR" sz="1400" spc="-7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2" name="Freeform 9">
            <a:extLst>
              <a:ext uri="{FF2B5EF4-FFF2-40B4-BE49-F238E27FC236}">
                <a16:creationId xmlns:a16="http://schemas.microsoft.com/office/drawing/2014/main" id="{D05A6387-96AB-4545-8DD4-514271EA6161}"/>
              </a:ext>
            </a:extLst>
          </p:cNvPr>
          <p:cNvSpPr>
            <a:spLocks/>
          </p:cNvSpPr>
          <p:nvPr/>
        </p:nvSpPr>
        <p:spPr bwMode="auto">
          <a:xfrm>
            <a:off x="3404114" y="2335437"/>
            <a:ext cx="238060" cy="181161"/>
          </a:xfrm>
          <a:custGeom>
            <a:avLst/>
            <a:gdLst>
              <a:gd name="T0" fmla="*/ 651 w 679"/>
              <a:gd name="T1" fmla="*/ 15 h 629"/>
              <a:gd name="T2" fmla="*/ 581 w 679"/>
              <a:gd name="T3" fmla="*/ 25 h 629"/>
              <a:gd name="T4" fmla="*/ 182 w 679"/>
              <a:gd name="T5" fmla="*/ 442 h 629"/>
              <a:gd name="T6" fmla="*/ 97 w 679"/>
              <a:gd name="T7" fmla="*/ 383 h 629"/>
              <a:gd name="T8" fmla="*/ 25 w 679"/>
              <a:gd name="T9" fmla="*/ 376 h 629"/>
              <a:gd name="T10" fmla="*/ 17 w 679"/>
              <a:gd name="T11" fmla="*/ 439 h 629"/>
              <a:gd name="T12" fmla="*/ 185 w 679"/>
              <a:gd name="T13" fmla="*/ 629 h 629"/>
              <a:gd name="T14" fmla="*/ 663 w 679"/>
              <a:gd name="T15" fmla="*/ 78 h 629"/>
              <a:gd name="T16" fmla="*/ 651 w 679"/>
              <a:gd name="T17" fmla="*/ 15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79" h="629">
                <a:moveTo>
                  <a:pt x="651" y="15"/>
                </a:moveTo>
                <a:cubicBezTo>
                  <a:pt x="629" y="0"/>
                  <a:pt x="597" y="5"/>
                  <a:pt x="581" y="25"/>
                </a:cubicBezTo>
                <a:cubicBezTo>
                  <a:pt x="182" y="442"/>
                  <a:pt x="182" y="442"/>
                  <a:pt x="182" y="442"/>
                </a:cubicBezTo>
                <a:cubicBezTo>
                  <a:pt x="97" y="383"/>
                  <a:pt x="97" y="383"/>
                  <a:pt x="97" y="383"/>
                </a:cubicBezTo>
                <a:cubicBezTo>
                  <a:pt x="79" y="364"/>
                  <a:pt x="47" y="361"/>
                  <a:pt x="25" y="376"/>
                </a:cubicBezTo>
                <a:cubicBezTo>
                  <a:pt x="3" y="391"/>
                  <a:pt x="0" y="420"/>
                  <a:pt x="17" y="439"/>
                </a:cubicBezTo>
                <a:cubicBezTo>
                  <a:pt x="185" y="629"/>
                  <a:pt x="185" y="629"/>
                  <a:pt x="185" y="629"/>
                </a:cubicBezTo>
                <a:cubicBezTo>
                  <a:pt x="663" y="78"/>
                  <a:pt x="663" y="78"/>
                  <a:pt x="663" y="78"/>
                </a:cubicBezTo>
                <a:cubicBezTo>
                  <a:pt x="679" y="58"/>
                  <a:pt x="674" y="29"/>
                  <a:pt x="651" y="15"/>
                </a:cubicBezTo>
                <a:close/>
              </a:path>
            </a:pathLst>
          </a:custGeom>
          <a:solidFill>
            <a:srgbClr val="C00C3F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algn="ctr" latinLnBrk="0"/>
            <a:endParaRPr lang="ko-KR" altLang="en-US" sz="1200" spc="-1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3" name="Freeform 9">
            <a:extLst>
              <a:ext uri="{FF2B5EF4-FFF2-40B4-BE49-F238E27FC236}">
                <a16:creationId xmlns:a16="http://schemas.microsoft.com/office/drawing/2014/main" id="{62ECA957-50FC-4999-8508-7FE11E350411}"/>
              </a:ext>
            </a:extLst>
          </p:cNvPr>
          <p:cNvSpPr>
            <a:spLocks/>
          </p:cNvSpPr>
          <p:nvPr/>
        </p:nvSpPr>
        <p:spPr bwMode="auto">
          <a:xfrm>
            <a:off x="3404114" y="2700983"/>
            <a:ext cx="238060" cy="181161"/>
          </a:xfrm>
          <a:custGeom>
            <a:avLst/>
            <a:gdLst>
              <a:gd name="T0" fmla="*/ 651 w 679"/>
              <a:gd name="T1" fmla="*/ 15 h 629"/>
              <a:gd name="T2" fmla="*/ 581 w 679"/>
              <a:gd name="T3" fmla="*/ 25 h 629"/>
              <a:gd name="T4" fmla="*/ 182 w 679"/>
              <a:gd name="T5" fmla="*/ 442 h 629"/>
              <a:gd name="T6" fmla="*/ 97 w 679"/>
              <a:gd name="T7" fmla="*/ 383 h 629"/>
              <a:gd name="T8" fmla="*/ 25 w 679"/>
              <a:gd name="T9" fmla="*/ 376 h 629"/>
              <a:gd name="T10" fmla="*/ 17 w 679"/>
              <a:gd name="T11" fmla="*/ 439 h 629"/>
              <a:gd name="T12" fmla="*/ 185 w 679"/>
              <a:gd name="T13" fmla="*/ 629 h 629"/>
              <a:gd name="T14" fmla="*/ 663 w 679"/>
              <a:gd name="T15" fmla="*/ 78 h 629"/>
              <a:gd name="T16" fmla="*/ 651 w 679"/>
              <a:gd name="T17" fmla="*/ 15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79" h="629">
                <a:moveTo>
                  <a:pt x="651" y="15"/>
                </a:moveTo>
                <a:cubicBezTo>
                  <a:pt x="629" y="0"/>
                  <a:pt x="597" y="5"/>
                  <a:pt x="581" y="25"/>
                </a:cubicBezTo>
                <a:cubicBezTo>
                  <a:pt x="182" y="442"/>
                  <a:pt x="182" y="442"/>
                  <a:pt x="182" y="442"/>
                </a:cubicBezTo>
                <a:cubicBezTo>
                  <a:pt x="97" y="383"/>
                  <a:pt x="97" y="383"/>
                  <a:pt x="97" y="383"/>
                </a:cubicBezTo>
                <a:cubicBezTo>
                  <a:pt x="79" y="364"/>
                  <a:pt x="47" y="361"/>
                  <a:pt x="25" y="376"/>
                </a:cubicBezTo>
                <a:cubicBezTo>
                  <a:pt x="3" y="391"/>
                  <a:pt x="0" y="420"/>
                  <a:pt x="17" y="439"/>
                </a:cubicBezTo>
                <a:cubicBezTo>
                  <a:pt x="185" y="629"/>
                  <a:pt x="185" y="629"/>
                  <a:pt x="185" y="629"/>
                </a:cubicBezTo>
                <a:cubicBezTo>
                  <a:pt x="663" y="78"/>
                  <a:pt x="663" y="78"/>
                  <a:pt x="663" y="78"/>
                </a:cubicBezTo>
                <a:cubicBezTo>
                  <a:pt x="679" y="58"/>
                  <a:pt x="674" y="29"/>
                  <a:pt x="651" y="15"/>
                </a:cubicBezTo>
                <a:close/>
              </a:path>
            </a:pathLst>
          </a:custGeom>
          <a:solidFill>
            <a:srgbClr val="C00C3F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algn="ctr" latinLnBrk="0"/>
            <a:endParaRPr lang="ko-KR" altLang="en-US" sz="1200" spc="-1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4" name="Freeform 9">
            <a:extLst>
              <a:ext uri="{FF2B5EF4-FFF2-40B4-BE49-F238E27FC236}">
                <a16:creationId xmlns:a16="http://schemas.microsoft.com/office/drawing/2014/main" id="{2F92DECE-0FBB-4B26-895A-F6FE1EA0A337}"/>
              </a:ext>
            </a:extLst>
          </p:cNvPr>
          <p:cNvSpPr>
            <a:spLocks/>
          </p:cNvSpPr>
          <p:nvPr/>
        </p:nvSpPr>
        <p:spPr bwMode="auto">
          <a:xfrm>
            <a:off x="4418418" y="4318674"/>
            <a:ext cx="238060" cy="181161"/>
          </a:xfrm>
          <a:custGeom>
            <a:avLst/>
            <a:gdLst>
              <a:gd name="T0" fmla="*/ 651 w 679"/>
              <a:gd name="T1" fmla="*/ 15 h 629"/>
              <a:gd name="T2" fmla="*/ 581 w 679"/>
              <a:gd name="T3" fmla="*/ 25 h 629"/>
              <a:gd name="T4" fmla="*/ 182 w 679"/>
              <a:gd name="T5" fmla="*/ 442 h 629"/>
              <a:gd name="T6" fmla="*/ 97 w 679"/>
              <a:gd name="T7" fmla="*/ 383 h 629"/>
              <a:gd name="T8" fmla="*/ 25 w 679"/>
              <a:gd name="T9" fmla="*/ 376 h 629"/>
              <a:gd name="T10" fmla="*/ 17 w 679"/>
              <a:gd name="T11" fmla="*/ 439 h 629"/>
              <a:gd name="T12" fmla="*/ 185 w 679"/>
              <a:gd name="T13" fmla="*/ 629 h 629"/>
              <a:gd name="T14" fmla="*/ 663 w 679"/>
              <a:gd name="T15" fmla="*/ 78 h 629"/>
              <a:gd name="T16" fmla="*/ 651 w 679"/>
              <a:gd name="T17" fmla="*/ 15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79" h="629">
                <a:moveTo>
                  <a:pt x="651" y="15"/>
                </a:moveTo>
                <a:cubicBezTo>
                  <a:pt x="629" y="0"/>
                  <a:pt x="597" y="5"/>
                  <a:pt x="581" y="25"/>
                </a:cubicBezTo>
                <a:cubicBezTo>
                  <a:pt x="182" y="442"/>
                  <a:pt x="182" y="442"/>
                  <a:pt x="182" y="442"/>
                </a:cubicBezTo>
                <a:cubicBezTo>
                  <a:pt x="97" y="383"/>
                  <a:pt x="97" y="383"/>
                  <a:pt x="97" y="383"/>
                </a:cubicBezTo>
                <a:cubicBezTo>
                  <a:pt x="79" y="364"/>
                  <a:pt x="47" y="361"/>
                  <a:pt x="25" y="376"/>
                </a:cubicBezTo>
                <a:cubicBezTo>
                  <a:pt x="3" y="391"/>
                  <a:pt x="0" y="420"/>
                  <a:pt x="17" y="439"/>
                </a:cubicBezTo>
                <a:cubicBezTo>
                  <a:pt x="185" y="629"/>
                  <a:pt x="185" y="629"/>
                  <a:pt x="185" y="629"/>
                </a:cubicBezTo>
                <a:cubicBezTo>
                  <a:pt x="663" y="78"/>
                  <a:pt x="663" y="78"/>
                  <a:pt x="663" y="78"/>
                </a:cubicBezTo>
                <a:cubicBezTo>
                  <a:pt x="679" y="58"/>
                  <a:pt x="674" y="29"/>
                  <a:pt x="651" y="15"/>
                </a:cubicBezTo>
                <a:close/>
              </a:path>
            </a:pathLst>
          </a:custGeom>
          <a:solidFill>
            <a:srgbClr val="C00C3F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algn="ctr" latinLnBrk="0"/>
            <a:endParaRPr lang="ko-KR" altLang="en-US" sz="1200" spc="-1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5" name="Freeform 9">
            <a:extLst>
              <a:ext uri="{FF2B5EF4-FFF2-40B4-BE49-F238E27FC236}">
                <a16:creationId xmlns:a16="http://schemas.microsoft.com/office/drawing/2014/main" id="{1835729C-73DF-4244-89D2-4C74E9161B6E}"/>
              </a:ext>
            </a:extLst>
          </p:cNvPr>
          <p:cNvSpPr>
            <a:spLocks/>
          </p:cNvSpPr>
          <p:nvPr/>
        </p:nvSpPr>
        <p:spPr bwMode="auto">
          <a:xfrm>
            <a:off x="4418418" y="4698567"/>
            <a:ext cx="238060" cy="181161"/>
          </a:xfrm>
          <a:custGeom>
            <a:avLst/>
            <a:gdLst>
              <a:gd name="T0" fmla="*/ 651 w 679"/>
              <a:gd name="T1" fmla="*/ 15 h 629"/>
              <a:gd name="T2" fmla="*/ 581 w 679"/>
              <a:gd name="T3" fmla="*/ 25 h 629"/>
              <a:gd name="T4" fmla="*/ 182 w 679"/>
              <a:gd name="T5" fmla="*/ 442 h 629"/>
              <a:gd name="T6" fmla="*/ 97 w 679"/>
              <a:gd name="T7" fmla="*/ 383 h 629"/>
              <a:gd name="T8" fmla="*/ 25 w 679"/>
              <a:gd name="T9" fmla="*/ 376 h 629"/>
              <a:gd name="T10" fmla="*/ 17 w 679"/>
              <a:gd name="T11" fmla="*/ 439 h 629"/>
              <a:gd name="T12" fmla="*/ 185 w 679"/>
              <a:gd name="T13" fmla="*/ 629 h 629"/>
              <a:gd name="T14" fmla="*/ 663 w 679"/>
              <a:gd name="T15" fmla="*/ 78 h 629"/>
              <a:gd name="T16" fmla="*/ 651 w 679"/>
              <a:gd name="T17" fmla="*/ 15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79" h="629">
                <a:moveTo>
                  <a:pt x="651" y="15"/>
                </a:moveTo>
                <a:cubicBezTo>
                  <a:pt x="629" y="0"/>
                  <a:pt x="597" y="5"/>
                  <a:pt x="581" y="25"/>
                </a:cubicBezTo>
                <a:cubicBezTo>
                  <a:pt x="182" y="442"/>
                  <a:pt x="182" y="442"/>
                  <a:pt x="182" y="442"/>
                </a:cubicBezTo>
                <a:cubicBezTo>
                  <a:pt x="97" y="383"/>
                  <a:pt x="97" y="383"/>
                  <a:pt x="97" y="383"/>
                </a:cubicBezTo>
                <a:cubicBezTo>
                  <a:pt x="79" y="364"/>
                  <a:pt x="47" y="361"/>
                  <a:pt x="25" y="376"/>
                </a:cubicBezTo>
                <a:cubicBezTo>
                  <a:pt x="3" y="391"/>
                  <a:pt x="0" y="420"/>
                  <a:pt x="17" y="439"/>
                </a:cubicBezTo>
                <a:cubicBezTo>
                  <a:pt x="185" y="629"/>
                  <a:pt x="185" y="629"/>
                  <a:pt x="185" y="629"/>
                </a:cubicBezTo>
                <a:cubicBezTo>
                  <a:pt x="663" y="78"/>
                  <a:pt x="663" y="78"/>
                  <a:pt x="663" y="78"/>
                </a:cubicBezTo>
                <a:cubicBezTo>
                  <a:pt x="679" y="58"/>
                  <a:pt x="674" y="29"/>
                  <a:pt x="651" y="15"/>
                </a:cubicBezTo>
                <a:close/>
              </a:path>
            </a:pathLst>
          </a:custGeom>
          <a:solidFill>
            <a:srgbClr val="C00C3F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algn="ctr" latinLnBrk="0"/>
            <a:endParaRPr lang="ko-KR" altLang="en-US" sz="1200" spc="-1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6" name="Freeform 9">
            <a:extLst>
              <a:ext uri="{FF2B5EF4-FFF2-40B4-BE49-F238E27FC236}">
                <a16:creationId xmlns:a16="http://schemas.microsoft.com/office/drawing/2014/main" id="{FF65E970-A3CA-4DCD-98A2-81837CBB1981}"/>
              </a:ext>
            </a:extLst>
          </p:cNvPr>
          <p:cNvSpPr>
            <a:spLocks/>
          </p:cNvSpPr>
          <p:nvPr/>
        </p:nvSpPr>
        <p:spPr bwMode="auto">
          <a:xfrm>
            <a:off x="732530" y="5549316"/>
            <a:ext cx="238060" cy="181161"/>
          </a:xfrm>
          <a:custGeom>
            <a:avLst/>
            <a:gdLst>
              <a:gd name="T0" fmla="*/ 651 w 679"/>
              <a:gd name="T1" fmla="*/ 15 h 629"/>
              <a:gd name="T2" fmla="*/ 581 w 679"/>
              <a:gd name="T3" fmla="*/ 25 h 629"/>
              <a:gd name="T4" fmla="*/ 182 w 679"/>
              <a:gd name="T5" fmla="*/ 442 h 629"/>
              <a:gd name="T6" fmla="*/ 97 w 679"/>
              <a:gd name="T7" fmla="*/ 383 h 629"/>
              <a:gd name="T8" fmla="*/ 25 w 679"/>
              <a:gd name="T9" fmla="*/ 376 h 629"/>
              <a:gd name="T10" fmla="*/ 17 w 679"/>
              <a:gd name="T11" fmla="*/ 439 h 629"/>
              <a:gd name="T12" fmla="*/ 185 w 679"/>
              <a:gd name="T13" fmla="*/ 629 h 629"/>
              <a:gd name="T14" fmla="*/ 663 w 679"/>
              <a:gd name="T15" fmla="*/ 78 h 629"/>
              <a:gd name="T16" fmla="*/ 651 w 679"/>
              <a:gd name="T17" fmla="*/ 15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79" h="629">
                <a:moveTo>
                  <a:pt x="651" y="15"/>
                </a:moveTo>
                <a:cubicBezTo>
                  <a:pt x="629" y="0"/>
                  <a:pt x="597" y="5"/>
                  <a:pt x="581" y="25"/>
                </a:cubicBezTo>
                <a:cubicBezTo>
                  <a:pt x="182" y="442"/>
                  <a:pt x="182" y="442"/>
                  <a:pt x="182" y="442"/>
                </a:cubicBezTo>
                <a:cubicBezTo>
                  <a:pt x="97" y="383"/>
                  <a:pt x="97" y="383"/>
                  <a:pt x="97" y="383"/>
                </a:cubicBezTo>
                <a:cubicBezTo>
                  <a:pt x="79" y="364"/>
                  <a:pt x="47" y="361"/>
                  <a:pt x="25" y="376"/>
                </a:cubicBezTo>
                <a:cubicBezTo>
                  <a:pt x="3" y="391"/>
                  <a:pt x="0" y="420"/>
                  <a:pt x="17" y="439"/>
                </a:cubicBezTo>
                <a:cubicBezTo>
                  <a:pt x="185" y="629"/>
                  <a:pt x="185" y="629"/>
                  <a:pt x="185" y="629"/>
                </a:cubicBezTo>
                <a:cubicBezTo>
                  <a:pt x="663" y="78"/>
                  <a:pt x="663" y="78"/>
                  <a:pt x="663" y="78"/>
                </a:cubicBezTo>
                <a:cubicBezTo>
                  <a:pt x="679" y="58"/>
                  <a:pt x="674" y="29"/>
                  <a:pt x="651" y="15"/>
                </a:cubicBezTo>
                <a:close/>
              </a:path>
            </a:pathLst>
          </a:custGeom>
          <a:solidFill>
            <a:srgbClr val="C00C3F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algn="ctr" latinLnBrk="0"/>
            <a:endParaRPr lang="ko-KR" altLang="en-US" sz="1200" spc="-1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7" name="Freeform 9">
            <a:extLst>
              <a:ext uri="{FF2B5EF4-FFF2-40B4-BE49-F238E27FC236}">
                <a16:creationId xmlns:a16="http://schemas.microsoft.com/office/drawing/2014/main" id="{B39C8314-1A20-46E2-8C9A-3F4C85174282}"/>
              </a:ext>
            </a:extLst>
          </p:cNvPr>
          <p:cNvSpPr>
            <a:spLocks/>
          </p:cNvSpPr>
          <p:nvPr/>
        </p:nvSpPr>
        <p:spPr bwMode="auto">
          <a:xfrm>
            <a:off x="732530" y="5904888"/>
            <a:ext cx="238060" cy="181161"/>
          </a:xfrm>
          <a:custGeom>
            <a:avLst/>
            <a:gdLst>
              <a:gd name="T0" fmla="*/ 651 w 679"/>
              <a:gd name="T1" fmla="*/ 15 h 629"/>
              <a:gd name="T2" fmla="*/ 581 w 679"/>
              <a:gd name="T3" fmla="*/ 25 h 629"/>
              <a:gd name="T4" fmla="*/ 182 w 679"/>
              <a:gd name="T5" fmla="*/ 442 h 629"/>
              <a:gd name="T6" fmla="*/ 97 w 679"/>
              <a:gd name="T7" fmla="*/ 383 h 629"/>
              <a:gd name="T8" fmla="*/ 25 w 679"/>
              <a:gd name="T9" fmla="*/ 376 h 629"/>
              <a:gd name="T10" fmla="*/ 17 w 679"/>
              <a:gd name="T11" fmla="*/ 439 h 629"/>
              <a:gd name="T12" fmla="*/ 185 w 679"/>
              <a:gd name="T13" fmla="*/ 629 h 629"/>
              <a:gd name="T14" fmla="*/ 663 w 679"/>
              <a:gd name="T15" fmla="*/ 78 h 629"/>
              <a:gd name="T16" fmla="*/ 651 w 679"/>
              <a:gd name="T17" fmla="*/ 15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79" h="629">
                <a:moveTo>
                  <a:pt x="651" y="15"/>
                </a:moveTo>
                <a:cubicBezTo>
                  <a:pt x="629" y="0"/>
                  <a:pt x="597" y="5"/>
                  <a:pt x="581" y="25"/>
                </a:cubicBezTo>
                <a:cubicBezTo>
                  <a:pt x="182" y="442"/>
                  <a:pt x="182" y="442"/>
                  <a:pt x="182" y="442"/>
                </a:cubicBezTo>
                <a:cubicBezTo>
                  <a:pt x="97" y="383"/>
                  <a:pt x="97" y="383"/>
                  <a:pt x="97" y="383"/>
                </a:cubicBezTo>
                <a:cubicBezTo>
                  <a:pt x="79" y="364"/>
                  <a:pt x="47" y="361"/>
                  <a:pt x="25" y="376"/>
                </a:cubicBezTo>
                <a:cubicBezTo>
                  <a:pt x="3" y="391"/>
                  <a:pt x="0" y="420"/>
                  <a:pt x="17" y="439"/>
                </a:cubicBezTo>
                <a:cubicBezTo>
                  <a:pt x="185" y="629"/>
                  <a:pt x="185" y="629"/>
                  <a:pt x="185" y="629"/>
                </a:cubicBezTo>
                <a:cubicBezTo>
                  <a:pt x="663" y="78"/>
                  <a:pt x="663" y="78"/>
                  <a:pt x="663" y="78"/>
                </a:cubicBezTo>
                <a:cubicBezTo>
                  <a:pt x="679" y="58"/>
                  <a:pt x="674" y="29"/>
                  <a:pt x="651" y="15"/>
                </a:cubicBezTo>
                <a:close/>
              </a:path>
            </a:pathLst>
          </a:custGeom>
          <a:solidFill>
            <a:srgbClr val="C00C3F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algn="ctr" latinLnBrk="0"/>
            <a:endParaRPr lang="ko-KR" altLang="en-US" sz="1200" spc="-1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8" name="Freeform 9">
            <a:extLst>
              <a:ext uri="{FF2B5EF4-FFF2-40B4-BE49-F238E27FC236}">
                <a16:creationId xmlns:a16="http://schemas.microsoft.com/office/drawing/2014/main" id="{958E487D-28E0-4771-BD79-FDD5CC62A9FD}"/>
              </a:ext>
            </a:extLst>
          </p:cNvPr>
          <p:cNvSpPr>
            <a:spLocks/>
          </p:cNvSpPr>
          <p:nvPr/>
        </p:nvSpPr>
        <p:spPr bwMode="auto">
          <a:xfrm>
            <a:off x="3404114" y="3071802"/>
            <a:ext cx="238060" cy="181161"/>
          </a:xfrm>
          <a:custGeom>
            <a:avLst/>
            <a:gdLst>
              <a:gd name="T0" fmla="*/ 651 w 679"/>
              <a:gd name="T1" fmla="*/ 15 h 629"/>
              <a:gd name="T2" fmla="*/ 581 w 679"/>
              <a:gd name="T3" fmla="*/ 25 h 629"/>
              <a:gd name="T4" fmla="*/ 182 w 679"/>
              <a:gd name="T5" fmla="*/ 442 h 629"/>
              <a:gd name="T6" fmla="*/ 97 w 679"/>
              <a:gd name="T7" fmla="*/ 383 h 629"/>
              <a:gd name="T8" fmla="*/ 25 w 679"/>
              <a:gd name="T9" fmla="*/ 376 h 629"/>
              <a:gd name="T10" fmla="*/ 17 w 679"/>
              <a:gd name="T11" fmla="*/ 439 h 629"/>
              <a:gd name="T12" fmla="*/ 185 w 679"/>
              <a:gd name="T13" fmla="*/ 629 h 629"/>
              <a:gd name="T14" fmla="*/ 663 w 679"/>
              <a:gd name="T15" fmla="*/ 78 h 629"/>
              <a:gd name="T16" fmla="*/ 651 w 679"/>
              <a:gd name="T17" fmla="*/ 15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79" h="629">
                <a:moveTo>
                  <a:pt x="651" y="15"/>
                </a:moveTo>
                <a:cubicBezTo>
                  <a:pt x="629" y="0"/>
                  <a:pt x="597" y="5"/>
                  <a:pt x="581" y="25"/>
                </a:cubicBezTo>
                <a:cubicBezTo>
                  <a:pt x="182" y="442"/>
                  <a:pt x="182" y="442"/>
                  <a:pt x="182" y="442"/>
                </a:cubicBezTo>
                <a:cubicBezTo>
                  <a:pt x="97" y="383"/>
                  <a:pt x="97" y="383"/>
                  <a:pt x="97" y="383"/>
                </a:cubicBezTo>
                <a:cubicBezTo>
                  <a:pt x="79" y="364"/>
                  <a:pt x="47" y="361"/>
                  <a:pt x="25" y="376"/>
                </a:cubicBezTo>
                <a:cubicBezTo>
                  <a:pt x="3" y="391"/>
                  <a:pt x="0" y="420"/>
                  <a:pt x="17" y="439"/>
                </a:cubicBezTo>
                <a:cubicBezTo>
                  <a:pt x="185" y="629"/>
                  <a:pt x="185" y="629"/>
                  <a:pt x="185" y="629"/>
                </a:cubicBezTo>
                <a:cubicBezTo>
                  <a:pt x="663" y="78"/>
                  <a:pt x="663" y="78"/>
                  <a:pt x="663" y="78"/>
                </a:cubicBezTo>
                <a:cubicBezTo>
                  <a:pt x="679" y="58"/>
                  <a:pt x="674" y="29"/>
                  <a:pt x="651" y="15"/>
                </a:cubicBezTo>
                <a:close/>
              </a:path>
            </a:pathLst>
          </a:custGeom>
          <a:solidFill>
            <a:srgbClr val="C00C3F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algn="ctr" latinLnBrk="0"/>
            <a:endParaRPr lang="ko-KR" altLang="en-US" sz="1200" spc="-1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7151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" name="직선 화살표 연결선 182">
            <a:extLst>
              <a:ext uri="{FF2B5EF4-FFF2-40B4-BE49-F238E27FC236}">
                <a16:creationId xmlns:a16="http://schemas.microsoft.com/office/drawing/2014/main" id="{D5CA7B80-616F-4718-95D6-D47E8D4A2C8E}"/>
              </a:ext>
            </a:extLst>
          </p:cNvPr>
          <p:cNvCxnSpPr>
            <a:cxnSpLocks/>
            <a:endCxn id="88" idx="0"/>
          </p:cNvCxnSpPr>
          <p:nvPr/>
        </p:nvCxnSpPr>
        <p:spPr>
          <a:xfrm>
            <a:off x="5702454" y="2594206"/>
            <a:ext cx="6413" cy="106394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80A55996-C5D6-4F0F-A820-33B38B55A549}"/>
              </a:ext>
            </a:extLst>
          </p:cNvPr>
          <p:cNvCxnSpPr/>
          <p:nvPr/>
        </p:nvCxnSpPr>
        <p:spPr>
          <a:xfrm>
            <a:off x="0" y="5687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2780A97-48D0-4310-8879-7557FB9915A9}"/>
              </a:ext>
            </a:extLst>
          </p:cNvPr>
          <p:cNvSpPr txBox="1"/>
          <p:nvPr/>
        </p:nvSpPr>
        <p:spPr>
          <a:xfrm>
            <a:off x="249382" y="116378"/>
            <a:ext cx="651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비상주 시설물 순회 점검 서비스 수선 업무 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Process</a:t>
            </a:r>
            <a:endParaRPr lang="ko-KR" altLang="en-US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Rectangle 75">
            <a:extLst>
              <a:ext uri="{FF2B5EF4-FFF2-40B4-BE49-F238E27FC236}">
                <a16:creationId xmlns:a16="http://schemas.microsoft.com/office/drawing/2014/main" id="{620EECC6-FFD9-4E2E-A288-39DB5BE58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48" y="1130446"/>
            <a:ext cx="875404" cy="377753"/>
          </a:xfrm>
          <a:prstGeom prst="roundRect">
            <a:avLst/>
          </a:prstGeom>
          <a:noFill/>
          <a:ln w="6350">
            <a:noFill/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gradFill>
                  <a:gsLst>
                    <a:gs pos="96000">
                      <a:schemeClr val="tx1">
                        <a:lumMod val="85000"/>
                        <a:lumOff val="15000"/>
                      </a:schemeClr>
                    </a:gs>
                    <a:gs pos="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HY견고딕" panose="02030600000101010101" pitchFamily="18" charset="-127"/>
                <a:ea typeface="HY견고딕" panose="02030600000101010101" pitchFamily="18" charset="-127"/>
              </a:rPr>
              <a:t>고객</a:t>
            </a:r>
            <a:endParaRPr lang="ko-KR" altLang="en-US" sz="12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gradFill>
                <a:gsLst>
                  <a:gs pos="96000">
                    <a:schemeClr val="tx1">
                      <a:lumMod val="85000"/>
                      <a:lumOff val="15000"/>
                    </a:schemeClr>
                  </a:gs>
                  <a:gs pos="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FC5F151-FF08-4C1C-B877-6FE6FBECF883}"/>
              </a:ext>
            </a:extLst>
          </p:cNvPr>
          <p:cNvSpPr/>
          <p:nvPr/>
        </p:nvSpPr>
        <p:spPr>
          <a:xfrm>
            <a:off x="249380" y="5667634"/>
            <a:ext cx="694235" cy="69423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ko-KR" altLang="en-US" sz="900" dirty="0">
              <a:hlinkClick r:id="rId2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C24B8B6-8A90-4095-BF58-BC233EB55CE2}"/>
              </a:ext>
            </a:extLst>
          </p:cNvPr>
          <p:cNvSpPr/>
          <p:nvPr/>
        </p:nvSpPr>
        <p:spPr>
          <a:xfrm rot="5400000">
            <a:off x="-1145690" y="3342982"/>
            <a:ext cx="3506074" cy="69423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ko-KR" altLang="en-US" sz="900" dirty="0">
              <a:hlinkClick r:id="rId2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8C25FFC-AA5B-425F-BF81-5EA88A9630B3}"/>
              </a:ext>
            </a:extLst>
          </p:cNvPr>
          <p:cNvSpPr/>
          <p:nvPr/>
        </p:nvSpPr>
        <p:spPr bwMode="auto">
          <a:xfrm>
            <a:off x="8294011" y="3654608"/>
            <a:ext cx="1202414" cy="42424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대금 정산</a:t>
            </a:r>
            <a:endParaRPr lang="en-US" altLang="ko-KR" sz="1100" spc="-100" dirty="0">
              <a:solidFill>
                <a:schemeClr val="accent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8474CA9-EE5D-4453-9DF5-A5F9B2BC7E61}"/>
              </a:ext>
            </a:extLst>
          </p:cNvPr>
          <p:cNvSpPr txBox="1"/>
          <p:nvPr/>
        </p:nvSpPr>
        <p:spPr>
          <a:xfrm>
            <a:off x="2295870" y="2985464"/>
            <a:ext cx="4469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EBFAEC6-74CC-4D24-8F7D-73DCAC37354D}"/>
              </a:ext>
            </a:extLst>
          </p:cNvPr>
          <p:cNvSpPr/>
          <p:nvPr/>
        </p:nvSpPr>
        <p:spPr bwMode="auto">
          <a:xfrm>
            <a:off x="1219877" y="3939082"/>
            <a:ext cx="1322281" cy="4171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영상등록</a:t>
            </a:r>
            <a:r>
              <a:rPr lang="en-US" altLang="ko-KR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필요 </a:t>
            </a:r>
            <a:r>
              <a:rPr lang="ko-KR" altLang="en-US" sz="1100" spc="-100" dirty="0" err="1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부품명</a:t>
            </a:r>
            <a:r>
              <a:rPr lang="en-US" altLang="ko-KR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수량</a:t>
            </a:r>
            <a:r>
              <a:rPr lang="en-US" altLang="ko-KR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기타의견 등록</a:t>
            </a:r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28288B0A-86DF-4613-B0BC-8A632C230423}"/>
              </a:ext>
            </a:extLst>
          </p:cNvPr>
          <p:cNvCxnSpPr>
            <a:cxnSpLocks/>
            <a:stCxn id="68" idx="3"/>
            <a:endCxn id="81" idx="1"/>
          </p:cNvCxnSpPr>
          <p:nvPr/>
        </p:nvCxnSpPr>
        <p:spPr>
          <a:xfrm flipV="1">
            <a:off x="2443460" y="1429622"/>
            <a:ext cx="950093" cy="1742954"/>
          </a:xfrm>
          <a:prstGeom prst="bentConnector3">
            <a:avLst>
              <a:gd name="adj1" fmla="val 46992"/>
            </a:avLst>
          </a:prstGeom>
          <a:ln w="63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DB936A42-30FF-4BEA-8558-D3E773359C10}"/>
              </a:ext>
            </a:extLst>
          </p:cNvPr>
          <p:cNvCxnSpPr>
            <a:cxnSpLocks/>
            <a:stCxn id="95" idx="0"/>
            <a:endCxn id="62" idx="2"/>
          </p:cNvCxnSpPr>
          <p:nvPr/>
        </p:nvCxnSpPr>
        <p:spPr bwMode="auto">
          <a:xfrm flipV="1">
            <a:off x="8888880" y="4078857"/>
            <a:ext cx="6338" cy="1735904"/>
          </a:xfrm>
          <a:prstGeom prst="straightConnector1">
            <a:avLst/>
          </a:prstGeom>
          <a:ln w="57150">
            <a:solidFill>
              <a:schemeClr val="accent1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5CA4D55F-DF9A-485C-9F86-DE5916D2ACF4}"/>
              </a:ext>
            </a:extLst>
          </p:cNvPr>
          <p:cNvCxnSpPr>
            <a:cxnSpLocks/>
            <a:stCxn id="99" idx="2"/>
            <a:endCxn id="104" idx="2"/>
          </p:cNvCxnSpPr>
          <p:nvPr/>
        </p:nvCxnSpPr>
        <p:spPr>
          <a:xfrm rot="5400000" flipH="1">
            <a:off x="4642313" y="3545244"/>
            <a:ext cx="2153362" cy="3213508"/>
          </a:xfrm>
          <a:prstGeom prst="bentConnector3">
            <a:avLst>
              <a:gd name="adj1" fmla="val -106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다이아몬드 67">
            <a:extLst>
              <a:ext uri="{FF2B5EF4-FFF2-40B4-BE49-F238E27FC236}">
                <a16:creationId xmlns:a16="http://schemas.microsoft.com/office/drawing/2014/main" id="{639DA4E6-C204-4CE7-84C9-3B869B88A2A0}"/>
              </a:ext>
            </a:extLst>
          </p:cNvPr>
          <p:cNvSpPr/>
          <p:nvPr/>
        </p:nvSpPr>
        <p:spPr>
          <a:xfrm>
            <a:off x="1330248" y="2928942"/>
            <a:ext cx="1113212" cy="487267"/>
          </a:xfrm>
          <a:prstGeom prst="diamond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endParaRPr lang="ko-KR" altLang="en-US" sz="11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0" name="다이아몬드 69">
            <a:extLst>
              <a:ext uri="{FF2B5EF4-FFF2-40B4-BE49-F238E27FC236}">
                <a16:creationId xmlns:a16="http://schemas.microsoft.com/office/drawing/2014/main" id="{407FC883-27DC-4E1C-B274-F9719C2FC3A4}"/>
              </a:ext>
            </a:extLst>
          </p:cNvPr>
          <p:cNvSpPr/>
          <p:nvPr/>
        </p:nvSpPr>
        <p:spPr>
          <a:xfrm>
            <a:off x="5082359" y="1207465"/>
            <a:ext cx="1219534" cy="449166"/>
          </a:xfrm>
          <a:prstGeom prst="diamond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endParaRPr lang="ko-KR" altLang="en-US" sz="11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CDB7B29B-C9B1-445D-A80F-EA7CCDA0BB37}"/>
              </a:ext>
            </a:extLst>
          </p:cNvPr>
          <p:cNvCxnSpPr>
            <a:cxnSpLocks/>
            <a:stCxn id="70" idx="3"/>
            <a:endCxn id="86" idx="0"/>
          </p:cNvCxnSpPr>
          <p:nvPr/>
        </p:nvCxnSpPr>
        <p:spPr>
          <a:xfrm>
            <a:off x="6301893" y="1432048"/>
            <a:ext cx="2551682" cy="778583"/>
          </a:xfrm>
          <a:prstGeom prst="bentConnector2">
            <a:avLst/>
          </a:prstGeom>
          <a:ln w="63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9D4B3D1-DB1F-429F-B6F4-5F6DDC43BB54}"/>
              </a:ext>
            </a:extLst>
          </p:cNvPr>
          <p:cNvSpPr/>
          <p:nvPr/>
        </p:nvSpPr>
        <p:spPr bwMode="auto">
          <a:xfrm>
            <a:off x="1219877" y="4872098"/>
            <a:ext cx="1322281" cy="4171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파트너사 견적 의뢰</a:t>
            </a:r>
            <a:endParaRPr lang="en-US" altLang="ko-KR" sz="1100" spc="-100" dirty="0">
              <a:solidFill>
                <a:schemeClr val="accent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8DF63D0E-FC6D-4793-AC6C-864044A0634A}"/>
              </a:ext>
            </a:extLst>
          </p:cNvPr>
          <p:cNvCxnSpPr>
            <a:cxnSpLocks/>
            <a:stCxn id="84" idx="3"/>
            <a:endCxn id="81" idx="1"/>
          </p:cNvCxnSpPr>
          <p:nvPr/>
        </p:nvCxnSpPr>
        <p:spPr>
          <a:xfrm flipV="1">
            <a:off x="2542158" y="1429622"/>
            <a:ext cx="851395" cy="4593724"/>
          </a:xfrm>
          <a:prstGeom prst="bentConnector3">
            <a:avLst>
              <a:gd name="adj1" fmla="val 4105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모서리가 둥근 직사각형 85">
            <a:extLst>
              <a:ext uri="{FF2B5EF4-FFF2-40B4-BE49-F238E27FC236}">
                <a16:creationId xmlns:a16="http://schemas.microsoft.com/office/drawing/2014/main" id="{4D4A3133-6C47-4D65-85FA-BF6CDDFD6DFE}"/>
              </a:ext>
            </a:extLst>
          </p:cNvPr>
          <p:cNvSpPr/>
          <p:nvPr/>
        </p:nvSpPr>
        <p:spPr>
          <a:xfrm>
            <a:off x="1161017" y="2109843"/>
            <a:ext cx="1440000" cy="53855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spc="-1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정기 방문 점검</a:t>
            </a:r>
          </a:p>
        </p:txBody>
      </p:sp>
      <p:sp>
        <p:nvSpPr>
          <p:cNvPr id="81" name="모서리가 둥근 직사각형 85">
            <a:extLst>
              <a:ext uri="{FF2B5EF4-FFF2-40B4-BE49-F238E27FC236}">
                <a16:creationId xmlns:a16="http://schemas.microsoft.com/office/drawing/2014/main" id="{75796662-124F-4004-96FB-541C1964B89B}"/>
              </a:ext>
            </a:extLst>
          </p:cNvPr>
          <p:cNvSpPr/>
          <p:nvPr/>
        </p:nvSpPr>
        <p:spPr>
          <a:xfrm>
            <a:off x="3393553" y="1160346"/>
            <a:ext cx="1440000" cy="53855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spc="-1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점검 보고서</a:t>
            </a:r>
            <a:endParaRPr lang="en-US" altLang="ko-KR" sz="1100" b="1" spc="-1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F177A67-79D2-407C-ADCF-4417941FB5EF}"/>
              </a:ext>
            </a:extLst>
          </p:cNvPr>
          <p:cNvSpPr txBox="1"/>
          <p:nvPr/>
        </p:nvSpPr>
        <p:spPr>
          <a:xfrm>
            <a:off x="1390398" y="3411120"/>
            <a:ext cx="4469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Yes</a:t>
            </a:r>
            <a:endParaRPr lang="en-US" altLang="ko-KR" sz="900" b="0" spc="-80" dirty="0">
              <a:solidFill>
                <a:schemeClr val="accent6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6D99C945-5F57-404A-AC76-0BED952B5B1A}"/>
              </a:ext>
            </a:extLst>
          </p:cNvPr>
          <p:cNvSpPr/>
          <p:nvPr/>
        </p:nvSpPr>
        <p:spPr bwMode="auto">
          <a:xfrm>
            <a:off x="1219877" y="5814761"/>
            <a:ext cx="1322281" cy="4171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예가 산출</a:t>
            </a:r>
            <a:endParaRPr lang="en-US" altLang="ko-KR" sz="1100" spc="-100" dirty="0">
              <a:solidFill>
                <a:schemeClr val="accent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995653C2-AC64-4487-85D2-736B4515A2F7}"/>
              </a:ext>
            </a:extLst>
          </p:cNvPr>
          <p:cNvSpPr/>
          <p:nvPr/>
        </p:nvSpPr>
        <p:spPr>
          <a:xfrm>
            <a:off x="8133575" y="2210631"/>
            <a:ext cx="1440000" cy="53855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spc="-1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차기 방문 점검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A683923-65BD-4615-A72D-41BD8BAADFA5}"/>
              </a:ext>
            </a:extLst>
          </p:cNvPr>
          <p:cNvSpPr txBox="1"/>
          <p:nvPr/>
        </p:nvSpPr>
        <p:spPr>
          <a:xfrm>
            <a:off x="6034439" y="1213986"/>
            <a:ext cx="4469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9647D6DF-A16E-48B3-B247-8D9792D06AA5}"/>
              </a:ext>
            </a:extLst>
          </p:cNvPr>
          <p:cNvSpPr/>
          <p:nvPr/>
        </p:nvSpPr>
        <p:spPr bwMode="auto">
          <a:xfrm>
            <a:off x="5080503" y="3658147"/>
            <a:ext cx="1256727" cy="4171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파트너사 발주</a:t>
            </a:r>
          </a:p>
        </p:txBody>
      </p: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BCA0BCFB-E131-4CD3-A728-49109EABEBCE}"/>
              </a:ext>
            </a:extLst>
          </p:cNvPr>
          <p:cNvCxnSpPr>
            <a:cxnSpLocks/>
            <a:stCxn id="88" idx="2"/>
            <a:endCxn id="98" idx="0"/>
          </p:cNvCxnSpPr>
          <p:nvPr/>
        </p:nvCxnSpPr>
        <p:spPr>
          <a:xfrm rot="5400000">
            <a:off x="4839145" y="4945039"/>
            <a:ext cx="1739444" cy="1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599AB186-102A-46F0-B1A7-236963B2FFDB}"/>
              </a:ext>
            </a:extLst>
          </p:cNvPr>
          <p:cNvSpPr txBox="1"/>
          <p:nvPr/>
        </p:nvSpPr>
        <p:spPr>
          <a:xfrm>
            <a:off x="5138112" y="2676544"/>
            <a:ext cx="4469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Yes</a:t>
            </a:r>
            <a:endParaRPr lang="en-US" altLang="ko-KR" sz="900" b="0" spc="-80" dirty="0">
              <a:solidFill>
                <a:schemeClr val="accent6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2" name="다이아몬드 91">
            <a:extLst>
              <a:ext uri="{FF2B5EF4-FFF2-40B4-BE49-F238E27FC236}">
                <a16:creationId xmlns:a16="http://schemas.microsoft.com/office/drawing/2014/main" id="{F5784E47-C191-4D29-AFC0-C1E601CC8026}"/>
              </a:ext>
            </a:extLst>
          </p:cNvPr>
          <p:cNvSpPr/>
          <p:nvPr/>
        </p:nvSpPr>
        <p:spPr>
          <a:xfrm>
            <a:off x="5050413" y="2270332"/>
            <a:ext cx="1276520" cy="419148"/>
          </a:xfrm>
          <a:prstGeom prst="diamond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endParaRPr lang="ko-KR" altLang="en-US" sz="11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45190DD-E648-496C-9E0F-16F53C300882}"/>
              </a:ext>
            </a:extLst>
          </p:cNvPr>
          <p:cNvSpPr txBox="1"/>
          <p:nvPr/>
        </p:nvSpPr>
        <p:spPr>
          <a:xfrm>
            <a:off x="6075033" y="2244235"/>
            <a:ext cx="4469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116EE411-CC4C-4BB0-AB42-AAD9CD7B62CC}"/>
              </a:ext>
            </a:extLst>
          </p:cNvPr>
          <p:cNvSpPr/>
          <p:nvPr/>
        </p:nvSpPr>
        <p:spPr bwMode="auto">
          <a:xfrm>
            <a:off x="6697385" y="2271321"/>
            <a:ext cx="1030737" cy="4171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타 업체</a:t>
            </a:r>
            <a:endParaRPr lang="en-US" altLang="ko-KR" sz="1100" spc="-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1100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발주</a:t>
            </a:r>
            <a:r>
              <a:rPr lang="en-US" altLang="ko-KR" sz="1100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100" spc="-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진행</a:t>
            </a:r>
            <a:endParaRPr lang="en-US" altLang="ko-KR" sz="1100" spc="-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AF3FB6C7-2F2D-442A-B37F-D0C97870A01F}"/>
              </a:ext>
            </a:extLst>
          </p:cNvPr>
          <p:cNvSpPr/>
          <p:nvPr/>
        </p:nvSpPr>
        <p:spPr bwMode="auto">
          <a:xfrm>
            <a:off x="8357534" y="5814761"/>
            <a:ext cx="1062691" cy="4171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수선공사</a:t>
            </a:r>
          </a:p>
        </p:txBody>
      </p:sp>
      <p:cxnSp>
        <p:nvCxnSpPr>
          <p:cNvPr id="97" name="연결선: 꺾임 96">
            <a:extLst>
              <a:ext uri="{FF2B5EF4-FFF2-40B4-BE49-F238E27FC236}">
                <a16:creationId xmlns:a16="http://schemas.microsoft.com/office/drawing/2014/main" id="{5AEBA427-3224-4E63-ADC2-1DFC78D5C11F}"/>
              </a:ext>
            </a:extLst>
          </p:cNvPr>
          <p:cNvCxnSpPr>
            <a:cxnSpLocks/>
            <a:stCxn id="70" idx="2"/>
            <a:endCxn id="92" idx="0"/>
          </p:cNvCxnSpPr>
          <p:nvPr/>
        </p:nvCxnSpPr>
        <p:spPr>
          <a:xfrm rot="5400000">
            <a:off x="5383550" y="1961755"/>
            <a:ext cx="613701" cy="3453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D5BDFB10-BE6E-45BD-89D0-D1673F32F9B2}"/>
              </a:ext>
            </a:extLst>
          </p:cNvPr>
          <p:cNvSpPr/>
          <p:nvPr/>
        </p:nvSpPr>
        <p:spPr bwMode="auto">
          <a:xfrm>
            <a:off x="5080503" y="5814761"/>
            <a:ext cx="1256726" cy="4171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현장 방문</a:t>
            </a:r>
            <a:endParaRPr lang="ko-KR" altLang="en-US" sz="1100" spc="-100" dirty="0">
              <a:solidFill>
                <a:schemeClr val="accent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9" name="다이아몬드 98">
            <a:extLst>
              <a:ext uri="{FF2B5EF4-FFF2-40B4-BE49-F238E27FC236}">
                <a16:creationId xmlns:a16="http://schemas.microsoft.com/office/drawing/2014/main" id="{2779F699-41C3-4201-8872-EF67F30B3935}"/>
              </a:ext>
            </a:extLst>
          </p:cNvPr>
          <p:cNvSpPr/>
          <p:nvPr/>
        </p:nvSpPr>
        <p:spPr>
          <a:xfrm>
            <a:off x="6697385" y="5818014"/>
            <a:ext cx="1256726" cy="410665"/>
          </a:xfrm>
          <a:prstGeom prst="diamond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endParaRPr lang="ko-KR" altLang="en-US" sz="11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91C912C-6620-407C-B8F4-42B10EB05F0B}"/>
              </a:ext>
            </a:extLst>
          </p:cNvPr>
          <p:cNvSpPr txBox="1"/>
          <p:nvPr/>
        </p:nvSpPr>
        <p:spPr>
          <a:xfrm>
            <a:off x="5005400" y="1576039"/>
            <a:ext cx="4469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Yes</a:t>
            </a:r>
            <a:endParaRPr lang="en-US" altLang="ko-KR" sz="900" b="0" spc="-80" dirty="0">
              <a:solidFill>
                <a:schemeClr val="accent6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1A697C5C-B6D9-497E-BD10-36758FED11F4}"/>
              </a:ext>
            </a:extLst>
          </p:cNvPr>
          <p:cNvCxnSpPr>
            <a:cxnSpLocks/>
            <a:stCxn id="98" idx="3"/>
            <a:endCxn id="99" idx="1"/>
          </p:cNvCxnSpPr>
          <p:nvPr/>
        </p:nvCxnSpPr>
        <p:spPr>
          <a:xfrm>
            <a:off x="6337229" y="6023346"/>
            <a:ext cx="360156" cy="1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444DFC3D-A19C-4CE5-979A-3975B60814BF}"/>
              </a:ext>
            </a:extLst>
          </p:cNvPr>
          <p:cNvSpPr txBox="1"/>
          <p:nvPr/>
        </p:nvSpPr>
        <p:spPr>
          <a:xfrm>
            <a:off x="6765853" y="6268718"/>
            <a:ext cx="4469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Yes</a:t>
            </a:r>
            <a:endParaRPr lang="en-US" altLang="ko-KR" sz="900" b="0" spc="-80" dirty="0">
              <a:solidFill>
                <a:schemeClr val="accent6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EC578F47-B1CA-4777-B6E3-D3D37D7D5572}"/>
              </a:ext>
            </a:extLst>
          </p:cNvPr>
          <p:cNvCxnSpPr>
            <a:cxnSpLocks/>
            <a:stCxn id="99" idx="3"/>
            <a:endCxn id="95" idx="1"/>
          </p:cNvCxnSpPr>
          <p:nvPr/>
        </p:nvCxnSpPr>
        <p:spPr>
          <a:xfrm flipV="1">
            <a:off x="7954111" y="6023346"/>
            <a:ext cx="403423" cy="1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32FE76CD-9044-4753-9489-8F36864916F7}"/>
              </a:ext>
            </a:extLst>
          </p:cNvPr>
          <p:cNvSpPr/>
          <p:nvPr/>
        </p:nvSpPr>
        <p:spPr bwMode="auto">
          <a:xfrm>
            <a:off x="3582975" y="3658147"/>
            <a:ext cx="1058529" cy="4171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초과 금액</a:t>
            </a:r>
            <a:endParaRPr lang="en-US" altLang="ko-KR" sz="1100" spc="-100" dirty="0">
              <a:solidFill>
                <a:schemeClr val="accent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승인 요청</a:t>
            </a:r>
          </a:p>
        </p:txBody>
      </p: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1C28A89F-3B0D-4842-A582-AE07D7B8C130}"/>
              </a:ext>
            </a:extLst>
          </p:cNvPr>
          <p:cNvCxnSpPr>
            <a:cxnSpLocks/>
            <a:stCxn id="104" idx="0"/>
            <a:endCxn id="81" idx="2"/>
          </p:cNvCxnSpPr>
          <p:nvPr/>
        </p:nvCxnSpPr>
        <p:spPr>
          <a:xfrm rot="5400000" flipH="1" flipV="1">
            <a:off x="3133271" y="2677866"/>
            <a:ext cx="1959250" cy="13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8FF55D49-24A4-4B55-AC53-2C6DA7D41EA8}"/>
              </a:ext>
            </a:extLst>
          </p:cNvPr>
          <p:cNvSpPr txBox="1"/>
          <p:nvPr/>
        </p:nvSpPr>
        <p:spPr>
          <a:xfrm>
            <a:off x="7767619" y="5812752"/>
            <a:ext cx="4469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4A2C9D01-7EC1-439C-9881-C15284191485}"/>
              </a:ext>
            </a:extLst>
          </p:cNvPr>
          <p:cNvSpPr/>
          <p:nvPr/>
        </p:nvSpPr>
        <p:spPr bwMode="auto">
          <a:xfrm>
            <a:off x="10025524" y="4477297"/>
            <a:ext cx="1134601" cy="4171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 조치</a:t>
            </a:r>
            <a:endParaRPr lang="en-US" altLang="ko-KR" sz="1100" spc="-100" dirty="0">
              <a:solidFill>
                <a:schemeClr val="accent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의뢰</a:t>
            </a:r>
          </a:p>
        </p:txBody>
      </p:sp>
      <p:cxnSp>
        <p:nvCxnSpPr>
          <p:cNvPr id="112" name="연결선: 꺾임 111">
            <a:extLst>
              <a:ext uri="{FF2B5EF4-FFF2-40B4-BE49-F238E27FC236}">
                <a16:creationId xmlns:a16="http://schemas.microsoft.com/office/drawing/2014/main" id="{C2F0484A-77ED-451D-BECA-A404AD6A5719}"/>
              </a:ext>
            </a:extLst>
          </p:cNvPr>
          <p:cNvCxnSpPr>
            <a:cxnSpLocks/>
            <a:stCxn id="109" idx="2"/>
            <a:endCxn id="95" idx="3"/>
          </p:cNvCxnSpPr>
          <p:nvPr/>
        </p:nvCxnSpPr>
        <p:spPr>
          <a:xfrm rot="5400000">
            <a:off x="9442086" y="4872606"/>
            <a:ext cx="1128879" cy="11726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36B72027-9FCA-4D5A-8D9C-86BD6A4774C2}"/>
              </a:ext>
            </a:extLst>
          </p:cNvPr>
          <p:cNvSpPr txBox="1"/>
          <p:nvPr/>
        </p:nvSpPr>
        <p:spPr>
          <a:xfrm>
            <a:off x="10043789" y="2410657"/>
            <a:ext cx="4469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Yes</a:t>
            </a:r>
            <a:endParaRPr lang="en-US" altLang="ko-KR" sz="900" b="0" spc="-80" dirty="0">
              <a:solidFill>
                <a:schemeClr val="accent6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51B5A85-E782-42EB-8241-E639B25B53DA}"/>
              </a:ext>
            </a:extLst>
          </p:cNvPr>
          <p:cNvSpPr txBox="1"/>
          <p:nvPr/>
        </p:nvSpPr>
        <p:spPr>
          <a:xfrm>
            <a:off x="10789425" y="2410657"/>
            <a:ext cx="4469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</a:t>
            </a:r>
          </a:p>
        </p:txBody>
      </p: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F144AFFA-278A-4B4A-AEF3-5982B5476003}"/>
              </a:ext>
            </a:extLst>
          </p:cNvPr>
          <p:cNvCxnSpPr>
            <a:cxnSpLocks/>
            <a:stCxn id="210" idx="3"/>
          </p:cNvCxnSpPr>
          <p:nvPr/>
        </p:nvCxnSpPr>
        <p:spPr>
          <a:xfrm flipV="1">
            <a:off x="11236749" y="1666422"/>
            <a:ext cx="143468" cy="813485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699E32C-F94B-44A0-ACD6-4406BE45FAC7}"/>
              </a:ext>
            </a:extLst>
          </p:cNvPr>
          <p:cNvCxnSpPr/>
          <p:nvPr/>
        </p:nvCxnSpPr>
        <p:spPr>
          <a:xfrm>
            <a:off x="0" y="1880547"/>
            <a:ext cx="12192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D2172FCF-8596-4492-8ED0-6F09F6D1C857}"/>
              </a:ext>
            </a:extLst>
          </p:cNvPr>
          <p:cNvCxnSpPr/>
          <p:nvPr/>
        </p:nvCxnSpPr>
        <p:spPr>
          <a:xfrm>
            <a:off x="62844" y="5561236"/>
            <a:ext cx="12192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26BBD1E7-AAE2-4E31-B338-812858028F9D}"/>
              </a:ext>
            </a:extLst>
          </p:cNvPr>
          <p:cNvSpPr/>
          <p:nvPr/>
        </p:nvSpPr>
        <p:spPr bwMode="auto">
          <a:xfrm>
            <a:off x="1249991" y="2979575"/>
            <a:ext cx="1322281" cy="36932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수선 필요 여부</a:t>
            </a:r>
          </a:p>
        </p:txBody>
      </p: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C6BE33DF-69ED-4893-8E00-BDBD4FA21FC5}"/>
              </a:ext>
            </a:extLst>
          </p:cNvPr>
          <p:cNvCxnSpPr>
            <a:cxnSpLocks/>
            <a:stCxn id="80" idx="2"/>
            <a:endCxn id="68" idx="0"/>
          </p:cNvCxnSpPr>
          <p:nvPr/>
        </p:nvCxnSpPr>
        <p:spPr>
          <a:xfrm>
            <a:off x="1881017" y="2648394"/>
            <a:ext cx="5837" cy="2805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13DF2F22-CD7C-4B78-8FAE-53197CC6AF69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1881017" y="3410512"/>
            <a:ext cx="1" cy="5285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C43845A1-656A-44C9-B535-B466C06C9CBD}"/>
              </a:ext>
            </a:extLst>
          </p:cNvPr>
          <p:cNvCxnSpPr>
            <a:cxnSpLocks/>
          </p:cNvCxnSpPr>
          <p:nvPr/>
        </p:nvCxnSpPr>
        <p:spPr>
          <a:xfrm>
            <a:off x="1871143" y="4350555"/>
            <a:ext cx="1" cy="5285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6D05890F-1FE8-4121-ABF8-3AF822F12460}"/>
              </a:ext>
            </a:extLst>
          </p:cNvPr>
          <p:cNvCxnSpPr>
            <a:cxnSpLocks/>
            <a:stCxn id="72" idx="2"/>
            <a:endCxn id="84" idx="0"/>
          </p:cNvCxnSpPr>
          <p:nvPr/>
        </p:nvCxnSpPr>
        <p:spPr>
          <a:xfrm>
            <a:off x="1881018" y="5289268"/>
            <a:ext cx="0" cy="52549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75">
            <a:extLst>
              <a:ext uri="{FF2B5EF4-FFF2-40B4-BE49-F238E27FC236}">
                <a16:creationId xmlns:a16="http://schemas.microsoft.com/office/drawing/2014/main" id="{2C17C6E1-E2F4-459A-92A4-A6B488FBB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6" y="3493588"/>
            <a:ext cx="875404" cy="377753"/>
          </a:xfrm>
          <a:prstGeom prst="roundRect">
            <a:avLst/>
          </a:prstGeom>
          <a:noFill/>
          <a:ln w="6350">
            <a:noFill/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gradFill>
                  <a:gsLst>
                    <a:gs pos="96000">
                      <a:schemeClr val="tx1">
                        <a:lumMod val="85000"/>
                        <a:lumOff val="15000"/>
                      </a:schemeClr>
                    </a:gs>
                    <a:gs pos="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HY견고딕" panose="02030600000101010101" pitchFamily="18" charset="-127"/>
                <a:ea typeface="HY견고딕" panose="02030600000101010101" pitchFamily="18" charset="-127"/>
              </a:rPr>
              <a:t>S&amp;I</a:t>
            </a:r>
          </a:p>
          <a:p>
            <a:pPr algn="ctr"/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gradFill>
                  <a:gsLst>
                    <a:gs pos="96000">
                      <a:schemeClr val="tx1">
                        <a:lumMod val="85000"/>
                        <a:lumOff val="15000"/>
                      </a:schemeClr>
                    </a:gs>
                    <a:gs pos="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HY견고딕" panose="02030600000101010101" pitchFamily="18" charset="-127"/>
                <a:ea typeface="HY견고딕" panose="02030600000101010101" pitchFamily="18" charset="-127"/>
              </a:rPr>
              <a:t>Corp.</a:t>
            </a:r>
            <a:endParaRPr lang="ko-KR" altLang="en-US" sz="12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gradFill>
                <a:gsLst>
                  <a:gs pos="96000">
                    <a:schemeClr val="tx1">
                      <a:lumMod val="85000"/>
                      <a:lumOff val="15000"/>
                    </a:schemeClr>
                  </a:gs>
                  <a:gs pos="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8" name="Rectangle 75">
            <a:extLst>
              <a:ext uri="{FF2B5EF4-FFF2-40B4-BE49-F238E27FC236}">
                <a16:creationId xmlns:a16="http://schemas.microsoft.com/office/drawing/2014/main" id="{3CDB7631-5AC9-4561-9241-DC85CD594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6" y="5842916"/>
            <a:ext cx="875404" cy="377753"/>
          </a:xfrm>
          <a:prstGeom prst="roundRect">
            <a:avLst/>
          </a:prstGeom>
          <a:noFill/>
          <a:ln w="6350">
            <a:noFill/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gradFill>
                  <a:gsLst>
                    <a:gs pos="96000">
                      <a:schemeClr val="tx1">
                        <a:lumMod val="85000"/>
                        <a:lumOff val="15000"/>
                      </a:schemeClr>
                    </a:gs>
                    <a:gs pos="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HY견고딕" panose="02030600000101010101" pitchFamily="18" charset="-127"/>
                <a:ea typeface="HY견고딕" panose="02030600000101010101" pitchFamily="18" charset="-127"/>
              </a:rPr>
              <a:t>파트너사</a:t>
            </a: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FBE192C2-1E42-4BB6-805D-9FDD57CB43FF}"/>
              </a:ext>
            </a:extLst>
          </p:cNvPr>
          <p:cNvGrpSpPr/>
          <p:nvPr/>
        </p:nvGrpSpPr>
        <p:grpSpPr>
          <a:xfrm>
            <a:off x="3495740" y="685683"/>
            <a:ext cx="1290706" cy="415498"/>
            <a:chOff x="-1517985" y="-961636"/>
            <a:chExt cx="1290706" cy="415498"/>
          </a:xfrm>
        </p:grpSpPr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63EAE3BD-A20E-40B0-9372-3561B0AE3C6B}"/>
                </a:ext>
              </a:extLst>
            </p:cNvPr>
            <p:cNvSpPr/>
            <p:nvPr/>
          </p:nvSpPr>
          <p:spPr>
            <a:xfrm>
              <a:off x="-1482751" y="-961636"/>
              <a:ext cx="1255472" cy="41549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ko-KR" altLang="en-US" sz="1050" dirty="0">
                  <a:solidFill>
                    <a:srgbClr val="FF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수선 제안 필요 항목 </a:t>
              </a:r>
              <a:endParaRPr lang="en-US" altLang="ko-KR" sz="105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lang="ko-KR" altLang="en-US" sz="1050" dirty="0">
                  <a:solidFill>
                    <a:srgbClr val="FF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및 예상 가격 제출</a:t>
              </a:r>
              <a:endParaRPr lang="en-US" altLang="ko-KR" sz="105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41" name="Freeform 9">
              <a:extLst>
                <a:ext uri="{FF2B5EF4-FFF2-40B4-BE49-F238E27FC236}">
                  <a16:creationId xmlns:a16="http://schemas.microsoft.com/office/drawing/2014/main" id="{0C4FAA64-795C-4303-A1A2-593A7241E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-1517985" y="-884654"/>
              <a:ext cx="91119" cy="86288"/>
            </a:xfrm>
            <a:custGeom>
              <a:avLst/>
              <a:gdLst>
                <a:gd name="T0" fmla="*/ 651 w 679"/>
                <a:gd name="T1" fmla="*/ 15 h 629"/>
                <a:gd name="T2" fmla="*/ 581 w 679"/>
                <a:gd name="T3" fmla="*/ 25 h 629"/>
                <a:gd name="T4" fmla="*/ 182 w 679"/>
                <a:gd name="T5" fmla="*/ 442 h 629"/>
                <a:gd name="T6" fmla="*/ 97 w 679"/>
                <a:gd name="T7" fmla="*/ 383 h 629"/>
                <a:gd name="T8" fmla="*/ 25 w 679"/>
                <a:gd name="T9" fmla="*/ 376 h 629"/>
                <a:gd name="T10" fmla="*/ 17 w 679"/>
                <a:gd name="T11" fmla="*/ 439 h 629"/>
                <a:gd name="T12" fmla="*/ 185 w 679"/>
                <a:gd name="T13" fmla="*/ 629 h 629"/>
                <a:gd name="T14" fmla="*/ 663 w 679"/>
                <a:gd name="T15" fmla="*/ 78 h 629"/>
                <a:gd name="T16" fmla="*/ 651 w 679"/>
                <a:gd name="T17" fmla="*/ 1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9" h="629">
                  <a:moveTo>
                    <a:pt x="651" y="15"/>
                  </a:moveTo>
                  <a:cubicBezTo>
                    <a:pt x="629" y="0"/>
                    <a:pt x="597" y="5"/>
                    <a:pt x="581" y="25"/>
                  </a:cubicBezTo>
                  <a:cubicBezTo>
                    <a:pt x="182" y="442"/>
                    <a:pt x="182" y="442"/>
                    <a:pt x="182" y="442"/>
                  </a:cubicBezTo>
                  <a:cubicBezTo>
                    <a:pt x="97" y="383"/>
                    <a:pt x="97" y="383"/>
                    <a:pt x="97" y="383"/>
                  </a:cubicBezTo>
                  <a:cubicBezTo>
                    <a:pt x="79" y="364"/>
                    <a:pt x="47" y="361"/>
                    <a:pt x="25" y="376"/>
                  </a:cubicBezTo>
                  <a:cubicBezTo>
                    <a:pt x="3" y="391"/>
                    <a:pt x="0" y="420"/>
                    <a:pt x="17" y="439"/>
                  </a:cubicBezTo>
                  <a:cubicBezTo>
                    <a:pt x="185" y="629"/>
                    <a:pt x="185" y="629"/>
                    <a:pt x="185" y="629"/>
                  </a:cubicBezTo>
                  <a:cubicBezTo>
                    <a:pt x="663" y="78"/>
                    <a:pt x="663" y="78"/>
                    <a:pt x="663" y="78"/>
                  </a:cubicBezTo>
                  <a:cubicBezTo>
                    <a:pt x="679" y="58"/>
                    <a:pt x="674" y="29"/>
                    <a:pt x="651" y="15"/>
                  </a:cubicBezTo>
                  <a:close/>
                </a:path>
              </a:pathLst>
            </a:custGeom>
            <a:solidFill>
              <a:srgbClr val="C00C3F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pPr algn="ctr" latinLnBrk="0"/>
              <a:endParaRPr lang="ko-KR" altLang="en-US" sz="1200" spc="-1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415F4507-BFC3-4854-9B41-9335795AAEB2}"/>
              </a:ext>
            </a:extLst>
          </p:cNvPr>
          <p:cNvSpPr/>
          <p:nvPr/>
        </p:nvSpPr>
        <p:spPr bwMode="auto">
          <a:xfrm>
            <a:off x="5041314" y="2295242"/>
            <a:ext cx="1322281" cy="36932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S&amp;I </a:t>
            </a:r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발주 여부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475EA20D-EC7C-443E-A383-4A3B94B96404}"/>
              </a:ext>
            </a:extLst>
          </p:cNvPr>
          <p:cNvSpPr/>
          <p:nvPr/>
        </p:nvSpPr>
        <p:spPr bwMode="auto">
          <a:xfrm>
            <a:off x="5005451" y="1248198"/>
            <a:ext cx="1322281" cy="36932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수선 결정 여부</a:t>
            </a:r>
          </a:p>
        </p:txBody>
      </p: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1ADD346E-72BD-4AD8-99E6-07CA7C730FDE}"/>
              </a:ext>
            </a:extLst>
          </p:cNvPr>
          <p:cNvCxnSpPr>
            <a:cxnSpLocks/>
            <a:stCxn id="81" idx="3"/>
            <a:endCxn id="70" idx="1"/>
          </p:cNvCxnSpPr>
          <p:nvPr/>
        </p:nvCxnSpPr>
        <p:spPr>
          <a:xfrm>
            <a:off x="4833553" y="1429622"/>
            <a:ext cx="248806" cy="242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CC1DBCB6-78DA-4968-BA1A-3392376A463F}"/>
              </a:ext>
            </a:extLst>
          </p:cNvPr>
          <p:cNvSpPr/>
          <p:nvPr/>
        </p:nvSpPr>
        <p:spPr bwMode="auto">
          <a:xfrm>
            <a:off x="6688160" y="5843741"/>
            <a:ext cx="1322281" cy="36932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 err="1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실행가</a:t>
            </a:r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 </a:t>
            </a:r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예가</a:t>
            </a:r>
          </a:p>
        </p:txBody>
      </p:sp>
      <p:cxnSp>
        <p:nvCxnSpPr>
          <p:cNvPr id="204" name="직선 화살표 연결선 203">
            <a:extLst>
              <a:ext uri="{FF2B5EF4-FFF2-40B4-BE49-F238E27FC236}">
                <a16:creationId xmlns:a16="http://schemas.microsoft.com/office/drawing/2014/main" id="{38311864-BFEC-45D2-8BC1-457CB14267C9}"/>
              </a:ext>
            </a:extLst>
          </p:cNvPr>
          <p:cNvCxnSpPr>
            <a:cxnSpLocks/>
            <a:stCxn id="62" idx="0"/>
          </p:cNvCxnSpPr>
          <p:nvPr/>
        </p:nvCxnSpPr>
        <p:spPr>
          <a:xfrm flipH="1" flipV="1">
            <a:off x="8888880" y="2735402"/>
            <a:ext cx="6338" cy="9192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5A422285-DD44-4411-A200-3D865C0FBC2C}"/>
              </a:ext>
            </a:extLst>
          </p:cNvPr>
          <p:cNvGrpSpPr/>
          <p:nvPr/>
        </p:nvGrpSpPr>
        <p:grpSpPr>
          <a:xfrm>
            <a:off x="10580236" y="685683"/>
            <a:ext cx="1457418" cy="415498"/>
            <a:chOff x="-1517985" y="-961636"/>
            <a:chExt cx="1457418" cy="415498"/>
          </a:xfrm>
        </p:grpSpPr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C687EB2B-CADF-4D20-A991-C4AAA67CB706}"/>
                </a:ext>
              </a:extLst>
            </p:cNvPr>
            <p:cNvSpPr/>
            <p:nvPr/>
          </p:nvSpPr>
          <p:spPr>
            <a:xfrm>
              <a:off x="-1482751" y="-961636"/>
              <a:ext cx="1422184" cy="41549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ko-KR" altLang="en-US" sz="1050" dirty="0">
                  <a:solidFill>
                    <a:srgbClr val="FF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수선 하자점검내용 포함</a:t>
              </a:r>
              <a:endParaRPr lang="en-US" altLang="ko-KR" sz="105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타 업체 </a:t>
              </a:r>
              <a:r>
                <a:rPr lang="ko-KR" altLang="en-US" sz="1050" dirty="0" err="1">
                  <a:solidFill>
                    <a:srgbClr val="FF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수행분</a:t>
              </a:r>
              <a:r>
                <a:rPr lang="ko-KR" altLang="en-US" sz="1050" dirty="0">
                  <a:solidFill>
                    <a:srgbClr val="FF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포함</a:t>
              </a:r>
              <a:r>
                <a:rPr lang="en-US" altLang="ko-KR" sz="1050" dirty="0">
                  <a:solidFill>
                    <a:srgbClr val="FF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  <p:sp>
          <p:nvSpPr>
            <p:cNvPr id="208" name="Freeform 9">
              <a:extLst>
                <a:ext uri="{FF2B5EF4-FFF2-40B4-BE49-F238E27FC236}">
                  <a16:creationId xmlns:a16="http://schemas.microsoft.com/office/drawing/2014/main" id="{0B5786B5-8CE6-4A74-9A23-ECDE0F6DA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-1517985" y="-871954"/>
              <a:ext cx="91119" cy="86288"/>
            </a:xfrm>
            <a:custGeom>
              <a:avLst/>
              <a:gdLst>
                <a:gd name="T0" fmla="*/ 651 w 679"/>
                <a:gd name="T1" fmla="*/ 15 h 629"/>
                <a:gd name="T2" fmla="*/ 581 w 679"/>
                <a:gd name="T3" fmla="*/ 25 h 629"/>
                <a:gd name="T4" fmla="*/ 182 w 679"/>
                <a:gd name="T5" fmla="*/ 442 h 629"/>
                <a:gd name="T6" fmla="*/ 97 w 679"/>
                <a:gd name="T7" fmla="*/ 383 h 629"/>
                <a:gd name="T8" fmla="*/ 25 w 679"/>
                <a:gd name="T9" fmla="*/ 376 h 629"/>
                <a:gd name="T10" fmla="*/ 17 w 679"/>
                <a:gd name="T11" fmla="*/ 439 h 629"/>
                <a:gd name="T12" fmla="*/ 185 w 679"/>
                <a:gd name="T13" fmla="*/ 629 h 629"/>
                <a:gd name="T14" fmla="*/ 663 w 679"/>
                <a:gd name="T15" fmla="*/ 78 h 629"/>
                <a:gd name="T16" fmla="*/ 651 w 679"/>
                <a:gd name="T17" fmla="*/ 1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9" h="629">
                  <a:moveTo>
                    <a:pt x="651" y="15"/>
                  </a:moveTo>
                  <a:cubicBezTo>
                    <a:pt x="629" y="0"/>
                    <a:pt x="597" y="5"/>
                    <a:pt x="581" y="25"/>
                  </a:cubicBezTo>
                  <a:cubicBezTo>
                    <a:pt x="182" y="442"/>
                    <a:pt x="182" y="442"/>
                    <a:pt x="182" y="442"/>
                  </a:cubicBezTo>
                  <a:cubicBezTo>
                    <a:pt x="97" y="383"/>
                    <a:pt x="97" y="383"/>
                    <a:pt x="97" y="383"/>
                  </a:cubicBezTo>
                  <a:cubicBezTo>
                    <a:pt x="79" y="364"/>
                    <a:pt x="47" y="361"/>
                    <a:pt x="25" y="376"/>
                  </a:cubicBezTo>
                  <a:cubicBezTo>
                    <a:pt x="3" y="391"/>
                    <a:pt x="0" y="420"/>
                    <a:pt x="17" y="439"/>
                  </a:cubicBezTo>
                  <a:cubicBezTo>
                    <a:pt x="185" y="629"/>
                    <a:pt x="185" y="629"/>
                    <a:pt x="185" y="629"/>
                  </a:cubicBezTo>
                  <a:cubicBezTo>
                    <a:pt x="663" y="78"/>
                    <a:pt x="663" y="78"/>
                    <a:pt x="663" y="78"/>
                  </a:cubicBezTo>
                  <a:cubicBezTo>
                    <a:pt x="679" y="58"/>
                    <a:pt x="674" y="29"/>
                    <a:pt x="651" y="15"/>
                  </a:cubicBezTo>
                  <a:close/>
                </a:path>
              </a:pathLst>
            </a:custGeom>
            <a:solidFill>
              <a:srgbClr val="C00C3F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pPr algn="ctr" latinLnBrk="0"/>
              <a:endParaRPr lang="ko-KR" altLang="en-US" sz="1200" spc="-1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209" name="다이아몬드 208">
            <a:extLst>
              <a:ext uri="{FF2B5EF4-FFF2-40B4-BE49-F238E27FC236}">
                <a16:creationId xmlns:a16="http://schemas.microsoft.com/office/drawing/2014/main" id="{6F002A36-F316-470E-8E64-DA21FEEFC752}"/>
              </a:ext>
            </a:extLst>
          </p:cNvPr>
          <p:cNvSpPr/>
          <p:nvPr/>
        </p:nvSpPr>
        <p:spPr>
          <a:xfrm>
            <a:off x="9923567" y="2270332"/>
            <a:ext cx="1276520" cy="419148"/>
          </a:xfrm>
          <a:prstGeom prst="diamond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endParaRPr lang="ko-KR" altLang="en-US" sz="11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A6F3B484-0C0B-4136-8F44-D7C268F20061}"/>
              </a:ext>
            </a:extLst>
          </p:cNvPr>
          <p:cNvSpPr/>
          <p:nvPr/>
        </p:nvSpPr>
        <p:spPr bwMode="auto">
          <a:xfrm>
            <a:off x="9914468" y="2295242"/>
            <a:ext cx="1322281" cy="36932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수선공사</a:t>
            </a:r>
            <a:endParaRPr lang="en-US" altLang="ko-KR" sz="1100" spc="-100" dirty="0">
              <a:solidFill>
                <a:schemeClr val="accent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하자 발생 여부</a:t>
            </a:r>
          </a:p>
        </p:txBody>
      </p:sp>
      <p:cxnSp>
        <p:nvCxnSpPr>
          <p:cNvPr id="217" name="직선 화살표 연결선 216">
            <a:extLst>
              <a:ext uri="{FF2B5EF4-FFF2-40B4-BE49-F238E27FC236}">
                <a16:creationId xmlns:a16="http://schemas.microsoft.com/office/drawing/2014/main" id="{C705C504-4B64-440A-8CED-C640BE7D520E}"/>
              </a:ext>
            </a:extLst>
          </p:cNvPr>
          <p:cNvCxnSpPr>
            <a:cxnSpLocks/>
            <a:stCxn id="210" idx="2"/>
            <a:endCxn id="109" idx="0"/>
          </p:cNvCxnSpPr>
          <p:nvPr/>
        </p:nvCxnSpPr>
        <p:spPr>
          <a:xfrm>
            <a:off x="10575609" y="2664571"/>
            <a:ext cx="17216" cy="1812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직선 화살표 연결선 227">
            <a:extLst>
              <a:ext uri="{FF2B5EF4-FFF2-40B4-BE49-F238E27FC236}">
                <a16:creationId xmlns:a16="http://schemas.microsoft.com/office/drawing/2014/main" id="{3F8A9BAC-B851-49D3-B4C4-78C09EA95C8B}"/>
              </a:ext>
            </a:extLst>
          </p:cNvPr>
          <p:cNvCxnSpPr>
            <a:stCxn id="92" idx="3"/>
            <a:endCxn id="94" idx="1"/>
          </p:cNvCxnSpPr>
          <p:nvPr/>
        </p:nvCxnSpPr>
        <p:spPr>
          <a:xfrm>
            <a:off x="6326933" y="2479906"/>
            <a:ext cx="3704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2A951294-58BB-49B6-8C5B-369E1E495016}"/>
              </a:ext>
            </a:extLst>
          </p:cNvPr>
          <p:cNvCxnSpPr/>
          <p:nvPr/>
        </p:nvCxnSpPr>
        <p:spPr>
          <a:xfrm>
            <a:off x="9553115" y="2496012"/>
            <a:ext cx="37045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모서리가 둥근 직사각형 85">
            <a:extLst>
              <a:ext uri="{FF2B5EF4-FFF2-40B4-BE49-F238E27FC236}">
                <a16:creationId xmlns:a16="http://schemas.microsoft.com/office/drawing/2014/main" id="{952351FF-4CD2-49E9-9CFF-D446A4859FC0}"/>
              </a:ext>
            </a:extLst>
          </p:cNvPr>
          <p:cNvSpPr/>
          <p:nvPr/>
        </p:nvSpPr>
        <p:spPr>
          <a:xfrm>
            <a:off x="10444675" y="1123320"/>
            <a:ext cx="1440000" cy="538551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spc="-1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차기 점검 보고서</a:t>
            </a:r>
            <a:endParaRPr lang="en-US" altLang="ko-KR" sz="1100" b="1" spc="-1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AD176F3A-7358-4132-9A28-63549B0A3CDA}"/>
              </a:ext>
            </a:extLst>
          </p:cNvPr>
          <p:cNvSpPr/>
          <p:nvPr/>
        </p:nvSpPr>
        <p:spPr>
          <a:xfrm rot="5400000">
            <a:off x="138860" y="969498"/>
            <a:ext cx="955264" cy="69423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ko-KR" altLang="en-US" sz="900" dirty="0">
              <a:hlinkClick r:id="rId2"/>
            </a:endParaRPr>
          </a:p>
        </p:txBody>
      </p: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64D748D4-1101-485B-A910-0141FD09C0AE}"/>
              </a:ext>
            </a:extLst>
          </p:cNvPr>
          <p:cNvGrpSpPr/>
          <p:nvPr/>
        </p:nvGrpSpPr>
        <p:grpSpPr>
          <a:xfrm>
            <a:off x="5181572" y="685683"/>
            <a:ext cx="1374062" cy="415498"/>
            <a:chOff x="-1517985" y="-961636"/>
            <a:chExt cx="1374062" cy="415498"/>
          </a:xfrm>
        </p:grpSpPr>
        <p:sp>
          <p:nvSpPr>
            <p:cNvPr id="253" name="직사각형 252">
              <a:extLst>
                <a:ext uri="{FF2B5EF4-FFF2-40B4-BE49-F238E27FC236}">
                  <a16:creationId xmlns:a16="http://schemas.microsoft.com/office/drawing/2014/main" id="{C4FA5CD9-46CE-4558-967F-83A1DB8470C8}"/>
                </a:ext>
              </a:extLst>
            </p:cNvPr>
            <p:cNvSpPr/>
            <p:nvPr/>
          </p:nvSpPr>
          <p:spPr>
            <a:xfrm>
              <a:off x="-1482751" y="-961636"/>
              <a:ext cx="1338828" cy="41549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ko-KR" altLang="en-US" sz="1050" dirty="0">
                  <a:solidFill>
                    <a:srgbClr val="FF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수선 필요 여부 및 </a:t>
              </a:r>
              <a:endParaRPr lang="en-US" altLang="ko-KR" sz="105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lang="ko-KR" altLang="en-US" sz="1050" dirty="0">
                  <a:solidFill>
                    <a:srgbClr val="FF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적정 가격 판단에 활용</a:t>
              </a:r>
              <a:endParaRPr lang="en-US" altLang="ko-KR" sz="105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54" name="Freeform 9">
              <a:extLst>
                <a:ext uri="{FF2B5EF4-FFF2-40B4-BE49-F238E27FC236}">
                  <a16:creationId xmlns:a16="http://schemas.microsoft.com/office/drawing/2014/main" id="{07FE4527-0DA8-4454-B84D-48C514116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-1517985" y="-884654"/>
              <a:ext cx="91119" cy="86288"/>
            </a:xfrm>
            <a:custGeom>
              <a:avLst/>
              <a:gdLst>
                <a:gd name="T0" fmla="*/ 651 w 679"/>
                <a:gd name="T1" fmla="*/ 15 h 629"/>
                <a:gd name="T2" fmla="*/ 581 w 679"/>
                <a:gd name="T3" fmla="*/ 25 h 629"/>
                <a:gd name="T4" fmla="*/ 182 w 679"/>
                <a:gd name="T5" fmla="*/ 442 h 629"/>
                <a:gd name="T6" fmla="*/ 97 w 679"/>
                <a:gd name="T7" fmla="*/ 383 h 629"/>
                <a:gd name="T8" fmla="*/ 25 w 679"/>
                <a:gd name="T9" fmla="*/ 376 h 629"/>
                <a:gd name="T10" fmla="*/ 17 w 679"/>
                <a:gd name="T11" fmla="*/ 439 h 629"/>
                <a:gd name="T12" fmla="*/ 185 w 679"/>
                <a:gd name="T13" fmla="*/ 629 h 629"/>
                <a:gd name="T14" fmla="*/ 663 w 679"/>
                <a:gd name="T15" fmla="*/ 78 h 629"/>
                <a:gd name="T16" fmla="*/ 651 w 679"/>
                <a:gd name="T17" fmla="*/ 1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9" h="629">
                  <a:moveTo>
                    <a:pt x="651" y="15"/>
                  </a:moveTo>
                  <a:cubicBezTo>
                    <a:pt x="629" y="0"/>
                    <a:pt x="597" y="5"/>
                    <a:pt x="581" y="25"/>
                  </a:cubicBezTo>
                  <a:cubicBezTo>
                    <a:pt x="182" y="442"/>
                    <a:pt x="182" y="442"/>
                    <a:pt x="182" y="442"/>
                  </a:cubicBezTo>
                  <a:cubicBezTo>
                    <a:pt x="97" y="383"/>
                    <a:pt x="97" y="383"/>
                    <a:pt x="97" y="383"/>
                  </a:cubicBezTo>
                  <a:cubicBezTo>
                    <a:pt x="79" y="364"/>
                    <a:pt x="47" y="361"/>
                    <a:pt x="25" y="376"/>
                  </a:cubicBezTo>
                  <a:cubicBezTo>
                    <a:pt x="3" y="391"/>
                    <a:pt x="0" y="420"/>
                    <a:pt x="17" y="439"/>
                  </a:cubicBezTo>
                  <a:cubicBezTo>
                    <a:pt x="185" y="629"/>
                    <a:pt x="185" y="629"/>
                    <a:pt x="185" y="629"/>
                  </a:cubicBezTo>
                  <a:cubicBezTo>
                    <a:pt x="663" y="78"/>
                    <a:pt x="663" y="78"/>
                    <a:pt x="663" y="78"/>
                  </a:cubicBezTo>
                  <a:cubicBezTo>
                    <a:pt x="679" y="58"/>
                    <a:pt x="674" y="29"/>
                    <a:pt x="651" y="15"/>
                  </a:cubicBezTo>
                  <a:close/>
                </a:path>
              </a:pathLst>
            </a:custGeom>
            <a:solidFill>
              <a:srgbClr val="C00C3F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pPr algn="ctr" latinLnBrk="0"/>
              <a:endParaRPr lang="ko-KR" altLang="en-US" sz="1200" spc="-1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255" name="다이아몬드 254">
            <a:extLst>
              <a:ext uri="{FF2B5EF4-FFF2-40B4-BE49-F238E27FC236}">
                <a16:creationId xmlns:a16="http://schemas.microsoft.com/office/drawing/2014/main" id="{A1360FBE-5F60-45E6-943E-F8C6161E0181}"/>
              </a:ext>
            </a:extLst>
          </p:cNvPr>
          <p:cNvSpPr/>
          <p:nvPr/>
        </p:nvSpPr>
        <p:spPr>
          <a:xfrm>
            <a:off x="9965842" y="3304944"/>
            <a:ext cx="1219534" cy="449166"/>
          </a:xfrm>
          <a:prstGeom prst="diamond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defTabSz="914400" fontAlgn="base">
              <a:lnSpc>
                <a:spcPct val="120000"/>
              </a:lnSpc>
              <a:spcAft>
                <a:spcPct val="0"/>
              </a:spcAft>
            </a:pPr>
            <a:endParaRPr lang="ko-KR" altLang="en-US" sz="11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A1FA9F45-B436-4E91-9B36-6609AD3A0B0D}"/>
              </a:ext>
            </a:extLst>
          </p:cNvPr>
          <p:cNvSpPr txBox="1"/>
          <p:nvPr/>
        </p:nvSpPr>
        <p:spPr>
          <a:xfrm>
            <a:off x="10917922" y="3311465"/>
            <a:ext cx="4469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0AEE2BCA-5E9F-40C1-8093-D1CE4036363F}"/>
              </a:ext>
            </a:extLst>
          </p:cNvPr>
          <p:cNvSpPr txBox="1"/>
          <p:nvPr/>
        </p:nvSpPr>
        <p:spPr>
          <a:xfrm>
            <a:off x="9888883" y="3673518"/>
            <a:ext cx="4469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Yes</a:t>
            </a:r>
            <a:endParaRPr lang="en-US" altLang="ko-KR" sz="900" b="0" spc="-80" dirty="0">
              <a:solidFill>
                <a:schemeClr val="accent6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58" name="직사각형 257">
            <a:extLst>
              <a:ext uri="{FF2B5EF4-FFF2-40B4-BE49-F238E27FC236}">
                <a16:creationId xmlns:a16="http://schemas.microsoft.com/office/drawing/2014/main" id="{4232BD20-98AC-4CB8-8876-B045EF26FF29}"/>
              </a:ext>
            </a:extLst>
          </p:cNvPr>
          <p:cNvSpPr/>
          <p:nvPr/>
        </p:nvSpPr>
        <p:spPr bwMode="auto">
          <a:xfrm>
            <a:off x="9888934" y="3345677"/>
            <a:ext cx="1322281" cy="36932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S&amp;I </a:t>
            </a:r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파트너사</a:t>
            </a:r>
            <a:endParaRPr lang="en-US" altLang="ko-KR" sz="1100" spc="-100" dirty="0">
              <a:solidFill>
                <a:schemeClr val="accent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1100" spc="-100" dirty="0">
                <a:solidFill>
                  <a:schemeClr val="accent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여부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970FF69D-3D6B-43F3-823C-D1456C3F9DD6}"/>
              </a:ext>
            </a:extLst>
          </p:cNvPr>
          <p:cNvSpPr txBox="1"/>
          <p:nvPr/>
        </p:nvSpPr>
        <p:spPr>
          <a:xfrm>
            <a:off x="10946497" y="2254190"/>
            <a:ext cx="4469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2079AA70-13ED-4EE8-9F70-AA556DF3B98F}"/>
              </a:ext>
            </a:extLst>
          </p:cNvPr>
          <p:cNvSpPr txBox="1"/>
          <p:nvPr/>
        </p:nvSpPr>
        <p:spPr>
          <a:xfrm>
            <a:off x="9917458" y="2635293"/>
            <a:ext cx="4469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spc="-80" dirty="0">
                <a:solidFill>
                  <a:schemeClr val="accent6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Yes</a:t>
            </a:r>
            <a:endParaRPr lang="en-US" altLang="ko-KR" sz="900" b="0" spc="-80" dirty="0">
              <a:solidFill>
                <a:schemeClr val="accent6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cxnSp>
        <p:nvCxnSpPr>
          <p:cNvPr id="263" name="연결선: 꺾임 262">
            <a:extLst>
              <a:ext uri="{FF2B5EF4-FFF2-40B4-BE49-F238E27FC236}">
                <a16:creationId xmlns:a16="http://schemas.microsoft.com/office/drawing/2014/main" id="{FAD313E2-5368-4987-8018-2DC06BD62241}"/>
              </a:ext>
            </a:extLst>
          </p:cNvPr>
          <p:cNvCxnSpPr>
            <a:cxnSpLocks/>
          </p:cNvCxnSpPr>
          <p:nvPr/>
        </p:nvCxnSpPr>
        <p:spPr>
          <a:xfrm flipV="1">
            <a:off x="11174337" y="1761501"/>
            <a:ext cx="217224" cy="1760688"/>
          </a:xfrm>
          <a:prstGeom prst="bentConnector2">
            <a:avLst/>
          </a:prstGeom>
          <a:ln w="63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6662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hyperlink" Target="http://nmail.sni.co.kr/eW/eWM/Mail/Read/ReadMail.aspx?curPage=1&amp;pageList=15" TargetMode="External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l">
          <a:defRPr sz="900" dirty="0">
            <a:hlinkClick xmlns:r="http://schemas.openxmlformats.org/officeDocument/2006/relationships" r:id="rId1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25312</TotalTime>
  <Words>499</Words>
  <Application>Microsoft Office PowerPoint</Application>
  <PresentationFormat>와이드스크린</PresentationFormat>
  <Paragraphs>98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3" baseType="lpstr">
      <vt:lpstr>HY견고딕</vt:lpstr>
      <vt:lpstr>LG스마트체 Regular</vt:lpstr>
      <vt:lpstr>LG스마트체 SemiBold</vt:lpstr>
      <vt:lpstr>Pretendard</vt:lpstr>
      <vt:lpstr>Pretendard Light</vt:lpstr>
      <vt:lpstr>맑은 고딕</vt:lpstr>
      <vt:lpstr>Arial</vt:lpstr>
      <vt:lpstr>Poppins</vt:lpstr>
      <vt:lpstr>Wingdings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‘24년 Agile NPD 체계 운영 방향</dc:title>
  <dc:creator>Administrator</dc:creator>
  <cp:lastModifiedBy>Administrator</cp:lastModifiedBy>
  <cp:revision>1409</cp:revision>
  <dcterms:created xsi:type="dcterms:W3CDTF">2024-02-14T00:14:53Z</dcterms:created>
  <dcterms:modified xsi:type="dcterms:W3CDTF">2025-03-26T08:10:36Z</dcterms:modified>
</cp:coreProperties>
</file>