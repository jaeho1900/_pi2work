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9"/>
  </p:notesMasterIdLst>
  <p:sldIdLst>
    <p:sldId id="263" r:id="rId2"/>
    <p:sldId id="265" r:id="rId3"/>
    <p:sldId id="264" r:id="rId4"/>
    <p:sldId id="266" r:id="rId5"/>
    <p:sldId id="267" r:id="rId6"/>
    <p:sldId id="268" r:id="rId7"/>
    <p:sldId id="270" r:id="rId8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1248" y="9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4" d="100"/>
          <a:sy n="84" d="100"/>
        </p:scale>
        <p:origin x="382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ADFFB3-9D7D-40ED-A1E2-4658BFFD0F63}" type="datetimeFigureOut">
              <a:rPr lang="ko-KR" altLang="en-US" smtClean="0"/>
              <a:t>2024-03-13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785705-A5B4-47D1-AEAE-BC7B766DB1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102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0338CB7E-49BF-4A5A-B822-1820BCD9F15C}"/>
              </a:ext>
            </a:extLst>
          </p:cNvPr>
          <p:cNvSpPr txBox="1">
            <a:spLocks/>
          </p:cNvSpPr>
          <p:nvPr userDrawn="1"/>
        </p:nvSpPr>
        <p:spPr>
          <a:xfrm>
            <a:off x="8591914" y="874588"/>
            <a:ext cx="1128147" cy="246221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8201241-A146-47A4-98F8-ED93BBEA28DA}" type="slidenum">
              <a:rPr lang="ko-KR" altLang="en-US" sz="1400" smtClean="0"/>
              <a:pPr algn="r"/>
              <a:t>‹#›</a:t>
            </a:fld>
            <a:r>
              <a:rPr lang="ko-KR" altLang="en-US" sz="1400" dirty="0"/>
              <a:t> </a:t>
            </a:r>
            <a:r>
              <a:rPr lang="en-US" altLang="ko-KR" sz="1400" dirty="0"/>
              <a:t>/18</a:t>
            </a:r>
            <a:endParaRPr lang="ko-KR" altLang="en-US" sz="1400" dirty="0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849BEA56-A889-46F8-A830-95A05066A0B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7878" y="103518"/>
            <a:ext cx="9764862" cy="6635563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8" name="Rectangle 13">
            <a:extLst>
              <a:ext uri="{FF2B5EF4-FFF2-40B4-BE49-F238E27FC236}">
                <a16:creationId xmlns:a16="http://schemas.microsoft.com/office/drawing/2014/main" id="{3A3FC513-FA46-4217-9528-7CF888B7B44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5383" y="178710"/>
            <a:ext cx="2667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ko-KR" sz="1600" b="1" dirty="0">
                <a:solidFill>
                  <a:srgbClr val="000000"/>
                </a:solidFill>
                <a:latin typeface="+mn-ea"/>
              </a:rPr>
              <a:t>(</a:t>
            </a:r>
            <a:r>
              <a:rPr kumimoji="1" lang="ko-KR" altLang="en-US" sz="1600" b="1" dirty="0">
                <a:solidFill>
                  <a:srgbClr val="000000"/>
                </a:solidFill>
                <a:latin typeface="+mn-ea"/>
              </a:rPr>
              <a:t>주</a:t>
            </a:r>
            <a:r>
              <a:rPr kumimoji="1" lang="en-US" altLang="ko-KR" sz="1600" b="1" dirty="0">
                <a:solidFill>
                  <a:srgbClr val="000000"/>
                </a:solidFill>
                <a:latin typeface="+mn-ea"/>
              </a:rPr>
              <a:t>) </a:t>
            </a:r>
            <a:r>
              <a:rPr lang="ko-KR" altLang="en-US" sz="1600" b="1" dirty="0" err="1">
                <a:latin typeface="+mn-ea"/>
              </a:rPr>
              <a:t>에스앤아이코퍼레이션</a:t>
            </a:r>
            <a:endParaRPr kumimoji="1" lang="en-US" altLang="ko-KR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" name="Line 9">
            <a:extLst>
              <a:ext uri="{FF2B5EF4-FFF2-40B4-BE49-F238E27FC236}">
                <a16:creationId xmlns:a16="http://schemas.microsoft.com/office/drawing/2014/main" id="{64A5E557-D5E5-49DF-BEF5-79A26510E5DA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06942" y="1328468"/>
            <a:ext cx="973658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>
              <a:latin typeface="+mn-ea"/>
            </a:endParaRPr>
          </a:p>
        </p:txBody>
      </p:sp>
      <p:sp>
        <p:nvSpPr>
          <p:cNvPr id="8" name="Line 8">
            <a:extLst>
              <a:ext uri="{FF2B5EF4-FFF2-40B4-BE49-F238E27FC236}">
                <a16:creationId xmlns:a16="http://schemas.microsoft.com/office/drawing/2014/main" id="{357BE942-323F-423A-AF8C-B0C5076D72B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7878" y="536045"/>
            <a:ext cx="976564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>
              <a:latin typeface="+mn-ea"/>
            </a:endParaRPr>
          </a:p>
        </p:txBody>
      </p:sp>
      <p:sp>
        <p:nvSpPr>
          <p:cNvPr id="10" name="Line 12">
            <a:extLst>
              <a:ext uri="{FF2B5EF4-FFF2-40B4-BE49-F238E27FC236}">
                <a16:creationId xmlns:a16="http://schemas.microsoft.com/office/drawing/2014/main" id="{92791C09-677B-4E34-8B6A-76C72186B928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99677" y="931553"/>
            <a:ext cx="2702536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>
              <a:latin typeface="+mn-ea"/>
            </a:endParaRPr>
          </a:p>
        </p:txBody>
      </p:sp>
      <p:sp>
        <p:nvSpPr>
          <p:cNvPr id="11" name="Line 11">
            <a:extLst>
              <a:ext uri="{FF2B5EF4-FFF2-40B4-BE49-F238E27FC236}">
                <a16:creationId xmlns:a16="http://schemas.microsoft.com/office/drawing/2014/main" id="{8B59F6A0-6D74-4E82-96E1-1CDE5A1C60D7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802213" y="536045"/>
            <a:ext cx="0" cy="79242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>
              <a:latin typeface="+mn-ea"/>
            </a:endParaRPr>
          </a:p>
        </p:txBody>
      </p:sp>
      <p:sp>
        <p:nvSpPr>
          <p:cNvPr id="12" name="Line 10">
            <a:extLst>
              <a:ext uri="{FF2B5EF4-FFF2-40B4-BE49-F238E27FC236}">
                <a16:creationId xmlns:a16="http://schemas.microsoft.com/office/drawing/2014/main" id="{2AE0B937-D3DE-4370-AC1E-8E1E314C11DD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124342" y="536045"/>
            <a:ext cx="0" cy="79242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>
              <a:latin typeface="+mn-ea"/>
            </a:endParaRPr>
          </a:p>
        </p:txBody>
      </p:sp>
      <p:sp>
        <p:nvSpPr>
          <p:cNvPr id="13" name="Line 16">
            <a:extLst>
              <a:ext uri="{FF2B5EF4-FFF2-40B4-BE49-F238E27FC236}">
                <a16:creationId xmlns:a16="http://schemas.microsoft.com/office/drawing/2014/main" id="{9403DF70-5B20-4661-BFBF-D31356E10938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8732378" y="524785"/>
            <a:ext cx="0" cy="79242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>
              <a:latin typeface="+mn-ea"/>
            </a:endParaRPr>
          </a:p>
        </p:txBody>
      </p:sp>
      <p:sp>
        <p:nvSpPr>
          <p:cNvPr id="14" name="Rectangle 17">
            <a:extLst>
              <a:ext uri="{FF2B5EF4-FFF2-40B4-BE49-F238E27FC236}">
                <a16:creationId xmlns:a16="http://schemas.microsoft.com/office/drawing/2014/main" id="{4480F5E7-A4EB-4F42-B2BA-B54D207F362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25400" y="680981"/>
            <a:ext cx="1610443" cy="554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ctr" defTabSz="762000" eaLnBrk="0" fontAlgn="base" latinLnBrk="0" hangingPunct="0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sz="1200" b="0" dirty="0">
                <a:solidFill>
                  <a:srgbClr val="000000"/>
                </a:solidFill>
                <a:latin typeface="+mn-ea"/>
              </a:rPr>
              <a:t>주관부서</a:t>
            </a:r>
          </a:p>
          <a:p>
            <a:pPr algn="ctr" defTabSz="762000" eaLnBrk="0" fontAlgn="base" latinLnBrk="0" hangingPunct="0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sz="1200" b="0" dirty="0">
                <a:solidFill>
                  <a:srgbClr val="000000"/>
                </a:solidFill>
                <a:latin typeface="+mn-ea"/>
              </a:rPr>
              <a:t>상품기획팀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2059AF-8E92-4FD8-82A2-AD7E5FD0DE6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51946" y="780950"/>
            <a:ext cx="2895024" cy="339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 defTabSz="762000"/>
            <a:r>
              <a:rPr lang="en-US" altLang="ko-KR" sz="1600" dirty="0">
                <a:latin typeface="+mn-ea"/>
              </a:rPr>
              <a:t>New </a:t>
            </a:r>
            <a:r>
              <a:rPr lang="ko-KR" altLang="en-US" sz="1600" dirty="0">
                <a:latin typeface="+mn-ea"/>
              </a:rPr>
              <a:t>솔루션 사업</a:t>
            </a:r>
            <a:r>
              <a:rPr lang="en-US" altLang="ko-KR" sz="1600" dirty="0">
                <a:latin typeface="+mn-ea"/>
              </a:rPr>
              <a:t> </a:t>
            </a:r>
            <a:r>
              <a:rPr lang="ko-KR" altLang="en-US" sz="1600" dirty="0">
                <a:latin typeface="+mn-ea"/>
              </a:rPr>
              <a:t>가격 책정 지침</a:t>
            </a:r>
          </a:p>
        </p:txBody>
      </p:sp>
      <p:sp>
        <p:nvSpPr>
          <p:cNvPr id="16" name="Rectangle 19">
            <a:extLst>
              <a:ext uri="{FF2B5EF4-FFF2-40B4-BE49-F238E27FC236}">
                <a16:creationId xmlns:a16="http://schemas.microsoft.com/office/drawing/2014/main" id="{072AFF87-B9EB-42EA-9052-3EBC3C29864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5383" y="619952"/>
            <a:ext cx="2756692" cy="246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sz="1000" dirty="0">
                <a:solidFill>
                  <a:srgbClr val="000000"/>
                </a:solidFill>
                <a:latin typeface="+mn-ea"/>
              </a:rPr>
              <a:t>제정일자 </a:t>
            </a:r>
            <a:r>
              <a:rPr kumimoji="1" lang="en-US" altLang="ko-KR" sz="1000" dirty="0">
                <a:solidFill>
                  <a:srgbClr val="000000"/>
                </a:solidFill>
                <a:latin typeface="+mn-ea"/>
              </a:rPr>
              <a:t>: 2024</a:t>
            </a:r>
            <a:r>
              <a:rPr kumimoji="1" lang="ko-KR" altLang="en-US" sz="1000" dirty="0">
                <a:solidFill>
                  <a:srgbClr val="000000"/>
                </a:solidFill>
                <a:latin typeface="+mn-ea"/>
              </a:rPr>
              <a:t>년</a:t>
            </a:r>
            <a:r>
              <a:rPr kumimoji="1" lang="en-US" altLang="ko-KR" sz="1000" dirty="0">
                <a:solidFill>
                  <a:srgbClr val="000000"/>
                </a:solidFill>
                <a:latin typeface="+mn-ea"/>
              </a:rPr>
              <a:t>  3</a:t>
            </a:r>
            <a:r>
              <a:rPr kumimoji="1" lang="ko-KR" altLang="en-US" sz="1000" dirty="0">
                <a:solidFill>
                  <a:srgbClr val="000000"/>
                </a:solidFill>
                <a:latin typeface="+mn-ea"/>
              </a:rPr>
              <a:t>월</a:t>
            </a:r>
            <a:r>
              <a:rPr kumimoji="1" lang="en-US" altLang="ko-KR" sz="1000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ko-KR" altLang="en-US" sz="1000" dirty="0">
                <a:solidFill>
                  <a:srgbClr val="000000"/>
                </a:solidFill>
                <a:latin typeface="+mn-ea"/>
              </a:rPr>
              <a:t>일</a:t>
            </a:r>
          </a:p>
        </p:txBody>
      </p:sp>
      <p:sp>
        <p:nvSpPr>
          <p:cNvPr id="19" name="Rectangle 19">
            <a:extLst>
              <a:ext uri="{FF2B5EF4-FFF2-40B4-BE49-F238E27FC236}">
                <a16:creationId xmlns:a16="http://schemas.microsoft.com/office/drawing/2014/main" id="{5032A1E6-AD44-4ADB-BAC6-AA7B4F27AB9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5383" y="1014075"/>
            <a:ext cx="2756692" cy="246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sz="1000" dirty="0">
                <a:solidFill>
                  <a:srgbClr val="000000"/>
                </a:solidFill>
                <a:latin typeface="+mn-ea"/>
              </a:rPr>
              <a:t>개정일자 </a:t>
            </a:r>
            <a:r>
              <a:rPr kumimoji="1" lang="en-US" altLang="ko-KR" sz="1000" dirty="0">
                <a:solidFill>
                  <a:srgbClr val="000000"/>
                </a:solidFill>
                <a:latin typeface="+mn-ea"/>
              </a:rPr>
              <a:t>: 20     </a:t>
            </a:r>
            <a:r>
              <a:rPr kumimoji="1" lang="ko-KR" altLang="en-US" sz="1000" dirty="0">
                <a:solidFill>
                  <a:srgbClr val="000000"/>
                </a:solidFill>
                <a:latin typeface="+mn-ea"/>
              </a:rPr>
              <a:t>년</a:t>
            </a:r>
            <a:r>
              <a:rPr kumimoji="1" lang="en-US" altLang="ko-KR" sz="1000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ko-KR" altLang="en-US" sz="1000" dirty="0">
                <a:solidFill>
                  <a:srgbClr val="000000"/>
                </a:solidFill>
                <a:latin typeface="+mn-ea"/>
              </a:rPr>
              <a:t>월</a:t>
            </a:r>
            <a:r>
              <a:rPr kumimoji="1" lang="en-US" altLang="ko-KR" sz="1000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ko-KR" altLang="en-US" sz="1000" dirty="0">
                <a:solidFill>
                  <a:srgbClr val="000000"/>
                </a:solidFill>
                <a:latin typeface="+mn-ea"/>
              </a:rPr>
              <a:t>일</a:t>
            </a:r>
          </a:p>
        </p:txBody>
      </p:sp>
      <p:sp>
        <p:nvSpPr>
          <p:cNvPr id="17" name="제목 1">
            <a:extLst>
              <a:ext uri="{FF2B5EF4-FFF2-40B4-BE49-F238E27FC236}">
                <a16:creationId xmlns:a16="http://schemas.microsoft.com/office/drawing/2014/main" id="{EA218087-C7E4-4289-B47F-D8077BE00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046" y="1517724"/>
            <a:ext cx="2285999" cy="39484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059614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0600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588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73" r:id="rId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17">
            <a:extLst>
              <a:ext uri="{FF2B5EF4-FFF2-40B4-BE49-F238E27FC236}">
                <a16:creationId xmlns:a16="http://schemas.microsoft.com/office/drawing/2014/main" id="{6211D0EB-83F6-4743-9F24-F067CFA505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0161097"/>
              </p:ext>
            </p:extLst>
          </p:nvPr>
        </p:nvGraphicFramePr>
        <p:xfrm>
          <a:off x="7406956" y="795541"/>
          <a:ext cx="1991782" cy="534492"/>
        </p:xfrm>
        <a:graphic>
          <a:graphicData uri="http://schemas.openxmlformats.org/drawingml/2006/table">
            <a:tbl>
              <a:tblPr/>
              <a:tblGrid>
                <a:gridCol w="6825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92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54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 정</a:t>
                      </a:r>
                    </a:p>
                  </a:txBody>
                  <a:tcPr marL="81121" marR="81121" marT="42183" marB="42183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2024.  3.   </a:t>
                      </a:r>
                    </a:p>
                  </a:txBody>
                  <a:tcPr marL="194689" marR="81121" marT="42183" marB="42183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4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개 정</a:t>
                      </a:r>
                    </a:p>
                  </a:txBody>
                  <a:tcPr marL="81121" marR="81121" marT="42183" marB="42183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20     .    .   </a:t>
                      </a:r>
                    </a:p>
                  </a:txBody>
                  <a:tcPr marL="194689" marR="81121" marT="42183" marB="42183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Rectangle 19">
            <a:extLst>
              <a:ext uri="{FF2B5EF4-FFF2-40B4-BE49-F238E27FC236}">
                <a16:creationId xmlns:a16="http://schemas.microsoft.com/office/drawing/2014/main" id="{CE9ED923-8EBC-4346-9FDA-02AF903BA0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7540" y="2017629"/>
            <a:ext cx="4850920" cy="893302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 anchorCtr="1"/>
          <a:lstStyle/>
          <a:p>
            <a:pPr algn="ctr"/>
            <a:r>
              <a:rPr lang="en-US" altLang="ko-KR" sz="2400" dirty="0">
                <a:solidFill>
                  <a:srgbClr val="000000"/>
                </a:solidFill>
                <a:latin typeface="+mn-ea"/>
              </a:rPr>
              <a:t>New </a:t>
            </a: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솔루션 사업 가격 책정 지침</a:t>
            </a:r>
            <a:r>
              <a:rPr lang="en-US" altLang="ko-KR" sz="2400" dirty="0">
                <a:solidFill>
                  <a:srgbClr val="000000"/>
                </a:solidFill>
                <a:latin typeface="+mn-ea"/>
              </a:rPr>
              <a:t>(</a:t>
            </a: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안</a:t>
            </a:r>
            <a:r>
              <a:rPr lang="en-US" altLang="ko-KR" sz="2400" dirty="0">
                <a:solidFill>
                  <a:srgbClr val="000000"/>
                </a:solidFill>
                <a:latin typeface="+mn-ea"/>
              </a:rPr>
              <a:t>)</a:t>
            </a:r>
            <a:endParaRPr lang="ko-KR" altLang="en-US" sz="24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직사각형 1">
            <a:extLst>
              <a:ext uri="{FF2B5EF4-FFF2-40B4-BE49-F238E27FC236}">
                <a16:creationId xmlns:a16="http://schemas.microsoft.com/office/drawing/2014/main" id="{AE004F29-7E90-4384-9F76-BA65ECEBC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3838" y="381659"/>
            <a:ext cx="1104900" cy="26225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marL="457200" indent="-457200"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</a:pPr>
            <a:r>
              <a:rPr lang="ko-KR" altLang="en-US" sz="1050" b="1" dirty="0">
                <a:latin typeface="+mn-ea"/>
                <a:ea typeface="+mn-ea"/>
              </a:rPr>
              <a:t>대외비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331CBB5-9C90-46B8-9B73-B5E6132170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3784" y="4671747"/>
            <a:ext cx="1040155" cy="497682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DDA52B8A-3B37-4C9A-9B64-FAEE16B9FD09}"/>
              </a:ext>
            </a:extLst>
          </p:cNvPr>
          <p:cNvSpPr/>
          <p:nvPr/>
        </p:nvSpPr>
        <p:spPr>
          <a:xfrm>
            <a:off x="3814162" y="5481907"/>
            <a:ext cx="231939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100" b="0" i="1" dirty="0" err="1">
                <a:latin typeface="+mn-ea"/>
              </a:rPr>
              <a:t>Copyright</a:t>
            </a:r>
            <a:r>
              <a:rPr lang="ko-KR" altLang="en-US" sz="1100" b="0" i="1" dirty="0">
                <a:latin typeface="+mn-ea"/>
              </a:rPr>
              <a:t> © </a:t>
            </a:r>
            <a:r>
              <a:rPr lang="en-US" altLang="ko-KR" sz="1100" i="1" dirty="0">
                <a:latin typeface="+mn-ea"/>
              </a:rPr>
              <a:t>S&amp;I Corp.</a:t>
            </a:r>
            <a:endParaRPr lang="ko-KR" altLang="en-US" sz="1100" b="0" i="1" dirty="0">
              <a:latin typeface="+mn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2E1461A-0E00-4343-8390-B4E6A107E0D6}"/>
              </a:ext>
            </a:extLst>
          </p:cNvPr>
          <p:cNvSpPr/>
          <p:nvPr/>
        </p:nvSpPr>
        <p:spPr>
          <a:xfrm>
            <a:off x="1773275" y="5827089"/>
            <a:ext cx="6401172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00" i="1" dirty="0">
                <a:latin typeface="+mn-ea"/>
              </a:rPr>
              <a:t>S&amp;I Corp.</a:t>
            </a:r>
            <a:r>
              <a:rPr lang="ko-KR" altLang="en-US" sz="1100" i="1" dirty="0">
                <a:latin typeface="+mn-ea"/>
              </a:rPr>
              <a:t>의  사전 승인 없이 본 내용의 전부 또는 일부에 대한 복사</a:t>
            </a:r>
            <a:r>
              <a:rPr lang="en-US" altLang="ko-KR" sz="1100" i="1" dirty="0">
                <a:latin typeface="+mn-ea"/>
              </a:rPr>
              <a:t>, </a:t>
            </a:r>
            <a:r>
              <a:rPr lang="ko-KR" altLang="en-US" sz="1100" i="1" dirty="0">
                <a:latin typeface="+mn-ea"/>
              </a:rPr>
              <a:t>전재</a:t>
            </a:r>
            <a:r>
              <a:rPr lang="en-US" altLang="ko-KR" sz="1100" i="1" dirty="0">
                <a:latin typeface="+mn-ea"/>
              </a:rPr>
              <a:t>, </a:t>
            </a:r>
            <a:r>
              <a:rPr lang="ko-KR" altLang="en-US" sz="1100" i="1" dirty="0">
                <a:latin typeface="+mn-ea"/>
              </a:rPr>
              <a:t>배포</a:t>
            </a:r>
            <a:r>
              <a:rPr lang="en-US" altLang="ko-KR" sz="1100" i="1" dirty="0">
                <a:latin typeface="+mn-ea"/>
              </a:rPr>
              <a:t>, </a:t>
            </a:r>
            <a:r>
              <a:rPr lang="ko-KR" altLang="en-US" sz="1100" i="1" dirty="0">
                <a:latin typeface="+mn-ea"/>
              </a:rPr>
              <a:t>사용 등을 금합니다</a:t>
            </a:r>
            <a:r>
              <a:rPr lang="en-US" altLang="ko-KR" sz="1100" i="1" dirty="0">
                <a:latin typeface="+mn-ea"/>
              </a:rPr>
              <a:t>. </a:t>
            </a:r>
            <a:endParaRPr lang="ko-KR" altLang="en-US" sz="1100" i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53563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>
            <a:extLst>
              <a:ext uri="{FF2B5EF4-FFF2-40B4-BE49-F238E27FC236}">
                <a16:creationId xmlns:a16="http://schemas.microsoft.com/office/drawing/2014/main" id="{F8846950-DD72-4879-BA2B-F1340E43E2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0937" y="1305464"/>
            <a:ext cx="3643312" cy="41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r>
              <a:rPr lang="ko-KR" altLang="en-US" b="1" u="sng" dirty="0">
                <a:solidFill>
                  <a:srgbClr val="000000"/>
                </a:solidFill>
                <a:latin typeface="+mn-ea"/>
              </a:rPr>
              <a:t>제 </a:t>
            </a:r>
            <a:r>
              <a:rPr lang="en-US" altLang="ko-KR" b="1" u="sng" dirty="0">
                <a:solidFill>
                  <a:srgbClr val="000000"/>
                </a:solidFill>
                <a:latin typeface="+mn-ea"/>
              </a:rPr>
              <a:t>/ </a:t>
            </a:r>
            <a:r>
              <a:rPr lang="ko-KR" altLang="en-US" b="1" u="sng" dirty="0">
                <a:solidFill>
                  <a:srgbClr val="000000"/>
                </a:solidFill>
                <a:latin typeface="+mn-ea"/>
              </a:rPr>
              <a:t>개정 이력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D29C6132-B5C1-4A49-92FE-20801D83CA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877592"/>
              </p:ext>
            </p:extLst>
          </p:nvPr>
        </p:nvGraphicFramePr>
        <p:xfrm>
          <a:off x="1717514" y="2175256"/>
          <a:ext cx="6462913" cy="8227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5592">
                  <a:extLst>
                    <a:ext uri="{9D8B030D-6E8A-4147-A177-3AD203B41FA5}">
                      <a16:colId xmlns:a16="http://schemas.microsoft.com/office/drawing/2014/main" val="2471848298"/>
                    </a:ext>
                  </a:extLst>
                </a:gridCol>
                <a:gridCol w="1061263">
                  <a:extLst>
                    <a:ext uri="{9D8B030D-6E8A-4147-A177-3AD203B41FA5}">
                      <a16:colId xmlns:a16="http://schemas.microsoft.com/office/drawing/2014/main" val="529318776"/>
                    </a:ext>
                  </a:extLst>
                </a:gridCol>
                <a:gridCol w="1024015">
                  <a:extLst>
                    <a:ext uri="{9D8B030D-6E8A-4147-A177-3AD203B41FA5}">
                      <a16:colId xmlns:a16="http://schemas.microsoft.com/office/drawing/2014/main" val="229401735"/>
                    </a:ext>
                  </a:extLst>
                </a:gridCol>
                <a:gridCol w="4082043">
                  <a:extLst>
                    <a:ext uri="{9D8B030D-6E8A-4147-A177-3AD203B41FA5}">
                      <a16:colId xmlns:a16="http://schemas.microsoft.com/office/drawing/2014/main" val="1569569906"/>
                    </a:ext>
                  </a:extLst>
                </a:gridCol>
              </a:tblGrid>
              <a:tr h="4113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 자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 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291185"/>
                  </a:ext>
                </a:extLst>
              </a:tr>
              <a:tr h="4113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indent="0" algn="l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2024.  3.    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규정 新設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신규 제정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51471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4449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5">
            <a:extLst>
              <a:ext uri="{FF2B5EF4-FFF2-40B4-BE49-F238E27FC236}">
                <a16:creationId xmlns:a16="http://schemas.microsoft.com/office/drawing/2014/main" id="{84D2C098-4E0B-44A0-B310-FFA75AB5C2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6913" y="2398007"/>
            <a:ext cx="3051522" cy="2914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kumimoji="1" lang="ko-KR" altLang="en-US" sz="1200" dirty="0">
                <a:solidFill>
                  <a:srgbClr val="000000"/>
                </a:solidFill>
                <a:latin typeface="+mn-ea"/>
              </a:rPr>
              <a:t>  목     차  </a:t>
            </a:r>
            <a:r>
              <a:rPr kumimoji="1" lang="en-US" altLang="ko-KR" sz="1200" dirty="0">
                <a:solidFill>
                  <a:srgbClr val="000000"/>
                </a:solidFill>
                <a:latin typeface="+mn-ea"/>
              </a:rPr>
              <a:t>-</a:t>
            </a:r>
          </a:p>
          <a:p>
            <a:pPr algn="ctr"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endParaRPr kumimoji="1" lang="en-US" altLang="ko-KR" sz="1200" dirty="0">
              <a:solidFill>
                <a:srgbClr val="000000"/>
              </a:solidFill>
              <a:latin typeface="+mn-ea"/>
            </a:endParaRPr>
          </a:p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dirty="0">
                <a:solidFill>
                  <a:srgbClr val="000000"/>
                </a:solidFill>
                <a:latin typeface="+mn-ea"/>
              </a:rPr>
              <a:t>제</a:t>
            </a:r>
            <a:r>
              <a:rPr kumimoji="1" lang="en-US" altLang="ko-KR" sz="1200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ko-KR" altLang="en-US" sz="1200" dirty="0">
                <a:solidFill>
                  <a:srgbClr val="000000"/>
                </a:solidFill>
                <a:latin typeface="+mn-ea"/>
              </a:rPr>
              <a:t>조  목적</a:t>
            </a:r>
            <a:endParaRPr kumimoji="1" lang="en-US" altLang="ko-KR" sz="1200" dirty="0">
              <a:solidFill>
                <a:srgbClr val="000000"/>
              </a:solidFill>
              <a:latin typeface="+mn-ea"/>
            </a:endParaRPr>
          </a:p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dirty="0">
                <a:solidFill>
                  <a:srgbClr val="000000"/>
                </a:solidFill>
                <a:latin typeface="+mn-ea"/>
              </a:rPr>
              <a:t>제</a:t>
            </a:r>
            <a:r>
              <a:rPr kumimoji="1" lang="en-US" altLang="ko-KR" sz="1200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ko-KR" altLang="en-US" sz="1200" dirty="0">
                <a:solidFill>
                  <a:srgbClr val="000000"/>
                </a:solidFill>
                <a:latin typeface="+mn-ea"/>
              </a:rPr>
              <a:t>조  적용 범위</a:t>
            </a:r>
            <a:endParaRPr kumimoji="1" lang="en-US" altLang="ko-KR" sz="1200" dirty="0">
              <a:solidFill>
                <a:srgbClr val="000000"/>
              </a:solidFill>
              <a:latin typeface="+mn-ea"/>
            </a:endParaRPr>
          </a:p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dirty="0">
                <a:solidFill>
                  <a:srgbClr val="000000"/>
                </a:solidFill>
                <a:latin typeface="+mn-ea"/>
              </a:rPr>
              <a:t>제</a:t>
            </a:r>
            <a:r>
              <a:rPr kumimoji="1" lang="en-US" altLang="ko-KR" sz="1200" dirty="0">
                <a:solidFill>
                  <a:srgbClr val="000000"/>
                </a:solidFill>
                <a:latin typeface="+mn-ea"/>
              </a:rPr>
              <a:t>3</a:t>
            </a:r>
            <a:r>
              <a:rPr kumimoji="1" lang="ko-KR" altLang="en-US" sz="1200" dirty="0">
                <a:solidFill>
                  <a:srgbClr val="000000"/>
                </a:solidFill>
                <a:latin typeface="+mn-ea"/>
              </a:rPr>
              <a:t>조  용어 정의</a:t>
            </a:r>
            <a:endParaRPr kumimoji="1" lang="en-US" altLang="ko-KR" sz="1200" dirty="0">
              <a:solidFill>
                <a:srgbClr val="000000"/>
              </a:solidFill>
              <a:latin typeface="+mn-ea"/>
            </a:endParaRPr>
          </a:p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dirty="0">
                <a:solidFill>
                  <a:srgbClr val="000000"/>
                </a:solidFill>
                <a:latin typeface="+mn-ea"/>
              </a:rPr>
              <a:t>제</a:t>
            </a:r>
            <a:r>
              <a:rPr kumimoji="1" lang="en-US" altLang="ko-KR" sz="1200" dirty="0">
                <a:solidFill>
                  <a:srgbClr val="000000"/>
                </a:solidFill>
                <a:latin typeface="+mn-ea"/>
              </a:rPr>
              <a:t>4</a:t>
            </a:r>
            <a:r>
              <a:rPr kumimoji="1" lang="ko-KR" altLang="en-US" sz="1200" dirty="0">
                <a:solidFill>
                  <a:srgbClr val="000000"/>
                </a:solidFill>
                <a:latin typeface="+mn-ea"/>
              </a:rPr>
              <a:t>조  일반 원칙</a:t>
            </a:r>
            <a:endParaRPr kumimoji="1" lang="en-US" altLang="ko-KR" sz="1200" dirty="0">
              <a:solidFill>
                <a:srgbClr val="000000"/>
              </a:solidFill>
              <a:latin typeface="+mn-ea"/>
            </a:endParaRPr>
          </a:p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dirty="0">
                <a:solidFill>
                  <a:srgbClr val="000000"/>
                </a:solidFill>
                <a:latin typeface="+mn-ea"/>
              </a:rPr>
              <a:t>제</a:t>
            </a:r>
            <a:r>
              <a:rPr kumimoji="1" lang="en-US" altLang="ko-KR" sz="1200" dirty="0">
                <a:solidFill>
                  <a:srgbClr val="000000"/>
                </a:solidFill>
                <a:latin typeface="+mn-ea"/>
              </a:rPr>
              <a:t>5</a:t>
            </a:r>
            <a:r>
              <a:rPr kumimoji="1" lang="ko-KR" altLang="en-US" sz="1200" dirty="0">
                <a:solidFill>
                  <a:srgbClr val="000000"/>
                </a:solidFill>
                <a:latin typeface="+mn-ea"/>
              </a:rPr>
              <a:t>조  가격 조정</a:t>
            </a:r>
            <a:endParaRPr kumimoji="1" lang="en-US" altLang="ko-KR" sz="1200" dirty="0">
              <a:solidFill>
                <a:srgbClr val="000000"/>
              </a:solidFill>
              <a:latin typeface="+mn-ea"/>
            </a:endParaRPr>
          </a:p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dirty="0">
                <a:solidFill>
                  <a:srgbClr val="000000"/>
                </a:solidFill>
                <a:latin typeface="+mn-ea"/>
              </a:rPr>
              <a:t>제</a:t>
            </a:r>
            <a:r>
              <a:rPr kumimoji="1" lang="en-US" altLang="ko-KR" sz="1200" dirty="0">
                <a:solidFill>
                  <a:srgbClr val="000000"/>
                </a:solidFill>
                <a:latin typeface="+mn-ea"/>
              </a:rPr>
              <a:t>6</a:t>
            </a:r>
            <a:r>
              <a:rPr kumimoji="1" lang="ko-KR" altLang="en-US" sz="1200" dirty="0">
                <a:solidFill>
                  <a:srgbClr val="000000"/>
                </a:solidFill>
                <a:latin typeface="+mn-ea"/>
              </a:rPr>
              <a:t>조  예외 처리</a:t>
            </a:r>
            <a:endParaRPr kumimoji="1" lang="en-US" altLang="ko-KR" sz="1200" dirty="0">
              <a:solidFill>
                <a:srgbClr val="000000"/>
              </a:solidFill>
              <a:latin typeface="+mn-ea"/>
            </a:endParaRPr>
          </a:p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endParaRPr kumimoji="1" lang="en-US" altLang="ko-KR" sz="1200" dirty="0">
              <a:solidFill>
                <a:srgbClr val="000000"/>
              </a:solidFill>
              <a:latin typeface="+mn-ea"/>
            </a:endParaRPr>
          </a:p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dirty="0">
                <a:solidFill>
                  <a:srgbClr val="000000"/>
                </a:solidFill>
                <a:latin typeface="+mn-ea"/>
              </a:rPr>
              <a:t>[</a:t>
            </a:r>
            <a:r>
              <a:rPr kumimoji="1" lang="ko-KR" altLang="en-US" sz="1200" dirty="0">
                <a:solidFill>
                  <a:srgbClr val="000000"/>
                </a:solidFill>
                <a:latin typeface="+mn-ea"/>
              </a:rPr>
              <a:t>별첨 </a:t>
            </a:r>
            <a:r>
              <a:rPr kumimoji="1" lang="en-US" altLang="ko-KR" sz="1200" dirty="0">
                <a:solidFill>
                  <a:srgbClr val="000000"/>
                </a:solidFill>
                <a:latin typeface="+mn-ea"/>
              </a:rPr>
              <a:t>1] </a:t>
            </a:r>
            <a:r>
              <a:rPr kumimoji="1" lang="ko-KR" altLang="en-US" sz="1200" dirty="0">
                <a:solidFill>
                  <a:srgbClr val="000000"/>
                </a:solidFill>
                <a:latin typeface="+mn-ea"/>
              </a:rPr>
              <a:t>손익 </a:t>
            </a:r>
            <a:r>
              <a:rPr kumimoji="1" lang="ko-KR" altLang="en-US" sz="1200" dirty="0" err="1">
                <a:solidFill>
                  <a:srgbClr val="000000"/>
                </a:solidFill>
                <a:latin typeface="+mn-ea"/>
              </a:rPr>
              <a:t>점검표</a:t>
            </a:r>
            <a:r>
              <a:rPr kumimoji="1" lang="ko-KR" altLang="en-US" sz="1200" dirty="0">
                <a:solidFill>
                  <a:srgbClr val="000000"/>
                </a:solidFill>
                <a:latin typeface="+mn-ea"/>
              </a:rPr>
              <a:t> 양식</a:t>
            </a:r>
            <a:endParaRPr kumimoji="1" lang="en-US" altLang="ko-KR" sz="1200" dirty="0">
              <a:solidFill>
                <a:srgbClr val="000000"/>
              </a:solidFill>
              <a:latin typeface="+mn-ea"/>
            </a:endParaRPr>
          </a:p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dirty="0">
                <a:solidFill>
                  <a:srgbClr val="000000"/>
                </a:solidFill>
                <a:latin typeface="+mn-ea"/>
              </a:rPr>
              <a:t>[</a:t>
            </a:r>
            <a:r>
              <a:rPr kumimoji="1" lang="ko-KR" altLang="en-US" sz="1200" dirty="0">
                <a:solidFill>
                  <a:srgbClr val="000000"/>
                </a:solidFill>
                <a:latin typeface="+mn-ea"/>
              </a:rPr>
              <a:t>별첨 </a:t>
            </a:r>
            <a:r>
              <a:rPr kumimoji="1" lang="en-US" altLang="ko-KR" sz="1200" dirty="0">
                <a:solidFill>
                  <a:srgbClr val="000000"/>
                </a:solidFill>
                <a:latin typeface="+mn-ea"/>
              </a:rPr>
              <a:t>2] </a:t>
            </a:r>
            <a:r>
              <a:rPr kumimoji="1" lang="ko-KR" altLang="en-US" sz="1200" dirty="0">
                <a:solidFill>
                  <a:srgbClr val="000000"/>
                </a:solidFill>
                <a:latin typeface="+mn-ea"/>
              </a:rPr>
              <a:t>동종 서비스 가격 조사서 양식</a:t>
            </a:r>
            <a:endParaRPr kumimoji="1" lang="en-US" altLang="ko-KR" sz="1200" dirty="0">
              <a:solidFill>
                <a:srgbClr val="0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99305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4A0E6AD8-2A91-44AE-9565-C6C40194853F}"/>
              </a:ext>
            </a:extLst>
          </p:cNvPr>
          <p:cNvSpPr/>
          <p:nvPr/>
        </p:nvSpPr>
        <p:spPr>
          <a:xfrm>
            <a:off x="458561" y="1656271"/>
            <a:ext cx="9361175" cy="47243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ko-KR" altLang="en-US" sz="1200" dirty="0">
                <a:latin typeface="+mn-ea"/>
              </a:rPr>
              <a:t>제</a:t>
            </a:r>
            <a:r>
              <a:rPr lang="en-US" altLang="ko-KR" sz="1200" dirty="0">
                <a:latin typeface="+mn-ea"/>
              </a:rPr>
              <a:t>1</a:t>
            </a:r>
            <a:r>
              <a:rPr lang="ko-KR" altLang="en-US" sz="1200" dirty="0">
                <a:latin typeface="+mn-ea"/>
              </a:rPr>
              <a:t>조 목적</a:t>
            </a:r>
          </a:p>
          <a:p>
            <a:pPr>
              <a:spcAft>
                <a:spcPts val="600"/>
              </a:spcAft>
            </a:pPr>
            <a:r>
              <a:rPr lang="ko-KR" altLang="en-US" sz="1200" dirty="0">
                <a:latin typeface="+mn-ea"/>
              </a:rPr>
              <a:t>본 지침은 </a:t>
            </a:r>
            <a:r>
              <a:rPr lang="en-US" altLang="ko-KR" sz="1200" dirty="0">
                <a:latin typeface="+mn-ea"/>
              </a:rPr>
              <a:t>New</a:t>
            </a:r>
            <a:r>
              <a:rPr lang="ko-KR" altLang="en-US" sz="1200" dirty="0">
                <a:latin typeface="+mn-ea"/>
              </a:rPr>
              <a:t> 솔루션을 경험하게 될 고객이 수용할 수 있는 출시 가격을 책정하는데 목적이 있다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spcAft>
                <a:spcPts val="600"/>
              </a:spcAft>
            </a:pPr>
            <a:endParaRPr lang="en-US" altLang="ko-KR" sz="1200" dirty="0">
              <a:latin typeface="+mn-ea"/>
            </a:endParaRPr>
          </a:p>
          <a:p>
            <a:pPr>
              <a:spcAft>
                <a:spcPts val="600"/>
              </a:spcAft>
            </a:pPr>
            <a:r>
              <a:rPr lang="ko-KR" altLang="en-US" sz="1200" dirty="0">
                <a:latin typeface="+mn-ea"/>
              </a:rPr>
              <a:t>제</a:t>
            </a:r>
            <a:r>
              <a:rPr lang="en-US" altLang="ko-KR" sz="1200" dirty="0">
                <a:latin typeface="+mn-ea"/>
              </a:rPr>
              <a:t>2</a:t>
            </a:r>
            <a:r>
              <a:rPr lang="ko-KR" altLang="en-US" sz="1200" dirty="0">
                <a:latin typeface="+mn-ea"/>
              </a:rPr>
              <a:t>조 적용 범위</a:t>
            </a:r>
          </a:p>
          <a:p>
            <a:pPr>
              <a:spcAft>
                <a:spcPts val="600"/>
              </a:spcAft>
            </a:pPr>
            <a:r>
              <a:rPr lang="ko-KR" altLang="en-US" sz="1200" dirty="0">
                <a:latin typeface="+mn-ea"/>
              </a:rPr>
              <a:t>본 지침은 </a:t>
            </a:r>
            <a:r>
              <a:rPr lang="en-US" altLang="ko-KR" sz="1200" dirty="0">
                <a:latin typeface="+mn-ea"/>
              </a:rPr>
              <a:t>NPD </a:t>
            </a:r>
            <a:r>
              <a:rPr lang="ko-KR" altLang="en-US" sz="1200" dirty="0">
                <a:latin typeface="+mn-ea"/>
              </a:rPr>
              <a:t>절차에 따라 출시가 확정된 </a:t>
            </a:r>
            <a:r>
              <a:rPr lang="en-US" altLang="ko-KR" sz="1200" dirty="0">
                <a:latin typeface="+mn-ea"/>
              </a:rPr>
              <a:t>New </a:t>
            </a:r>
            <a:r>
              <a:rPr lang="ko-KR" altLang="en-US" sz="1200" dirty="0">
                <a:latin typeface="+mn-ea"/>
              </a:rPr>
              <a:t>솔루션 사업의 상품 또는 서비스에 적용한다</a:t>
            </a:r>
            <a:r>
              <a:rPr lang="en-US" altLang="ko-KR" sz="1200" dirty="0">
                <a:latin typeface="+mn-ea"/>
              </a:rPr>
              <a:t>. </a:t>
            </a:r>
          </a:p>
          <a:p>
            <a:pPr>
              <a:spcAft>
                <a:spcPts val="600"/>
              </a:spcAft>
            </a:pPr>
            <a:endParaRPr lang="en-US" altLang="ko-KR" sz="1200" dirty="0">
              <a:latin typeface="+mn-ea"/>
            </a:endParaRPr>
          </a:p>
          <a:p>
            <a:pPr>
              <a:spcAft>
                <a:spcPts val="600"/>
              </a:spcAft>
            </a:pPr>
            <a:r>
              <a:rPr lang="ko-KR" altLang="en-US" sz="1200" dirty="0">
                <a:latin typeface="+mn-ea"/>
              </a:rPr>
              <a:t>제</a:t>
            </a:r>
            <a:r>
              <a:rPr lang="en-US" altLang="ko-KR" sz="1200" dirty="0">
                <a:latin typeface="+mn-ea"/>
              </a:rPr>
              <a:t>3</a:t>
            </a:r>
            <a:r>
              <a:rPr lang="ko-KR" altLang="en-US" sz="1200" dirty="0">
                <a:latin typeface="+mn-ea"/>
              </a:rPr>
              <a:t>조 용어 정의</a:t>
            </a:r>
          </a:p>
          <a:p>
            <a:pPr marL="228600" indent="-228600">
              <a:spcAft>
                <a:spcPts val="600"/>
              </a:spcAft>
              <a:buAutoNum type="arabicPeriod"/>
            </a:pPr>
            <a:r>
              <a:rPr lang="ko-KR" altLang="en-US" sz="1200" dirty="0">
                <a:latin typeface="+mn-ea"/>
              </a:rPr>
              <a:t>출시 가격이란 </a:t>
            </a:r>
            <a:r>
              <a:rPr lang="en-US" altLang="ko-KR" sz="1200" dirty="0">
                <a:latin typeface="+mn-ea"/>
              </a:rPr>
              <a:t>New </a:t>
            </a:r>
            <a:r>
              <a:rPr lang="ko-KR" altLang="en-US" sz="1200" dirty="0">
                <a:latin typeface="+mn-ea"/>
              </a:rPr>
              <a:t>솔루션 사업의 상품 또는 서비스의 최초 판매 가격으로 정의한다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228600" indent="-228600">
              <a:spcAft>
                <a:spcPts val="600"/>
              </a:spcAft>
              <a:buFontTx/>
              <a:buAutoNum type="arabicPeriod"/>
            </a:pPr>
            <a:r>
              <a:rPr lang="ko-KR" altLang="en-US" sz="1200" dirty="0">
                <a:latin typeface="+mn-ea"/>
              </a:rPr>
              <a:t>준거 가격이란 시장에서 상품 또는 서비스를 이용 중인 대다수의 고객이 적정하다고 느끼는 심리적 가격으로 정의한다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spcAft>
                <a:spcPts val="600"/>
              </a:spcAft>
            </a:pPr>
            <a:endParaRPr lang="en-US" altLang="ko-KR" sz="1200" dirty="0">
              <a:latin typeface="+mn-ea"/>
            </a:endParaRPr>
          </a:p>
          <a:p>
            <a:pPr>
              <a:spcAft>
                <a:spcPts val="600"/>
              </a:spcAft>
            </a:pPr>
            <a:r>
              <a:rPr lang="ko-KR" altLang="en-US" sz="1200" dirty="0">
                <a:latin typeface="+mn-ea"/>
              </a:rPr>
              <a:t>제</a:t>
            </a:r>
            <a:r>
              <a:rPr lang="en-US" altLang="ko-KR" sz="1200" dirty="0">
                <a:latin typeface="+mn-ea"/>
              </a:rPr>
              <a:t>4</a:t>
            </a:r>
            <a:r>
              <a:rPr lang="ko-KR" altLang="en-US" sz="1200" dirty="0">
                <a:latin typeface="+mn-ea"/>
              </a:rPr>
              <a:t>조 일반 원칙</a:t>
            </a:r>
          </a:p>
          <a:p>
            <a:pPr marL="228600" indent="-228600">
              <a:spcAft>
                <a:spcPts val="600"/>
              </a:spcAft>
              <a:buAutoNum type="arabicPeriod"/>
            </a:pP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출시 가격의 상한</a:t>
            </a:r>
            <a:r>
              <a:rPr lang="en-US" altLang="ko-KR" sz="1200" dirty="0">
                <a:latin typeface="+mn-ea"/>
              </a:rPr>
              <a:t>] </a:t>
            </a:r>
            <a:r>
              <a:rPr lang="ko-KR" altLang="en-US" sz="1200" dirty="0">
                <a:latin typeface="+mn-ea"/>
              </a:rPr>
              <a:t>출시 가격은 원가의 </a:t>
            </a:r>
            <a:r>
              <a:rPr lang="en-US" altLang="ko-KR" sz="1200" dirty="0">
                <a:latin typeface="+mn-ea"/>
              </a:rPr>
              <a:t>2</a:t>
            </a:r>
            <a:r>
              <a:rPr lang="ko-KR" altLang="en-US" sz="1200" dirty="0">
                <a:latin typeface="+mn-ea"/>
              </a:rPr>
              <a:t>배수를 초과하여서는 아니 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228600" indent="-228600">
              <a:spcAft>
                <a:spcPts val="600"/>
              </a:spcAft>
              <a:buAutoNum type="arabicPeriod"/>
            </a:pP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출시 가격의 하한</a:t>
            </a:r>
            <a:r>
              <a:rPr lang="en-US" altLang="ko-KR" sz="1200" dirty="0">
                <a:latin typeface="+mn-ea"/>
              </a:rPr>
              <a:t>] </a:t>
            </a:r>
            <a:r>
              <a:rPr lang="ko-KR" altLang="en-US" sz="1200" dirty="0">
                <a:latin typeface="+mn-ea"/>
              </a:rPr>
              <a:t>출시 가격은 </a:t>
            </a:r>
            <a:r>
              <a:rPr lang="en-US" altLang="ko-KR" sz="1200" dirty="0">
                <a:latin typeface="+mn-ea"/>
              </a:rPr>
              <a:t>‘</a:t>
            </a:r>
            <a:r>
              <a:rPr lang="ko-KR" altLang="en-US" sz="1200" dirty="0">
                <a:latin typeface="+mn-ea"/>
              </a:rPr>
              <a:t>수주심의회 운영 규정</a:t>
            </a:r>
            <a:r>
              <a:rPr lang="en-US" altLang="ko-KR" sz="1200" dirty="0">
                <a:latin typeface="+mn-ea"/>
              </a:rPr>
              <a:t>’</a:t>
            </a:r>
            <a:r>
              <a:rPr lang="ko-KR" altLang="en-US" sz="1200" dirty="0">
                <a:latin typeface="+mn-ea"/>
              </a:rPr>
              <a:t> 에 명시된 </a:t>
            </a:r>
            <a:r>
              <a:rPr lang="en-US" altLang="ko-KR" sz="1200" dirty="0">
                <a:latin typeface="+mn-ea"/>
              </a:rPr>
              <a:t>‘</a:t>
            </a:r>
            <a:r>
              <a:rPr lang="ko-KR" altLang="en-US" sz="1200" dirty="0">
                <a:latin typeface="+mn-ea"/>
              </a:rPr>
              <a:t>수익성 리스크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매출 총이익율 </a:t>
            </a:r>
            <a:r>
              <a:rPr lang="en-US" altLang="ko-KR" sz="1200" dirty="0">
                <a:latin typeface="+mn-ea"/>
              </a:rPr>
              <a:t>7% </a:t>
            </a:r>
            <a:r>
              <a:rPr lang="ko-KR" altLang="en-US" sz="1200" dirty="0">
                <a:latin typeface="+mn-ea"/>
              </a:rPr>
              <a:t>미만</a:t>
            </a:r>
            <a:r>
              <a:rPr lang="en-US" altLang="ko-KR" sz="1200" dirty="0">
                <a:latin typeface="+mn-ea"/>
              </a:rPr>
              <a:t>)’</a:t>
            </a:r>
            <a:r>
              <a:rPr lang="ko-KR" altLang="en-US" sz="1200" dirty="0">
                <a:latin typeface="+mn-ea"/>
              </a:rPr>
              <a:t>에</a:t>
            </a:r>
            <a:r>
              <a:rPr lang="en-US" altLang="ko-KR" sz="1200" dirty="0">
                <a:latin typeface="+mn-ea"/>
              </a:rPr>
              <a:t> </a:t>
            </a:r>
            <a:r>
              <a:rPr lang="ko-KR" altLang="en-US" sz="1200" dirty="0">
                <a:latin typeface="+mn-ea"/>
              </a:rPr>
              <a:t>해당되어서는 아니 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228600" indent="-228600">
              <a:spcAft>
                <a:spcPts val="600"/>
              </a:spcAft>
              <a:buFontTx/>
              <a:buAutoNum type="arabicPeriod"/>
            </a:pP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권한 부여</a:t>
            </a:r>
            <a:r>
              <a:rPr lang="en-US" altLang="ko-KR" sz="1200" dirty="0">
                <a:latin typeface="+mn-ea"/>
              </a:rPr>
              <a:t>] </a:t>
            </a:r>
            <a:r>
              <a:rPr lang="ko-KR" altLang="en-US" sz="1200" dirty="0">
                <a:latin typeface="+mn-ea"/>
              </a:rPr>
              <a:t>출시를 담당하는 카테고리 매니저에게 출시 가격의 결정권을 부여한다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spcAft>
                <a:spcPts val="600"/>
              </a:spcAft>
            </a:pPr>
            <a:endParaRPr lang="en-US" altLang="ko-KR" sz="1200" dirty="0">
              <a:latin typeface="+mn-ea"/>
            </a:endParaRPr>
          </a:p>
          <a:p>
            <a:pPr>
              <a:spcAft>
                <a:spcPts val="600"/>
              </a:spcAft>
            </a:pPr>
            <a:r>
              <a:rPr lang="ko-KR" altLang="en-US" sz="1200" dirty="0">
                <a:latin typeface="+mn-ea"/>
              </a:rPr>
              <a:t>제</a:t>
            </a:r>
            <a:r>
              <a:rPr lang="en-US" altLang="ko-KR" sz="1200" dirty="0">
                <a:latin typeface="+mn-ea"/>
              </a:rPr>
              <a:t>5</a:t>
            </a:r>
            <a:r>
              <a:rPr lang="ko-KR" altLang="en-US" sz="1200" dirty="0">
                <a:latin typeface="+mn-ea"/>
              </a:rPr>
              <a:t>조 가격 조정</a:t>
            </a:r>
          </a:p>
          <a:p>
            <a:pPr marL="228600" indent="-228600">
              <a:spcAft>
                <a:spcPts val="600"/>
              </a:spcAft>
              <a:buFontTx/>
              <a:buAutoNum type="arabicPeriod"/>
            </a:pPr>
            <a:r>
              <a:rPr lang="ko-KR" altLang="en-US" sz="1200" dirty="0">
                <a:latin typeface="+mn-ea"/>
              </a:rPr>
              <a:t>시장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기술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시간의 변화로 기존 가격의 조정이 필요하게 되면</a:t>
            </a:r>
            <a:r>
              <a:rPr lang="en-US" altLang="ko-KR" sz="1200" dirty="0">
                <a:latin typeface="+mn-ea"/>
              </a:rPr>
              <a:t> </a:t>
            </a:r>
            <a:r>
              <a:rPr lang="ko-KR" altLang="en-US" sz="1200" dirty="0">
                <a:latin typeface="+mn-ea"/>
              </a:rPr>
              <a:t>해당 </a:t>
            </a:r>
            <a:r>
              <a:rPr lang="en-US" altLang="ko-KR" sz="1200" dirty="0">
                <a:latin typeface="+mn-ea"/>
              </a:rPr>
              <a:t>New </a:t>
            </a:r>
            <a:r>
              <a:rPr lang="ko-KR" altLang="en-US" sz="1200" dirty="0">
                <a:latin typeface="+mn-ea"/>
              </a:rPr>
              <a:t>솔루션 사업의 카테고리 매니저는 가격의 조정을 요청할 수 있다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228600" indent="-228600">
              <a:spcAft>
                <a:spcPts val="600"/>
              </a:spcAft>
              <a:buFontTx/>
              <a:buAutoNum type="arabicPeriod"/>
            </a:pPr>
            <a:r>
              <a:rPr lang="ko-KR" altLang="en-US" sz="1200" dirty="0">
                <a:latin typeface="+mn-ea"/>
              </a:rPr>
              <a:t>가격의 조정은 </a:t>
            </a:r>
            <a:r>
              <a:rPr lang="en-US" altLang="ko-KR" sz="1200" dirty="0">
                <a:latin typeface="+mn-ea"/>
              </a:rPr>
              <a:t>‘</a:t>
            </a:r>
            <a:r>
              <a:rPr lang="ko-KR" altLang="en-US" sz="1200" dirty="0">
                <a:latin typeface="+mn-ea"/>
              </a:rPr>
              <a:t>상품 지불 가격 수용도 및 상품 만족도 테스트</a:t>
            </a:r>
            <a:r>
              <a:rPr lang="en-US" altLang="ko-KR" sz="1200" dirty="0">
                <a:latin typeface="+mn-ea"/>
              </a:rPr>
              <a:t>’</a:t>
            </a:r>
            <a:r>
              <a:rPr lang="ko-KR" altLang="en-US" sz="1200" dirty="0">
                <a:latin typeface="+mn-ea"/>
              </a:rPr>
              <a:t>를 시행한 결과를 근거로 조정하여야 한다</a:t>
            </a:r>
            <a:r>
              <a:rPr lang="en-US" altLang="ko-KR" sz="1200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24411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C0AA3F-3A94-4DB7-A3EB-D4FE1A331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별첨</a:t>
            </a:r>
            <a:r>
              <a:rPr lang="en-US" altLang="ko-KR" dirty="0"/>
              <a:t>1] </a:t>
            </a:r>
            <a:r>
              <a:rPr lang="ko-KR" altLang="en-US" dirty="0"/>
              <a:t>손익 </a:t>
            </a:r>
            <a:r>
              <a:rPr lang="ko-KR" altLang="en-US" dirty="0" err="1"/>
              <a:t>점검표</a:t>
            </a:r>
            <a:r>
              <a:rPr lang="ko-KR" altLang="en-US" dirty="0"/>
              <a:t> 양식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E5410F4-8DBD-434A-AEB4-5AA4E9A3C5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796653"/>
              </p:ext>
            </p:extLst>
          </p:nvPr>
        </p:nvGraphicFramePr>
        <p:xfrm>
          <a:off x="917873" y="2421311"/>
          <a:ext cx="8082572" cy="36861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59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05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3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3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153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177"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년간금액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비고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97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제안금액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운영예상금액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8931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원가</a:t>
                      </a:r>
                      <a:r>
                        <a:rPr lang="en-US" altLang="ko-KR" sz="1100" b="0" u="none" strike="noStrike" dirty="0">
                          <a:effectLst/>
                          <a:latin typeface="+mn-ea"/>
                          <a:ea typeface="+mn-ea"/>
                        </a:rPr>
                        <a:t>(①)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100" b="1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18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100" b="1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18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= </a:t>
                      </a:r>
                      <a:r>
                        <a:rPr lang="ko-KR" altLang="en-US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② </a:t>
                      </a:r>
                      <a:r>
                        <a:rPr lang="en-US" altLang="ko-KR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+ </a:t>
                      </a:r>
                      <a:r>
                        <a:rPr lang="ko-KR" altLang="en-US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③ </a:t>
                      </a:r>
                      <a:r>
                        <a:rPr lang="en-US" altLang="ko-KR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+ </a:t>
                      </a:r>
                      <a:r>
                        <a:rPr lang="ko-KR" altLang="en-US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④</a:t>
                      </a:r>
                      <a:endParaRPr lang="en-US" altLang="ko-KR" sz="11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931">
                <a:tc rowSpan="3"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재료비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②</a:t>
                      </a:r>
                      <a:r>
                        <a:rPr lang="en-US" altLang="ko-KR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100" b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18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100" b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18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9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노무비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③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100" b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18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100" b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18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3564477"/>
                  </a:ext>
                </a:extLst>
              </a:tr>
              <a:tr h="308931"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경비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④</a:t>
                      </a:r>
                      <a:r>
                        <a:rPr lang="en-US" altLang="ko-KR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100" b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18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100" b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18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연구개발비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보험료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안전관리비 등 포함</a:t>
                      </a:r>
                    </a:p>
                  </a:txBody>
                  <a:tcPr marL="108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8931">
                <a:tc grid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u="none" strike="noStrike" dirty="0">
                          <a:effectLst/>
                          <a:latin typeface="+mn-ea"/>
                          <a:ea typeface="+mn-ea"/>
                        </a:rPr>
                        <a:t>Fee</a:t>
                      </a:r>
                      <a:r>
                        <a:rPr lang="en-US" sz="1100" b="0" u="none" strike="noStrike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0" u="none" strike="noStrike" dirty="0">
                          <a:effectLst/>
                          <a:latin typeface="+mn-ea"/>
                          <a:ea typeface="+mn-ea"/>
                        </a:rPr>
                        <a:t>⑦</a:t>
                      </a:r>
                      <a:r>
                        <a:rPr lang="en-US" sz="1100" b="0" u="none" strike="noStrike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100" b="1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18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100" b="1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18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 dirty="0">
                          <a:effectLst/>
                          <a:latin typeface="+mn-ea"/>
                          <a:ea typeface="+mn-ea"/>
                        </a:rPr>
                        <a:t>=  </a:t>
                      </a:r>
                      <a:r>
                        <a:rPr lang="ko-KR" altLang="en-US" sz="1100" u="none" strike="noStrike" dirty="0">
                          <a:effectLst/>
                          <a:latin typeface="+mn-ea"/>
                          <a:ea typeface="+mn-ea"/>
                        </a:rPr>
                        <a:t>⑤ </a:t>
                      </a:r>
                      <a:r>
                        <a:rPr lang="en-US" altLang="ko-KR" sz="1100" u="none" strike="noStrike" dirty="0">
                          <a:effectLst/>
                          <a:latin typeface="+mn-ea"/>
                          <a:ea typeface="+mn-ea"/>
                        </a:rPr>
                        <a:t>+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⑥</a:t>
                      </a:r>
                      <a:r>
                        <a:rPr lang="en-US" altLang="ko-KR" sz="1100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893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+mn-ea"/>
                          <a:ea typeface="+mn-ea"/>
                        </a:rPr>
                        <a:t>일반관리비</a:t>
                      </a:r>
                      <a:r>
                        <a:rPr lang="en-US" altLang="ko-KR" sz="1100" u="none" strike="noStrike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u="none" strike="noStrike" dirty="0">
                          <a:effectLst/>
                          <a:latin typeface="+mn-ea"/>
                          <a:ea typeface="+mn-ea"/>
                        </a:rPr>
                        <a:t>⑤</a:t>
                      </a:r>
                      <a:r>
                        <a:rPr lang="en-US" altLang="ko-KR" sz="1100" u="none" strike="noStrike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100" b="0" i="0" u="none" strike="noStrike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18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100" b="0" i="0" u="none" strike="noStrike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18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u="none" strike="noStrike" dirty="0">
                          <a:effectLst/>
                          <a:latin typeface="+mn-ea"/>
                          <a:ea typeface="+mn-ea"/>
                        </a:rPr>
                        <a:t>= </a:t>
                      </a:r>
                      <a:r>
                        <a:rPr lang="en-US" altLang="ko-KR" sz="1100" b="0" u="none" strike="noStrike" dirty="0">
                          <a:effectLst/>
                          <a:latin typeface="+mn-ea"/>
                          <a:ea typeface="+mn-ea"/>
                        </a:rPr>
                        <a:t>①</a:t>
                      </a:r>
                      <a:r>
                        <a:rPr lang="en-US" altLang="ko-KR" sz="1100" u="none" strike="noStrike" dirty="0">
                          <a:effectLst/>
                          <a:latin typeface="+mn-ea"/>
                          <a:ea typeface="+mn-ea"/>
                        </a:rPr>
                        <a:t> × 5%</a:t>
                      </a:r>
                    </a:p>
                  </a:txBody>
                  <a:tcPr marL="108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89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기업이윤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⑥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100" b="0" i="0" u="none" strike="noStrike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18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100" b="0" i="0" u="none" strike="noStrike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18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u="none" strike="noStrike" dirty="0">
                          <a:effectLst/>
                          <a:latin typeface="+mn-ea"/>
                          <a:ea typeface="+mn-ea"/>
                        </a:rPr>
                        <a:t>= (</a:t>
                      </a:r>
                      <a:r>
                        <a:rPr lang="en-US" altLang="ko-KR" sz="1100" b="0" u="none" strike="noStrike" dirty="0">
                          <a:effectLst/>
                          <a:latin typeface="+mn-ea"/>
                          <a:ea typeface="+mn-ea"/>
                        </a:rPr>
                        <a:t>①</a:t>
                      </a:r>
                      <a:r>
                        <a:rPr lang="en-US" altLang="ko-KR" sz="1100" u="none" strike="noStrike" dirty="0">
                          <a:effectLst/>
                          <a:latin typeface="+mn-ea"/>
                          <a:ea typeface="+mn-ea"/>
                        </a:rPr>
                        <a:t> + </a:t>
                      </a:r>
                      <a:r>
                        <a:rPr lang="ko-KR" altLang="en-US" sz="1100" u="none" strike="noStrike" dirty="0">
                          <a:effectLst/>
                          <a:latin typeface="+mn-ea"/>
                          <a:ea typeface="+mn-ea"/>
                        </a:rPr>
                        <a:t>⑤</a:t>
                      </a:r>
                      <a:r>
                        <a:rPr lang="en-US" altLang="ko-KR" sz="1100" u="none" strike="noStrike" dirty="0">
                          <a:effectLst/>
                          <a:latin typeface="+mn-ea"/>
                          <a:ea typeface="+mn-ea"/>
                        </a:rPr>
                        <a:t>) × 2.5%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8931">
                <a:tc grid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매출</a:t>
                      </a:r>
                      <a:r>
                        <a:rPr lang="en-US" altLang="ko-KR" sz="1100" b="0" u="none" strike="noStrike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0" u="none" strike="noStrike" dirty="0">
                          <a:effectLst/>
                          <a:latin typeface="+mn-ea"/>
                          <a:ea typeface="+mn-ea"/>
                        </a:rPr>
                        <a:t>⑧</a:t>
                      </a:r>
                      <a:r>
                        <a:rPr lang="en-US" altLang="ko-KR" sz="1100" b="0" u="none" strike="noStrike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18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18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 dirty="0">
                          <a:effectLst/>
                          <a:latin typeface="+mn-ea"/>
                          <a:ea typeface="+mn-ea"/>
                        </a:rPr>
                        <a:t>= ① + </a:t>
                      </a:r>
                      <a:r>
                        <a:rPr lang="ko-KR" altLang="en-US" sz="1100" u="none" strike="noStrike" dirty="0">
                          <a:effectLst/>
                          <a:latin typeface="+mn-ea"/>
                          <a:ea typeface="+mn-ea"/>
                        </a:rPr>
                        <a:t>⑦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8931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매출총이익</a:t>
                      </a:r>
                      <a:r>
                        <a:rPr lang="en-US" altLang="ko-KR" sz="1100" b="1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en-US" altLang="ko-KR" sz="1100" b="0" u="none" strike="noStrike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0" u="none" strike="noStrike" dirty="0">
                          <a:effectLst/>
                          <a:latin typeface="+mn-ea"/>
                          <a:ea typeface="+mn-ea"/>
                        </a:rPr>
                        <a:t>⑨</a:t>
                      </a:r>
                      <a:r>
                        <a:rPr lang="en-US" altLang="ko-KR" sz="1100" b="0" u="none" strike="noStrike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100" b="1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18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100" b="1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18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 dirty="0">
                          <a:effectLst/>
                          <a:latin typeface="+mn-ea"/>
                          <a:ea typeface="+mn-ea"/>
                        </a:rPr>
                        <a:t>= </a:t>
                      </a:r>
                      <a:r>
                        <a:rPr lang="ko-KR" altLang="en-US" sz="1100" u="none" strike="noStrike" dirty="0">
                          <a:effectLst/>
                          <a:latin typeface="+mn-ea"/>
                          <a:ea typeface="+mn-ea"/>
                        </a:rPr>
                        <a:t>⑧</a:t>
                      </a:r>
                      <a:r>
                        <a:rPr lang="ko-KR" altLang="en-US" sz="1100" b="0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u="none" strike="noStrike" dirty="0">
                          <a:effectLst/>
                          <a:latin typeface="+mn-ea"/>
                          <a:ea typeface="+mn-ea"/>
                        </a:rPr>
                        <a:t>- ①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893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+mn-ea"/>
                          <a:ea typeface="+mn-ea"/>
                        </a:rPr>
                        <a:t>매출총이익</a:t>
                      </a:r>
                      <a:r>
                        <a:rPr lang="en-US" altLang="ko-KR" sz="1100" u="none" strike="noStrike" dirty="0">
                          <a:effectLst/>
                          <a:latin typeface="+mn-ea"/>
                          <a:ea typeface="+mn-ea"/>
                        </a:rPr>
                        <a:t>1 </a:t>
                      </a:r>
                      <a:r>
                        <a:rPr lang="ko-KR" altLang="en-US" sz="1100" u="none" strike="noStrike" dirty="0">
                          <a:effectLst/>
                          <a:latin typeface="+mn-ea"/>
                          <a:ea typeface="+mn-ea"/>
                        </a:rPr>
                        <a:t>이익률</a:t>
                      </a:r>
                      <a:r>
                        <a:rPr lang="en-US" altLang="ko-KR" sz="1100" u="none" strike="noStrike" dirty="0">
                          <a:effectLst/>
                          <a:latin typeface="+mn-ea"/>
                          <a:ea typeface="+mn-ea"/>
                        </a:rPr>
                        <a:t>(%)*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18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18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u="none" strike="noStrike" dirty="0">
                          <a:effectLst/>
                          <a:latin typeface="+mn-ea"/>
                          <a:ea typeface="+mn-ea"/>
                        </a:rPr>
                        <a:t>= (</a:t>
                      </a:r>
                      <a:r>
                        <a:rPr lang="ko-KR" altLang="en-US" sz="1100" u="none" strike="noStrike" dirty="0">
                          <a:effectLst/>
                          <a:latin typeface="+mn-ea"/>
                          <a:ea typeface="+mn-ea"/>
                        </a:rPr>
                        <a:t>⑨ ÷ ⑧</a:t>
                      </a:r>
                      <a:r>
                        <a:rPr lang="en-US" altLang="ko-KR" sz="1100" u="none" strike="noStrike" dirty="0">
                          <a:effectLst/>
                          <a:latin typeface="+mn-ea"/>
                          <a:ea typeface="+mn-ea"/>
                        </a:rPr>
                        <a:t>) × 100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8591A815-32F8-4C79-9393-C50040983B32}"/>
              </a:ext>
            </a:extLst>
          </p:cNvPr>
          <p:cNvSpPr/>
          <p:nvPr/>
        </p:nvSpPr>
        <p:spPr>
          <a:xfrm>
            <a:off x="6836878" y="2187447"/>
            <a:ext cx="224452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sz="1000" b="0" dirty="0">
                <a:latin typeface="+mn-ea"/>
              </a:rPr>
              <a:t>(</a:t>
            </a:r>
            <a:r>
              <a:rPr lang="ko-KR" altLang="en-US" sz="1000" b="0" dirty="0">
                <a:latin typeface="+mn-ea"/>
              </a:rPr>
              <a:t>단위 </a:t>
            </a:r>
            <a:r>
              <a:rPr lang="en-US" altLang="ko-KR" sz="1000" b="0" dirty="0">
                <a:latin typeface="+mn-ea"/>
              </a:rPr>
              <a:t>: </a:t>
            </a:r>
            <a:r>
              <a:rPr lang="ko-KR" altLang="en-US" sz="1000" b="0" dirty="0">
                <a:latin typeface="+mn-ea"/>
              </a:rPr>
              <a:t>천원</a:t>
            </a:r>
            <a:r>
              <a:rPr lang="en-US" altLang="ko-KR" sz="1000" b="0" dirty="0">
                <a:latin typeface="+mn-ea"/>
              </a:rPr>
              <a:t>, VAT</a:t>
            </a:r>
            <a:r>
              <a:rPr lang="ko-KR" altLang="en-US" sz="1000" b="0" dirty="0">
                <a:latin typeface="+mn-ea"/>
              </a:rPr>
              <a:t>별도</a:t>
            </a:r>
            <a:r>
              <a:rPr lang="en-US" altLang="ko-KR" sz="1000" b="0" dirty="0">
                <a:latin typeface="+mn-ea"/>
              </a:rPr>
              <a:t>, </a:t>
            </a:r>
            <a:r>
              <a:rPr lang="ko-KR" altLang="en-US" sz="1000" b="0" dirty="0">
                <a:latin typeface="+mn-ea"/>
              </a:rPr>
              <a:t>판매 </a:t>
            </a:r>
            <a:r>
              <a:rPr lang="en-US" altLang="ko-KR" sz="1000" b="0" dirty="0">
                <a:latin typeface="+mn-ea"/>
              </a:rPr>
              <a:t>1Set </a:t>
            </a:r>
            <a:r>
              <a:rPr lang="ko-KR" altLang="en-US" sz="1000" b="0" dirty="0">
                <a:latin typeface="+mn-ea"/>
              </a:rPr>
              <a:t>기준</a:t>
            </a:r>
            <a:r>
              <a:rPr lang="en-US" altLang="ko-KR" sz="1000" b="0" dirty="0">
                <a:latin typeface="+mn-ea"/>
              </a:rPr>
              <a:t>)</a:t>
            </a:r>
            <a:endParaRPr lang="ko-KR" altLang="en-US" sz="1000" b="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81D8FF-BFAA-47D3-BEAD-5C0B0120D317}"/>
              </a:ext>
            </a:extLst>
          </p:cNvPr>
          <p:cNvSpPr txBox="1"/>
          <p:nvPr/>
        </p:nvSpPr>
        <p:spPr>
          <a:xfrm>
            <a:off x="4489725" y="1713588"/>
            <a:ext cx="946093" cy="2820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1233" dirty="0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손익 </a:t>
            </a:r>
            <a:r>
              <a:rPr kumimoji="0" lang="ko-KR" altLang="en-US" sz="1233" dirty="0" err="1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점검표</a:t>
            </a:r>
            <a:endParaRPr kumimoji="0" lang="ko-KR" altLang="en-US" sz="1233" dirty="0">
              <a:solidFill>
                <a:srgbClr val="000000"/>
              </a:solidFill>
              <a:latin typeface="+mn-ea"/>
              <a:cs typeface="Arial" panose="020B0604020202020204" pitchFamily="34" charset="0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033230F-562F-43A7-96C8-BFD149C1FFD8}"/>
              </a:ext>
            </a:extLst>
          </p:cNvPr>
          <p:cNvCxnSpPr/>
          <p:nvPr/>
        </p:nvCxnSpPr>
        <p:spPr>
          <a:xfrm>
            <a:off x="3824553" y="2024638"/>
            <a:ext cx="2203715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985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C0AA3F-3A94-4DB7-A3EB-D4FE1A331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046" y="1517724"/>
            <a:ext cx="2725946" cy="394844"/>
          </a:xfrm>
        </p:spPr>
        <p:txBody>
          <a:bodyPr>
            <a:norm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별첨</a:t>
            </a:r>
            <a:r>
              <a:rPr lang="en-US" altLang="ko-KR" dirty="0"/>
              <a:t>2] </a:t>
            </a:r>
            <a:r>
              <a:rPr lang="ko-KR" altLang="en-US" dirty="0"/>
              <a:t>동종 서비스 가격 조사서 양식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591A815-32F8-4C79-9393-C50040983B32}"/>
              </a:ext>
            </a:extLst>
          </p:cNvPr>
          <p:cNvSpPr/>
          <p:nvPr/>
        </p:nvSpPr>
        <p:spPr>
          <a:xfrm>
            <a:off x="7536421" y="2174717"/>
            <a:ext cx="166263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sz="1000" b="0" dirty="0">
                <a:latin typeface="+mn-ea"/>
              </a:rPr>
              <a:t>(</a:t>
            </a:r>
            <a:r>
              <a:rPr lang="ko-KR" altLang="en-US" sz="1000" b="0" dirty="0">
                <a:latin typeface="+mn-ea"/>
              </a:rPr>
              <a:t>조사일시</a:t>
            </a:r>
            <a:r>
              <a:rPr lang="en-US" altLang="ko-KR" sz="1000" b="0" dirty="0">
                <a:latin typeface="+mn-ea"/>
              </a:rPr>
              <a:t>:  20   .     .      )    </a:t>
            </a:r>
            <a:endParaRPr lang="ko-KR" altLang="en-US" sz="1000" b="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81D8FF-BFAA-47D3-BEAD-5C0B0120D317}"/>
              </a:ext>
            </a:extLst>
          </p:cNvPr>
          <p:cNvSpPr txBox="1"/>
          <p:nvPr/>
        </p:nvSpPr>
        <p:spPr>
          <a:xfrm>
            <a:off x="4084291" y="1713588"/>
            <a:ext cx="1747594" cy="2820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1233" dirty="0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동종 서비스 </a:t>
            </a:r>
            <a:r>
              <a:rPr lang="ko-KR" altLang="en-US" sz="1233" dirty="0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가격 조사서</a:t>
            </a:r>
            <a:endParaRPr kumimoji="0" lang="ko-KR" altLang="en-US" sz="1233" dirty="0">
              <a:solidFill>
                <a:srgbClr val="000000"/>
              </a:solidFill>
              <a:latin typeface="+mn-ea"/>
              <a:cs typeface="Arial" panose="020B0604020202020204" pitchFamily="34" charset="0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033230F-562F-43A7-96C8-BFD149C1FFD8}"/>
              </a:ext>
            </a:extLst>
          </p:cNvPr>
          <p:cNvCxnSpPr/>
          <p:nvPr/>
        </p:nvCxnSpPr>
        <p:spPr>
          <a:xfrm>
            <a:off x="3824553" y="2024638"/>
            <a:ext cx="2203715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9D20536A-E36A-40F1-A429-9DD582033E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1953557"/>
              </p:ext>
            </p:extLst>
          </p:nvPr>
        </p:nvGraphicFramePr>
        <p:xfrm>
          <a:off x="884239" y="2420936"/>
          <a:ext cx="8101013" cy="3671892"/>
        </p:xfrm>
        <a:graphic>
          <a:graphicData uri="http://schemas.openxmlformats.org/drawingml/2006/table">
            <a:tbl>
              <a:tblPr/>
              <a:tblGrid>
                <a:gridCol w="872417">
                  <a:extLst>
                    <a:ext uri="{9D8B030D-6E8A-4147-A177-3AD203B41FA5}">
                      <a16:colId xmlns:a16="http://schemas.microsoft.com/office/drawing/2014/main" val="1462565234"/>
                    </a:ext>
                  </a:extLst>
                </a:gridCol>
                <a:gridCol w="1433256">
                  <a:extLst>
                    <a:ext uri="{9D8B030D-6E8A-4147-A177-3AD203B41FA5}">
                      <a16:colId xmlns:a16="http://schemas.microsoft.com/office/drawing/2014/main" val="3904420034"/>
                    </a:ext>
                  </a:extLst>
                </a:gridCol>
                <a:gridCol w="1448835">
                  <a:extLst>
                    <a:ext uri="{9D8B030D-6E8A-4147-A177-3AD203B41FA5}">
                      <a16:colId xmlns:a16="http://schemas.microsoft.com/office/drawing/2014/main" val="3644750612"/>
                    </a:ext>
                  </a:extLst>
                </a:gridCol>
                <a:gridCol w="1448835">
                  <a:extLst>
                    <a:ext uri="{9D8B030D-6E8A-4147-A177-3AD203B41FA5}">
                      <a16:colId xmlns:a16="http://schemas.microsoft.com/office/drawing/2014/main" val="3900880506"/>
                    </a:ext>
                  </a:extLst>
                </a:gridCol>
                <a:gridCol w="1448835">
                  <a:extLst>
                    <a:ext uri="{9D8B030D-6E8A-4147-A177-3AD203B41FA5}">
                      <a16:colId xmlns:a16="http://schemas.microsoft.com/office/drawing/2014/main" val="3542332388"/>
                    </a:ext>
                  </a:extLst>
                </a:gridCol>
                <a:gridCol w="1448835">
                  <a:extLst>
                    <a:ext uri="{9D8B030D-6E8A-4147-A177-3AD203B41FA5}">
                      <a16:colId xmlns:a16="http://schemas.microsoft.com/office/drawing/2014/main" val="2752767658"/>
                    </a:ext>
                  </a:extLst>
                </a:gridCol>
              </a:tblGrid>
              <a:tr h="431508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구 분</a:t>
                      </a: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당사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A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사</a:t>
                      </a: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B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사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C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사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6655943"/>
                  </a:ext>
                </a:extLst>
              </a:tr>
              <a:tr h="540064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일반 내용</a:t>
                      </a: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서비스명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모델명</a:t>
                      </a: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6381961"/>
                  </a:ext>
                </a:extLst>
              </a:tr>
              <a:tr h="540064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차별화포인트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장단점</a:t>
                      </a: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6966548"/>
                  </a:ext>
                </a:extLst>
              </a:tr>
              <a:tr h="540064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시장점유율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(%)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또는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연간매출액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백만원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)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7681008"/>
                  </a:ext>
                </a:extLst>
              </a:tr>
              <a:tr h="540064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가격 비교</a:t>
                      </a: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기본 가격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만원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/1set)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3619454"/>
                  </a:ext>
                </a:extLst>
              </a:tr>
              <a:tr h="540064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대표 프로모션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및 할인율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(%)</a:t>
                      </a: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2432764"/>
                  </a:ext>
                </a:extLst>
              </a:tr>
              <a:tr h="54006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참고 사항</a:t>
                      </a: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992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8018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C0AA3F-3A94-4DB7-A3EB-D4FE1A331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046" y="1517724"/>
            <a:ext cx="3236411" cy="394844"/>
          </a:xfrm>
        </p:spPr>
        <p:txBody>
          <a:bodyPr>
            <a:norm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별첨</a:t>
            </a:r>
            <a:r>
              <a:rPr lang="en-US" altLang="ko-KR" dirty="0"/>
              <a:t>3] </a:t>
            </a:r>
            <a:r>
              <a:rPr lang="ko-KR" altLang="en-US" dirty="0" err="1"/>
              <a:t>년도별</a:t>
            </a:r>
            <a:r>
              <a:rPr lang="ko-KR" altLang="en-US" dirty="0"/>
              <a:t> 매출 </a:t>
            </a:r>
            <a:r>
              <a:rPr lang="ko-KR" altLang="en-US" dirty="0" err="1"/>
              <a:t>추정표</a:t>
            </a:r>
            <a:r>
              <a:rPr lang="ko-KR" altLang="en-US" dirty="0"/>
              <a:t> 양식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591A815-32F8-4C79-9393-C50040983B32}"/>
              </a:ext>
            </a:extLst>
          </p:cNvPr>
          <p:cNvSpPr/>
          <p:nvPr/>
        </p:nvSpPr>
        <p:spPr>
          <a:xfrm>
            <a:off x="7590288" y="2187447"/>
            <a:ext cx="149111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sz="1000" b="0" dirty="0">
                <a:latin typeface="+mn-ea"/>
              </a:rPr>
              <a:t>(</a:t>
            </a:r>
            <a:r>
              <a:rPr lang="ko-KR" altLang="en-US" sz="1000" b="0" dirty="0">
                <a:latin typeface="+mn-ea"/>
              </a:rPr>
              <a:t>단위 </a:t>
            </a:r>
            <a:r>
              <a:rPr lang="en-US" altLang="ko-KR" sz="1000" b="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백만</a:t>
            </a:r>
            <a:r>
              <a:rPr lang="ko-KR" altLang="en-US" sz="1000" b="0" dirty="0">
                <a:latin typeface="+mn-ea"/>
              </a:rPr>
              <a:t>원</a:t>
            </a:r>
            <a:r>
              <a:rPr lang="en-US" altLang="ko-KR" sz="1000" b="0" dirty="0">
                <a:latin typeface="+mn-ea"/>
              </a:rPr>
              <a:t>, VAT</a:t>
            </a:r>
            <a:r>
              <a:rPr lang="ko-KR" altLang="en-US" sz="1000" b="0" dirty="0">
                <a:latin typeface="+mn-ea"/>
              </a:rPr>
              <a:t>별도</a:t>
            </a:r>
            <a:r>
              <a:rPr lang="en-US" altLang="ko-KR" sz="1000" b="0" dirty="0">
                <a:latin typeface="+mn-ea"/>
              </a:rPr>
              <a:t>)</a:t>
            </a:r>
            <a:endParaRPr lang="ko-KR" altLang="en-US" sz="1000" b="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81D8FF-BFAA-47D3-BEAD-5C0B0120D317}"/>
              </a:ext>
            </a:extLst>
          </p:cNvPr>
          <p:cNvSpPr txBox="1"/>
          <p:nvPr/>
        </p:nvSpPr>
        <p:spPr>
          <a:xfrm>
            <a:off x="4222293" y="1713588"/>
            <a:ext cx="1459054" cy="2820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1233" dirty="0" err="1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년도별</a:t>
            </a:r>
            <a:r>
              <a:rPr kumimoji="0" lang="ko-KR" altLang="en-US" sz="1233" dirty="0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 매출 </a:t>
            </a:r>
            <a:r>
              <a:rPr kumimoji="0" lang="ko-KR" altLang="en-US" sz="1233" dirty="0" err="1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추정표</a:t>
            </a:r>
            <a:endParaRPr kumimoji="0" lang="ko-KR" altLang="en-US" sz="1233" dirty="0">
              <a:solidFill>
                <a:srgbClr val="000000"/>
              </a:solidFill>
              <a:latin typeface="+mn-ea"/>
              <a:cs typeface="Arial" panose="020B0604020202020204" pitchFamily="34" charset="0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033230F-562F-43A7-96C8-BFD149C1FFD8}"/>
              </a:ext>
            </a:extLst>
          </p:cNvPr>
          <p:cNvCxnSpPr/>
          <p:nvPr/>
        </p:nvCxnSpPr>
        <p:spPr>
          <a:xfrm>
            <a:off x="3824553" y="2024638"/>
            <a:ext cx="2203715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제목 1">
            <a:extLst>
              <a:ext uri="{FF2B5EF4-FFF2-40B4-BE49-F238E27FC236}">
                <a16:creationId xmlns:a16="http://schemas.microsoft.com/office/drawing/2014/main" id="{AC46D1B1-0943-4CD5-AA0D-2219811914DB}"/>
              </a:ext>
            </a:extLst>
          </p:cNvPr>
          <p:cNvSpPr txBox="1">
            <a:spLocks/>
          </p:cNvSpPr>
          <p:nvPr/>
        </p:nvSpPr>
        <p:spPr>
          <a:xfrm>
            <a:off x="873403" y="6127109"/>
            <a:ext cx="7675374" cy="3767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050" dirty="0">
                <a:latin typeface="+mn-ea"/>
                <a:ea typeface="+mn-ea"/>
              </a:rPr>
              <a:t>※ </a:t>
            </a:r>
            <a:r>
              <a:rPr lang="ko-KR" altLang="en-US" sz="1050" dirty="0">
                <a:latin typeface="+mn-ea"/>
                <a:ea typeface="+mn-ea"/>
              </a:rPr>
              <a:t>수익성 리스크</a:t>
            </a:r>
            <a:r>
              <a:rPr lang="en-US" altLang="ko-KR" sz="1050" dirty="0">
                <a:latin typeface="+mn-ea"/>
                <a:ea typeface="+mn-ea"/>
              </a:rPr>
              <a:t>(</a:t>
            </a:r>
            <a:r>
              <a:rPr lang="ko-KR" altLang="en-US" sz="1050" dirty="0">
                <a:latin typeface="+mn-ea"/>
                <a:ea typeface="+mn-ea"/>
              </a:rPr>
              <a:t>매출총이익</a:t>
            </a:r>
            <a:r>
              <a:rPr lang="en-US" altLang="ko-KR" sz="1050" dirty="0">
                <a:latin typeface="+mn-ea"/>
                <a:ea typeface="+mn-ea"/>
              </a:rPr>
              <a:t>1 </a:t>
            </a:r>
            <a:r>
              <a:rPr lang="ko-KR" altLang="en-US" sz="1050" dirty="0">
                <a:latin typeface="+mn-ea"/>
                <a:ea typeface="+mn-ea"/>
              </a:rPr>
              <a:t>이익률 </a:t>
            </a:r>
            <a:r>
              <a:rPr lang="en-US" altLang="ko-KR" sz="1050" dirty="0">
                <a:latin typeface="+mn-ea"/>
                <a:ea typeface="+mn-ea"/>
              </a:rPr>
              <a:t>7% </a:t>
            </a:r>
            <a:r>
              <a:rPr lang="ko-KR" altLang="en-US" sz="1050" dirty="0">
                <a:latin typeface="+mn-ea"/>
                <a:ea typeface="+mn-ea"/>
              </a:rPr>
              <a:t>미만</a:t>
            </a:r>
            <a:r>
              <a:rPr lang="en-US" altLang="ko-KR" sz="1050" dirty="0">
                <a:latin typeface="+mn-ea"/>
                <a:ea typeface="+mn-ea"/>
              </a:rPr>
              <a:t>)</a:t>
            </a:r>
            <a:r>
              <a:rPr lang="ko-KR" altLang="en-US" sz="1050" dirty="0">
                <a:latin typeface="+mn-ea"/>
                <a:ea typeface="+mn-ea"/>
              </a:rPr>
              <a:t>가 예측되는 경우에만 작성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7B8CFB0B-C9B0-4AA4-B202-25717CE37E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4181844"/>
              </p:ext>
            </p:extLst>
          </p:nvPr>
        </p:nvGraphicFramePr>
        <p:xfrm>
          <a:off x="923022" y="2416576"/>
          <a:ext cx="8062228" cy="3671517"/>
        </p:xfrm>
        <a:graphic>
          <a:graphicData uri="http://schemas.openxmlformats.org/drawingml/2006/table">
            <a:tbl>
              <a:tblPr/>
              <a:tblGrid>
                <a:gridCol w="736516">
                  <a:extLst>
                    <a:ext uri="{9D8B030D-6E8A-4147-A177-3AD203B41FA5}">
                      <a16:colId xmlns:a16="http://schemas.microsoft.com/office/drawing/2014/main" val="1462565234"/>
                    </a:ext>
                  </a:extLst>
                </a:gridCol>
                <a:gridCol w="1209992">
                  <a:extLst>
                    <a:ext uri="{9D8B030D-6E8A-4147-A177-3AD203B41FA5}">
                      <a16:colId xmlns:a16="http://schemas.microsoft.com/office/drawing/2014/main" val="3904420034"/>
                    </a:ext>
                  </a:extLst>
                </a:gridCol>
                <a:gridCol w="1223144">
                  <a:extLst>
                    <a:ext uri="{9D8B030D-6E8A-4147-A177-3AD203B41FA5}">
                      <a16:colId xmlns:a16="http://schemas.microsoft.com/office/drawing/2014/main" val="3644750612"/>
                    </a:ext>
                  </a:extLst>
                </a:gridCol>
                <a:gridCol w="1223144">
                  <a:extLst>
                    <a:ext uri="{9D8B030D-6E8A-4147-A177-3AD203B41FA5}">
                      <a16:colId xmlns:a16="http://schemas.microsoft.com/office/drawing/2014/main" val="3994824810"/>
                    </a:ext>
                  </a:extLst>
                </a:gridCol>
                <a:gridCol w="1223144">
                  <a:extLst>
                    <a:ext uri="{9D8B030D-6E8A-4147-A177-3AD203B41FA5}">
                      <a16:colId xmlns:a16="http://schemas.microsoft.com/office/drawing/2014/main" val="3900880506"/>
                    </a:ext>
                  </a:extLst>
                </a:gridCol>
                <a:gridCol w="1223144">
                  <a:extLst>
                    <a:ext uri="{9D8B030D-6E8A-4147-A177-3AD203B41FA5}">
                      <a16:colId xmlns:a16="http://schemas.microsoft.com/office/drawing/2014/main" val="3542332388"/>
                    </a:ext>
                  </a:extLst>
                </a:gridCol>
                <a:gridCol w="1223144">
                  <a:extLst>
                    <a:ext uri="{9D8B030D-6E8A-4147-A177-3AD203B41FA5}">
                      <a16:colId xmlns:a16="http://schemas.microsoft.com/office/drawing/2014/main" val="3521972196"/>
                    </a:ext>
                  </a:extLst>
                </a:gridCol>
              </a:tblGrid>
              <a:tr h="376141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구 분</a:t>
                      </a: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출시</a:t>
                      </a: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(D)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 사업연도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D+1 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사업연도</a:t>
                      </a: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D+2 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사업연도</a:t>
                      </a: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D+3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사업연도</a:t>
                      </a: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비고</a:t>
                      </a: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6655943"/>
                  </a:ext>
                </a:extLst>
              </a:tr>
              <a:tr h="470768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사업계획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추정</a:t>
                      </a: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추정 매출액</a:t>
                      </a: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추정 근거는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PO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가 별도 작성</a:t>
                      </a: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6381961"/>
                  </a:ext>
                </a:extLst>
              </a:tr>
              <a:tr h="470768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추정 원가</a:t>
                      </a: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6966548"/>
                  </a:ext>
                </a:extLst>
              </a:tr>
              <a:tr h="47076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Fee</a:t>
                      </a:r>
                    </a:p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일반관리비및이윤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)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3709117"/>
                  </a:ext>
                </a:extLst>
              </a:tr>
              <a:tr h="47076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매출총이익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1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0425392"/>
                  </a:ext>
                </a:extLst>
              </a:tr>
              <a:tr h="470768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매출총이익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1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이익률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(%)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7681008"/>
                  </a:ext>
                </a:extLst>
              </a:tr>
              <a:tr h="47076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성장지표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분석</a:t>
                      </a: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매출성장률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(%)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3619454"/>
                  </a:ext>
                </a:extLst>
              </a:tr>
              <a:tr h="470768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매출총이익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1 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증가률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(%)</a:t>
                      </a: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24327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19980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나눔스퀘어">
      <a:majorFont>
        <a:latin typeface="나눔스퀘어"/>
        <a:ea typeface="나눔스퀘어"/>
        <a:cs typeface=""/>
      </a:majorFont>
      <a:minorFont>
        <a:latin typeface="나눔스퀘어"/>
        <a:ea typeface="나눔스퀘어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1038</TotalTime>
  <Words>562</Words>
  <Application>Microsoft Office PowerPoint</Application>
  <PresentationFormat>A4 용지(210x297mm)</PresentationFormat>
  <Paragraphs>118</Paragraphs>
  <Slides>7</Slides>
  <Notes>0</Notes>
  <HiddenSlides>1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3" baseType="lpstr">
      <vt:lpstr>LG스마트체 Regular</vt:lpstr>
      <vt:lpstr>Pretendard</vt:lpstr>
      <vt:lpstr>나눔스퀘어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[별첨1] 손익 점검표 양식</vt:lpstr>
      <vt:lpstr>[별첨2] 동종 서비스 가격 조사서 양식</vt:lpstr>
      <vt:lpstr>[별첨3] 년도별 매출 추정표 양식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Administrator</cp:lastModifiedBy>
  <cp:revision>137</cp:revision>
  <dcterms:created xsi:type="dcterms:W3CDTF">2024-02-26T05:11:52Z</dcterms:created>
  <dcterms:modified xsi:type="dcterms:W3CDTF">2024-03-13T06:40:02Z</dcterms:modified>
</cp:coreProperties>
</file>