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58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0" d="100"/>
          <a:sy n="80" d="100"/>
        </p:scale>
        <p:origin x="126" y="1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191245-4401-4CB8-90DB-1F97AC3BA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8815772-056A-42CC-853C-D9A412EA44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1180D5-0645-4713-A07F-E4EBB6FBB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6763C-5715-488B-9E26-10C5B6314F9A}" type="datetimeFigureOut">
              <a:rPr lang="ko-KR" altLang="en-US" smtClean="0"/>
              <a:t>2024-04-15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ED814F-8A06-401D-8D71-C847C8E0E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FCF6CE-AC6A-4307-BEE9-0CB784FC2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3F6DC-F467-4D9D-89BA-CE5FE2FA3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3541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A2B43C-B345-4AB4-AC98-4D3B6F739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F5A5AF-38DE-49D9-A13E-A3717F40F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562A5E-8F49-492E-AEC1-840D4B723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6763C-5715-488B-9E26-10C5B6314F9A}" type="datetimeFigureOut">
              <a:rPr lang="ko-KR" altLang="en-US" smtClean="0"/>
              <a:t>2024-04-15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531C3D-B7E7-468B-A924-1487C3420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AEB955-9D69-468B-A7BE-CCAAAF8F5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3F6DC-F467-4D9D-89BA-CE5FE2FA3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6111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7F6F80-2DAF-4FE6-A041-844C5943F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AC4E08-5105-4CC5-811C-74B0339FD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B12EA1-78D3-475D-9422-EBF318FF8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6763C-5715-488B-9E26-10C5B6314F9A}" type="datetimeFigureOut">
              <a:rPr lang="ko-KR" altLang="en-US" smtClean="0"/>
              <a:t>2024-04-15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C20FC3-F790-45D3-932B-664942E12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67D629-1BF7-4F6E-A9D9-6DA7FAD24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3F6DC-F467-4D9D-89BA-CE5FE2FA3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2723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ED29DA-A1BF-4EAA-BD58-457239BE9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34F501-E1AB-4A1F-BE48-119D5D676F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713C22C-9067-41F1-8A9F-63EF93E98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F67273-D79B-4946-ACB8-4CAC3D584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6763C-5715-488B-9E26-10C5B6314F9A}" type="datetimeFigureOut">
              <a:rPr lang="ko-KR" altLang="en-US" smtClean="0"/>
              <a:t>2024-04-15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C162AE-B50E-4350-BDAA-6BD9DD128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AB196C-8EA1-42AC-A8A7-73D098102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3F6DC-F467-4D9D-89BA-CE5FE2FA3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4335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8056F9-C192-4588-AB5E-6C75BD91D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5509CD-9331-4B1C-8F36-6C534E602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D5AA16-DC4B-4D8C-8223-6FFB47A88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B4CBD5-F99E-4C90-B5CC-F6052066F3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D136B1E-5779-4FC3-8BA3-40FAD8AD4B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39BB0AC-42F4-4C07-9FBD-2F19CD615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6763C-5715-488B-9E26-10C5B6314F9A}" type="datetimeFigureOut">
              <a:rPr lang="ko-KR" altLang="en-US" smtClean="0"/>
              <a:t>2024-04-15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B66AF92-DEC9-43D2-8A0F-E7B9BC00C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5436190-9F97-4D75-869A-031772BB6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3F6DC-F467-4D9D-89BA-CE5FE2FA3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4509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D3735A-1FBE-4C2F-BD58-A5D316038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8D8BFC7-657C-4178-809A-AE0CAC714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6763C-5715-488B-9E26-10C5B6314F9A}" type="datetimeFigureOut">
              <a:rPr lang="ko-KR" altLang="en-US" smtClean="0"/>
              <a:t>2024-04-15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35BE57C-0E2B-4E31-8679-E95948D4C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03885D-4B6D-437C-ABB0-10E9D4319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3F6DC-F467-4D9D-89BA-CE5FE2FA3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405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B2133CC-2F78-41A5-912E-20B8A5D4F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6763C-5715-488B-9E26-10C5B6314F9A}" type="datetimeFigureOut">
              <a:rPr lang="ko-KR" altLang="en-US" smtClean="0"/>
              <a:t>2024-04-15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A89281C-54AD-4005-83EC-796655817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07AA60-F471-4D7E-880F-DF8AAAC3B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3F6DC-F467-4D9D-89BA-CE5FE2FA3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257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89BAC3-3841-45C3-B0E8-75FB2988C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5EC47F-3C74-4D37-AEE4-E70738C26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399C04-B077-478B-B5E8-EBDAE4694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0A244D-7D0A-4A80-B5DB-39C66D4F1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6763C-5715-488B-9E26-10C5B6314F9A}" type="datetimeFigureOut">
              <a:rPr lang="ko-KR" altLang="en-US" smtClean="0"/>
              <a:t>2024-04-15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CCFC50-0428-4788-99FF-AA709E307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BCA016-DFFE-4B78-B16F-F90652326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3F6DC-F467-4D9D-89BA-CE5FE2FA3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440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95E1AE-5ED8-4A51-865F-FD8CA0FE2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977F3BB-0E29-4ED6-BC15-2E7104989A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B59B582-B442-4B49-9872-559E707671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F704DC-FD11-4DEE-B738-D44CAAD7B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6763C-5715-488B-9E26-10C5B6314F9A}" type="datetimeFigureOut">
              <a:rPr lang="ko-KR" altLang="en-US" smtClean="0"/>
              <a:t>2024-04-15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20ADE4-2A15-4E7B-9332-6B365BC45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6053324-8AF8-442A-87A2-D20F015D2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3F6DC-F467-4D9D-89BA-CE5FE2FA3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976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52BE92-F02D-4CCF-9A8D-1A69B74EE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C246E9-5598-4CCD-BFE4-D25B81ECE9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DB9823-3D16-40BD-A923-402B987B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6763C-5715-488B-9E26-10C5B6314F9A}" type="datetimeFigureOut">
              <a:rPr lang="ko-KR" altLang="en-US" smtClean="0"/>
              <a:t>2024-04-15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8CBF9D-7466-444F-82AB-B482D54D4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DB7FD1-4E0D-49BF-B904-200750F82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3F6DC-F467-4D9D-89BA-CE5FE2FA3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612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D48A5B1-5C94-4674-9FF4-4D88418228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739F176-AFB5-44BC-BD6F-7FBD5BFAAE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6374CA-3FA9-48E9-B4E4-3FEF08FD9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6763C-5715-488B-9E26-10C5B6314F9A}" type="datetimeFigureOut">
              <a:rPr lang="ko-KR" altLang="en-US" smtClean="0"/>
              <a:t>2024-04-15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C59DEC-A3DC-4523-85A9-10FACD7C5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B0B67F-05DF-4410-AE18-206F47B96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3F6DC-F467-4D9D-89BA-CE5FE2FA3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4778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2BCF275-1B17-49F8-B6DC-B9FE4C25F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08499C-A13D-4056-B1E5-B2906F3D1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51F01E-8767-4C8D-AC04-BA609B2294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B6763C-5715-488B-9E26-10C5B6314F9A}" type="datetimeFigureOut">
              <a:rPr lang="ko-KR" altLang="en-US" smtClean="0"/>
              <a:t>2024-04-15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F5F138-0E41-4DB1-9E70-4F8A2A050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8B6F2E-53E5-4B44-A0B1-865B7E63DF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A3F6DC-F467-4D9D-89BA-CE5FE2FA3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0963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9018B05-4066-46F4-AF64-01DF2EACCE24}"/>
              </a:ext>
            </a:extLst>
          </p:cNvPr>
          <p:cNvSpPr/>
          <p:nvPr/>
        </p:nvSpPr>
        <p:spPr>
          <a:xfrm>
            <a:off x="0" y="3380125"/>
            <a:ext cx="6096000" cy="34778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100" dirty="0">
                <a:latin typeface="+mn-ea"/>
              </a:rPr>
              <a:t>1. Product(</a:t>
            </a:r>
            <a:r>
              <a:rPr lang="ko-KR" altLang="en-US" sz="1100" dirty="0">
                <a:latin typeface="+mn-ea"/>
              </a:rPr>
              <a:t>제품</a:t>
            </a:r>
            <a:r>
              <a:rPr lang="en-US" altLang="ko-KR" sz="1100" dirty="0">
                <a:latin typeface="+mn-ea"/>
              </a:rPr>
              <a:t>)</a:t>
            </a:r>
          </a:p>
          <a:p>
            <a:r>
              <a:rPr lang="ko-KR" altLang="en-US" sz="1100" dirty="0">
                <a:latin typeface="+mn-ea"/>
              </a:rPr>
              <a:t>제품은 소비자의 니즈를 충족시키는 재화나 서비스를 의미합니다</a:t>
            </a:r>
            <a:r>
              <a:rPr lang="en-US" altLang="ko-KR" sz="1100" dirty="0">
                <a:latin typeface="+mn-ea"/>
              </a:rPr>
              <a:t>. </a:t>
            </a:r>
            <a:r>
              <a:rPr lang="ko-KR" altLang="en-US" sz="1100" dirty="0">
                <a:latin typeface="+mn-ea"/>
              </a:rPr>
              <a:t>제품의 종류에 따라서 그 가치에 영향을 미칩니다</a:t>
            </a:r>
            <a:r>
              <a:rPr lang="en-US" altLang="ko-KR" sz="1100" dirty="0">
                <a:latin typeface="+mn-ea"/>
              </a:rPr>
              <a:t>. </a:t>
            </a:r>
            <a:r>
              <a:rPr lang="ko-KR" altLang="en-US" sz="1100" dirty="0">
                <a:latin typeface="+mn-ea"/>
              </a:rPr>
              <a:t>또한 기업에서는 이러한 가치를 바탕으로 </a:t>
            </a:r>
            <a:r>
              <a:rPr lang="ko-KR" altLang="en-US" sz="1100" dirty="0" err="1">
                <a:latin typeface="+mn-ea"/>
              </a:rPr>
              <a:t>수익성있는</a:t>
            </a:r>
            <a:r>
              <a:rPr lang="ko-KR" altLang="en-US" sz="1100" dirty="0">
                <a:latin typeface="+mn-ea"/>
              </a:rPr>
              <a:t> 가격책정을 </a:t>
            </a:r>
            <a:r>
              <a:rPr lang="ko-KR" altLang="en-US" sz="1100" dirty="0" err="1">
                <a:latin typeface="+mn-ea"/>
              </a:rPr>
              <a:t>하게됩니다</a:t>
            </a:r>
            <a:r>
              <a:rPr lang="en-US" altLang="ko-KR" sz="1100" dirty="0">
                <a:latin typeface="+mn-ea"/>
              </a:rPr>
              <a:t>. </a:t>
            </a:r>
            <a:r>
              <a:rPr lang="ko-KR" altLang="en-US" sz="1100" dirty="0">
                <a:latin typeface="+mn-ea"/>
              </a:rPr>
              <a:t>또한 광고 전략에도 영향을 미치게 됩니다</a:t>
            </a:r>
            <a:r>
              <a:rPr lang="en-US" altLang="ko-KR" sz="1100" dirty="0">
                <a:latin typeface="+mn-ea"/>
              </a:rPr>
              <a:t>.</a:t>
            </a:r>
          </a:p>
          <a:p>
            <a:endParaRPr lang="en-US" altLang="ko-KR" sz="1100" dirty="0">
              <a:latin typeface="+mn-ea"/>
            </a:endParaRPr>
          </a:p>
          <a:p>
            <a:r>
              <a:rPr lang="en-US" altLang="ko-KR" sz="1100" dirty="0">
                <a:latin typeface="+mn-ea"/>
              </a:rPr>
              <a:t>2. Price(</a:t>
            </a:r>
            <a:r>
              <a:rPr lang="ko-KR" altLang="en-US" sz="1100" dirty="0">
                <a:latin typeface="+mn-ea"/>
              </a:rPr>
              <a:t>가격</a:t>
            </a:r>
            <a:r>
              <a:rPr lang="en-US" altLang="ko-KR" sz="1100" dirty="0">
                <a:latin typeface="+mn-ea"/>
              </a:rPr>
              <a:t>)</a:t>
            </a:r>
          </a:p>
          <a:p>
            <a:r>
              <a:rPr lang="ko-KR" altLang="en-US" sz="1100" dirty="0">
                <a:latin typeface="+mn-ea"/>
              </a:rPr>
              <a:t>가격은 고객이 지불하는 금액을 의미합니다</a:t>
            </a:r>
            <a:r>
              <a:rPr lang="en-US" altLang="ko-KR" sz="1100" dirty="0">
                <a:latin typeface="+mn-ea"/>
              </a:rPr>
              <a:t>. </a:t>
            </a:r>
            <a:r>
              <a:rPr lang="ko-KR" altLang="en-US" sz="1100" dirty="0">
                <a:latin typeface="+mn-ea"/>
              </a:rPr>
              <a:t>이는 제품의 실제 </a:t>
            </a:r>
            <a:r>
              <a:rPr lang="ko-KR" altLang="en-US" sz="1100" dirty="0" err="1">
                <a:latin typeface="+mn-ea"/>
              </a:rPr>
              <a:t>가치뿐</a:t>
            </a:r>
            <a:r>
              <a:rPr lang="ko-KR" altLang="en-US" sz="1100" dirty="0">
                <a:latin typeface="+mn-ea"/>
              </a:rPr>
              <a:t> 아니라 고객이 지불할 의사가 있는 가격 또한 의미합니다</a:t>
            </a:r>
            <a:r>
              <a:rPr lang="en-US" altLang="ko-KR" sz="1100" dirty="0">
                <a:latin typeface="+mn-ea"/>
              </a:rPr>
              <a:t>. </a:t>
            </a:r>
            <a:r>
              <a:rPr lang="ko-KR" altLang="en-US" sz="1100" dirty="0">
                <a:latin typeface="+mn-ea"/>
              </a:rPr>
              <a:t>가격전략에는 다양한 방법이 있지만 대표적으로 제품의 경쟁력이나 독점을 위해서 가격을 올리는 전략 또는 소비자 접근성을 높이기 위해서 가격을 낮추는 전략이 있습니다</a:t>
            </a:r>
            <a:r>
              <a:rPr lang="en-US" altLang="ko-KR" sz="1100" dirty="0">
                <a:latin typeface="+mn-ea"/>
              </a:rPr>
              <a:t>.</a:t>
            </a:r>
          </a:p>
          <a:p>
            <a:endParaRPr lang="en-US" altLang="ko-KR" sz="1100" dirty="0">
              <a:latin typeface="+mn-ea"/>
            </a:endParaRPr>
          </a:p>
          <a:p>
            <a:r>
              <a:rPr lang="en-US" altLang="ko-KR" sz="1100" dirty="0">
                <a:latin typeface="+mn-ea"/>
              </a:rPr>
              <a:t>3. Promotion(</a:t>
            </a:r>
            <a:r>
              <a:rPr lang="ko-KR" altLang="en-US" sz="1100" dirty="0">
                <a:latin typeface="+mn-ea"/>
              </a:rPr>
              <a:t>판매촉진</a:t>
            </a:r>
            <a:r>
              <a:rPr lang="en-US" altLang="ko-KR" sz="1100" dirty="0">
                <a:latin typeface="+mn-ea"/>
              </a:rPr>
              <a:t>)</a:t>
            </a:r>
          </a:p>
          <a:p>
            <a:r>
              <a:rPr lang="ko-KR" altLang="en-US" sz="1100" dirty="0">
                <a:latin typeface="+mn-ea"/>
              </a:rPr>
              <a:t>프로모션의 가장 큰 목표는 제품이나 서비스를 소비자에게 널리 알리는 것입니다</a:t>
            </a:r>
            <a:r>
              <a:rPr lang="en-US" altLang="ko-KR" sz="1100" dirty="0">
                <a:latin typeface="+mn-ea"/>
              </a:rPr>
              <a:t>. </a:t>
            </a:r>
            <a:r>
              <a:rPr lang="ko-KR" altLang="en-US" sz="1100" dirty="0">
                <a:latin typeface="+mn-ea"/>
              </a:rPr>
              <a:t>소비자들이 시장에서 다른 제품보다 우리 회사 제품을 사용할 수 있도록 구매 결정할 때 중요한 요소가 됩니다</a:t>
            </a:r>
            <a:r>
              <a:rPr lang="en-US" altLang="ko-KR" sz="1100" dirty="0">
                <a:latin typeface="+mn-ea"/>
              </a:rPr>
              <a:t>. </a:t>
            </a:r>
            <a:r>
              <a:rPr lang="ko-KR" altLang="en-US" sz="1100" dirty="0">
                <a:latin typeface="+mn-ea"/>
              </a:rPr>
              <a:t>프로모션에는 광고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dirty="0">
                <a:latin typeface="+mn-ea"/>
              </a:rPr>
              <a:t>홍보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dirty="0">
                <a:latin typeface="+mn-ea"/>
              </a:rPr>
              <a:t>마케팅전략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dirty="0">
                <a:latin typeface="+mn-ea"/>
              </a:rPr>
              <a:t>마케팅 채널 등이 포함됩니다</a:t>
            </a:r>
            <a:r>
              <a:rPr lang="en-US" altLang="ko-KR" sz="1100" dirty="0">
                <a:latin typeface="+mn-ea"/>
              </a:rPr>
              <a:t>.</a:t>
            </a:r>
          </a:p>
          <a:p>
            <a:endParaRPr lang="en-US" altLang="ko-KR" sz="1100" dirty="0">
              <a:latin typeface="+mn-ea"/>
            </a:endParaRPr>
          </a:p>
          <a:p>
            <a:r>
              <a:rPr lang="en-US" altLang="ko-KR" sz="1100" dirty="0">
                <a:latin typeface="+mn-ea"/>
              </a:rPr>
              <a:t>4. Place(</a:t>
            </a:r>
            <a:r>
              <a:rPr lang="ko-KR" altLang="en-US" sz="1100" dirty="0">
                <a:latin typeface="+mn-ea"/>
              </a:rPr>
              <a:t>유통경로</a:t>
            </a:r>
            <a:r>
              <a:rPr lang="en-US" altLang="ko-KR" sz="1100" dirty="0">
                <a:latin typeface="+mn-ea"/>
              </a:rPr>
              <a:t>)</a:t>
            </a:r>
          </a:p>
          <a:p>
            <a:r>
              <a:rPr lang="ko-KR" altLang="en-US" sz="1100" dirty="0">
                <a:latin typeface="+mn-ea"/>
              </a:rPr>
              <a:t>유통 경로는 제품을 어디에 판매할지에 대한 전략입니다</a:t>
            </a:r>
            <a:r>
              <a:rPr lang="en-US" altLang="ko-KR" sz="1100" dirty="0">
                <a:latin typeface="+mn-ea"/>
              </a:rPr>
              <a:t>. </a:t>
            </a:r>
            <a:r>
              <a:rPr lang="ko-KR" altLang="en-US" sz="1100" dirty="0">
                <a:latin typeface="+mn-ea"/>
              </a:rPr>
              <a:t>유통 채널을 결정할 때는 비용과 </a:t>
            </a:r>
            <a:r>
              <a:rPr lang="ko-KR" altLang="en-US" sz="1100" dirty="0" err="1">
                <a:latin typeface="+mn-ea"/>
              </a:rPr>
              <a:t>편의과</a:t>
            </a:r>
            <a:r>
              <a:rPr lang="ko-KR" altLang="en-US" sz="1100" dirty="0">
                <a:latin typeface="+mn-ea"/>
              </a:rPr>
              <a:t> 같은 분석을 걸쳐서 결정이 됩니다</a:t>
            </a:r>
            <a:r>
              <a:rPr lang="en-US" altLang="ko-KR" sz="1100" dirty="0">
                <a:latin typeface="+mn-ea"/>
              </a:rPr>
              <a:t>. </a:t>
            </a:r>
            <a:r>
              <a:rPr lang="ko-KR" altLang="en-US" sz="1100" dirty="0">
                <a:latin typeface="+mn-ea"/>
              </a:rPr>
              <a:t>우리 고객은 어디에 있는지</a:t>
            </a:r>
            <a:r>
              <a:rPr lang="en-US" altLang="ko-KR" sz="1100" dirty="0">
                <a:latin typeface="+mn-ea"/>
              </a:rPr>
              <a:t>? </a:t>
            </a:r>
            <a:r>
              <a:rPr lang="ko-KR" altLang="en-US" sz="1100" dirty="0">
                <a:latin typeface="+mn-ea"/>
              </a:rPr>
              <a:t>어떤 유통채널이 우리 제품에 적합한지</a:t>
            </a:r>
            <a:r>
              <a:rPr lang="en-US" altLang="ko-KR" sz="1100" dirty="0">
                <a:latin typeface="+mn-ea"/>
              </a:rPr>
              <a:t>? </a:t>
            </a:r>
            <a:r>
              <a:rPr lang="ko-KR" altLang="en-US" sz="1100" dirty="0">
                <a:latin typeface="+mn-ea"/>
              </a:rPr>
              <a:t>판매하는 대상이 개인인지 기업인지</a:t>
            </a:r>
            <a:r>
              <a:rPr lang="en-US" altLang="ko-KR" sz="1100" dirty="0">
                <a:latin typeface="+mn-ea"/>
              </a:rPr>
              <a:t>? </a:t>
            </a:r>
            <a:r>
              <a:rPr lang="ko-KR" altLang="en-US" sz="1100" dirty="0">
                <a:latin typeface="+mn-ea"/>
              </a:rPr>
              <a:t>등의 다양한 요소를 고려해야합니다</a:t>
            </a:r>
            <a:r>
              <a:rPr lang="en-US" altLang="ko-KR" sz="1100" dirty="0">
                <a:latin typeface="+mn-ea"/>
              </a:rPr>
              <a:t>.</a:t>
            </a:r>
            <a:endParaRPr lang="ko-KR" altLang="en-US" sz="1100" dirty="0">
              <a:latin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C3A5561-B075-4455-A035-BE9E343D0AB0}"/>
              </a:ext>
            </a:extLst>
          </p:cNvPr>
          <p:cNvSpPr/>
          <p:nvPr/>
        </p:nvSpPr>
        <p:spPr>
          <a:xfrm>
            <a:off x="6096000" y="3429000"/>
            <a:ext cx="6096001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dirty="0">
                <a:latin typeface="+mn-ea"/>
              </a:rPr>
              <a:t>1990</a:t>
            </a:r>
            <a:r>
              <a:rPr lang="ko-KR" altLang="en-US" sz="1100" dirty="0">
                <a:latin typeface="+mn-ea"/>
              </a:rPr>
              <a:t>년대 이후 판매자 관점인 </a:t>
            </a:r>
            <a:r>
              <a:rPr lang="en-US" altLang="ko-KR" sz="1100" dirty="0">
                <a:latin typeface="+mn-ea"/>
              </a:rPr>
              <a:t>4P</a:t>
            </a:r>
            <a:r>
              <a:rPr lang="ko-KR" altLang="en-US" sz="1100" dirty="0">
                <a:latin typeface="+mn-ea"/>
              </a:rPr>
              <a:t>에서 소비자 중심적인 </a:t>
            </a:r>
            <a:r>
              <a:rPr lang="en-US" altLang="ko-KR" sz="1100" dirty="0">
                <a:latin typeface="+mn-ea"/>
              </a:rPr>
              <a:t>4C </a:t>
            </a:r>
            <a:r>
              <a:rPr lang="ko-KR" altLang="en-US" sz="1100" dirty="0">
                <a:latin typeface="+mn-ea"/>
              </a:rPr>
              <a:t>모델을 착안하였습니다</a:t>
            </a:r>
            <a:r>
              <a:rPr lang="en-US" altLang="ko-KR" sz="1100" dirty="0">
                <a:latin typeface="+mn-ea"/>
              </a:rPr>
              <a:t>. 4C</a:t>
            </a:r>
            <a:r>
              <a:rPr lang="ko-KR" altLang="en-US" sz="1100" dirty="0">
                <a:latin typeface="+mn-ea"/>
              </a:rPr>
              <a:t>는 고객</a:t>
            </a:r>
            <a:r>
              <a:rPr lang="en-US" altLang="ko-KR" sz="1100" dirty="0">
                <a:latin typeface="+mn-ea"/>
              </a:rPr>
              <a:t>(Customer), </a:t>
            </a:r>
            <a:r>
              <a:rPr lang="ko-KR" altLang="en-US" sz="1100" dirty="0">
                <a:latin typeface="+mn-ea"/>
              </a:rPr>
              <a:t>비용</a:t>
            </a:r>
            <a:r>
              <a:rPr lang="en-US" altLang="ko-KR" sz="1100" dirty="0">
                <a:latin typeface="+mn-ea"/>
              </a:rPr>
              <a:t>(Cost), </a:t>
            </a:r>
            <a:r>
              <a:rPr lang="ko-KR" altLang="en-US" sz="1100" dirty="0">
                <a:latin typeface="+mn-ea"/>
              </a:rPr>
              <a:t>커뮤니케이션</a:t>
            </a:r>
            <a:r>
              <a:rPr lang="en-US" altLang="ko-KR" sz="1100" dirty="0">
                <a:latin typeface="+mn-ea"/>
              </a:rPr>
              <a:t>(Communication) </a:t>
            </a:r>
            <a:r>
              <a:rPr lang="ko-KR" altLang="en-US" sz="1100" dirty="0">
                <a:latin typeface="+mn-ea"/>
              </a:rPr>
              <a:t>및 편의성</a:t>
            </a:r>
            <a:r>
              <a:rPr lang="en-US" altLang="ko-KR" sz="1100" dirty="0">
                <a:latin typeface="+mn-ea"/>
              </a:rPr>
              <a:t>(</a:t>
            </a:r>
            <a:r>
              <a:rPr lang="en-US" altLang="ko-KR" sz="1100" dirty="0" err="1">
                <a:latin typeface="+mn-ea"/>
              </a:rPr>
              <a:t>Covenience</a:t>
            </a:r>
            <a:r>
              <a:rPr lang="en-US" altLang="ko-KR" sz="1100" dirty="0">
                <a:latin typeface="+mn-ea"/>
              </a:rPr>
              <a:t>)</a:t>
            </a:r>
            <a:r>
              <a:rPr lang="ko-KR" altLang="en-US" sz="1100" dirty="0">
                <a:latin typeface="+mn-ea"/>
              </a:rPr>
              <a:t>을 의미합니다</a:t>
            </a:r>
            <a:r>
              <a:rPr lang="en-US" altLang="ko-KR" sz="1100" dirty="0">
                <a:latin typeface="+mn-ea"/>
              </a:rPr>
              <a:t>.  </a:t>
            </a:r>
            <a:r>
              <a:rPr lang="ko-KR" altLang="en-US" sz="1100" dirty="0">
                <a:latin typeface="+mn-ea"/>
              </a:rPr>
              <a:t>상품전략에서 고객에서 어떤 가치를 줄 수 있는지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dirty="0">
                <a:latin typeface="+mn-ea"/>
              </a:rPr>
              <a:t>가격전략에서 고객이 얼마나 비용을 지불 할 수 있는지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dirty="0">
                <a:latin typeface="+mn-ea"/>
              </a:rPr>
              <a:t>유통전략에서 고객이 얼마나 편리하게 제품에 접근할 수 있는지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dirty="0">
                <a:latin typeface="+mn-ea"/>
              </a:rPr>
              <a:t>판매촉진 전략에서 기업과 고객은 얼마나 상호 커뮤니케이션이 되고 있는지를 의미합니다</a:t>
            </a:r>
            <a:r>
              <a:rPr lang="en-US" altLang="ko-KR" sz="1100" dirty="0">
                <a:latin typeface="+mn-ea"/>
              </a:rPr>
              <a:t>.</a:t>
            </a:r>
            <a:endParaRPr lang="ko-KR" altLang="en-US" sz="1100" dirty="0"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8335324-B6EE-4764-B64A-10FFCA95E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554" y="0"/>
            <a:ext cx="6047756" cy="347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998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ABBA36C-CF37-4A35-9977-81EC87475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19" y="787400"/>
            <a:ext cx="3013364" cy="221868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9C29FC99-7E24-4FD2-9332-5CDE1BE1DDA8}"/>
              </a:ext>
            </a:extLst>
          </p:cNvPr>
          <p:cNvSpPr/>
          <p:nvPr/>
        </p:nvSpPr>
        <p:spPr>
          <a:xfrm>
            <a:off x="262519" y="187098"/>
            <a:ext cx="30556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신사업 검증 </a:t>
            </a:r>
            <a:r>
              <a:rPr lang="en-US" altLang="ko-KR" dirty="0"/>
              <a:t>#1 – </a:t>
            </a:r>
            <a:r>
              <a:rPr lang="ko-KR" altLang="en-US" dirty="0"/>
              <a:t>문제 검증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BC0D085-FF10-4A74-9032-5CC6058DBD8B}"/>
              </a:ext>
            </a:extLst>
          </p:cNvPr>
          <p:cNvSpPr/>
          <p:nvPr/>
        </p:nvSpPr>
        <p:spPr>
          <a:xfrm>
            <a:off x="3436190" y="2067362"/>
            <a:ext cx="6559809" cy="9387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100" dirty="0"/>
              <a:t>문제의 보편성은 달리 말하면 잠재 시장 규모다</a:t>
            </a:r>
            <a:r>
              <a:rPr lang="en-US" altLang="ko-KR" sz="1100" dirty="0"/>
              <a:t>. </a:t>
            </a:r>
          </a:p>
          <a:p>
            <a:r>
              <a:rPr lang="ko-KR" altLang="en-US" sz="1100" dirty="0"/>
              <a:t>‘잠재’ 시장으로 얘기하는 것은 새로운 사업모델일수록 아직 실제 시장이 존재하지 않기 때문이다</a:t>
            </a:r>
            <a:r>
              <a:rPr lang="en-US" altLang="ko-KR" sz="1100" dirty="0"/>
              <a:t>.</a:t>
            </a:r>
          </a:p>
          <a:p>
            <a:r>
              <a:rPr lang="en-US" altLang="ko-KR" sz="1100" dirty="0"/>
              <a:t>TAM, SAM, </a:t>
            </a:r>
            <a:r>
              <a:rPr lang="en-US" altLang="ko-KR" sz="1100" dirty="0" err="1"/>
              <a:t>SOM</a:t>
            </a:r>
            <a:r>
              <a:rPr lang="en-US" altLang="ko-KR" sz="1100" dirty="0"/>
              <a:t> </a:t>
            </a:r>
            <a:r>
              <a:rPr lang="ko-KR" altLang="en-US" sz="1100" dirty="0"/>
              <a:t>같은 용어에 집착할 필요는 전혀 없다</a:t>
            </a:r>
            <a:r>
              <a:rPr lang="en-US" altLang="ko-KR" sz="1100" dirty="0"/>
              <a:t>. </a:t>
            </a:r>
            <a:r>
              <a:rPr lang="ko-KR" altLang="en-US" sz="1100" dirty="0"/>
              <a:t>그저 가능 시장</a:t>
            </a:r>
            <a:r>
              <a:rPr lang="en-US" altLang="ko-KR" sz="1100" dirty="0"/>
              <a:t>(Addressable market)</a:t>
            </a:r>
            <a:r>
              <a:rPr lang="ko-KR" altLang="en-US" sz="1100" dirty="0"/>
              <a:t>이 있고</a:t>
            </a:r>
            <a:r>
              <a:rPr lang="en-US" altLang="ko-KR" sz="1100" dirty="0"/>
              <a:t>,</a:t>
            </a:r>
          </a:p>
          <a:p>
            <a:r>
              <a:rPr lang="ko-KR" altLang="en-US" sz="1100" dirty="0"/>
              <a:t>그 중에서도 우리가 집중해야 할 시장을 세분화한다고 생각하면 된다</a:t>
            </a:r>
            <a:r>
              <a:rPr lang="en-US" altLang="ko-KR" sz="1100" dirty="0"/>
              <a:t>.</a:t>
            </a:r>
          </a:p>
          <a:p>
            <a:endParaRPr lang="ko-KR" altLang="en-US" sz="11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E0BACAB-1FD5-41FC-9B16-B9CCC1506A54}"/>
              </a:ext>
            </a:extLst>
          </p:cNvPr>
          <p:cNvSpPr/>
          <p:nvPr/>
        </p:nvSpPr>
        <p:spPr>
          <a:xfrm>
            <a:off x="328764" y="3244334"/>
            <a:ext cx="35173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신사업 검증 </a:t>
            </a:r>
            <a:r>
              <a:rPr lang="en-US" altLang="ko-KR" dirty="0"/>
              <a:t>#2 – </a:t>
            </a:r>
            <a:r>
              <a:rPr lang="ko-KR" altLang="en-US" dirty="0"/>
              <a:t>아이디어 검증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C5A70D9-3AFC-4666-845A-870BFDFFD787}"/>
              </a:ext>
            </a:extLst>
          </p:cNvPr>
          <p:cNvSpPr/>
          <p:nvPr/>
        </p:nvSpPr>
        <p:spPr>
          <a:xfrm>
            <a:off x="3899999" y="3209759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100" dirty="0"/>
              <a:t>아이디어로 검증하려면 우선 우리 아이디어를 잠재고객이 쉽게 알 수 있게 제시해야 한다</a:t>
            </a:r>
            <a:r>
              <a:rPr lang="en-US" altLang="ko-KR" sz="1100" dirty="0"/>
              <a:t>. </a:t>
            </a:r>
            <a:r>
              <a:rPr lang="ko-KR" altLang="en-US" sz="1100" dirty="0"/>
              <a:t>정해진 방법은 없다</a:t>
            </a:r>
            <a:r>
              <a:rPr lang="en-US" altLang="ko-KR" sz="1100" dirty="0"/>
              <a:t>. </a:t>
            </a:r>
            <a:r>
              <a:rPr lang="ko-KR" altLang="en-US" sz="1100" dirty="0"/>
              <a:t>간단히 말이나 글로 설명을 할 수도 있고</a:t>
            </a:r>
            <a:r>
              <a:rPr lang="en-US" altLang="ko-KR" sz="1100" dirty="0"/>
              <a:t>, </a:t>
            </a:r>
            <a:r>
              <a:rPr lang="ko-KR" altLang="en-US" sz="1100" dirty="0"/>
              <a:t>그림으로 설명할 수도 있고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드랍박스처럼</a:t>
            </a:r>
            <a:r>
              <a:rPr lang="ko-KR" altLang="en-US" sz="1100" dirty="0"/>
              <a:t> 동영상을 활용할 수도 있다</a:t>
            </a:r>
            <a:r>
              <a:rPr lang="en-US" altLang="ko-KR" sz="1100" dirty="0"/>
              <a:t>. </a:t>
            </a:r>
            <a:r>
              <a:rPr lang="ko-KR" altLang="en-US" sz="1100" dirty="0"/>
              <a:t>말이나 그림으로 설명이 어려우면 아주 간단한 시제품</a:t>
            </a:r>
            <a:r>
              <a:rPr lang="en-US" altLang="ko-KR" sz="1100" dirty="0"/>
              <a:t>(Pretotype)</a:t>
            </a:r>
            <a:r>
              <a:rPr lang="ko-KR" altLang="en-US" sz="1100" dirty="0"/>
              <a:t>을 사용할 수도 있다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60BDEE7-A570-47EC-B5D3-8BAFB95B6529}"/>
              </a:ext>
            </a:extLst>
          </p:cNvPr>
          <p:cNvSpPr/>
          <p:nvPr/>
        </p:nvSpPr>
        <p:spPr>
          <a:xfrm>
            <a:off x="328764" y="4389643"/>
            <a:ext cx="30556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신사업 검증 </a:t>
            </a:r>
            <a:r>
              <a:rPr lang="en-US" altLang="ko-KR" dirty="0"/>
              <a:t>#3 – </a:t>
            </a:r>
            <a:r>
              <a:rPr lang="ko-KR" altLang="en-US" dirty="0"/>
              <a:t>사용 검증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D046FE5-6E9C-48FF-9E50-FEC3710A1A41}"/>
              </a:ext>
            </a:extLst>
          </p:cNvPr>
          <p:cNvSpPr/>
          <p:nvPr/>
        </p:nvSpPr>
        <p:spPr>
          <a:xfrm>
            <a:off x="3668094" y="4447431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100" dirty="0"/>
              <a:t>최소 기능 시제품</a:t>
            </a:r>
            <a:r>
              <a:rPr lang="en-US" altLang="ko-KR" sz="1100" dirty="0"/>
              <a:t>(</a:t>
            </a:r>
            <a:r>
              <a:rPr lang="en-US" altLang="ko-KR" sz="1100" b="1" dirty="0"/>
              <a:t>Minimum Viable Product, MVP)</a:t>
            </a:r>
            <a:r>
              <a:rPr lang="ko-KR" altLang="en-US" sz="1100" dirty="0"/>
              <a:t>은 고객에게 제공될 가장 핵심적인 가치 한가지만 제공하는 것을 말한다</a:t>
            </a:r>
            <a:r>
              <a:rPr lang="en-US" altLang="ko-KR" sz="1100" dirty="0"/>
              <a:t>. 19</a:t>
            </a:r>
            <a:r>
              <a:rPr lang="ko-KR" altLang="en-US" sz="1100" dirty="0"/>
              <a:t>세기말에 당신이 자동차의 개발에 도전한다고 하자</a:t>
            </a:r>
            <a:r>
              <a:rPr lang="en-US" altLang="ko-KR" sz="1100" dirty="0"/>
              <a:t>. </a:t>
            </a:r>
            <a:r>
              <a:rPr lang="ko-KR" altLang="en-US" sz="1100" dirty="0"/>
              <a:t>뭐가 최소 기능 시제품일까</a:t>
            </a:r>
            <a:r>
              <a:rPr lang="en-US" altLang="ko-KR" sz="1100" dirty="0"/>
              <a:t>? </a:t>
            </a:r>
            <a:r>
              <a:rPr lang="ko-KR" altLang="en-US" sz="1100" dirty="0"/>
              <a:t>바퀴 </a:t>
            </a:r>
            <a:r>
              <a:rPr lang="ko-KR" altLang="en-US" sz="1100" dirty="0" err="1"/>
              <a:t>네개</a:t>
            </a:r>
            <a:r>
              <a:rPr lang="ko-KR" altLang="en-US" sz="1100" dirty="0"/>
              <a:t> </a:t>
            </a:r>
            <a:r>
              <a:rPr lang="en-US" altLang="ko-KR" sz="1100" dirty="0"/>
              <a:t>(</a:t>
            </a:r>
            <a:r>
              <a:rPr lang="ko-KR" altLang="en-US" sz="1100" dirty="0"/>
              <a:t>또는 </a:t>
            </a:r>
            <a:r>
              <a:rPr lang="ko-KR" altLang="en-US" sz="1100" dirty="0" err="1"/>
              <a:t>세개</a:t>
            </a:r>
            <a:r>
              <a:rPr lang="en-US" altLang="ko-KR" sz="1100" dirty="0"/>
              <a:t>), </a:t>
            </a:r>
            <a:r>
              <a:rPr lang="ko-KR" altLang="en-US" sz="1100" dirty="0"/>
              <a:t>그리고 조종할 수 있는 핸들일 것이다</a:t>
            </a:r>
            <a:r>
              <a:rPr lang="en-US" altLang="ko-KR" sz="1100" dirty="0"/>
              <a:t>. (</a:t>
            </a:r>
            <a:r>
              <a:rPr lang="ko-KR" altLang="en-US" sz="1100" dirty="0"/>
              <a:t>속도가 낮으면 브레이크도 </a:t>
            </a:r>
            <a:r>
              <a:rPr lang="ko-KR" altLang="en-US" sz="1100" dirty="0" err="1"/>
              <a:t>필요없을</a:t>
            </a:r>
            <a:r>
              <a:rPr lang="ko-KR" altLang="en-US" sz="1100" dirty="0"/>
              <a:t> 것이다</a:t>
            </a:r>
            <a:r>
              <a:rPr lang="en-US" altLang="ko-KR" sz="1100" dirty="0"/>
              <a:t>. </a:t>
            </a:r>
            <a:r>
              <a:rPr lang="ko-KR" altLang="en-US" sz="1100" dirty="0"/>
              <a:t>발을 끌어서 멈출 수 있을 </a:t>
            </a:r>
            <a:r>
              <a:rPr lang="ko-KR" altLang="en-US" sz="1100" dirty="0" err="1"/>
              <a:t>테므로</a:t>
            </a:r>
            <a:r>
              <a:rPr lang="en-US" altLang="ko-KR" sz="1100" dirty="0"/>
              <a:t>.)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792780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FDEC23E-94EF-4D6D-BA91-88BB37AF7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837" y="1704975"/>
            <a:ext cx="7172325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2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D3D0CD2-AEF1-4F57-928A-B77EE3677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75" y="447675"/>
            <a:ext cx="9544050" cy="596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435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E8A9865-30EE-4A8C-88DD-2674DEE15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297" y="4094747"/>
            <a:ext cx="6896100" cy="25908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ABFE51F-F0E6-497F-AAF1-6982FAB47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286" y="481264"/>
            <a:ext cx="687705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75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438</Words>
  <Application>Microsoft Office PowerPoint</Application>
  <PresentationFormat>와이드스크린</PresentationFormat>
  <Paragraphs>21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Administrator</cp:lastModifiedBy>
  <cp:revision>6</cp:revision>
  <dcterms:created xsi:type="dcterms:W3CDTF">2024-04-15T04:18:37Z</dcterms:created>
  <dcterms:modified xsi:type="dcterms:W3CDTF">2024-04-15T06:44:23Z</dcterms:modified>
</cp:coreProperties>
</file>