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450" r:id="rId2"/>
    <p:sldId id="485" r:id="rId3"/>
    <p:sldId id="479" r:id="rId4"/>
    <p:sldId id="484" r:id="rId5"/>
    <p:sldId id="486" r:id="rId6"/>
  </p:sldIdLst>
  <p:sldSz cx="9906000" cy="6858000" type="A4"/>
  <p:notesSz cx="6797675" cy="9926638"/>
  <p:embeddedFontLst>
    <p:embeddedFont>
      <p:font typeface="Arial Narrow" panose="020B0606020202030204" pitchFamily="34" charset="0"/>
      <p:regular r:id="rId8"/>
      <p:bold r:id="rId9"/>
      <p:italic r:id="rId10"/>
      <p:boldItalic r:id="rId11"/>
    </p:embeddedFont>
    <p:embeddedFont>
      <p:font typeface="LG스마트체 Regular" panose="020B0600000101010101" pitchFamily="50" charset="-127"/>
      <p:regular r:id="rId12"/>
    </p:embeddedFont>
    <p:embeddedFont>
      <p:font typeface="Malgun Gothic Semilight" panose="020B0502040204020203" pitchFamily="50" charset="-127"/>
      <p:regular r:id="rId13"/>
    </p:embeddedFont>
    <p:embeddedFont>
      <p:font typeface="나눔고딕 ExtraBold" panose="020D0904000000000000" pitchFamily="50" charset="-127"/>
      <p:bold r:id="rId14"/>
    </p:embeddedFont>
    <p:embeddedFont>
      <p:font typeface="나눔스퀘어" panose="020B0600000101010101" pitchFamily="50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23B1D1"/>
    <a:srgbClr val="F0F0F0"/>
    <a:srgbClr val="E6E6E6"/>
    <a:srgbClr val="ECECEC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15" autoAdjust="0"/>
    <p:restoredTop sz="96370" autoAdjust="0"/>
  </p:normalViewPr>
  <p:slideViewPr>
    <p:cSldViewPr showGuides="1">
      <p:cViewPr varScale="1">
        <p:scale>
          <a:sx n="106" d="100"/>
          <a:sy n="106" d="100"/>
        </p:scale>
        <p:origin x="1782" y="114"/>
      </p:cViewPr>
      <p:guideLst>
        <p:guide orient="horz" pos="482"/>
        <p:guide pos="21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6400" cy="496888"/>
          </a:xfrm>
          <a:prstGeom prst="rect">
            <a:avLst/>
          </a:prstGeom>
        </p:spPr>
        <p:txBody>
          <a:bodyPr vert="horz" lIns="91413" tIns="45705" rIns="91413" bIns="4570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3"/>
            <a:ext cx="2946400" cy="496888"/>
          </a:xfrm>
          <a:prstGeom prst="rect">
            <a:avLst/>
          </a:prstGeom>
        </p:spPr>
        <p:txBody>
          <a:bodyPr vert="horz" lIns="91413" tIns="45705" rIns="91413" bIns="45705" rtlCol="0"/>
          <a:lstStyle>
            <a:lvl1pPr algn="r">
              <a:defRPr sz="1200"/>
            </a:lvl1pPr>
          </a:lstStyle>
          <a:p>
            <a:fld id="{8CF251F3-0EEE-4DEA-AF70-447FDBB09DE6}" type="datetimeFigureOut">
              <a:rPr lang="ko-KR" altLang="en-US" smtClean="0"/>
              <a:t>2024-02-08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5" rIns="91413" bIns="4570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13" tIns="45705" rIns="91413" bIns="4570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13" tIns="45705" rIns="91413" bIns="4570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13" tIns="45705" rIns="91413" bIns="45705" rtlCol="0" anchor="b"/>
          <a:lstStyle>
            <a:lvl1pPr algn="r">
              <a:defRPr sz="1200"/>
            </a:lvl1pPr>
          </a:lstStyle>
          <a:p>
            <a:fld id="{1291E27B-3CAC-4E9B-A7D4-D0BFA5D819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B733-8FA6-433A-96B0-B8D4FAC31670}" type="datetimeFigureOut">
              <a:rPr lang="ko-KR" altLang="en-US" smtClean="0"/>
              <a:t>2024-02-08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4C04-730B-4205-B192-87FFAEC332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851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B733-8FA6-433A-96B0-B8D4FAC31670}" type="datetimeFigureOut">
              <a:rPr lang="ko-KR" altLang="en-US" smtClean="0"/>
              <a:t>2024-02-08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4C04-730B-4205-B192-87FFAEC332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9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B733-8FA6-433A-96B0-B8D4FAC31670}" type="datetimeFigureOut">
              <a:rPr lang="ko-KR" altLang="en-US" smtClean="0"/>
              <a:t>2024-02-08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A4C04-730B-4205-B192-87FFAEC332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77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FB733-8FA6-433A-96B0-B8D4FAC31670}" type="datetimeFigureOut">
              <a:rPr lang="ko-KR" altLang="en-US" smtClean="0"/>
              <a:t>2024-02-08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A4C04-730B-4205-B192-87FFAEC332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12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hdphoto" Target="../media/hdphoto1.wdp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E4E29F-B66B-4538-9655-49558AB42CDD}"/>
              </a:ext>
            </a:extLst>
          </p:cNvPr>
          <p:cNvSpPr txBox="1"/>
          <p:nvPr/>
        </p:nvSpPr>
        <p:spPr>
          <a:xfrm>
            <a:off x="1342715" y="1412776"/>
            <a:ext cx="7270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Bolt-On </a:t>
            </a:r>
            <a:r>
              <a:rPr lang="ko-KR" altLang="en-US" sz="2400" b="1" dirty="0">
                <a:latin typeface="Arial Narrow" panose="020B0606020202030204" pitchFamily="34" charset="0"/>
                <a:cs typeface="Arial" panose="020B0604020202020204" pitchFamily="34" charset="0"/>
              </a:rPr>
              <a:t>보고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4E29F-B66B-4538-9655-49558AB42CDD}"/>
              </a:ext>
            </a:extLst>
          </p:cNvPr>
          <p:cNvSpPr txBox="1"/>
          <p:nvPr/>
        </p:nvSpPr>
        <p:spPr>
          <a:xfrm>
            <a:off x="1342715" y="5157192"/>
            <a:ext cx="7270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Arial Narrow" panose="020B0606020202030204" pitchFamily="34" charset="0"/>
                <a:cs typeface="Arial" panose="020B0604020202020204" pitchFamily="34" charset="0"/>
              </a:rPr>
              <a:t>2024.02.08</a:t>
            </a:r>
          </a:p>
          <a:p>
            <a:pPr algn="ctr"/>
            <a:r>
              <a:rPr lang="ko-KR" altLang="en-US" sz="1400" b="1" dirty="0">
                <a:latin typeface="Arial Narrow" panose="020B0606020202030204" pitchFamily="34" charset="0"/>
                <a:cs typeface="Arial" panose="020B0604020202020204" pitchFamily="34" charset="0"/>
              </a:rPr>
              <a:t>상품기획팀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4C9E9-46F9-4C41-99B2-CA71E9CFF2C4}"/>
              </a:ext>
            </a:extLst>
          </p:cNvPr>
          <p:cNvSpPr txBox="1"/>
          <p:nvPr/>
        </p:nvSpPr>
        <p:spPr>
          <a:xfrm>
            <a:off x="3933826" y="2050343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( </a:t>
            </a:r>
            <a:r>
              <a:rPr lang="ko-KR" altLang="en-US" sz="1200" dirty="0">
                <a:latin typeface="Arial Narrow" panose="020B0606020202030204" pitchFamily="34" charset="0"/>
                <a:cs typeface="Arial" panose="020B0604020202020204" pitchFamily="34" charset="0"/>
              </a:rPr>
              <a:t>상품기획 관점  </a:t>
            </a:r>
            <a:r>
              <a:rPr lang="en-US" altLang="ko-KR" sz="1200" dirty="0">
                <a:latin typeface="Arial Narrow" panose="020B0606020202030204" pitchFamily="34" charset="0"/>
                <a:cs typeface="Arial" panose="020B0604020202020204" pitchFamily="34" charset="0"/>
              </a:rPr>
              <a:t>)</a:t>
            </a:r>
            <a:endParaRPr lang="ko-KR" altLang="en-US" sz="12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A577EF1-98CF-4E49-A077-B6C3CC14F9C9}"/>
              </a:ext>
            </a:extLst>
          </p:cNvPr>
          <p:cNvCxnSpPr/>
          <p:nvPr/>
        </p:nvCxnSpPr>
        <p:spPr>
          <a:xfrm>
            <a:off x="3609790" y="1874441"/>
            <a:ext cx="273630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C2602-5109-425D-8013-DB213ACAB8B4}"/>
              </a:ext>
            </a:extLst>
          </p:cNvPr>
          <p:cNvSpPr/>
          <p:nvPr/>
        </p:nvSpPr>
        <p:spPr>
          <a:xfrm>
            <a:off x="3944888" y="3104568"/>
            <a:ext cx="2088232" cy="140455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lIns="324000">
            <a:spAutoFit/>
          </a:bodyPr>
          <a:lstStyle/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200" dirty="0">
                <a:latin typeface="+mn-ea"/>
              </a:rPr>
              <a:t>상품 조합 개요</a:t>
            </a:r>
            <a:endParaRPr lang="en-US" altLang="ko-KR" sz="1200" dirty="0">
              <a:latin typeface="+mn-ea"/>
            </a:endParaRPr>
          </a:p>
          <a:p>
            <a:pPr marL="228600" indent="-228600">
              <a:lnSpc>
                <a:spcPct val="250000"/>
              </a:lnSpc>
              <a:buAutoNum type="arabicPeriod"/>
            </a:pPr>
            <a:r>
              <a:rPr lang="ko-KR" altLang="en-US" sz="1200" dirty="0">
                <a:latin typeface="+mn-ea"/>
              </a:rPr>
              <a:t>시너지 효과</a:t>
            </a:r>
            <a:endParaRPr lang="en-US" altLang="ko-KR" sz="1200" dirty="0">
              <a:latin typeface="+mn-ea"/>
            </a:endParaRPr>
          </a:p>
          <a:p>
            <a:pPr marL="228600" indent="-228600">
              <a:lnSpc>
                <a:spcPct val="250000"/>
              </a:lnSpc>
              <a:spcAft>
                <a:spcPts val="1200"/>
              </a:spcAft>
              <a:buAutoNum type="arabicPeriod"/>
            </a:pPr>
            <a:r>
              <a:rPr lang="ko-KR" altLang="en-US" sz="1200" dirty="0">
                <a:latin typeface="+mn-ea"/>
              </a:rPr>
              <a:t>시너지 예시</a:t>
            </a:r>
            <a:endParaRPr lang="ko-KR" altLang="en-US" sz="800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15EBC0-4120-4C8D-9446-00AD164A0020}"/>
              </a:ext>
            </a:extLst>
          </p:cNvPr>
          <p:cNvSpPr/>
          <p:nvPr/>
        </p:nvSpPr>
        <p:spPr>
          <a:xfrm>
            <a:off x="4556956" y="2940774"/>
            <a:ext cx="86409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1600" dirty="0">
                <a:gradFill>
                  <a:gsLst>
                    <a:gs pos="0">
                      <a:schemeClr val="tx1"/>
                    </a:gs>
                    <a:gs pos="16000">
                      <a:schemeClr val="tx1"/>
                    </a:gs>
                  </a:gsLst>
                  <a:lin ang="5400000" scaled="1"/>
                </a:gradFill>
                <a:latin typeface="+mn-ea"/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52211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8FA48738-3F03-4EA3-B8DB-11948DC30426}"/>
              </a:ext>
            </a:extLst>
          </p:cNvPr>
          <p:cNvSpPr txBox="1"/>
          <p:nvPr/>
        </p:nvSpPr>
        <p:spPr>
          <a:xfrm>
            <a:off x="128464" y="116632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  <a:cs typeface="Arial" panose="020B0604020202020204" pitchFamily="34" charset="0"/>
              </a:rPr>
              <a:t>1.  </a:t>
            </a:r>
            <a:r>
              <a:rPr lang="ko-KR" altLang="en-US" b="1" dirty="0">
                <a:latin typeface="+mn-ea"/>
                <a:cs typeface="Arial" panose="020B0604020202020204" pitchFamily="34" charset="0"/>
              </a:rPr>
              <a:t>상품 조합 개요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93CBB56-1B5E-4BBE-983D-D9C1EFF251EE}"/>
              </a:ext>
            </a:extLst>
          </p:cNvPr>
          <p:cNvCxnSpPr>
            <a:cxnSpLocks/>
          </p:cNvCxnSpPr>
          <p:nvPr/>
        </p:nvCxnSpPr>
        <p:spPr>
          <a:xfrm>
            <a:off x="235756" y="485964"/>
            <a:ext cx="318021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4561FA-5785-4D52-8BC4-9C8B63BD9C9A}"/>
              </a:ext>
            </a:extLst>
          </p:cNvPr>
          <p:cNvSpPr txBox="1"/>
          <p:nvPr/>
        </p:nvSpPr>
        <p:spPr>
          <a:xfrm>
            <a:off x="344488" y="777938"/>
            <a:ext cx="9238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spcBef>
                <a:spcPts val="600"/>
              </a:spcBef>
              <a:defRPr sz="1600" b="1">
                <a:latin typeface="+mn-ea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물리보안업체와 건물관리업체간 사업영역이 급속도로 교차되는 상황에서</a:t>
            </a:r>
            <a:r>
              <a:rPr lang="en-US" altLang="ko-KR" dirty="0"/>
              <a:t>, KT</a:t>
            </a:r>
            <a:r>
              <a:rPr lang="ko-KR" altLang="en-US" dirty="0" err="1"/>
              <a:t>텔레캅이</a:t>
            </a:r>
            <a:r>
              <a:rPr lang="ko-KR" altLang="en-US" dirty="0"/>
              <a:t> 보유 중인 솔루션과</a:t>
            </a:r>
            <a:br>
              <a:rPr lang="en-US" altLang="ko-KR" dirty="0"/>
            </a:br>
            <a:r>
              <a:rPr lang="ko-KR" altLang="en-US" dirty="0"/>
              <a:t>고객층은 중소형빌딩 및 매장으로 사업 확대를 진행하고 있는 당사와 상호 시너지를 기대하게 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DB5511-26DB-4740-B1AA-BDC4B004CFAA}"/>
              </a:ext>
            </a:extLst>
          </p:cNvPr>
          <p:cNvSpPr txBox="1"/>
          <p:nvPr/>
        </p:nvSpPr>
        <p:spPr>
          <a:xfrm>
            <a:off x="4769296" y="6453336"/>
            <a:ext cx="367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-1-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453B59-3558-4DCD-937A-9F069E3887BD}"/>
              </a:ext>
            </a:extLst>
          </p:cNvPr>
          <p:cNvSpPr txBox="1"/>
          <p:nvPr/>
        </p:nvSpPr>
        <p:spPr>
          <a:xfrm>
            <a:off x="591542" y="2132856"/>
            <a:ext cx="7425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출동보안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E498C2-A5D3-4461-9891-F4F6D8A9A490}"/>
              </a:ext>
            </a:extLst>
          </p:cNvPr>
          <p:cNvSpPr txBox="1"/>
          <p:nvPr/>
        </p:nvSpPr>
        <p:spPr>
          <a:xfrm>
            <a:off x="591542" y="2852936"/>
            <a:ext cx="7425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출입보안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868026-7E46-45A0-A862-6D1B9B77B627}"/>
              </a:ext>
            </a:extLst>
          </p:cNvPr>
          <p:cNvSpPr txBox="1"/>
          <p:nvPr/>
        </p:nvSpPr>
        <p:spPr>
          <a:xfrm>
            <a:off x="591542" y="3284984"/>
            <a:ext cx="7425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영상보안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5560D9-427A-4E99-803E-3DCCCE327BC6}"/>
              </a:ext>
            </a:extLst>
          </p:cNvPr>
          <p:cNvSpPr txBox="1"/>
          <p:nvPr/>
        </p:nvSpPr>
        <p:spPr>
          <a:xfrm>
            <a:off x="591542" y="3978894"/>
            <a:ext cx="202331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통합보안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근태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식수관리</a:t>
            </a:r>
            <a:r>
              <a:rPr lang="en-US" altLang="ko-KR" sz="1200" dirty="0">
                <a:latin typeface="+mn-ea"/>
              </a:rPr>
              <a:t>,ERP</a:t>
            </a:r>
            <a:r>
              <a:rPr lang="ko-KR" altLang="en-US" sz="1200" dirty="0">
                <a:latin typeface="+mn-ea"/>
              </a:rPr>
              <a:t>연동</a:t>
            </a:r>
            <a:r>
              <a:rPr lang="en-US" altLang="ko-KR" sz="1200" dirty="0">
                <a:latin typeface="+mn-ea"/>
              </a:rPr>
              <a:t>,FM)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64A9F3-3AB4-4BB2-8932-E5557BA1BE5F}"/>
              </a:ext>
            </a:extLst>
          </p:cNvPr>
          <p:cNvSpPr txBox="1"/>
          <p:nvPr/>
        </p:nvSpPr>
        <p:spPr>
          <a:xfrm>
            <a:off x="3008784" y="5312241"/>
            <a:ext cx="220869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카카오</a:t>
            </a:r>
            <a:r>
              <a:rPr lang="en-US" altLang="ko-KR" sz="1200" dirty="0">
                <a:latin typeface="+mn-ea"/>
              </a:rPr>
              <a:t>T </a:t>
            </a:r>
            <a:r>
              <a:rPr lang="ko-KR" altLang="en-US" sz="1200" dirty="0">
                <a:latin typeface="+mn-ea"/>
              </a:rPr>
              <a:t>주차관제 구축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운영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2747EE-4789-4D5C-B94C-DA9C42874301}"/>
              </a:ext>
            </a:extLst>
          </p:cNvPr>
          <p:cNvSpPr txBox="1"/>
          <p:nvPr/>
        </p:nvSpPr>
        <p:spPr>
          <a:xfrm>
            <a:off x="591542" y="5661248"/>
            <a:ext cx="143500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판매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금고</a:t>
            </a:r>
            <a:r>
              <a:rPr lang="en-US" altLang="ko-KR" sz="1200" dirty="0">
                <a:latin typeface="+mn-ea"/>
              </a:rPr>
              <a:t>,</a:t>
            </a:r>
            <a:r>
              <a:rPr lang="ko-KR" altLang="en-US" sz="1200" dirty="0">
                <a:latin typeface="+mn-ea"/>
              </a:rPr>
              <a:t>영상장비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AFA276-B6C4-4140-B407-9CD60018F525}"/>
              </a:ext>
            </a:extLst>
          </p:cNvPr>
          <p:cNvSpPr txBox="1"/>
          <p:nvPr/>
        </p:nvSpPr>
        <p:spPr>
          <a:xfrm>
            <a:off x="388042" y="1700808"/>
            <a:ext cx="2476726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400" b="1" dirty="0">
                <a:latin typeface="+mn-ea"/>
                <a:cs typeface="Malgun Gothic Semilight" panose="020B0502040204020203" pitchFamily="50" charset="-127"/>
              </a:rPr>
              <a:t>상품 분류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220808D-2731-47C7-8B2F-E748BCB9801D}"/>
              </a:ext>
            </a:extLst>
          </p:cNvPr>
          <p:cNvCxnSpPr>
            <a:cxnSpLocks/>
          </p:cNvCxnSpPr>
          <p:nvPr/>
        </p:nvCxnSpPr>
        <p:spPr>
          <a:xfrm>
            <a:off x="597879" y="2045612"/>
            <a:ext cx="2016974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9F3C40-97E2-4B14-AEC5-C477D12B5A0D}"/>
              </a:ext>
            </a:extLst>
          </p:cNvPr>
          <p:cNvSpPr txBox="1"/>
          <p:nvPr/>
        </p:nvSpPr>
        <p:spPr>
          <a:xfrm>
            <a:off x="3700410" y="1700808"/>
            <a:ext cx="2476726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400" b="1" dirty="0">
                <a:latin typeface="+mn-ea"/>
                <a:cs typeface="Malgun Gothic Semilight" panose="020B0502040204020203" pitchFamily="50" charset="-127"/>
              </a:rPr>
              <a:t>주요 기능 및 장점</a:t>
            </a: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4872D1C-1772-4BA0-BD5E-515B9094A05A}"/>
              </a:ext>
            </a:extLst>
          </p:cNvPr>
          <p:cNvCxnSpPr>
            <a:cxnSpLocks/>
          </p:cNvCxnSpPr>
          <p:nvPr/>
        </p:nvCxnSpPr>
        <p:spPr>
          <a:xfrm>
            <a:off x="3018373" y="2045612"/>
            <a:ext cx="397302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0F4E9F2-B080-489D-9760-3E2B09E01257}"/>
              </a:ext>
            </a:extLst>
          </p:cNvPr>
          <p:cNvSpPr txBox="1"/>
          <p:nvPr/>
        </p:nvSpPr>
        <p:spPr>
          <a:xfrm>
            <a:off x="7156794" y="1700808"/>
            <a:ext cx="2476726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400" b="1" dirty="0" err="1">
                <a:latin typeface="+mn-ea"/>
                <a:cs typeface="Malgun Gothic Semilight" panose="020B0502040204020203" pitchFamily="50" charset="-127"/>
              </a:rPr>
              <a:t>타겟시장</a:t>
            </a:r>
            <a:endParaRPr lang="ko-KR" altLang="en-US" sz="1400" b="1" dirty="0">
              <a:latin typeface="+mn-ea"/>
              <a:cs typeface="Malgun Gothic Semilight" panose="020B0502040204020203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201C0C0-CE61-40A1-8A37-4864B9040267}"/>
              </a:ext>
            </a:extLst>
          </p:cNvPr>
          <p:cNvCxnSpPr>
            <a:cxnSpLocks/>
          </p:cNvCxnSpPr>
          <p:nvPr/>
        </p:nvCxnSpPr>
        <p:spPr>
          <a:xfrm>
            <a:off x="7329264" y="2045612"/>
            <a:ext cx="205693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A919135-B02D-4B85-92A6-91E0F5488E1C}"/>
              </a:ext>
            </a:extLst>
          </p:cNvPr>
          <p:cNvSpPr txBox="1"/>
          <p:nvPr/>
        </p:nvSpPr>
        <p:spPr>
          <a:xfrm>
            <a:off x="3008784" y="2132856"/>
            <a:ext cx="373529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KT </a:t>
            </a:r>
            <a:r>
              <a:rPr lang="ko-KR" altLang="en-US" sz="1200" dirty="0">
                <a:latin typeface="+mn-ea"/>
              </a:rPr>
              <a:t>영상분석기술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플랫폼 </a:t>
            </a:r>
            <a:r>
              <a:rPr lang="en-US" altLang="ko-KR" sz="1200" dirty="0">
                <a:latin typeface="+mn-ea"/>
              </a:rPr>
              <a:t>+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KT</a:t>
            </a:r>
            <a:r>
              <a:rPr lang="ko-KR" altLang="en-US" sz="1200" dirty="0" err="1">
                <a:latin typeface="+mn-ea"/>
              </a:rPr>
              <a:t>텔레캅의</a:t>
            </a:r>
            <a:r>
              <a:rPr lang="ko-KR" altLang="en-US" sz="1200" dirty="0">
                <a:latin typeface="+mn-ea"/>
              </a:rPr>
              <a:t> 관제</a:t>
            </a:r>
            <a:r>
              <a:rPr lang="en-US" altLang="ko-KR" sz="1200" dirty="0">
                <a:latin typeface="+mn-ea"/>
              </a:rPr>
              <a:t>.</a:t>
            </a:r>
            <a:r>
              <a:rPr lang="ko-KR" altLang="en-US" sz="1200" dirty="0">
                <a:latin typeface="+mn-ea"/>
              </a:rPr>
              <a:t>출동 결합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F69165-5537-41CD-8FFC-1A255976BCA0}"/>
              </a:ext>
            </a:extLst>
          </p:cNvPr>
          <p:cNvSpPr txBox="1"/>
          <p:nvPr/>
        </p:nvSpPr>
        <p:spPr>
          <a:xfrm>
            <a:off x="3008784" y="3598609"/>
            <a:ext cx="209492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실시간 영상모니터링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저장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D929DD-766D-49B7-BFF2-5362D6297C02}"/>
              </a:ext>
            </a:extLst>
          </p:cNvPr>
          <p:cNvSpPr txBox="1"/>
          <p:nvPr/>
        </p:nvSpPr>
        <p:spPr>
          <a:xfrm>
            <a:off x="3008784" y="2445228"/>
            <a:ext cx="249142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실시간 위치정보기반 출동시스템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D4D6FE-EBB4-44C5-87A7-12128F0D9B45}"/>
              </a:ext>
            </a:extLst>
          </p:cNvPr>
          <p:cNvSpPr txBox="1"/>
          <p:nvPr/>
        </p:nvSpPr>
        <p:spPr>
          <a:xfrm>
            <a:off x="3008784" y="2852936"/>
            <a:ext cx="315393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카드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지문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얼굴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홍채 출입리더 서비스 제공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865A08-092A-4067-83BE-681FE31195EA}"/>
              </a:ext>
            </a:extLst>
          </p:cNvPr>
          <p:cNvSpPr txBox="1"/>
          <p:nvPr/>
        </p:nvSpPr>
        <p:spPr>
          <a:xfrm>
            <a:off x="7518774" y="3631941"/>
            <a:ext cx="179568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중소상공인을 타겟으로 한</a:t>
            </a:r>
            <a:endParaRPr lang="en-US" altLang="ko-KR" sz="1200" dirty="0">
              <a:latin typeface="+mn-ea"/>
            </a:endParaRPr>
          </a:p>
          <a:p>
            <a:pPr algn="ctr"/>
            <a:r>
              <a:rPr lang="ko-KR" altLang="en-US" sz="1200" dirty="0" err="1">
                <a:latin typeface="+mn-ea"/>
              </a:rPr>
              <a:t>무인매장</a:t>
            </a:r>
            <a:r>
              <a:rPr lang="ko-KR" altLang="en-US" sz="1200" dirty="0">
                <a:latin typeface="+mn-ea"/>
              </a:rPr>
              <a:t> 등에 집중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EE9FC6-6C58-4971-91A4-2C69F8C45244}"/>
              </a:ext>
            </a:extLst>
          </p:cNvPr>
          <p:cNvSpPr txBox="1"/>
          <p:nvPr/>
        </p:nvSpPr>
        <p:spPr>
          <a:xfrm>
            <a:off x="3008784" y="3284984"/>
            <a:ext cx="294313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기본 </a:t>
            </a:r>
            <a:r>
              <a:rPr lang="en-US" altLang="ko-KR" sz="1200" dirty="0">
                <a:latin typeface="+mn-ea"/>
              </a:rPr>
              <a:t>7</a:t>
            </a:r>
            <a:r>
              <a:rPr lang="ko-KR" altLang="en-US" sz="1200" dirty="0">
                <a:latin typeface="+mn-ea"/>
              </a:rPr>
              <a:t>종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특화</a:t>
            </a:r>
            <a:r>
              <a:rPr lang="en-US" altLang="ko-KR" sz="1200" dirty="0">
                <a:latin typeface="+mn-ea"/>
              </a:rPr>
              <a:t>16</a:t>
            </a:r>
            <a:r>
              <a:rPr lang="ko-KR" altLang="en-US" sz="1200" dirty="0">
                <a:latin typeface="+mn-ea"/>
              </a:rPr>
              <a:t>종 영상분석 기능 제공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2AF2B1-13DB-4288-930F-BFC07AFCE28B}"/>
              </a:ext>
            </a:extLst>
          </p:cNvPr>
          <p:cNvSpPr txBox="1"/>
          <p:nvPr/>
        </p:nvSpPr>
        <p:spPr>
          <a:xfrm>
            <a:off x="3018372" y="4300275"/>
            <a:ext cx="278801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IoT </a:t>
            </a:r>
            <a:r>
              <a:rPr lang="ko-KR" altLang="en-US" sz="1200" dirty="0">
                <a:latin typeface="+mn-ea"/>
              </a:rPr>
              <a:t>센서 연동 실시간 </a:t>
            </a:r>
            <a:r>
              <a:rPr lang="en-US" altLang="ko-KR" sz="1200" dirty="0">
                <a:latin typeface="+mn-ea"/>
              </a:rPr>
              <a:t>Push </a:t>
            </a:r>
            <a:r>
              <a:rPr lang="ko-KR" altLang="en-US" sz="1200" dirty="0">
                <a:latin typeface="+mn-ea"/>
              </a:rPr>
              <a:t>알람 제공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8DB809-E644-4437-9C73-26EB8436316E}"/>
              </a:ext>
            </a:extLst>
          </p:cNvPr>
          <p:cNvSpPr txBox="1"/>
          <p:nvPr/>
        </p:nvSpPr>
        <p:spPr>
          <a:xfrm>
            <a:off x="3018373" y="4610023"/>
            <a:ext cx="333963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타시스템과 출입통제 및 주차관제 시스템 연동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C47C9F-A23E-4C1B-8845-080700AA94F7}"/>
              </a:ext>
            </a:extLst>
          </p:cNvPr>
          <p:cNvSpPr txBox="1"/>
          <p:nvPr/>
        </p:nvSpPr>
        <p:spPr>
          <a:xfrm>
            <a:off x="3018372" y="4952201"/>
            <a:ext cx="274237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UI/UX </a:t>
            </a:r>
            <a:r>
              <a:rPr lang="ko-KR" altLang="en-US" sz="1200" dirty="0">
                <a:latin typeface="+mn-ea"/>
              </a:rPr>
              <a:t>변경 등 고객맞춤 서비스 제공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D44EF9D-5126-4395-B5CB-2675059D72E9}"/>
              </a:ext>
            </a:extLst>
          </p:cNvPr>
          <p:cNvSpPr txBox="1"/>
          <p:nvPr/>
        </p:nvSpPr>
        <p:spPr>
          <a:xfrm>
            <a:off x="3008784" y="5960313"/>
            <a:ext cx="190755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+mn-ea"/>
              </a:rPr>
              <a:t>CCTV </a:t>
            </a:r>
            <a:r>
              <a:rPr lang="ko-KR" altLang="en-US" sz="1200" dirty="0">
                <a:latin typeface="+mn-ea"/>
              </a:rPr>
              <a:t>구축 서비스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8BF434A-086E-48CE-BF2D-656A90CCD1C0}"/>
              </a:ext>
            </a:extLst>
          </p:cNvPr>
          <p:cNvSpPr txBox="1"/>
          <p:nvPr/>
        </p:nvSpPr>
        <p:spPr>
          <a:xfrm>
            <a:off x="3018373" y="3978894"/>
            <a:ext cx="378632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상주형 인력서비스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보안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안내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시설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미화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주차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 제공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2F4810-2170-4F54-9B37-A6F312BB34ED}"/>
              </a:ext>
            </a:extLst>
          </p:cNvPr>
          <p:cNvSpPr txBox="1"/>
          <p:nvPr/>
        </p:nvSpPr>
        <p:spPr>
          <a:xfrm>
            <a:off x="3008784" y="5661248"/>
            <a:ext cx="300249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+mn-ea"/>
              </a:rPr>
              <a:t>선일금고</a:t>
            </a:r>
            <a:r>
              <a:rPr lang="en-US" altLang="ko-KR" sz="1200" dirty="0">
                <a:latin typeface="+mn-ea"/>
              </a:rPr>
              <a:t>/CCTV/DVR/NVR </a:t>
            </a:r>
            <a:r>
              <a:rPr lang="ko-KR" altLang="en-US" sz="1200" dirty="0">
                <a:latin typeface="+mn-ea"/>
              </a:rPr>
              <a:t>판매 및 설치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BF5F54-6D23-4B0C-A73A-6B1C9D019928}"/>
              </a:ext>
            </a:extLst>
          </p:cNvPr>
          <p:cNvSpPr txBox="1"/>
          <p:nvPr/>
        </p:nvSpPr>
        <p:spPr>
          <a:xfrm>
            <a:off x="591542" y="5312241"/>
            <a:ext cx="125707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보안솔루션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주차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690E8CFB-5A86-4688-B1DC-4F0685C6D918}"/>
              </a:ext>
            </a:extLst>
          </p:cNvPr>
          <p:cNvCxnSpPr>
            <a:cxnSpLocks/>
          </p:cNvCxnSpPr>
          <p:nvPr/>
        </p:nvCxnSpPr>
        <p:spPr>
          <a:xfrm>
            <a:off x="655790" y="2780928"/>
            <a:ext cx="6342465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BEBF394B-91F3-46AB-9C36-A40D28E10E0D}"/>
              </a:ext>
            </a:extLst>
          </p:cNvPr>
          <p:cNvCxnSpPr>
            <a:cxnSpLocks/>
          </p:cNvCxnSpPr>
          <p:nvPr/>
        </p:nvCxnSpPr>
        <p:spPr>
          <a:xfrm>
            <a:off x="655790" y="3212976"/>
            <a:ext cx="6342465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A4B09600-2C04-4D49-B02B-30B97A73CD72}"/>
              </a:ext>
            </a:extLst>
          </p:cNvPr>
          <p:cNvCxnSpPr>
            <a:cxnSpLocks/>
          </p:cNvCxnSpPr>
          <p:nvPr/>
        </p:nvCxnSpPr>
        <p:spPr>
          <a:xfrm>
            <a:off x="655790" y="3875608"/>
            <a:ext cx="6342465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D17438E-5684-4239-90D1-32456C3D9AA1}"/>
              </a:ext>
            </a:extLst>
          </p:cNvPr>
          <p:cNvCxnSpPr>
            <a:cxnSpLocks/>
          </p:cNvCxnSpPr>
          <p:nvPr/>
        </p:nvCxnSpPr>
        <p:spPr>
          <a:xfrm>
            <a:off x="655790" y="5229200"/>
            <a:ext cx="6342465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846E3A3-436C-4A31-8BA5-67E3B38FCC3B}"/>
              </a:ext>
            </a:extLst>
          </p:cNvPr>
          <p:cNvCxnSpPr>
            <a:cxnSpLocks/>
          </p:cNvCxnSpPr>
          <p:nvPr/>
        </p:nvCxnSpPr>
        <p:spPr>
          <a:xfrm>
            <a:off x="655790" y="5625338"/>
            <a:ext cx="6342465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43346DF0-DB49-4606-8307-2C88DB28B610}"/>
              </a:ext>
            </a:extLst>
          </p:cNvPr>
          <p:cNvSpPr/>
          <p:nvPr/>
        </p:nvSpPr>
        <p:spPr>
          <a:xfrm>
            <a:off x="6847383" y="2132856"/>
            <a:ext cx="344645" cy="3947202"/>
          </a:xfrm>
          <a:prstGeom prst="rightBrace">
            <a:avLst>
              <a:gd name="adj1" fmla="val 8333"/>
              <a:gd name="adj2" fmla="val 43007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F30FBA3-9E2C-4049-8314-8F73BEBB7B84}"/>
              </a:ext>
            </a:extLst>
          </p:cNvPr>
          <p:cNvSpPr/>
          <p:nvPr/>
        </p:nvSpPr>
        <p:spPr>
          <a:xfrm>
            <a:off x="7460724" y="5098395"/>
            <a:ext cx="1765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[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물리보안업체별 주요 타겟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]</a:t>
            </a:r>
            <a:endParaRPr lang="ko-KR" altLang="en-US" sz="11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CC476AE-207E-4F60-87AF-238AE123CD7B}"/>
              </a:ext>
            </a:extLst>
          </p:cNvPr>
          <p:cNvSpPr/>
          <p:nvPr/>
        </p:nvSpPr>
        <p:spPr>
          <a:xfrm>
            <a:off x="7487627" y="5312241"/>
            <a:ext cx="2337499" cy="575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에스원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중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.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대형사업장에 강점 보유</a:t>
            </a:r>
            <a:endParaRPr lang="en-US" altLang="ko-KR" sz="1100" dirty="0">
              <a:solidFill>
                <a:schemeClr val="tx1">
                  <a:lumMod val="95000"/>
                  <a:lumOff val="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SK</a:t>
            </a:r>
            <a:r>
              <a:rPr lang="ko-KR" altLang="en-US"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쉴더스</a:t>
            </a:r>
            <a:r>
              <a:rPr lang="en-US" altLang="ko-KR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사이버보안분야에 특화</a:t>
            </a:r>
          </a:p>
        </p:txBody>
      </p:sp>
    </p:spTree>
    <p:extLst>
      <p:ext uri="{BB962C8B-B14F-4D97-AF65-F5344CB8AC3E}">
        <p14:creationId xmlns:p14="http://schemas.microsoft.com/office/powerpoint/2010/main" val="337950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8FA48738-3F03-4EA3-B8DB-11948DC30426}"/>
              </a:ext>
            </a:extLst>
          </p:cNvPr>
          <p:cNvSpPr txBox="1"/>
          <p:nvPr/>
        </p:nvSpPr>
        <p:spPr>
          <a:xfrm>
            <a:off x="128464" y="116632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  <a:cs typeface="Arial" panose="020B0604020202020204" pitchFamily="34" charset="0"/>
              </a:rPr>
              <a:t>2.  </a:t>
            </a:r>
            <a:r>
              <a:rPr lang="ko-KR" altLang="en-US" b="1" dirty="0">
                <a:latin typeface="+mn-ea"/>
                <a:cs typeface="Arial" panose="020B0604020202020204" pitchFamily="34" charset="0"/>
              </a:rPr>
              <a:t>시너지 효과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93CBB56-1B5E-4BBE-983D-D9C1EFF251EE}"/>
              </a:ext>
            </a:extLst>
          </p:cNvPr>
          <p:cNvCxnSpPr>
            <a:cxnSpLocks/>
          </p:cNvCxnSpPr>
          <p:nvPr/>
        </p:nvCxnSpPr>
        <p:spPr>
          <a:xfrm>
            <a:off x="235756" y="485964"/>
            <a:ext cx="318021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4561FA-5785-4D52-8BC4-9C8B63BD9C9A}"/>
              </a:ext>
            </a:extLst>
          </p:cNvPr>
          <p:cNvSpPr txBox="1"/>
          <p:nvPr/>
        </p:nvSpPr>
        <p:spPr>
          <a:xfrm>
            <a:off x="531362" y="1915966"/>
            <a:ext cx="4536504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lnSpc>
                <a:spcPct val="200000"/>
              </a:lnSpc>
            </a:pPr>
            <a:r>
              <a:rPr lang="ko-KR" altLang="en-US" dirty="0"/>
              <a:t>출입관리 </a:t>
            </a:r>
            <a:r>
              <a:rPr lang="ko-KR" altLang="en-US" dirty="0" err="1"/>
              <a:t>부터</a:t>
            </a:r>
            <a:r>
              <a:rPr lang="ko-KR" altLang="en-US" dirty="0"/>
              <a:t> 설비점검</a:t>
            </a:r>
            <a:r>
              <a:rPr lang="en-US" altLang="ko-KR" dirty="0"/>
              <a:t>, </a:t>
            </a:r>
            <a:r>
              <a:rPr lang="ko-KR" altLang="en-US" dirty="0"/>
              <a:t>에너지모니터링까지 서비스 선택의 폭 향상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10BA1A-9D5C-4337-ACDF-BCDE1D02585D}"/>
              </a:ext>
            </a:extLst>
          </p:cNvPr>
          <p:cNvSpPr txBox="1"/>
          <p:nvPr/>
        </p:nvSpPr>
        <p:spPr>
          <a:xfrm>
            <a:off x="5511926" y="2004772"/>
            <a:ext cx="4337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dirty="0"/>
              <a:t>중소형 건축물</a:t>
            </a:r>
            <a:r>
              <a:rPr lang="en-US" altLang="ko-KR" sz="1200" dirty="0"/>
              <a:t>, </a:t>
            </a:r>
            <a:r>
              <a:rPr lang="ko-KR" altLang="en-US" sz="1200" dirty="0"/>
              <a:t>임차 매장 등의 경우</a:t>
            </a:r>
            <a:r>
              <a:rPr lang="en-US" altLang="ko-KR" sz="1200" dirty="0"/>
              <a:t>,</a:t>
            </a:r>
            <a:r>
              <a:rPr lang="ko-KR" altLang="en-US" sz="1200" dirty="0"/>
              <a:t> 구매 의사 결정권자에 대한 </a:t>
            </a:r>
            <a:br>
              <a:rPr lang="en-US" altLang="ko-KR" sz="1200" dirty="0"/>
            </a:br>
            <a:r>
              <a:rPr lang="ko-KR" altLang="en-US" sz="1200" dirty="0"/>
              <a:t>개인정보 파악이 어렵고 매장당 기대 매출액이 적기 때문에</a:t>
            </a:r>
            <a:br>
              <a:rPr lang="en-US" altLang="ko-KR" sz="1200" dirty="0"/>
            </a:br>
            <a:r>
              <a:rPr lang="ko-KR" altLang="en-US" sz="1200" dirty="0" err="1"/>
              <a:t>인바운드</a:t>
            </a:r>
            <a:r>
              <a:rPr lang="ko-KR" altLang="en-US" sz="1200" dirty="0"/>
              <a:t> 마케팅이 적합 </a:t>
            </a:r>
            <a:endParaRPr lang="en-US" altLang="ko-KR" sz="12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289FA1C-1CF9-4D3B-B2CB-CE31640B8CAC}"/>
              </a:ext>
            </a:extLst>
          </p:cNvPr>
          <p:cNvGrpSpPr/>
          <p:nvPr/>
        </p:nvGrpSpPr>
        <p:grpSpPr>
          <a:xfrm>
            <a:off x="848544" y="3316780"/>
            <a:ext cx="3689546" cy="2747320"/>
            <a:chOff x="848544" y="1545777"/>
            <a:chExt cx="3689546" cy="2747320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B83614C-8C93-4B18-B42E-0621C13914B9}"/>
                </a:ext>
              </a:extLst>
            </p:cNvPr>
            <p:cNvSpPr/>
            <p:nvPr/>
          </p:nvSpPr>
          <p:spPr>
            <a:xfrm>
              <a:off x="1802989" y="2705776"/>
              <a:ext cx="1493827" cy="1493827"/>
            </a:xfrm>
            <a:prstGeom prst="ellipse">
              <a:avLst/>
            </a:prstGeom>
            <a:solidFill>
              <a:schemeClr val="bg1">
                <a:lumMod val="75000"/>
                <a:alpha val="7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8C545D1-5953-4168-8A39-6E88ADC82C51}"/>
                </a:ext>
              </a:extLst>
            </p:cNvPr>
            <p:cNvSpPr/>
            <p:nvPr/>
          </p:nvSpPr>
          <p:spPr>
            <a:xfrm>
              <a:off x="1125269" y="1776958"/>
              <a:ext cx="1493827" cy="1493827"/>
            </a:xfrm>
            <a:prstGeom prst="ellipse">
              <a:avLst/>
            </a:prstGeom>
            <a:solidFill>
              <a:schemeClr val="bg1">
                <a:lumMod val="85000"/>
                <a:alpha val="7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D0BE8DC-FF5F-413F-8B17-128874ED6AF2}"/>
                </a:ext>
              </a:extLst>
            </p:cNvPr>
            <p:cNvSpPr/>
            <p:nvPr/>
          </p:nvSpPr>
          <p:spPr>
            <a:xfrm>
              <a:off x="2554845" y="1767269"/>
              <a:ext cx="1493827" cy="1493827"/>
            </a:xfrm>
            <a:prstGeom prst="ellipse">
              <a:avLst/>
            </a:prstGeom>
            <a:solidFill>
              <a:schemeClr val="bg1">
                <a:lumMod val="75000"/>
                <a:alpha val="7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4D7BE5F-3C9F-4428-8BE6-5752EC11B8C7}"/>
                </a:ext>
              </a:extLst>
            </p:cNvPr>
            <p:cNvSpPr/>
            <p:nvPr/>
          </p:nvSpPr>
          <p:spPr>
            <a:xfrm>
              <a:off x="1235949" y="2088123"/>
              <a:ext cx="1205779" cy="824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출입통제시스템</a:t>
              </a:r>
              <a:endPara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  <a:sym typeface="Wingdings" panose="05000000000000000000" pitchFamily="2" charset="2"/>
              </a:endParaRPr>
            </a:p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영상보안</a:t>
              </a:r>
              <a:endPara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  <a:sym typeface="Wingdings" panose="05000000000000000000" pitchFamily="2" charset="2"/>
              </a:endParaRPr>
            </a:p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출동서비스</a:t>
              </a:r>
              <a:endPara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5865384-AC3C-467B-9986-649B64A2453A}"/>
                </a:ext>
              </a:extLst>
            </p:cNvPr>
            <p:cNvSpPr/>
            <p:nvPr/>
          </p:nvSpPr>
          <p:spPr>
            <a:xfrm>
              <a:off x="2648744" y="2107693"/>
              <a:ext cx="1564852" cy="824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순회 청소</a:t>
              </a:r>
              <a:r>
                <a:rPr lang="en-US" altLang="ko-KR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진열</a:t>
              </a:r>
              <a:r>
                <a:rPr lang="en-US" altLang="ko-KR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정리</a:t>
              </a:r>
              <a:endPara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  <a:sym typeface="Wingdings" panose="05000000000000000000" pitchFamily="2" charset="2"/>
              </a:endParaRPr>
            </a:p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설비 점검</a:t>
              </a:r>
              <a:r>
                <a:rPr lang="en-US" altLang="ko-KR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/</a:t>
              </a: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유지관리</a:t>
              </a:r>
              <a:endParaRPr lang="en-US" altLang="ko-KR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  <a:sym typeface="Wingdings" panose="05000000000000000000" pitchFamily="2" charset="2"/>
              </a:endParaRPr>
            </a:p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에너지 모니터링</a:t>
              </a:r>
              <a:r>
                <a:rPr lang="en-US" altLang="ko-KR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/</a:t>
              </a:r>
              <a:r>
                <a:rPr lang="ko-KR" altLang="en-US" sz="11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제어</a:t>
              </a:r>
              <a:endParaRPr lang="ko-KR" altLang="en-US" sz="11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7C67997-F844-497F-9375-AC418A0664D9}"/>
                </a:ext>
              </a:extLst>
            </p:cNvPr>
            <p:cNvSpPr/>
            <p:nvPr/>
          </p:nvSpPr>
          <p:spPr>
            <a:xfrm>
              <a:off x="2026309" y="3245443"/>
              <a:ext cx="1112805" cy="8244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스퀘어" panose="020B0600000101010101" pitchFamily="50" charset="-127"/>
                  <a:ea typeface="나눔스퀘어" panose="020B0600000101010101" pitchFamily="50" charset="-127"/>
                  <a:sym typeface="Wingdings" panose="05000000000000000000" pitchFamily="2" charset="2"/>
                </a:rPr>
                <a:t>임대차 중개</a:t>
              </a:r>
              <a:endPara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endParaRPr>
            </a:p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스퀘어" panose="020B0600000101010101" pitchFamily="50" charset="-127"/>
                  <a:ea typeface="나눔스퀘어" panose="020B0600000101010101" pitchFamily="50" charset="-127"/>
                  <a:sym typeface="Wingdings" panose="05000000000000000000" pitchFamily="2" charset="2"/>
                </a:rPr>
                <a:t>세무신고 대행</a:t>
              </a:r>
              <a:endPara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endParaRPr>
            </a:p>
            <a:p>
              <a:pPr marL="88900" indent="-88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스퀘어" panose="020B0600000101010101" pitchFamily="50" charset="-127"/>
                  <a:ea typeface="나눔스퀘어" panose="020B0600000101010101" pitchFamily="50" charset="-127"/>
                  <a:sym typeface="Wingdings" panose="05000000000000000000" pitchFamily="2" charset="2"/>
                </a:rPr>
                <a:t>키오스크 대여</a:t>
              </a:r>
              <a:endPara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5A09A4C-DDA5-4F4C-974D-431BDC75C7E8}"/>
                </a:ext>
              </a:extLst>
            </p:cNvPr>
            <p:cNvSpPr/>
            <p:nvPr/>
          </p:nvSpPr>
          <p:spPr>
            <a:xfrm>
              <a:off x="1591302" y="1788993"/>
              <a:ext cx="527709" cy="316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u="sng" spc="300" dirty="0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보안</a:t>
              </a:r>
              <a:endParaRPr lang="ko-KR" altLang="en-US" sz="1100" u="sng" spc="3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5A7C4FB-FC6F-4D36-AFE9-5E6CC38950A6}"/>
                </a:ext>
              </a:extLst>
            </p:cNvPr>
            <p:cNvSpPr/>
            <p:nvPr/>
          </p:nvSpPr>
          <p:spPr>
            <a:xfrm>
              <a:off x="2183175" y="2978989"/>
              <a:ext cx="63991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100" u="sng" spc="-150" dirty="0" err="1">
                  <a:latin typeface="나눔고딕 ExtraBold" panose="020D0904000000000000" pitchFamily="50" charset="-127"/>
                  <a:ea typeface="나눔고딕 ExtraBold" panose="020D0904000000000000" pitchFamily="50" charset="-127"/>
                  <a:sym typeface="Wingdings" panose="05000000000000000000" pitchFamily="2" charset="2"/>
                </a:rPr>
                <a:t>프롭테크</a:t>
              </a:r>
              <a:endParaRPr lang="en-US" altLang="ko-KR" sz="1100" u="sng" spc="-150" dirty="0">
                <a:latin typeface="나눔고딕 ExtraBold" panose="020D0904000000000000" pitchFamily="50" charset="-127"/>
                <a:ea typeface="나눔고딕 ExtraBold" panose="020D0904000000000000" pitchFamily="50" charset="-127"/>
                <a:sym typeface="Wingdings" panose="05000000000000000000" pitchFamily="2" charset="2"/>
              </a:endParaRP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B41D7F2-E25B-4F71-A7F1-F3ED16341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0073" y="1888277"/>
              <a:ext cx="635421" cy="21734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5A55291-1D2F-46E8-A9B5-34EA0255E4C8}"/>
                </a:ext>
              </a:extLst>
            </p:cNvPr>
            <p:cNvSpPr/>
            <p:nvPr/>
          </p:nvSpPr>
          <p:spPr>
            <a:xfrm>
              <a:off x="848544" y="1545777"/>
              <a:ext cx="3689546" cy="274732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51FC76F-890B-429E-BB2D-A90C60FC5345}"/>
              </a:ext>
            </a:extLst>
          </p:cNvPr>
          <p:cNvSpPr txBox="1"/>
          <p:nvPr/>
        </p:nvSpPr>
        <p:spPr>
          <a:xfrm>
            <a:off x="488504" y="1611720"/>
            <a:ext cx="4104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나눔스퀘어" panose="020B0600000101010101" pitchFamily="50" charset="-127"/>
              <a:buChar char="■"/>
            </a:pPr>
            <a:r>
              <a:rPr lang="ko-KR" altLang="en-US" sz="1200" dirty="0"/>
              <a:t>고객 만족도 향상</a:t>
            </a:r>
            <a:endParaRPr lang="en-US" altLang="ko-KR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68A7EF-C303-41F8-BD61-34724FF630D2}"/>
              </a:ext>
            </a:extLst>
          </p:cNvPr>
          <p:cNvSpPr/>
          <p:nvPr/>
        </p:nvSpPr>
        <p:spPr>
          <a:xfrm>
            <a:off x="5724355" y="2817596"/>
            <a:ext cx="3939248" cy="2281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①  타겟 고객의 </a:t>
            </a:r>
            <a:r>
              <a:rPr lang="ko-KR" altLang="en-US" sz="1200" dirty="0" err="1"/>
              <a:t>인바운드</a:t>
            </a:r>
            <a:r>
              <a:rPr lang="ko-KR" altLang="en-US" sz="1200" dirty="0"/>
              <a:t> 콜을 유도하기 위한</a:t>
            </a:r>
            <a:br>
              <a:rPr lang="en-US" altLang="ko-KR" sz="1200" dirty="0"/>
            </a:br>
            <a:r>
              <a:rPr lang="en-US" altLang="ko-KR" sz="1200" dirty="0"/>
              <a:t>     </a:t>
            </a:r>
            <a:r>
              <a:rPr lang="ko-KR" altLang="en-US" sz="1200" dirty="0"/>
              <a:t> </a:t>
            </a:r>
            <a:r>
              <a:rPr lang="ko-KR" altLang="en-US" sz="1200" b="1" u="sng" dirty="0"/>
              <a:t>핵심 상품</a:t>
            </a:r>
            <a:r>
              <a:rPr lang="en-US" altLang="ko-KR" sz="1200" b="1" u="sng" dirty="0"/>
              <a:t>(</a:t>
            </a:r>
            <a:r>
              <a:rPr lang="ko-KR" altLang="en-US" sz="1200" b="1" u="sng" dirty="0"/>
              <a:t>출입시스템</a:t>
            </a:r>
            <a:r>
              <a:rPr lang="en-US" altLang="ko-KR" sz="1200" b="1" u="sng" dirty="0"/>
              <a:t>, CCTV </a:t>
            </a:r>
            <a:r>
              <a:rPr lang="ko-KR" altLang="en-US" sz="1200" b="1" u="sng" dirty="0"/>
              <a:t>등</a:t>
            </a:r>
            <a:r>
              <a:rPr lang="en-US" altLang="ko-KR" sz="1200" b="1" u="sng" dirty="0"/>
              <a:t>)</a:t>
            </a:r>
            <a:r>
              <a:rPr lang="ko-KR" altLang="en-US" sz="1200" b="1" u="sng" dirty="0"/>
              <a:t>의 </a:t>
            </a:r>
            <a:r>
              <a:rPr lang="en-US" altLang="ko-KR" sz="1200" b="1" u="sng" dirty="0"/>
              <a:t>Needs </a:t>
            </a:r>
            <a:r>
              <a:rPr lang="ko-KR" altLang="en-US" sz="1200" b="1" u="sng" dirty="0"/>
              <a:t>부합</a:t>
            </a:r>
            <a:endParaRPr lang="en-US" altLang="ko-KR" sz="1200" b="1" u="sng" dirty="0"/>
          </a:p>
          <a:p>
            <a:pPr>
              <a:lnSpc>
                <a:spcPct val="150000"/>
              </a:lnSpc>
            </a:pPr>
            <a:endParaRPr lang="ko-KR" altLang="en-US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②  </a:t>
            </a:r>
            <a:r>
              <a:rPr lang="ko-KR" altLang="en-US" sz="1200" b="1" u="sng" dirty="0"/>
              <a:t>보안 업체의 보유 고객</a:t>
            </a:r>
            <a:r>
              <a:rPr lang="ko-KR" altLang="en-US" sz="1200" dirty="0"/>
              <a:t>을 대상으로 결합 서비스 뿐만 </a:t>
            </a:r>
            <a:br>
              <a:rPr lang="en-US" altLang="ko-KR" sz="1200" dirty="0"/>
            </a:br>
            <a:r>
              <a:rPr lang="en-US" altLang="ko-KR" sz="1200" dirty="0"/>
              <a:t>     </a:t>
            </a:r>
            <a:r>
              <a:rPr lang="ko-KR" altLang="en-US" sz="1200" dirty="0"/>
              <a:t>아니라 추후 출시될 </a:t>
            </a:r>
            <a:r>
              <a:rPr lang="ko-KR" altLang="en-US" sz="1200" dirty="0" err="1"/>
              <a:t>프롭테크</a:t>
            </a:r>
            <a:r>
              <a:rPr lang="ko-KR" altLang="en-US" sz="1200" dirty="0"/>
              <a:t> 서비스 홍보 접점 마련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br>
              <a:rPr lang="en-US" altLang="ko-KR" sz="1200" dirty="0"/>
            </a:br>
            <a:r>
              <a:rPr lang="ko-KR" altLang="en-US" sz="1200" dirty="0"/>
              <a:t>③  볼륨파워를 바탕으로 신용카드사 및 통신사와의 </a:t>
            </a:r>
            <a:br>
              <a:rPr lang="en-US" altLang="ko-KR" sz="1200" dirty="0"/>
            </a:br>
            <a:r>
              <a:rPr lang="en-US" altLang="ko-KR" sz="1200" dirty="0"/>
              <a:t>     </a:t>
            </a:r>
            <a:r>
              <a:rPr lang="ko-KR" altLang="en-US" sz="1200" dirty="0"/>
              <a:t>할인 프로모션 등 </a:t>
            </a:r>
            <a:r>
              <a:rPr lang="ko-KR" altLang="en-US" sz="1200" b="1" u="sng" dirty="0"/>
              <a:t>고객 유입</a:t>
            </a:r>
            <a:r>
              <a:rPr lang="en-US" altLang="ko-KR" sz="1200" b="1" u="sng" dirty="0"/>
              <a:t> </a:t>
            </a:r>
            <a:r>
              <a:rPr lang="ko-KR" altLang="en-US" sz="1200" b="1" u="sng" dirty="0"/>
              <a:t>마케팅 강화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C632F19-396B-4197-95D9-A3A53B7760C6}"/>
              </a:ext>
            </a:extLst>
          </p:cNvPr>
          <p:cNvCxnSpPr>
            <a:cxnSpLocks/>
          </p:cNvCxnSpPr>
          <p:nvPr/>
        </p:nvCxnSpPr>
        <p:spPr>
          <a:xfrm>
            <a:off x="5186162" y="1750220"/>
            <a:ext cx="54870" cy="448709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2C7CAE8-030B-475B-A0EF-0DC7DE7A2C95}"/>
              </a:ext>
            </a:extLst>
          </p:cNvPr>
          <p:cNvSpPr txBox="1"/>
          <p:nvPr/>
        </p:nvSpPr>
        <p:spPr>
          <a:xfrm>
            <a:off x="4769296" y="6453336"/>
            <a:ext cx="367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-2-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7A2401-24D3-411A-8917-EA2A50805A2D}"/>
              </a:ext>
            </a:extLst>
          </p:cNvPr>
          <p:cNvSpPr txBox="1"/>
          <p:nvPr/>
        </p:nvSpPr>
        <p:spPr>
          <a:xfrm>
            <a:off x="5385048" y="1611720"/>
            <a:ext cx="2448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나눔스퀘어" panose="020B0600000101010101" pitchFamily="50" charset="-127"/>
              <a:buChar char="■"/>
            </a:pPr>
            <a:r>
              <a:rPr lang="en-US" altLang="ko-KR" sz="1200" dirty="0"/>
              <a:t>B2BC </a:t>
            </a:r>
            <a:r>
              <a:rPr lang="ko-KR" altLang="en-US" sz="1200" dirty="0"/>
              <a:t>마케팅 경쟁력 향상</a:t>
            </a:r>
            <a:endParaRPr lang="en-US" altLang="ko-KR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B58239-B9D0-41B9-96E7-09B0E3CBF804}"/>
              </a:ext>
            </a:extLst>
          </p:cNvPr>
          <p:cNvSpPr txBox="1"/>
          <p:nvPr/>
        </p:nvSpPr>
        <p:spPr>
          <a:xfrm>
            <a:off x="531362" y="2276872"/>
            <a:ext cx="4536504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lnSpc>
                <a:spcPct val="200000"/>
              </a:lnSpc>
            </a:pPr>
            <a:r>
              <a:rPr lang="ko-KR" altLang="en-US" dirty="0"/>
              <a:t>영상확인을 통한 </a:t>
            </a:r>
            <a:r>
              <a:rPr lang="ko-KR" altLang="en-US" dirty="0" err="1"/>
              <a:t>오경보</a:t>
            </a:r>
            <a:r>
              <a:rPr lang="en-US" altLang="ko-KR" dirty="0"/>
              <a:t>, </a:t>
            </a:r>
            <a:r>
              <a:rPr lang="ko-KR" altLang="en-US" dirty="0" err="1"/>
              <a:t>오출동</a:t>
            </a:r>
            <a:r>
              <a:rPr lang="ko-KR" altLang="en-US" dirty="0"/>
              <a:t> 최소화로 고객 불만족 감소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A3D246-BBA9-42AD-9D4E-7D32B2344882}"/>
              </a:ext>
            </a:extLst>
          </p:cNvPr>
          <p:cNvSpPr txBox="1"/>
          <p:nvPr/>
        </p:nvSpPr>
        <p:spPr>
          <a:xfrm>
            <a:off x="531362" y="2656988"/>
            <a:ext cx="4536504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lnSpc>
                <a:spcPct val="200000"/>
              </a:lnSpc>
            </a:pPr>
            <a:r>
              <a:rPr lang="ko-KR" altLang="en-US" dirty="0"/>
              <a:t>허가된 보안업의 신뢰로 개인정보유출 및</a:t>
            </a:r>
            <a:r>
              <a:rPr lang="en-US" altLang="ko-KR" dirty="0"/>
              <a:t> IoT </a:t>
            </a:r>
            <a:r>
              <a:rPr lang="ko-KR" altLang="en-US" dirty="0"/>
              <a:t>기기사용불안 해소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0C2779-82B4-44EA-9CD3-A82D89894569}"/>
              </a:ext>
            </a:extLst>
          </p:cNvPr>
          <p:cNvSpPr txBox="1"/>
          <p:nvPr/>
        </p:nvSpPr>
        <p:spPr>
          <a:xfrm>
            <a:off x="344488" y="777938"/>
            <a:ext cx="9238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spcBef>
                <a:spcPts val="600"/>
              </a:spcBef>
              <a:defRPr sz="1600" b="1">
                <a:latin typeface="+mn-ea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건물관리 및 보안 서비스에 대한 고객 선택의 폭을 넓혀줄 수 있을 뿐만 아니라 </a:t>
            </a:r>
            <a:r>
              <a:rPr lang="en-US" altLang="ko-KR" dirty="0"/>
              <a:t>B2BC </a:t>
            </a:r>
            <a:r>
              <a:rPr lang="ko-KR" altLang="en-US" dirty="0"/>
              <a:t>마케팅에 취약점을 보완하여 사업을 전개 속도를 향상할 수 있는 시너지를 제공합니다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5332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7">
            <a:extLst>
              <a:ext uri="{FF2B5EF4-FFF2-40B4-BE49-F238E27FC236}">
                <a16:creationId xmlns:a16="http://schemas.microsoft.com/office/drawing/2014/main" id="{CBA5BEE1-3EB4-4D60-91D5-EA639D8ABCF4}"/>
              </a:ext>
            </a:extLst>
          </p:cNvPr>
          <p:cNvSpPr txBox="1"/>
          <p:nvPr/>
        </p:nvSpPr>
        <p:spPr>
          <a:xfrm>
            <a:off x="388543" y="920794"/>
            <a:ext cx="2476726" cy="389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b="1" dirty="0">
                <a:latin typeface="+mn-ea"/>
                <a:cs typeface="Malgun Gothic Semilight" panose="020B0502040204020203" pitchFamily="50" charset="-127"/>
              </a:rPr>
              <a:t>매장형 상품 기획</a:t>
            </a:r>
            <a:endParaRPr lang="ko-KR" altLang="en-US" sz="1400" b="1" dirty="0">
              <a:latin typeface="+mn-ea"/>
              <a:cs typeface="Malgun Gothic Semilight" panose="020B0502040204020203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0201094-96F3-4ACD-B93F-7B7318AB8980}"/>
              </a:ext>
            </a:extLst>
          </p:cNvPr>
          <p:cNvSpPr txBox="1"/>
          <p:nvPr/>
        </p:nvSpPr>
        <p:spPr>
          <a:xfrm>
            <a:off x="128464" y="116632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  <a:cs typeface="Arial" panose="020B0604020202020204" pitchFamily="34" charset="0"/>
              </a:rPr>
              <a:t>3.  </a:t>
            </a:r>
            <a:r>
              <a:rPr lang="ko-KR" altLang="en-US" b="1" dirty="0">
                <a:latin typeface="+mn-ea"/>
                <a:cs typeface="Arial" panose="020B0604020202020204" pitchFamily="34" charset="0"/>
              </a:rPr>
              <a:t>시너지 예시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45878F5A-3018-44AD-ADCE-6D5EEB291FAF}"/>
              </a:ext>
            </a:extLst>
          </p:cNvPr>
          <p:cNvCxnSpPr>
            <a:cxnSpLocks/>
          </p:cNvCxnSpPr>
          <p:nvPr/>
        </p:nvCxnSpPr>
        <p:spPr>
          <a:xfrm>
            <a:off x="235756" y="485964"/>
            <a:ext cx="318021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66D6650-46F8-4314-B4CD-2E78250DC754}"/>
              </a:ext>
            </a:extLst>
          </p:cNvPr>
          <p:cNvSpPr txBox="1"/>
          <p:nvPr/>
        </p:nvSpPr>
        <p:spPr>
          <a:xfrm>
            <a:off x="1455370" y="1620952"/>
            <a:ext cx="8250158" cy="896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 marL="180975" indent="-180975">
              <a:lnSpc>
                <a:spcPct val="150000"/>
              </a:lnSpc>
            </a:pPr>
            <a:r>
              <a:rPr lang="ko-KR" altLang="en-US" dirty="0"/>
              <a:t>조기 퇴직한 </a:t>
            </a:r>
            <a:r>
              <a:rPr lang="en-US" altLang="ko-KR" dirty="0"/>
              <a:t>50</a:t>
            </a:r>
            <a:r>
              <a:rPr lang="ko-KR" altLang="en-US" dirty="0"/>
              <a:t>대 남성이 생계를 위하여 퇴직금으로 프랜차이즈 편의점을 개업</a:t>
            </a:r>
            <a:endParaRPr lang="en-US" altLang="ko-KR" dirty="0"/>
          </a:p>
          <a:p>
            <a:pPr marL="180975" indent="-180975">
              <a:lnSpc>
                <a:spcPct val="150000"/>
              </a:lnSpc>
            </a:pPr>
            <a:r>
              <a:rPr lang="ko-KR" altLang="en-US" dirty="0"/>
              <a:t>가족은 부인과 두 아들을 두었으며</a:t>
            </a:r>
            <a:r>
              <a:rPr lang="en-US" altLang="ko-KR" dirty="0"/>
              <a:t>, </a:t>
            </a:r>
            <a:r>
              <a:rPr lang="ko-KR" altLang="en-US" dirty="0"/>
              <a:t>첫째는 직장생활 중이고</a:t>
            </a:r>
            <a:r>
              <a:rPr lang="en-US" altLang="ko-KR" dirty="0"/>
              <a:t>, </a:t>
            </a:r>
            <a:r>
              <a:rPr lang="ko-KR" altLang="en-US" dirty="0"/>
              <a:t>둘째는 군입대를 하여 편의점은 부부와 파트타임직원 </a:t>
            </a:r>
            <a:r>
              <a:rPr lang="en-US" altLang="ko-KR" dirty="0"/>
              <a:t>1</a:t>
            </a:r>
            <a:r>
              <a:rPr lang="ko-KR" altLang="en-US" dirty="0"/>
              <a:t>명이 </a:t>
            </a:r>
            <a:r>
              <a:rPr lang="en-US" altLang="ko-KR" dirty="0"/>
              <a:t>8</a:t>
            </a:r>
            <a:r>
              <a:rPr lang="ko-KR" altLang="en-US" dirty="0"/>
              <a:t>시간씩 교대로 운영 중임</a:t>
            </a:r>
            <a:endParaRPr lang="en-US" altLang="ko-KR" dirty="0"/>
          </a:p>
        </p:txBody>
      </p:sp>
      <p:sp>
        <p:nvSpPr>
          <p:cNvPr id="83" name="모서리가 둥근 직사각형 24">
            <a:extLst>
              <a:ext uri="{FF2B5EF4-FFF2-40B4-BE49-F238E27FC236}">
                <a16:creationId xmlns:a16="http://schemas.microsoft.com/office/drawing/2014/main" id="{3FA2AE0D-8352-4EAC-861B-859D82A7454A}"/>
              </a:ext>
            </a:extLst>
          </p:cNvPr>
          <p:cNvSpPr/>
          <p:nvPr/>
        </p:nvSpPr>
        <p:spPr>
          <a:xfrm>
            <a:off x="692091" y="2948849"/>
            <a:ext cx="763279" cy="12633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Malgun Gothic Semilight" panose="020B0502040204020203" pitchFamily="50" charset="-127"/>
              </a:rPr>
              <a:t>고객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Malgun Gothic Semilight" panose="020B0502040204020203" pitchFamily="50" charset="-127"/>
              </a:rPr>
              <a:t>Pains</a:t>
            </a:r>
            <a:endParaRPr lang="ko-KR" altLang="en-US" sz="1200" dirty="0">
              <a:solidFill>
                <a:schemeClr val="tx1"/>
              </a:solidFill>
              <a:latin typeface="+mn-ea"/>
              <a:cs typeface="Malgun Gothic Semilight" panose="020B0502040204020203" pitchFamily="50" charset="-127"/>
            </a:endParaRPr>
          </a:p>
        </p:txBody>
      </p:sp>
      <p:sp>
        <p:nvSpPr>
          <p:cNvPr id="85" name="모서리가 둥근 직사각형 24">
            <a:extLst>
              <a:ext uri="{FF2B5EF4-FFF2-40B4-BE49-F238E27FC236}">
                <a16:creationId xmlns:a16="http://schemas.microsoft.com/office/drawing/2014/main" id="{B7C4B553-B183-45A0-A515-B8DFA6E74A1D}"/>
              </a:ext>
            </a:extLst>
          </p:cNvPr>
          <p:cNvSpPr/>
          <p:nvPr/>
        </p:nvSpPr>
        <p:spPr>
          <a:xfrm>
            <a:off x="692351" y="4332284"/>
            <a:ext cx="763279" cy="145071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Malgun Gothic Semilight" panose="020B0502040204020203" pitchFamily="50" charset="-127"/>
              </a:rPr>
              <a:t>운영</a:t>
            </a:r>
            <a:br>
              <a:rPr lang="en-US" altLang="ko-KR" sz="1200" dirty="0">
                <a:solidFill>
                  <a:schemeClr val="tx1"/>
                </a:solidFill>
                <a:latin typeface="+mn-ea"/>
                <a:cs typeface="Malgun Gothic Semilight" panose="020B0502040204020203" pitchFamily="50" charset="-127"/>
              </a:rPr>
            </a:br>
            <a:r>
              <a:rPr lang="ko-KR" altLang="en-US" sz="1200" dirty="0">
                <a:solidFill>
                  <a:schemeClr val="tx1"/>
                </a:solidFill>
                <a:latin typeface="+mn-ea"/>
                <a:cs typeface="Malgun Gothic Semilight" panose="020B0502040204020203" pitchFamily="50" charset="-127"/>
              </a:rPr>
              <a:t>시너지</a:t>
            </a:r>
          </a:p>
        </p:txBody>
      </p:sp>
      <p:sp>
        <p:nvSpPr>
          <p:cNvPr id="95" name="모서리가 둥근 직사각형 24">
            <a:extLst>
              <a:ext uri="{FF2B5EF4-FFF2-40B4-BE49-F238E27FC236}">
                <a16:creationId xmlns:a16="http://schemas.microsoft.com/office/drawing/2014/main" id="{51FABE92-1C94-48F2-B0B9-E4199B073C2D}"/>
              </a:ext>
            </a:extLst>
          </p:cNvPr>
          <p:cNvSpPr/>
          <p:nvPr/>
        </p:nvSpPr>
        <p:spPr>
          <a:xfrm>
            <a:off x="692091" y="1628800"/>
            <a:ext cx="763279" cy="12633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+mn-ea"/>
                <a:cs typeface="Malgun Gothic Semilight" panose="020B0502040204020203" pitchFamily="50" charset="-127"/>
              </a:rPr>
              <a:t>고객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cs typeface="Malgun Gothic Semilight" panose="020B0502040204020203" pitchFamily="50" charset="-127"/>
              </a:rPr>
              <a:t>Persona</a:t>
            </a:r>
            <a:endParaRPr lang="ko-KR" altLang="en-US" sz="1200" dirty="0">
              <a:solidFill>
                <a:schemeClr val="tx1"/>
              </a:solidFill>
              <a:latin typeface="+mn-ea"/>
              <a:cs typeface="Malgun Gothic Semilight" panose="020B0502040204020203" pitchFamily="50" charset="-127"/>
            </a:endParaRP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9391A097-AFEE-40D8-B7A2-7EF3AB1C7C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56" t="25937" r="72141" b="61750"/>
          <a:stretch/>
        </p:blipFill>
        <p:spPr>
          <a:xfrm>
            <a:off x="451353" y="4799760"/>
            <a:ext cx="388056" cy="401228"/>
          </a:xfrm>
          <a:prstGeom prst="ellipse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496EB427-5DEE-4ED5-A4BA-F5AD7B3398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273" t="46263" r="896" b="41508"/>
          <a:stretch/>
        </p:blipFill>
        <p:spPr>
          <a:xfrm>
            <a:off x="386203" y="3364498"/>
            <a:ext cx="453206" cy="424154"/>
          </a:xfrm>
          <a:prstGeom prst="ellipse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3F4DFC51-0F56-4C33-96C9-4C25A0109892}"/>
              </a:ext>
            </a:extLst>
          </p:cNvPr>
          <p:cNvSpPr txBox="1"/>
          <p:nvPr/>
        </p:nvSpPr>
        <p:spPr>
          <a:xfrm>
            <a:off x="1455370" y="2924944"/>
            <a:ext cx="8322166" cy="1173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 marL="180975" indent="-180975">
              <a:lnSpc>
                <a:spcPct val="150000"/>
              </a:lnSpc>
            </a:pPr>
            <a:r>
              <a:rPr lang="ko-KR" altLang="en-US" dirty="0"/>
              <a:t>프랜차이즈 본사에서는 </a:t>
            </a:r>
            <a:r>
              <a:rPr lang="en-US" altLang="ko-KR" dirty="0"/>
              <a:t>24</a:t>
            </a:r>
            <a:r>
              <a:rPr lang="ko-KR" altLang="en-US" dirty="0"/>
              <a:t>시간 영업을 희망하고 있으나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인건비 부담으로 추가 채용도 어렵고 부부도 체력적으로 한계를 느낌</a:t>
            </a:r>
            <a:endParaRPr lang="en-US" altLang="ko-KR" dirty="0"/>
          </a:p>
          <a:p>
            <a:pPr marL="180975" indent="-180975">
              <a:lnSpc>
                <a:spcPct val="150000"/>
              </a:lnSpc>
            </a:pPr>
            <a:r>
              <a:rPr lang="ko-KR" altLang="en-US" dirty="0"/>
              <a:t>심야시간에 무인으로 </a:t>
            </a:r>
            <a:r>
              <a:rPr lang="ko-KR" altLang="en-US" dirty="0" err="1"/>
              <a:t>운영하자니</a:t>
            </a:r>
            <a:r>
              <a:rPr lang="en-US" altLang="ko-KR" dirty="0"/>
              <a:t>, </a:t>
            </a:r>
            <a:r>
              <a:rPr lang="ko-KR" altLang="en-US" dirty="0"/>
              <a:t>도난 방지를 위한 보안서비스와 갑작스런 설비 고장에 대비한 출동서비스도 필요함</a:t>
            </a:r>
            <a:endParaRPr lang="en-US" altLang="ko-KR" dirty="0"/>
          </a:p>
          <a:p>
            <a:pPr marL="180975" indent="-180975">
              <a:lnSpc>
                <a:spcPct val="150000"/>
              </a:lnSpc>
            </a:pPr>
            <a:r>
              <a:rPr lang="ko-KR" altLang="en-US" dirty="0"/>
              <a:t>침입자 경보나 설비 이상경보를 받아서 매장에 가봐도 할 수 있는 일이 없음</a:t>
            </a:r>
            <a:r>
              <a:rPr lang="en-US" altLang="ko-KR" dirty="0"/>
              <a:t>(</a:t>
            </a:r>
            <a:r>
              <a:rPr lang="ko-KR" altLang="en-US" dirty="0"/>
              <a:t>경찰을 기다리거나 설비업자를 기다리는 일이 전부임</a:t>
            </a:r>
            <a:r>
              <a:rPr lang="en-US" altLang="ko-KR" dirty="0"/>
              <a:t>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977811E-A356-4CB2-85B6-8888E8F770BB}"/>
              </a:ext>
            </a:extLst>
          </p:cNvPr>
          <p:cNvSpPr txBox="1"/>
          <p:nvPr/>
        </p:nvSpPr>
        <p:spPr>
          <a:xfrm>
            <a:off x="1455370" y="4282538"/>
            <a:ext cx="8250158" cy="1450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lnSpc>
                <a:spcPct val="150000"/>
              </a:lnSpc>
            </a:pPr>
            <a:r>
              <a:rPr lang="ko-KR" altLang="en-US" dirty="0"/>
              <a:t>이상 신호 감지 시</a:t>
            </a:r>
            <a:r>
              <a:rPr lang="en-US" altLang="ko-KR" dirty="0"/>
              <a:t>, </a:t>
            </a:r>
            <a:r>
              <a:rPr lang="ko-KR" altLang="en-US" dirty="0"/>
              <a:t>원격관제센터에서 </a:t>
            </a:r>
            <a:r>
              <a:rPr lang="en-US" altLang="ko-KR" b="1" u="sng" dirty="0"/>
              <a:t>CCTV </a:t>
            </a:r>
            <a:r>
              <a:rPr lang="ko-KR" altLang="en-US" b="1" u="sng" dirty="0"/>
              <a:t>영상과</a:t>
            </a:r>
            <a:r>
              <a:rPr lang="en-US" altLang="ko-KR" b="1" u="sng" dirty="0"/>
              <a:t> </a:t>
            </a:r>
            <a:r>
              <a:rPr lang="ko-KR" altLang="en-US" b="1" u="sng" dirty="0"/>
              <a:t>센싱으로 종합 판단</a:t>
            </a:r>
            <a:r>
              <a:rPr lang="ko-KR" altLang="en-US" dirty="0"/>
              <a:t> 한 후</a:t>
            </a:r>
            <a:r>
              <a:rPr lang="en-US" altLang="ko-KR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- </a:t>
            </a:r>
            <a:r>
              <a:rPr lang="ko-KR" altLang="en-US" dirty="0"/>
              <a:t>센싱 오류인 경우</a:t>
            </a:r>
            <a:r>
              <a:rPr lang="en-US" altLang="ko-KR" dirty="0"/>
              <a:t>, </a:t>
            </a:r>
            <a:r>
              <a:rPr lang="ko-KR" altLang="en-US" b="1" u="sng" dirty="0"/>
              <a:t>원격 리셋</a:t>
            </a:r>
            <a:r>
              <a:rPr lang="ko-KR" altLang="en-US" dirty="0"/>
              <a:t>을 통하여 서비스 재게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- </a:t>
            </a:r>
            <a:r>
              <a:rPr lang="ko-KR" altLang="en-US" dirty="0" err="1"/>
              <a:t>주취자</a:t>
            </a:r>
            <a:r>
              <a:rPr lang="ko-KR" altLang="en-US" dirty="0"/>
              <a:t> 또는 단순 침입자 퇴거 시에는 </a:t>
            </a:r>
            <a:r>
              <a:rPr lang="ko-KR" altLang="en-US" b="1" u="sng" dirty="0"/>
              <a:t>원격방송 송출 및 </a:t>
            </a:r>
            <a:r>
              <a:rPr lang="ko-KR" altLang="en-US" b="1" u="sng" dirty="0" err="1"/>
              <a:t>비상경광등</a:t>
            </a:r>
            <a:r>
              <a:rPr lang="ko-KR" altLang="en-US" b="1" u="sng" dirty="0"/>
              <a:t> 작동</a:t>
            </a:r>
            <a:r>
              <a:rPr lang="ko-KR" altLang="en-US" dirty="0"/>
              <a:t>으로 퇴거 유도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- </a:t>
            </a:r>
            <a:r>
              <a:rPr lang="ko-KR" altLang="en-US" dirty="0"/>
              <a:t>현장 파손</a:t>
            </a:r>
            <a:r>
              <a:rPr lang="en-US" altLang="ko-KR" dirty="0"/>
              <a:t>/</a:t>
            </a:r>
            <a:r>
              <a:rPr lang="ko-KR" altLang="en-US" dirty="0"/>
              <a:t>도난 발생 또는 설비 이상의 경우는 관공서신고대행 및 긴급 </a:t>
            </a:r>
            <a:r>
              <a:rPr lang="ko-KR" altLang="en-US" b="1" u="sng" dirty="0"/>
              <a:t>보안 또는 </a:t>
            </a:r>
            <a:r>
              <a:rPr lang="en-US" altLang="ko-KR" b="1" u="sng" dirty="0"/>
              <a:t>FM</a:t>
            </a:r>
            <a:r>
              <a:rPr lang="ko-KR" altLang="en-US" b="1" u="sng" dirty="0"/>
              <a:t> 출동을 선택적으로 발령</a:t>
            </a:r>
            <a:endParaRPr lang="en-US" altLang="ko-KR" b="1" u="sng" dirty="0"/>
          </a:p>
          <a:p>
            <a:pPr>
              <a:lnSpc>
                <a:spcPct val="150000"/>
              </a:lnSpc>
            </a:pPr>
            <a:r>
              <a:rPr lang="ko-KR" altLang="en-US" dirty="0"/>
              <a:t>현장 이상 조치 내용을 시스템 입력으로 고객에게 송부</a:t>
            </a:r>
            <a:r>
              <a:rPr lang="en-US" altLang="ko-KR" dirty="0"/>
              <a:t>, </a:t>
            </a:r>
            <a:r>
              <a:rPr lang="ko-KR" altLang="en-US" dirty="0"/>
              <a:t>필요시 유선으로 통지</a:t>
            </a:r>
            <a:endParaRPr lang="en-US" altLang="ko-KR" dirty="0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753CEAC5-AD1D-45B3-AB36-3AD473DE1E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448" t="28897" r="17968" b="58706"/>
          <a:stretch/>
        </p:blipFill>
        <p:spPr>
          <a:xfrm>
            <a:off x="386203" y="2069312"/>
            <a:ext cx="424155" cy="424155"/>
          </a:xfrm>
          <a:prstGeom prst="ellipse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43025A-3B16-4FD1-AB80-3B2C66CE1AA8}"/>
              </a:ext>
            </a:extLst>
          </p:cNvPr>
          <p:cNvSpPr/>
          <p:nvPr/>
        </p:nvSpPr>
        <p:spPr>
          <a:xfrm>
            <a:off x="5372708" y="5733807"/>
            <a:ext cx="45640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008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(※ </a:t>
            </a:r>
            <a:r>
              <a:rPr lang="ko-KR" altLang="en-US" sz="1100" dirty="0">
                <a:solidFill>
                  <a:srgbClr val="008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기존 </a:t>
            </a:r>
            <a:r>
              <a:rPr lang="en-US" altLang="ko-KR" sz="1100" dirty="0">
                <a:solidFill>
                  <a:srgbClr val="008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FM</a:t>
            </a:r>
            <a:r>
              <a:rPr lang="ko-KR" altLang="en-US" sz="1100" dirty="0">
                <a:solidFill>
                  <a:srgbClr val="008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출동은 보안업체가 출입시스템을 </a:t>
            </a:r>
            <a:r>
              <a:rPr lang="ko-KR" altLang="en-US" sz="1100" dirty="0" err="1">
                <a:solidFill>
                  <a:srgbClr val="008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해제줄</a:t>
            </a:r>
            <a:r>
              <a:rPr lang="ko-KR" altLang="en-US" sz="1100" dirty="0">
                <a:solidFill>
                  <a:srgbClr val="008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때까지 </a:t>
            </a:r>
            <a:r>
              <a:rPr lang="ko-KR" altLang="en-US" sz="1100" dirty="0" err="1">
                <a:solidFill>
                  <a:srgbClr val="008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대기해야했음</a:t>
            </a:r>
            <a:r>
              <a:rPr lang="en-US" altLang="ko-KR" sz="1100" dirty="0">
                <a:solidFill>
                  <a:srgbClr val="008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)</a:t>
            </a:r>
            <a:endParaRPr lang="ko-KR" altLang="en-US" sz="1100" dirty="0">
              <a:solidFill>
                <a:srgbClr val="008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B5EC5B-4FB2-45C1-9E9B-A5810102B8D6}"/>
              </a:ext>
            </a:extLst>
          </p:cNvPr>
          <p:cNvSpPr txBox="1"/>
          <p:nvPr/>
        </p:nvSpPr>
        <p:spPr>
          <a:xfrm>
            <a:off x="4769296" y="6453336"/>
            <a:ext cx="367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-3-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8240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2E7112D-A21D-42CC-ABF8-C1DC39548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192" y="1775919"/>
            <a:ext cx="4615072" cy="323725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CBA5BEE1-3EB4-4D60-91D5-EA639D8ABCF4}"/>
              </a:ext>
            </a:extLst>
          </p:cNvPr>
          <p:cNvSpPr txBox="1"/>
          <p:nvPr/>
        </p:nvSpPr>
        <p:spPr>
          <a:xfrm>
            <a:off x="3925582" y="1052385"/>
            <a:ext cx="2476726" cy="389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b="1" dirty="0">
                <a:latin typeface="+mn-ea"/>
                <a:cs typeface="Malgun Gothic Semilight" panose="020B0502040204020203" pitchFamily="50" charset="-127"/>
              </a:rPr>
              <a:t>매장형 상품 구성</a:t>
            </a:r>
            <a:r>
              <a:rPr lang="en-US" altLang="ko-KR" sz="1600" b="1" dirty="0">
                <a:latin typeface="+mn-ea"/>
                <a:cs typeface="Malgun Gothic Semilight" panose="020B0502040204020203" pitchFamily="50" charset="-127"/>
              </a:rPr>
              <a:t>(</a:t>
            </a:r>
            <a:r>
              <a:rPr lang="ko-KR" altLang="en-US" sz="1600" b="1" dirty="0">
                <a:latin typeface="+mn-ea"/>
                <a:cs typeface="Malgun Gothic Semilight" panose="020B0502040204020203" pitchFamily="50" charset="-127"/>
              </a:rPr>
              <a:t>안</a:t>
            </a:r>
            <a:r>
              <a:rPr lang="en-US" altLang="ko-KR" sz="1600" b="1" dirty="0">
                <a:latin typeface="+mn-ea"/>
                <a:cs typeface="Malgun Gothic Semilight" panose="020B0502040204020203" pitchFamily="50" charset="-127"/>
              </a:rPr>
              <a:t>)</a:t>
            </a:r>
            <a:endParaRPr lang="ko-KR" altLang="en-US" sz="1400" b="1" dirty="0">
              <a:latin typeface="+mn-ea"/>
              <a:cs typeface="Malgun Gothic Semilight" panose="020B0502040204020203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0201094-96F3-4ACD-B93F-7B7318AB8980}"/>
              </a:ext>
            </a:extLst>
          </p:cNvPr>
          <p:cNvSpPr txBox="1"/>
          <p:nvPr/>
        </p:nvSpPr>
        <p:spPr>
          <a:xfrm>
            <a:off x="128464" y="116632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  <a:latin typeface="+mn-ea"/>
                <a:cs typeface="Arial" panose="020B0604020202020204" pitchFamily="34" charset="0"/>
              </a:rPr>
              <a:t>3.  </a:t>
            </a:r>
            <a:r>
              <a:rPr lang="ko-KR" altLang="en-US" b="1" dirty="0">
                <a:solidFill>
                  <a:schemeClr val="bg1">
                    <a:lumMod val="65000"/>
                  </a:schemeClr>
                </a:solidFill>
                <a:latin typeface="+mn-ea"/>
                <a:cs typeface="Arial" panose="020B0604020202020204" pitchFamily="34" charset="0"/>
              </a:rPr>
              <a:t>시너지 예시</a:t>
            </a: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45878F5A-3018-44AD-ADCE-6D5EEB291FAF}"/>
              </a:ext>
            </a:extLst>
          </p:cNvPr>
          <p:cNvCxnSpPr>
            <a:cxnSpLocks/>
          </p:cNvCxnSpPr>
          <p:nvPr/>
        </p:nvCxnSpPr>
        <p:spPr>
          <a:xfrm>
            <a:off x="235756" y="485964"/>
            <a:ext cx="318021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45684941-E0F7-4431-81BA-53F3397632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6" t="14053" r="15913" b="14702"/>
          <a:stretch>
            <a:fillRect/>
          </a:stretch>
        </p:blipFill>
        <p:spPr>
          <a:xfrm>
            <a:off x="4099757" y="3890223"/>
            <a:ext cx="415890" cy="415890"/>
          </a:xfrm>
          <a:custGeom>
            <a:avLst/>
            <a:gdLst>
              <a:gd name="connsiteX0" fmla="*/ 614289 w 1228578"/>
              <a:gd name="connsiteY0" fmla="*/ 0 h 1228578"/>
              <a:gd name="connsiteX1" fmla="*/ 1228578 w 1228578"/>
              <a:gd name="connsiteY1" fmla="*/ 614289 h 1228578"/>
              <a:gd name="connsiteX2" fmla="*/ 614289 w 1228578"/>
              <a:gd name="connsiteY2" fmla="*/ 1228578 h 1228578"/>
              <a:gd name="connsiteX3" fmla="*/ 0 w 1228578"/>
              <a:gd name="connsiteY3" fmla="*/ 614289 h 1228578"/>
              <a:gd name="connsiteX4" fmla="*/ 614289 w 1228578"/>
              <a:gd name="connsiteY4" fmla="*/ 0 h 1228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578" h="1228578">
                <a:moveTo>
                  <a:pt x="614289" y="0"/>
                </a:moveTo>
                <a:cubicBezTo>
                  <a:pt x="953551" y="0"/>
                  <a:pt x="1228578" y="275027"/>
                  <a:pt x="1228578" y="614289"/>
                </a:cubicBezTo>
                <a:cubicBezTo>
                  <a:pt x="1228578" y="953551"/>
                  <a:pt x="953551" y="1228578"/>
                  <a:pt x="614289" y="1228578"/>
                </a:cubicBezTo>
                <a:cubicBezTo>
                  <a:pt x="275027" y="1228578"/>
                  <a:pt x="0" y="953551"/>
                  <a:pt x="0" y="614289"/>
                </a:cubicBezTo>
                <a:cubicBezTo>
                  <a:pt x="0" y="275027"/>
                  <a:pt x="275027" y="0"/>
                  <a:pt x="61428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25400">
            <a:solidFill>
              <a:srgbClr val="008000"/>
            </a:solidFill>
          </a:ln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646F28-9D6F-476D-B6A9-1E798D2FABF0}"/>
              </a:ext>
            </a:extLst>
          </p:cNvPr>
          <p:cNvGrpSpPr/>
          <p:nvPr/>
        </p:nvGrpSpPr>
        <p:grpSpPr>
          <a:xfrm>
            <a:off x="5421521" y="3595677"/>
            <a:ext cx="545371" cy="562985"/>
            <a:chOff x="4998849" y="4212989"/>
            <a:chExt cx="545371" cy="562985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8F209C1-6C6C-4F9A-ACDC-7389CA9A54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3415" r="26300"/>
            <a:stretch/>
          </p:blipFill>
          <p:spPr>
            <a:xfrm>
              <a:off x="4998849" y="4212989"/>
              <a:ext cx="545371" cy="562985"/>
            </a:xfrm>
            <a:prstGeom prst="rect">
              <a:avLst/>
            </a:prstGeom>
          </p:spPr>
        </p:pic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955FAF07-4506-4696-8FBC-53D75C49E873}"/>
                </a:ext>
              </a:extLst>
            </p:cNvPr>
            <p:cNvSpPr/>
            <p:nvPr/>
          </p:nvSpPr>
          <p:spPr>
            <a:xfrm>
              <a:off x="5017201" y="4272914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4DBBBE-9207-4A6B-A08F-99820C748357}"/>
              </a:ext>
            </a:extLst>
          </p:cNvPr>
          <p:cNvGrpSpPr/>
          <p:nvPr/>
        </p:nvGrpSpPr>
        <p:grpSpPr>
          <a:xfrm>
            <a:off x="4251701" y="2413083"/>
            <a:ext cx="527891" cy="549573"/>
            <a:chOff x="2412083" y="4268363"/>
            <a:chExt cx="527891" cy="549573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5E7BE78-C48A-41C5-ABC8-BB924DD638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532" r="28607"/>
            <a:stretch/>
          </p:blipFill>
          <p:spPr>
            <a:xfrm>
              <a:off x="2412083" y="4268363"/>
              <a:ext cx="527891" cy="549573"/>
            </a:xfrm>
            <a:prstGeom prst="rect">
              <a:avLst/>
            </a:prstGeom>
          </p:spPr>
        </p:pic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C5746293-A64C-4F74-8888-E4812766F36F}"/>
                </a:ext>
              </a:extLst>
            </p:cNvPr>
            <p:cNvSpPr/>
            <p:nvPr/>
          </p:nvSpPr>
          <p:spPr>
            <a:xfrm>
              <a:off x="2432389" y="4293096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62CCC57-7601-4F3D-B221-5828D74CC4A2}"/>
              </a:ext>
            </a:extLst>
          </p:cNvPr>
          <p:cNvGrpSpPr/>
          <p:nvPr/>
        </p:nvGrpSpPr>
        <p:grpSpPr>
          <a:xfrm>
            <a:off x="6350927" y="2835659"/>
            <a:ext cx="558043" cy="547916"/>
            <a:chOff x="3607303" y="4710588"/>
            <a:chExt cx="558043" cy="547916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919693D-45EB-44AC-9AE0-A3B3F951FB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9005" b="302"/>
            <a:stretch/>
          </p:blipFill>
          <p:spPr>
            <a:xfrm>
              <a:off x="3607303" y="4710588"/>
              <a:ext cx="558043" cy="547916"/>
            </a:xfrm>
            <a:prstGeom prst="rect">
              <a:avLst/>
            </a:prstGeom>
          </p:spPr>
        </p:pic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EF4F93E-DF70-4E26-B8C7-18DA593EFDC6}"/>
                </a:ext>
              </a:extLst>
            </p:cNvPr>
            <p:cNvSpPr/>
            <p:nvPr/>
          </p:nvSpPr>
          <p:spPr>
            <a:xfrm>
              <a:off x="3654235" y="4729246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46B7B43-9FD0-4353-83BE-54EAFCEABB87}"/>
              </a:ext>
            </a:extLst>
          </p:cNvPr>
          <p:cNvGrpSpPr/>
          <p:nvPr/>
        </p:nvGrpSpPr>
        <p:grpSpPr>
          <a:xfrm>
            <a:off x="4641557" y="2302012"/>
            <a:ext cx="560299" cy="549573"/>
            <a:chOff x="2939974" y="4929670"/>
            <a:chExt cx="560299" cy="549573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AC7812F0-8BB0-423A-A9E6-65016EEA2A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5160" r="53760"/>
            <a:stretch/>
          </p:blipFill>
          <p:spPr>
            <a:xfrm>
              <a:off x="2939974" y="4929670"/>
              <a:ext cx="560299" cy="549573"/>
            </a:xfrm>
            <a:prstGeom prst="rect">
              <a:avLst/>
            </a:prstGeom>
          </p:spPr>
        </p:pic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CB0558A-3547-4202-86FB-C4A80D2A2D52}"/>
                </a:ext>
              </a:extLst>
            </p:cNvPr>
            <p:cNvSpPr/>
            <p:nvPr/>
          </p:nvSpPr>
          <p:spPr>
            <a:xfrm>
              <a:off x="2986906" y="4962463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C5D6F3F-A059-4677-B17F-8399EC7D69F2}"/>
              </a:ext>
            </a:extLst>
          </p:cNvPr>
          <p:cNvGrpSpPr/>
          <p:nvPr/>
        </p:nvGrpSpPr>
        <p:grpSpPr>
          <a:xfrm>
            <a:off x="3708275" y="3052397"/>
            <a:ext cx="517696" cy="556564"/>
            <a:chOff x="4665092" y="5294296"/>
            <a:chExt cx="517696" cy="556564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1E36D198-942C-426B-9A2B-8044CD1CBA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214" r="76308"/>
            <a:stretch/>
          </p:blipFill>
          <p:spPr>
            <a:xfrm>
              <a:off x="4665092" y="5294296"/>
              <a:ext cx="517696" cy="556564"/>
            </a:xfrm>
            <a:prstGeom prst="rect">
              <a:avLst/>
            </a:prstGeom>
          </p:spPr>
        </p:pic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73C9C78-87E3-40ED-A09C-EEEDDEEB25DC}"/>
                </a:ext>
              </a:extLst>
            </p:cNvPr>
            <p:cNvSpPr/>
            <p:nvPr/>
          </p:nvSpPr>
          <p:spPr>
            <a:xfrm>
              <a:off x="4676689" y="5344982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FD5236A-D53A-4E3B-ABF8-580E3FABFE8B}"/>
              </a:ext>
            </a:extLst>
          </p:cNvPr>
          <p:cNvGrpSpPr/>
          <p:nvPr/>
        </p:nvGrpSpPr>
        <p:grpSpPr>
          <a:xfrm>
            <a:off x="3855186" y="2140670"/>
            <a:ext cx="415890" cy="415890"/>
            <a:chOff x="8469889" y="5671544"/>
            <a:chExt cx="415890" cy="415890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82ED1552-290C-43CE-8E94-574E883A7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32563" y="5707685"/>
              <a:ext cx="290542" cy="377405"/>
            </a:xfrm>
            <a:prstGeom prst="rect">
              <a:avLst/>
            </a:prstGeom>
          </p:spPr>
        </p:pic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468CE2C9-953A-4EEE-915D-F857CC8E60A4}"/>
                </a:ext>
              </a:extLst>
            </p:cNvPr>
            <p:cNvSpPr/>
            <p:nvPr/>
          </p:nvSpPr>
          <p:spPr>
            <a:xfrm>
              <a:off x="8469889" y="5671544"/>
              <a:ext cx="415890" cy="41589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2E017E2-B720-400E-A355-12C19A6CEB14}"/>
              </a:ext>
            </a:extLst>
          </p:cNvPr>
          <p:cNvGrpSpPr/>
          <p:nvPr/>
        </p:nvGrpSpPr>
        <p:grpSpPr>
          <a:xfrm>
            <a:off x="5528842" y="2770369"/>
            <a:ext cx="417328" cy="415890"/>
            <a:chOff x="7405890" y="5203669"/>
            <a:chExt cx="417328" cy="41589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DA9477A8-244A-42DB-B9EA-D397D4249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1772" y="5242196"/>
              <a:ext cx="401446" cy="338835"/>
            </a:xfrm>
            <a:prstGeom prst="rect">
              <a:avLst/>
            </a:prstGeom>
          </p:spPr>
        </p:pic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B4D7012-4C83-490C-9597-F0949FF418F4}"/>
                </a:ext>
              </a:extLst>
            </p:cNvPr>
            <p:cNvSpPr/>
            <p:nvPr/>
          </p:nvSpPr>
          <p:spPr>
            <a:xfrm>
              <a:off x="7405890" y="5203669"/>
              <a:ext cx="415890" cy="41589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F0BC063-4BFC-47A8-A11F-7B92B6B9F4D0}"/>
              </a:ext>
            </a:extLst>
          </p:cNvPr>
          <p:cNvGrpSpPr/>
          <p:nvPr/>
        </p:nvGrpSpPr>
        <p:grpSpPr>
          <a:xfrm>
            <a:off x="4926354" y="2903546"/>
            <a:ext cx="509161" cy="415890"/>
            <a:chOff x="9348356" y="1224556"/>
            <a:chExt cx="509161" cy="415890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BD326B22-B12E-4F76-B53D-55A6130BC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48356" y="1272395"/>
              <a:ext cx="509161" cy="323848"/>
            </a:xfrm>
            <a:prstGeom prst="rect">
              <a:avLst/>
            </a:prstGeom>
          </p:spPr>
        </p:pic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E899324-9EB9-467A-AFE2-0ABCB52E6EC3}"/>
                </a:ext>
              </a:extLst>
            </p:cNvPr>
            <p:cNvSpPr/>
            <p:nvPr/>
          </p:nvSpPr>
          <p:spPr>
            <a:xfrm>
              <a:off x="9389021" y="1224556"/>
              <a:ext cx="415890" cy="41589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743686D0-71C7-4C89-B15D-F3DF84D1A4A5}"/>
              </a:ext>
            </a:extLst>
          </p:cNvPr>
          <p:cNvSpPr/>
          <p:nvPr/>
        </p:nvSpPr>
        <p:spPr>
          <a:xfrm>
            <a:off x="4498523" y="3193071"/>
            <a:ext cx="415890" cy="415890"/>
          </a:xfrm>
          <a:prstGeom prst="ellipse">
            <a:avLst/>
          </a:prstGeom>
          <a:blipFill>
            <a:blip r:embed="rId10"/>
            <a:stretch>
              <a:fillRect/>
            </a:stretch>
          </a:blip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F54F11E-ECB7-450A-A926-01719649C66C}"/>
              </a:ext>
            </a:extLst>
          </p:cNvPr>
          <p:cNvSpPr/>
          <p:nvPr/>
        </p:nvSpPr>
        <p:spPr>
          <a:xfrm>
            <a:off x="5954838" y="3443568"/>
            <a:ext cx="415890" cy="415890"/>
          </a:xfrm>
          <a:prstGeom prst="ellipse">
            <a:avLst/>
          </a:prstGeom>
          <a:blipFill>
            <a:blip r:embed="rId11"/>
            <a:stretch>
              <a:fillRect/>
            </a:stretch>
          </a:blipFill>
          <a:ln>
            <a:solidFill>
              <a:srgbClr val="23B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140">
            <a:extLst>
              <a:ext uri="{FF2B5EF4-FFF2-40B4-BE49-F238E27FC236}">
                <a16:creationId xmlns:a16="http://schemas.microsoft.com/office/drawing/2014/main" id="{F2EBC43B-7428-4EDE-9497-6F2A7C539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6924" y="2284357"/>
            <a:ext cx="1080000" cy="432000"/>
          </a:xfrm>
          <a:prstGeom prst="roundRect">
            <a:avLst>
              <a:gd name="adj" fmla="val 9248"/>
            </a:avLst>
          </a:prstGeom>
          <a:noFill/>
          <a:ln w="15875" algn="ctr">
            <a:solidFill>
              <a:srgbClr val="23B1D1"/>
            </a:solidFill>
            <a:round/>
            <a:headEnd/>
            <a:tailEnd/>
          </a:ln>
        </p:spPr>
        <p:txBody>
          <a:bodyPr wrap="none" lIns="36000" rIns="36000" anchor="ctr">
            <a:noAutofit/>
          </a:bodyPr>
          <a:lstStyle/>
          <a:p>
            <a:pPr algn="ctr" latinLnBrk="0">
              <a:spcBef>
                <a:spcPts val="300"/>
              </a:spcBef>
            </a:pPr>
            <a:r>
              <a:rPr kumimoji="1" lang="ko-KR" altLang="en-US" sz="1050" b="1" kern="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온습도</a:t>
            </a:r>
            <a:r>
              <a:rPr kumimoji="1" lang="en-US" altLang="ko-KR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kumimoji="1" lang="ko-KR" altLang="en-US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모니터링</a:t>
            </a:r>
            <a:endParaRPr kumimoji="1" lang="en-US" altLang="ko-KR" sz="105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6" name="모서리가 둥근 직사각형 142">
            <a:extLst>
              <a:ext uri="{FF2B5EF4-FFF2-40B4-BE49-F238E27FC236}">
                <a16:creationId xmlns:a16="http://schemas.microsoft.com/office/drawing/2014/main" id="{4A587F17-2165-4985-A64B-A3D0BF88A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301" y="3931219"/>
            <a:ext cx="1080000" cy="432000"/>
          </a:xfrm>
          <a:prstGeom prst="roundRect">
            <a:avLst>
              <a:gd name="adj" fmla="val 9248"/>
            </a:avLst>
          </a:prstGeom>
          <a:noFill/>
          <a:ln w="15875" algn="ctr">
            <a:solidFill>
              <a:srgbClr val="23B1D1"/>
            </a:solidFill>
            <a:prstDash val="solid"/>
            <a:round/>
            <a:headEnd/>
            <a:tailEnd/>
          </a:ln>
        </p:spPr>
        <p:txBody>
          <a:bodyPr wrap="none" lIns="36000" rIns="36000" anchor="ctr">
            <a:noAutofit/>
          </a:bodyPr>
          <a:lstStyle>
            <a:lvl1pPr eaLnBrk="0" hangingPunct="0"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charset="0"/>
                <a:ea typeface="가는각진제목체" pitchFamily="18" charset="-127"/>
              </a:defRPr>
            </a:lvl9pPr>
          </a:lstStyle>
          <a:p>
            <a:pPr algn="ctr" eaLnBrk="1" latinLnBrk="0" hangingPunct="1">
              <a:spcBef>
                <a:spcPts val="300"/>
              </a:spcBef>
              <a:defRPr/>
            </a:pPr>
            <a:r>
              <a:rPr lang="ko-KR" altLang="en-US" sz="1050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간판</a:t>
            </a:r>
            <a:r>
              <a:rPr lang="en-US" altLang="ko-KR" sz="1050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50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조명</a:t>
            </a:r>
            <a:r>
              <a:rPr lang="en-US" altLang="ko-KR" sz="1050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50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에어컨</a:t>
            </a:r>
            <a:br>
              <a:rPr lang="en-US" altLang="ko-KR" sz="1050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50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</a:t>
            </a:r>
            <a:endParaRPr lang="en-US" altLang="ko-KR" sz="1050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7" name="모서리가 둥근 직사각형 144">
            <a:extLst>
              <a:ext uri="{FF2B5EF4-FFF2-40B4-BE49-F238E27FC236}">
                <a16:creationId xmlns:a16="http://schemas.microsoft.com/office/drawing/2014/main" id="{8119184B-6B23-4E75-BBBA-3A8E6AF76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4550" y="2833311"/>
            <a:ext cx="1080000" cy="432000"/>
          </a:xfrm>
          <a:prstGeom prst="roundRect">
            <a:avLst>
              <a:gd name="adj" fmla="val 9248"/>
            </a:avLst>
          </a:prstGeom>
          <a:noFill/>
          <a:ln w="15875" algn="ctr">
            <a:solidFill>
              <a:srgbClr val="23B1D1"/>
            </a:solidFill>
            <a:round/>
            <a:headEnd/>
            <a:tailEnd/>
          </a:ln>
        </p:spPr>
        <p:txBody>
          <a:bodyPr wrap="none" lIns="36000" rIns="36000" anchor="ctr">
            <a:noAutofit/>
          </a:bodyPr>
          <a:lstStyle/>
          <a:p>
            <a:pPr algn="ctr" latinLnBrk="0">
              <a:spcBef>
                <a:spcPts val="300"/>
              </a:spcBef>
            </a:pPr>
            <a:r>
              <a:rPr kumimoji="1" lang="ko-KR" altLang="en-US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냉장 </a:t>
            </a:r>
            <a:r>
              <a:rPr kumimoji="1" lang="en-US" altLang="ko-KR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· </a:t>
            </a:r>
            <a:r>
              <a:rPr kumimoji="1" lang="ko-KR" altLang="en-US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냉동설비</a:t>
            </a:r>
            <a:br>
              <a:rPr kumimoji="1" lang="en-US" altLang="ko-KR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kumimoji="1" lang="ko-KR" altLang="en-US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이상 모니터링</a:t>
            </a:r>
            <a:endParaRPr kumimoji="1" lang="en-US" altLang="ko-KR" sz="105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8" name="모서리가 둥근 직사각형 144">
            <a:extLst>
              <a:ext uri="{FF2B5EF4-FFF2-40B4-BE49-F238E27FC236}">
                <a16:creationId xmlns:a16="http://schemas.microsoft.com/office/drawing/2014/main" id="{92F99ACF-F77D-4763-B59A-18653B511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4550" y="3382265"/>
            <a:ext cx="1080000" cy="432000"/>
          </a:xfrm>
          <a:prstGeom prst="roundRect">
            <a:avLst>
              <a:gd name="adj" fmla="val 9248"/>
            </a:avLst>
          </a:prstGeom>
          <a:noFill/>
          <a:ln w="15875" algn="ctr">
            <a:solidFill>
              <a:srgbClr val="23B1D1"/>
            </a:solidFill>
            <a:round/>
            <a:headEnd/>
            <a:tailEnd/>
          </a:ln>
        </p:spPr>
        <p:txBody>
          <a:bodyPr wrap="none" lIns="36000" rIns="36000" anchor="ctr">
            <a:noAutofit/>
          </a:bodyPr>
          <a:lstStyle/>
          <a:p>
            <a:pPr algn="ctr" eaLnBrk="1" latinLnBrk="0" hangingPunct="1">
              <a:spcBef>
                <a:spcPts val="300"/>
              </a:spcBef>
              <a:defRPr/>
            </a:pPr>
            <a:r>
              <a:rPr lang="ko-KR" altLang="en-US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전력 사용량</a:t>
            </a:r>
            <a:br>
              <a:rPr lang="en-US" altLang="ko-KR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모니터링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9A4547-DBED-4B3D-96CB-C26262AD47F4}"/>
              </a:ext>
            </a:extLst>
          </p:cNvPr>
          <p:cNvSpPr txBox="1"/>
          <p:nvPr/>
        </p:nvSpPr>
        <p:spPr>
          <a:xfrm>
            <a:off x="920552" y="1652678"/>
            <a:ext cx="2476726" cy="315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atin typeface="+mn-ea"/>
                <a:cs typeface="Malgun Gothic Semilight" panose="020B0502040204020203" pitchFamily="50" charset="-127"/>
              </a:rPr>
              <a:t>건물관리업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FF17B79-2154-4426-AC8D-5D37217F01E6}"/>
              </a:ext>
            </a:extLst>
          </p:cNvPr>
          <p:cNvCxnSpPr>
            <a:cxnSpLocks/>
          </p:cNvCxnSpPr>
          <p:nvPr/>
        </p:nvCxnSpPr>
        <p:spPr>
          <a:xfrm>
            <a:off x="1665688" y="1997482"/>
            <a:ext cx="9686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140">
            <a:extLst>
              <a:ext uri="{FF2B5EF4-FFF2-40B4-BE49-F238E27FC236}">
                <a16:creationId xmlns:a16="http://schemas.microsoft.com/office/drawing/2014/main" id="{07ECA829-80EB-4BC4-862E-1E830BD6A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187" y="2265626"/>
            <a:ext cx="1080000" cy="432000"/>
          </a:xfrm>
          <a:prstGeom prst="roundRect">
            <a:avLst>
              <a:gd name="adj" fmla="val 9248"/>
            </a:avLst>
          </a:prstGeom>
          <a:noFill/>
          <a:ln w="15875" algn="ctr">
            <a:solidFill>
              <a:srgbClr val="008000"/>
            </a:solidFill>
            <a:round/>
            <a:headEnd/>
            <a:tailEnd/>
          </a:ln>
        </p:spPr>
        <p:txBody>
          <a:bodyPr wrap="none" lIns="36000" rIns="36000" anchor="ctr">
            <a:noAutofit/>
          </a:bodyPr>
          <a:lstStyle/>
          <a:p>
            <a:pPr algn="ctr" latinLnBrk="0">
              <a:spcBef>
                <a:spcPts val="300"/>
              </a:spcBef>
            </a:pPr>
            <a:r>
              <a:rPr kumimoji="1" lang="ko-KR" altLang="en-US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 내</a:t>
            </a:r>
            <a:r>
              <a:rPr kumimoji="1" lang="en-US" altLang="ko-KR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kumimoji="1" lang="ko-KR" altLang="en-US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 </a:t>
            </a:r>
            <a:r>
              <a:rPr kumimoji="1" lang="en-US" altLang="ko-KR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CCTV</a:t>
            </a:r>
            <a:endParaRPr kumimoji="1" lang="en-US" altLang="ko-KR" sz="105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2" name="모서리가 둥근 직사각형 144">
            <a:extLst>
              <a:ext uri="{FF2B5EF4-FFF2-40B4-BE49-F238E27FC236}">
                <a16:creationId xmlns:a16="http://schemas.microsoft.com/office/drawing/2014/main" id="{E11B7CC1-987C-4AA0-AE7D-1839BC51F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813" y="2817703"/>
            <a:ext cx="1080000" cy="432000"/>
          </a:xfrm>
          <a:prstGeom prst="roundRect">
            <a:avLst>
              <a:gd name="adj" fmla="val 9248"/>
            </a:avLst>
          </a:prstGeom>
          <a:noFill/>
          <a:ln w="15875" algn="ctr">
            <a:solidFill>
              <a:srgbClr val="008000"/>
            </a:solidFill>
            <a:round/>
            <a:headEnd/>
            <a:tailEnd/>
          </a:ln>
        </p:spPr>
        <p:txBody>
          <a:bodyPr wrap="none" lIns="36000" rIns="36000" anchor="ctr">
            <a:noAutofit/>
          </a:bodyPr>
          <a:lstStyle/>
          <a:p>
            <a:pPr algn="ctr" latinLnBrk="0">
              <a:spcBef>
                <a:spcPts val="300"/>
              </a:spcBef>
            </a:pPr>
            <a:r>
              <a:rPr kumimoji="1" lang="ko-KR" altLang="en-US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움직임</a:t>
            </a:r>
            <a:r>
              <a:rPr kumimoji="1" lang="en-US" altLang="ko-KR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kumimoji="1" lang="ko-KR" altLang="en-US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문열림</a:t>
            </a:r>
            <a:endParaRPr kumimoji="1" lang="en-US" altLang="ko-KR" sz="105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 latinLnBrk="0">
              <a:spcBef>
                <a:spcPts val="300"/>
              </a:spcBef>
            </a:pPr>
            <a:r>
              <a:rPr kumimoji="1" lang="ko-KR" altLang="en-US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감시</a:t>
            </a:r>
            <a:endParaRPr kumimoji="1" lang="en-US" altLang="ko-KR" sz="105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3" name="모서리가 둥근 직사각형 144">
            <a:extLst>
              <a:ext uri="{FF2B5EF4-FFF2-40B4-BE49-F238E27FC236}">
                <a16:creationId xmlns:a16="http://schemas.microsoft.com/office/drawing/2014/main" id="{22578670-9DAF-4933-9143-80AB3E6C3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813" y="3369780"/>
            <a:ext cx="1080000" cy="432000"/>
          </a:xfrm>
          <a:prstGeom prst="roundRect">
            <a:avLst>
              <a:gd name="adj" fmla="val 9248"/>
            </a:avLst>
          </a:prstGeom>
          <a:noFill/>
          <a:ln w="15875" algn="ctr">
            <a:solidFill>
              <a:srgbClr val="008000"/>
            </a:solidFill>
            <a:round/>
            <a:headEnd/>
            <a:tailEnd/>
          </a:ln>
        </p:spPr>
        <p:txBody>
          <a:bodyPr wrap="none" lIns="36000" rIns="36000" anchor="ctr">
            <a:noAutofit/>
          </a:bodyPr>
          <a:lstStyle/>
          <a:p>
            <a:pPr algn="ctr" latinLnBrk="0">
              <a:spcBef>
                <a:spcPts val="300"/>
              </a:spcBef>
            </a:pPr>
            <a:r>
              <a:rPr kumimoji="1" lang="ko-KR" altLang="en-US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경광등</a:t>
            </a:r>
            <a:r>
              <a:rPr kumimoji="1" lang="en-US" altLang="ko-KR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kumimoji="1" lang="ko-KR" altLang="en-US" sz="1050" b="1" kern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비상벨</a:t>
            </a:r>
          </a:p>
        </p:txBody>
      </p:sp>
      <p:sp>
        <p:nvSpPr>
          <p:cNvPr id="54" name="모서리가 둥근 직사각형 140">
            <a:extLst>
              <a:ext uri="{FF2B5EF4-FFF2-40B4-BE49-F238E27FC236}">
                <a16:creationId xmlns:a16="http://schemas.microsoft.com/office/drawing/2014/main" id="{CE900CFA-13A6-4DD4-A798-3E760DDA7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862" y="3921858"/>
            <a:ext cx="1080000" cy="432000"/>
          </a:xfrm>
          <a:prstGeom prst="roundRect">
            <a:avLst>
              <a:gd name="adj" fmla="val 9248"/>
            </a:avLst>
          </a:prstGeom>
          <a:noFill/>
          <a:ln w="15875" algn="ctr">
            <a:solidFill>
              <a:srgbClr val="008000"/>
            </a:solidFill>
            <a:round/>
            <a:headEnd/>
            <a:tailEnd/>
          </a:ln>
        </p:spPr>
        <p:txBody>
          <a:bodyPr wrap="none" lIns="36000" rIns="36000" anchor="ctr">
            <a:noAutofit/>
          </a:bodyPr>
          <a:lstStyle/>
          <a:p>
            <a:pPr algn="ctr" latinLnBrk="0">
              <a:spcBef>
                <a:spcPts val="300"/>
              </a:spcBef>
            </a:pPr>
            <a:r>
              <a:rPr kumimoji="1" lang="ko-KR" altLang="en-US" sz="1050" b="1" kern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출입보안시스템</a:t>
            </a:r>
            <a:endParaRPr kumimoji="1" lang="en-US" altLang="ko-KR" sz="1050" b="1" kern="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E248D6-8FF5-4073-ADB8-60E5498C3E30}"/>
              </a:ext>
            </a:extLst>
          </p:cNvPr>
          <p:cNvSpPr txBox="1"/>
          <p:nvPr/>
        </p:nvSpPr>
        <p:spPr>
          <a:xfrm>
            <a:off x="6634287" y="1683224"/>
            <a:ext cx="2476726" cy="315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00" dirty="0" err="1">
                <a:latin typeface="+mn-ea"/>
                <a:cs typeface="Malgun Gothic Semilight" panose="020B0502040204020203" pitchFamily="50" charset="-127"/>
              </a:rPr>
              <a:t>보안업</a:t>
            </a:r>
            <a:endParaRPr lang="ko-KR" altLang="en-US" sz="1200" dirty="0">
              <a:latin typeface="+mn-ea"/>
              <a:cs typeface="Malgun Gothic Semilight" panose="020B0502040204020203" pitchFamily="50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B40AF4B-2840-4A48-BF76-8009918192E5}"/>
              </a:ext>
            </a:extLst>
          </p:cNvPr>
          <p:cNvCxnSpPr>
            <a:cxnSpLocks/>
          </p:cNvCxnSpPr>
          <p:nvPr/>
        </p:nvCxnSpPr>
        <p:spPr>
          <a:xfrm>
            <a:off x="7382718" y="2028028"/>
            <a:ext cx="96861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C752172-7C40-4DBF-8A9C-E8C03802C0F8}"/>
              </a:ext>
            </a:extLst>
          </p:cNvPr>
          <p:cNvSpPr/>
          <p:nvPr/>
        </p:nvSpPr>
        <p:spPr>
          <a:xfrm>
            <a:off x="3656855" y="5194776"/>
            <a:ext cx="2977431" cy="575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순회 미화 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순회 설비 점검 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임대차 중개 </a:t>
            </a:r>
            <a:b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·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세무신고 대행 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· 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로봇청소기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,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Wingdings" panose="05000000000000000000" pitchFamily="2" charset="2"/>
              </a:rPr>
              <a:t> 키오스크 등 대여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D43086-DC3B-4552-884B-82037B8CBC11}"/>
              </a:ext>
            </a:extLst>
          </p:cNvPr>
          <p:cNvSpPr txBox="1"/>
          <p:nvPr/>
        </p:nvSpPr>
        <p:spPr>
          <a:xfrm>
            <a:off x="3904878" y="4745667"/>
            <a:ext cx="2019069" cy="315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atin typeface="+mn-ea"/>
                <a:cs typeface="Malgun Gothic Semilight" panose="020B0502040204020203" pitchFamily="50" charset="-127"/>
              </a:rPr>
              <a:t>부가서비스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47F57A8-3379-4025-9B22-BE3AC756E34A}"/>
              </a:ext>
            </a:extLst>
          </p:cNvPr>
          <p:cNvCxnSpPr>
            <a:cxnSpLocks/>
          </p:cNvCxnSpPr>
          <p:nvPr/>
        </p:nvCxnSpPr>
        <p:spPr>
          <a:xfrm>
            <a:off x="4460680" y="5090471"/>
            <a:ext cx="86409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B1340EDB-E704-4AB6-81D9-396632CF5547}"/>
              </a:ext>
            </a:extLst>
          </p:cNvPr>
          <p:cNvGrpSpPr/>
          <p:nvPr/>
        </p:nvGrpSpPr>
        <p:grpSpPr>
          <a:xfrm>
            <a:off x="1089197" y="3357150"/>
            <a:ext cx="415890" cy="415890"/>
            <a:chOff x="8469889" y="5671544"/>
            <a:chExt cx="415890" cy="415890"/>
          </a:xfrm>
        </p:grpSpPr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7C24D191-B8CB-4194-8C2C-10BFA3919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32563" y="5707685"/>
              <a:ext cx="290542" cy="377405"/>
            </a:xfrm>
            <a:prstGeom prst="rect">
              <a:avLst/>
            </a:prstGeom>
          </p:spPr>
        </p:pic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C95F5E5E-FAD6-41E0-A591-09F0D87F4C2F}"/>
                </a:ext>
              </a:extLst>
            </p:cNvPr>
            <p:cNvSpPr/>
            <p:nvPr/>
          </p:nvSpPr>
          <p:spPr>
            <a:xfrm>
              <a:off x="8469889" y="5671544"/>
              <a:ext cx="415890" cy="41589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4437BCC-4F12-4813-A755-3E458DF4171D}"/>
              </a:ext>
            </a:extLst>
          </p:cNvPr>
          <p:cNvGrpSpPr/>
          <p:nvPr/>
        </p:nvGrpSpPr>
        <p:grpSpPr>
          <a:xfrm>
            <a:off x="1088391" y="3938471"/>
            <a:ext cx="509161" cy="415890"/>
            <a:chOff x="9348356" y="1224556"/>
            <a:chExt cx="509161" cy="415890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2A3958B8-82B1-49CD-A619-804B1CD66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48356" y="1272395"/>
              <a:ext cx="509161" cy="323848"/>
            </a:xfrm>
            <a:prstGeom prst="rect">
              <a:avLst/>
            </a:prstGeom>
          </p:spPr>
        </p:pic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FF5886DE-3842-49E6-9C0A-DFB794FAB7EF}"/>
                </a:ext>
              </a:extLst>
            </p:cNvPr>
            <p:cNvSpPr/>
            <p:nvPr/>
          </p:nvSpPr>
          <p:spPr>
            <a:xfrm>
              <a:off x="9389021" y="1224556"/>
              <a:ext cx="415890" cy="41589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A93C1C9-A119-4357-8A62-DA9189BC5FB7}"/>
              </a:ext>
            </a:extLst>
          </p:cNvPr>
          <p:cNvGrpSpPr/>
          <p:nvPr/>
        </p:nvGrpSpPr>
        <p:grpSpPr>
          <a:xfrm>
            <a:off x="1091836" y="2822736"/>
            <a:ext cx="417328" cy="415890"/>
            <a:chOff x="7405890" y="5203669"/>
            <a:chExt cx="417328" cy="415890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894398B3-397F-4A02-BE26-0248CF81D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1772" y="5242196"/>
              <a:ext cx="401446" cy="338835"/>
            </a:xfrm>
            <a:prstGeom prst="rect">
              <a:avLst/>
            </a:prstGeom>
          </p:spPr>
        </p:pic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CB0E2FAF-15E2-4C0D-BABD-E66C818D3164}"/>
                </a:ext>
              </a:extLst>
            </p:cNvPr>
            <p:cNvSpPr/>
            <p:nvPr/>
          </p:nvSpPr>
          <p:spPr>
            <a:xfrm>
              <a:off x="7405890" y="5203669"/>
              <a:ext cx="415890" cy="41589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26DA068-ACC1-442D-96E7-BDFE00FBE2D4}"/>
              </a:ext>
            </a:extLst>
          </p:cNvPr>
          <p:cNvGrpSpPr/>
          <p:nvPr/>
        </p:nvGrpSpPr>
        <p:grpSpPr>
          <a:xfrm>
            <a:off x="1125310" y="2271246"/>
            <a:ext cx="417328" cy="415890"/>
            <a:chOff x="7405890" y="5203669"/>
            <a:chExt cx="417328" cy="415890"/>
          </a:xfrm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75BA82CF-A0C0-406E-AB31-55C690DD2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1772" y="5242196"/>
              <a:ext cx="401446" cy="338835"/>
            </a:xfrm>
            <a:prstGeom prst="rect">
              <a:avLst/>
            </a:prstGeom>
          </p:spPr>
        </p:pic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AD8DEE0-D09B-4F50-8BD1-6598FA5022D1}"/>
                </a:ext>
              </a:extLst>
            </p:cNvPr>
            <p:cNvSpPr/>
            <p:nvPr/>
          </p:nvSpPr>
          <p:spPr>
            <a:xfrm>
              <a:off x="7405890" y="5203669"/>
              <a:ext cx="415890" cy="41589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2" name="그림 71">
            <a:extLst>
              <a:ext uri="{FF2B5EF4-FFF2-40B4-BE49-F238E27FC236}">
                <a16:creationId xmlns:a16="http://schemas.microsoft.com/office/drawing/2014/main" id="{036BF180-55A6-425D-A33C-D1EC82933C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6" t="14053" r="15913" b="14702"/>
          <a:stretch>
            <a:fillRect/>
          </a:stretch>
        </p:blipFill>
        <p:spPr>
          <a:xfrm>
            <a:off x="8522712" y="3942343"/>
            <a:ext cx="415890" cy="415890"/>
          </a:xfrm>
          <a:custGeom>
            <a:avLst/>
            <a:gdLst>
              <a:gd name="connsiteX0" fmla="*/ 614289 w 1228578"/>
              <a:gd name="connsiteY0" fmla="*/ 0 h 1228578"/>
              <a:gd name="connsiteX1" fmla="*/ 1228578 w 1228578"/>
              <a:gd name="connsiteY1" fmla="*/ 614289 h 1228578"/>
              <a:gd name="connsiteX2" fmla="*/ 614289 w 1228578"/>
              <a:gd name="connsiteY2" fmla="*/ 1228578 h 1228578"/>
              <a:gd name="connsiteX3" fmla="*/ 0 w 1228578"/>
              <a:gd name="connsiteY3" fmla="*/ 614289 h 1228578"/>
              <a:gd name="connsiteX4" fmla="*/ 614289 w 1228578"/>
              <a:gd name="connsiteY4" fmla="*/ 0 h 1228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578" h="1228578">
                <a:moveTo>
                  <a:pt x="614289" y="0"/>
                </a:moveTo>
                <a:cubicBezTo>
                  <a:pt x="953551" y="0"/>
                  <a:pt x="1228578" y="275027"/>
                  <a:pt x="1228578" y="614289"/>
                </a:cubicBezTo>
                <a:cubicBezTo>
                  <a:pt x="1228578" y="953551"/>
                  <a:pt x="953551" y="1228578"/>
                  <a:pt x="614289" y="1228578"/>
                </a:cubicBezTo>
                <a:cubicBezTo>
                  <a:pt x="275027" y="1228578"/>
                  <a:pt x="0" y="953551"/>
                  <a:pt x="0" y="614289"/>
                </a:cubicBezTo>
                <a:cubicBezTo>
                  <a:pt x="0" y="275027"/>
                  <a:pt x="275027" y="0"/>
                  <a:pt x="61428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25400">
            <a:solidFill>
              <a:srgbClr val="008000"/>
            </a:solidFill>
          </a:ln>
        </p:spPr>
      </p:pic>
      <p:grpSp>
        <p:nvGrpSpPr>
          <p:cNvPr id="73" name="그룹 72">
            <a:extLst>
              <a:ext uri="{FF2B5EF4-FFF2-40B4-BE49-F238E27FC236}">
                <a16:creationId xmlns:a16="http://schemas.microsoft.com/office/drawing/2014/main" id="{32CE483A-79FF-4FDA-9BD2-8B31CC570779}"/>
              </a:ext>
            </a:extLst>
          </p:cNvPr>
          <p:cNvGrpSpPr/>
          <p:nvPr/>
        </p:nvGrpSpPr>
        <p:grpSpPr>
          <a:xfrm>
            <a:off x="8471809" y="3330679"/>
            <a:ext cx="517696" cy="556564"/>
            <a:chOff x="4665092" y="5294296"/>
            <a:chExt cx="517696" cy="556564"/>
          </a:xfrm>
        </p:grpSpPr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337AC328-9629-4940-AF48-466CE34958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214" r="76308"/>
            <a:stretch/>
          </p:blipFill>
          <p:spPr>
            <a:xfrm>
              <a:off x="4665092" y="5294296"/>
              <a:ext cx="517696" cy="556564"/>
            </a:xfrm>
            <a:prstGeom prst="rect">
              <a:avLst/>
            </a:prstGeom>
          </p:spPr>
        </p:pic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DEEAED7-6AAF-4DCE-B707-4133C408937C}"/>
                </a:ext>
              </a:extLst>
            </p:cNvPr>
            <p:cNvSpPr/>
            <p:nvPr/>
          </p:nvSpPr>
          <p:spPr>
            <a:xfrm>
              <a:off x="4676689" y="5344982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35DFBD8-FD78-489F-9FB8-256046499F17}"/>
              </a:ext>
            </a:extLst>
          </p:cNvPr>
          <p:cNvGrpSpPr/>
          <p:nvPr/>
        </p:nvGrpSpPr>
        <p:grpSpPr>
          <a:xfrm>
            <a:off x="8826730" y="3310665"/>
            <a:ext cx="545371" cy="562985"/>
            <a:chOff x="4998849" y="4212989"/>
            <a:chExt cx="545371" cy="562985"/>
          </a:xfrm>
        </p:grpSpPr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9DB6E141-553F-4669-BBE5-00D4152B4E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3415" r="26300"/>
            <a:stretch/>
          </p:blipFill>
          <p:spPr>
            <a:xfrm>
              <a:off x="4998849" y="4212989"/>
              <a:ext cx="545371" cy="562985"/>
            </a:xfrm>
            <a:prstGeom prst="rect">
              <a:avLst/>
            </a:prstGeom>
          </p:spPr>
        </p:pic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5B252C0F-3FAC-47DE-A525-0ECCB1F43DA6}"/>
                </a:ext>
              </a:extLst>
            </p:cNvPr>
            <p:cNvSpPr/>
            <p:nvPr/>
          </p:nvSpPr>
          <p:spPr>
            <a:xfrm>
              <a:off x="5017201" y="4272914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7C7BF69D-A535-4FEF-B3D6-96FF60E4E092}"/>
              </a:ext>
            </a:extLst>
          </p:cNvPr>
          <p:cNvGrpSpPr/>
          <p:nvPr/>
        </p:nvGrpSpPr>
        <p:grpSpPr>
          <a:xfrm>
            <a:off x="8471809" y="2808896"/>
            <a:ext cx="527891" cy="549573"/>
            <a:chOff x="2412083" y="4268363"/>
            <a:chExt cx="527891" cy="549573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517E9D4E-9A56-4FE6-81F0-D3213FCFDF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532" r="28607"/>
            <a:stretch/>
          </p:blipFill>
          <p:spPr>
            <a:xfrm>
              <a:off x="2412083" y="4268363"/>
              <a:ext cx="527891" cy="549573"/>
            </a:xfrm>
            <a:prstGeom prst="rect">
              <a:avLst/>
            </a:prstGeom>
          </p:spPr>
        </p:pic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5E390E4F-99C5-4CA9-8AC9-73FC526E67A9}"/>
                </a:ext>
              </a:extLst>
            </p:cNvPr>
            <p:cNvSpPr/>
            <p:nvPr/>
          </p:nvSpPr>
          <p:spPr>
            <a:xfrm>
              <a:off x="2432389" y="4293096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0331F56-6E0E-4573-A102-556C9252CD85}"/>
              </a:ext>
            </a:extLst>
          </p:cNvPr>
          <p:cNvGrpSpPr/>
          <p:nvPr/>
        </p:nvGrpSpPr>
        <p:grpSpPr>
          <a:xfrm>
            <a:off x="8423767" y="2200761"/>
            <a:ext cx="560299" cy="549573"/>
            <a:chOff x="2939974" y="4929670"/>
            <a:chExt cx="560299" cy="549573"/>
          </a:xfrm>
        </p:grpSpPr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D1FC87D3-BFF4-40EF-8947-BAA6D4FF77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5160" r="53760"/>
            <a:stretch/>
          </p:blipFill>
          <p:spPr>
            <a:xfrm>
              <a:off x="2939974" y="4929670"/>
              <a:ext cx="560299" cy="549573"/>
            </a:xfrm>
            <a:prstGeom prst="rect">
              <a:avLst/>
            </a:prstGeom>
          </p:spPr>
        </p:pic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0B923C03-C424-488A-8826-E5AA0D014472}"/>
                </a:ext>
              </a:extLst>
            </p:cNvPr>
            <p:cNvSpPr/>
            <p:nvPr/>
          </p:nvSpPr>
          <p:spPr>
            <a:xfrm>
              <a:off x="2986906" y="4962463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B5CEAB7B-22D6-4AEC-A13E-016B5453E652}"/>
              </a:ext>
            </a:extLst>
          </p:cNvPr>
          <p:cNvGrpSpPr/>
          <p:nvPr/>
        </p:nvGrpSpPr>
        <p:grpSpPr>
          <a:xfrm>
            <a:off x="8755208" y="2212864"/>
            <a:ext cx="558043" cy="547916"/>
            <a:chOff x="3607303" y="4710588"/>
            <a:chExt cx="558043" cy="547916"/>
          </a:xfrm>
        </p:grpSpPr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80A0FB2B-209D-4E08-A37E-D12D396B8E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9005" b="302"/>
            <a:stretch/>
          </p:blipFill>
          <p:spPr>
            <a:xfrm>
              <a:off x="3607303" y="4710588"/>
              <a:ext cx="558043" cy="547916"/>
            </a:xfrm>
            <a:prstGeom prst="rect">
              <a:avLst/>
            </a:prstGeom>
          </p:spPr>
        </p:pic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0B971314-D5EB-49B6-B4EF-83A8180FB3CD}"/>
                </a:ext>
              </a:extLst>
            </p:cNvPr>
            <p:cNvSpPr/>
            <p:nvPr/>
          </p:nvSpPr>
          <p:spPr>
            <a:xfrm>
              <a:off x="3654235" y="4729246"/>
              <a:ext cx="466433" cy="466433"/>
            </a:xfrm>
            <a:prstGeom prst="ellipse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6" name="타원 95">
            <a:extLst>
              <a:ext uri="{FF2B5EF4-FFF2-40B4-BE49-F238E27FC236}">
                <a16:creationId xmlns:a16="http://schemas.microsoft.com/office/drawing/2014/main" id="{FC35E9B0-2D7D-4EEB-8C87-FBBCBC783240}"/>
              </a:ext>
            </a:extLst>
          </p:cNvPr>
          <p:cNvSpPr/>
          <p:nvPr/>
        </p:nvSpPr>
        <p:spPr>
          <a:xfrm>
            <a:off x="889559" y="3947329"/>
            <a:ext cx="415890" cy="415890"/>
          </a:xfrm>
          <a:prstGeom prst="ellipse">
            <a:avLst/>
          </a:prstGeom>
          <a:blipFill>
            <a:blip r:embed="rId10"/>
            <a:stretch>
              <a:fillRect/>
            </a:stretch>
          </a:blip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643F9278-FEE6-47DE-8A49-BB525F060462}"/>
              </a:ext>
            </a:extLst>
          </p:cNvPr>
          <p:cNvSpPr/>
          <p:nvPr/>
        </p:nvSpPr>
        <p:spPr>
          <a:xfrm>
            <a:off x="611573" y="3952594"/>
            <a:ext cx="415890" cy="415890"/>
          </a:xfrm>
          <a:prstGeom prst="ellipse">
            <a:avLst/>
          </a:prstGeom>
          <a:blipFill>
            <a:blip r:embed="rId11"/>
            <a:stretch>
              <a:fillRect/>
            </a:stretch>
          </a:blipFill>
          <a:ln>
            <a:solidFill>
              <a:srgbClr val="23B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358CDFD-7BA8-4D69-943F-269E7A89D513}"/>
              </a:ext>
            </a:extLst>
          </p:cNvPr>
          <p:cNvSpPr/>
          <p:nvPr/>
        </p:nvSpPr>
        <p:spPr>
          <a:xfrm>
            <a:off x="317314" y="1485838"/>
            <a:ext cx="9244197" cy="4607455"/>
          </a:xfrm>
          <a:prstGeom prst="roundRect">
            <a:avLst>
              <a:gd name="adj" fmla="val 2100"/>
            </a:avLst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3C839683-E6FE-4E93-8F16-1857E99EF6BA}"/>
              </a:ext>
            </a:extLst>
          </p:cNvPr>
          <p:cNvGrpSpPr/>
          <p:nvPr/>
        </p:nvGrpSpPr>
        <p:grpSpPr>
          <a:xfrm>
            <a:off x="891585" y="4460730"/>
            <a:ext cx="1609486" cy="1609486"/>
            <a:chOff x="-2451710" y="2174834"/>
            <a:chExt cx="2532198" cy="2532198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341C6666-5F6A-4C27-B883-F14A932168C8}"/>
                </a:ext>
              </a:extLst>
            </p:cNvPr>
            <p:cNvGrpSpPr/>
            <p:nvPr/>
          </p:nvGrpSpPr>
          <p:grpSpPr>
            <a:xfrm>
              <a:off x="-2451710" y="2174834"/>
              <a:ext cx="2532198" cy="2532198"/>
              <a:chOff x="3391598" y="2383419"/>
              <a:chExt cx="2880000" cy="2880000"/>
            </a:xfrm>
          </p:grpSpPr>
          <p:sp>
            <p:nvSpPr>
              <p:cNvPr id="108" name="Freeform 70">
                <a:extLst>
                  <a:ext uri="{FF2B5EF4-FFF2-40B4-BE49-F238E27FC236}">
                    <a16:creationId xmlns:a16="http://schemas.microsoft.com/office/drawing/2014/main" id="{6B32719A-8443-4D28-830E-4B97C284C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1598" y="2383419"/>
                <a:ext cx="2880000" cy="2880000"/>
              </a:xfrm>
              <a:custGeom>
                <a:avLst/>
                <a:gdLst>
                  <a:gd name="T0" fmla="*/ 1378584 w 1859"/>
                  <a:gd name="T1" fmla="*/ 0 h 1861"/>
                  <a:gd name="T2" fmla="*/ 1526659 w 1859"/>
                  <a:gd name="T3" fmla="*/ 8885 h 1861"/>
                  <a:gd name="T4" fmla="*/ 1673254 w 1859"/>
                  <a:gd name="T5" fmla="*/ 32579 h 1861"/>
                  <a:gd name="T6" fmla="*/ 1810964 w 1859"/>
                  <a:gd name="T7" fmla="*/ 71082 h 1861"/>
                  <a:gd name="T8" fmla="*/ 1945713 w 1859"/>
                  <a:gd name="T9" fmla="*/ 122912 h 1861"/>
                  <a:gd name="T10" fmla="*/ 2071577 w 1859"/>
                  <a:gd name="T11" fmla="*/ 188071 h 1861"/>
                  <a:gd name="T12" fmla="*/ 2190038 w 1859"/>
                  <a:gd name="T13" fmla="*/ 266557 h 1861"/>
                  <a:gd name="T14" fmla="*/ 2298133 w 1859"/>
                  <a:gd name="T15" fmla="*/ 355409 h 1861"/>
                  <a:gd name="T16" fmla="*/ 2398824 w 1859"/>
                  <a:gd name="T17" fmla="*/ 456108 h 1861"/>
                  <a:gd name="T18" fmla="*/ 2487670 w 1859"/>
                  <a:gd name="T19" fmla="*/ 564212 h 1861"/>
                  <a:gd name="T20" fmla="*/ 2566150 w 1859"/>
                  <a:gd name="T21" fmla="*/ 682681 h 1861"/>
                  <a:gd name="T22" fmla="*/ 2631303 w 1859"/>
                  <a:gd name="T23" fmla="*/ 810036 h 1861"/>
                  <a:gd name="T24" fmla="*/ 2683129 w 1859"/>
                  <a:gd name="T25" fmla="*/ 943315 h 1861"/>
                  <a:gd name="T26" fmla="*/ 2720148 w 1859"/>
                  <a:gd name="T27" fmla="*/ 1081035 h 1861"/>
                  <a:gd name="T28" fmla="*/ 2745321 w 1859"/>
                  <a:gd name="T29" fmla="*/ 1227642 h 1861"/>
                  <a:gd name="T30" fmla="*/ 2752725 w 1859"/>
                  <a:gd name="T31" fmla="*/ 1378690 h 1861"/>
                  <a:gd name="T32" fmla="*/ 2745321 w 1859"/>
                  <a:gd name="T33" fmla="*/ 1528258 h 1861"/>
                  <a:gd name="T34" fmla="*/ 2720148 w 1859"/>
                  <a:gd name="T35" fmla="*/ 1674865 h 1861"/>
                  <a:gd name="T36" fmla="*/ 2683129 w 1859"/>
                  <a:gd name="T37" fmla="*/ 1812585 h 1861"/>
                  <a:gd name="T38" fmla="*/ 2631303 w 1859"/>
                  <a:gd name="T39" fmla="*/ 1948826 h 1861"/>
                  <a:gd name="T40" fmla="*/ 2566150 w 1859"/>
                  <a:gd name="T41" fmla="*/ 2073219 h 1861"/>
                  <a:gd name="T42" fmla="*/ 2487670 w 1859"/>
                  <a:gd name="T43" fmla="*/ 2191688 h 1861"/>
                  <a:gd name="T44" fmla="*/ 2398824 w 1859"/>
                  <a:gd name="T45" fmla="*/ 2299792 h 1861"/>
                  <a:gd name="T46" fmla="*/ 2298133 w 1859"/>
                  <a:gd name="T47" fmla="*/ 2400491 h 1861"/>
                  <a:gd name="T48" fmla="*/ 2190038 w 1859"/>
                  <a:gd name="T49" fmla="*/ 2489343 h 1861"/>
                  <a:gd name="T50" fmla="*/ 2071577 w 1859"/>
                  <a:gd name="T51" fmla="*/ 2567829 h 1861"/>
                  <a:gd name="T52" fmla="*/ 1945713 w 1859"/>
                  <a:gd name="T53" fmla="*/ 2632988 h 1861"/>
                  <a:gd name="T54" fmla="*/ 1810964 w 1859"/>
                  <a:gd name="T55" fmla="*/ 2684818 h 1861"/>
                  <a:gd name="T56" fmla="*/ 1673254 w 1859"/>
                  <a:gd name="T57" fmla="*/ 2723321 h 1861"/>
                  <a:gd name="T58" fmla="*/ 1526659 w 1859"/>
                  <a:gd name="T59" fmla="*/ 2747015 h 1861"/>
                  <a:gd name="T60" fmla="*/ 1378584 w 1859"/>
                  <a:gd name="T61" fmla="*/ 2755900 h 1861"/>
                  <a:gd name="T62" fmla="*/ 1226066 w 1859"/>
                  <a:gd name="T63" fmla="*/ 2747015 h 1861"/>
                  <a:gd name="T64" fmla="*/ 1079471 w 1859"/>
                  <a:gd name="T65" fmla="*/ 2723321 h 1861"/>
                  <a:gd name="T66" fmla="*/ 941761 w 1859"/>
                  <a:gd name="T67" fmla="*/ 2684818 h 1861"/>
                  <a:gd name="T68" fmla="*/ 807012 w 1859"/>
                  <a:gd name="T69" fmla="*/ 2632988 h 1861"/>
                  <a:gd name="T70" fmla="*/ 682628 w 1859"/>
                  <a:gd name="T71" fmla="*/ 2567829 h 1861"/>
                  <a:gd name="T72" fmla="*/ 562687 w 1859"/>
                  <a:gd name="T73" fmla="*/ 2489343 h 1861"/>
                  <a:gd name="T74" fmla="*/ 454592 w 1859"/>
                  <a:gd name="T75" fmla="*/ 2400491 h 1861"/>
                  <a:gd name="T76" fmla="*/ 353901 w 1859"/>
                  <a:gd name="T77" fmla="*/ 2299792 h 1861"/>
                  <a:gd name="T78" fmla="*/ 265055 w 1859"/>
                  <a:gd name="T79" fmla="*/ 2191688 h 1861"/>
                  <a:gd name="T80" fmla="*/ 186575 w 1859"/>
                  <a:gd name="T81" fmla="*/ 2073219 h 1861"/>
                  <a:gd name="T82" fmla="*/ 121422 w 1859"/>
                  <a:gd name="T83" fmla="*/ 1948826 h 1861"/>
                  <a:gd name="T84" fmla="*/ 71076 w 1859"/>
                  <a:gd name="T85" fmla="*/ 1812585 h 1861"/>
                  <a:gd name="T86" fmla="*/ 32577 w 1859"/>
                  <a:gd name="T87" fmla="*/ 1674865 h 1861"/>
                  <a:gd name="T88" fmla="*/ 7404 w 1859"/>
                  <a:gd name="T89" fmla="*/ 1528258 h 1861"/>
                  <a:gd name="T90" fmla="*/ 0 w 1859"/>
                  <a:gd name="T91" fmla="*/ 1378690 h 1861"/>
                  <a:gd name="T92" fmla="*/ 7404 w 1859"/>
                  <a:gd name="T93" fmla="*/ 1227642 h 1861"/>
                  <a:gd name="T94" fmla="*/ 32577 w 1859"/>
                  <a:gd name="T95" fmla="*/ 1081035 h 1861"/>
                  <a:gd name="T96" fmla="*/ 71076 w 1859"/>
                  <a:gd name="T97" fmla="*/ 943315 h 1861"/>
                  <a:gd name="T98" fmla="*/ 121422 w 1859"/>
                  <a:gd name="T99" fmla="*/ 810036 h 1861"/>
                  <a:gd name="T100" fmla="*/ 186575 w 1859"/>
                  <a:gd name="T101" fmla="*/ 682681 h 1861"/>
                  <a:gd name="T102" fmla="*/ 265055 w 1859"/>
                  <a:gd name="T103" fmla="*/ 564212 h 1861"/>
                  <a:gd name="T104" fmla="*/ 353901 w 1859"/>
                  <a:gd name="T105" fmla="*/ 456108 h 1861"/>
                  <a:gd name="T106" fmla="*/ 454592 w 1859"/>
                  <a:gd name="T107" fmla="*/ 355409 h 1861"/>
                  <a:gd name="T108" fmla="*/ 562687 w 1859"/>
                  <a:gd name="T109" fmla="*/ 266557 h 1861"/>
                  <a:gd name="T110" fmla="*/ 682628 w 1859"/>
                  <a:gd name="T111" fmla="*/ 188071 h 1861"/>
                  <a:gd name="T112" fmla="*/ 807012 w 1859"/>
                  <a:gd name="T113" fmla="*/ 122912 h 1861"/>
                  <a:gd name="T114" fmla="*/ 941761 w 1859"/>
                  <a:gd name="T115" fmla="*/ 71082 h 1861"/>
                  <a:gd name="T116" fmla="*/ 1079471 w 1859"/>
                  <a:gd name="T117" fmla="*/ 32579 h 1861"/>
                  <a:gd name="T118" fmla="*/ 1226066 w 1859"/>
                  <a:gd name="T119" fmla="*/ 8885 h 1861"/>
                  <a:gd name="T120" fmla="*/ 1378584 w 1859"/>
                  <a:gd name="T121" fmla="*/ 0 h 186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859" h="1861">
                    <a:moveTo>
                      <a:pt x="931" y="0"/>
                    </a:moveTo>
                    <a:lnTo>
                      <a:pt x="1031" y="6"/>
                    </a:lnTo>
                    <a:lnTo>
                      <a:pt x="1130" y="22"/>
                    </a:lnTo>
                    <a:lnTo>
                      <a:pt x="1223" y="48"/>
                    </a:lnTo>
                    <a:lnTo>
                      <a:pt x="1314" y="83"/>
                    </a:lnTo>
                    <a:lnTo>
                      <a:pt x="1399" y="127"/>
                    </a:lnTo>
                    <a:lnTo>
                      <a:pt x="1479" y="180"/>
                    </a:lnTo>
                    <a:lnTo>
                      <a:pt x="1552" y="240"/>
                    </a:lnTo>
                    <a:lnTo>
                      <a:pt x="1620" y="308"/>
                    </a:lnTo>
                    <a:lnTo>
                      <a:pt x="1680" y="381"/>
                    </a:lnTo>
                    <a:lnTo>
                      <a:pt x="1733" y="461"/>
                    </a:lnTo>
                    <a:lnTo>
                      <a:pt x="1777" y="547"/>
                    </a:lnTo>
                    <a:lnTo>
                      <a:pt x="1812" y="637"/>
                    </a:lnTo>
                    <a:lnTo>
                      <a:pt x="1837" y="730"/>
                    </a:lnTo>
                    <a:lnTo>
                      <a:pt x="1854" y="829"/>
                    </a:lnTo>
                    <a:lnTo>
                      <a:pt x="1859" y="931"/>
                    </a:lnTo>
                    <a:lnTo>
                      <a:pt x="1854" y="1032"/>
                    </a:lnTo>
                    <a:lnTo>
                      <a:pt x="1837" y="1131"/>
                    </a:lnTo>
                    <a:lnTo>
                      <a:pt x="1812" y="1224"/>
                    </a:lnTo>
                    <a:lnTo>
                      <a:pt x="1777" y="1316"/>
                    </a:lnTo>
                    <a:lnTo>
                      <a:pt x="1733" y="1400"/>
                    </a:lnTo>
                    <a:lnTo>
                      <a:pt x="1680" y="1480"/>
                    </a:lnTo>
                    <a:lnTo>
                      <a:pt x="1620" y="1553"/>
                    </a:lnTo>
                    <a:lnTo>
                      <a:pt x="1552" y="1621"/>
                    </a:lnTo>
                    <a:lnTo>
                      <a:pt x="1479" y="1681"/>
                    </a:lnTo>
                    <a:lnTo>
                      <a:pt x="1399" y="1734"/>
                    </a:lnTo>
                    <a:lnTo>
                      <a:pt x="1314" y="1778"/>
                    </a:lnTo>
                    <a:lnTo>
                      <a:pt x="1223" y="1813"/>
                    </a:lnTo>
                    <a:lnTo>
                      <a:pt x="1130" y="1839"/>
                    </a:lnTo>
                    <a:lnTo>
                      <a:pt x="1031" y="1855"/>
                    </a:lnTo>
                    <a:lnTo>
                      <a:pt x="931" y="1861"/>
                    </a:lnTo>
                    <a:lnTo>
                      <a:pt x="828" y="1855"/>
                    </a:lnTo>
                    <a:lnTo>
                      <a:pt x="729" y="1839"/>
                    </a:lnTo>
                    <a:lnTo>
                      <a:pt x="636" y="1813"/>
                    </a:lnTo>
                    <a:lnTo>
                      <a:pt x="545" y="1778"/>
                    </a:lnTo>
                    <a:lnTo>
                      <a:pt x="461" y="1734"/>
                    </a:lnTo>
                    <a:lnTo>
                      <a:pt x="380" y="1681"/>
                    </a:lnTo>
                    <a:lnTo>
                      <a:pt x="307" y="1621"/>
                    </a:lnTo>
                    <a:lnTo>
                      <a:pt x="239" y="1553"/>
                    </a:lnTo>
                    <a:lnTo>
                      <a:pt x="179" y="1480"/>
                    </a:lnTo>
                    <a:lnTo>
                      <a:pt x="126" y="1400"/>
                    </a:lnTo>
                    <a:lnTo>
                      <a:pt x="82" y="1316"/>
                    </a:lnTo>
                    <a:lnTo>
                      <a:pt x="48" y="1224"/>
                    </a:lnTo>
                    <a:lnTo>
                      <a:pt x="22" y="1131"/>
                    </a:lnTo>
                    <a:lnTo>
                      <a:pt x="5" y="1032"/>
                    </a:lnTo>
                    <a:lnTo>
                      <a:pt x="0" y="931"/>
                    </a:lnTo>
                    <a:lnTo>
                      <a:pt x="5" y="829"/>
                    </a:lnTo>
                    <a:lnTo>
                      <a:pt x="22" y="730"/>
                    </a:lnTo>
                    <a:lnTo>
                      <a:pt x="48" y="637"/>
                    </a:lnTo>
                    <a:lnTo>
                      <a:pt x="82" y="547"/>
                    </a:lnTo>
                    <a:lnTo>
                      <a:pt x="126" y="461"/>
                    </a:lnTo>
                    <a:lnTo>
                      <a:pt x="179" y="381"/>
                    </a:lnTo>
                    <a:lnTo>
                      <a:pt x="239" y="308"/>
                    </a:lnTo>
                    <a:lnTo>
                      <a:pt x="307" y="240"/>
                    </a:lnTo>
                    <a:lnTo>
                      <a:pt x="380" y="180"/>
                    </a:lnTo>
                    <a:lnTo>
                      <a:pt x="461" y="127"/>
                    </a:lnTo>
                    <a:lnTo>
                      <a:pt x="545" y="83"/>
                    </a:lnTo>
                    <a:lnTo>
                      <a:pt x="636" y="48"/>
                    </a:lnTo>
                    <a:lnTo>
                      <a:pt x="729" y="22"/>
                    </a:lnTo>
                    <a:lnTo>
                      <a:pt x="828" y="6"/>
                    </a:lnTo>
                    <a:lnTo>
                      <a:pt x="931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BFFBE6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10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10" name="Oval 75">
                <a:extLst>
                  <a:ext uri="{FF2B5EF4-FFF2-40B4-BE49-F238E27FC236}">
                    <a16:creationId xmlns:a16="http://schemas.microsoft.com/office/drawing/2014/main" id="{6229D7B6-24CA-4463-B380-26F205751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3571" y="2536876"/>
                <a:ext cx="2576055" cy="257308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10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9DABAE83-BBBC-4EEC-A62A-ABE03B4063E3}"/>
                </a:ext>
              </a:extLst>
            </p:cNvPr>
            <p:cNvGrpSpPr/>
            <p:nvPr/>
          </p:nvGrpSpPr>
          <p:grpSpPr>
            <a:xfrm>
              <a:off x="-2324100" y="2294184"/>
              <a:ext cx="2277319" cy="2277319"/>
              <a:chOff x="-2324100" y="2294184"/>
              <a:chExt cx="2277319" cy="2277319"/>
            </a:xfrm>
          </p:grpSpPr>
          <p:pic>
            <p:nvPicPr>
              <p:cNvPr id="102" name="그림 101">
                <a:extLst>
                  <a:ext uri="{FF2B5EF4-FFF2-40B4-BE49-F238E27FC236}">
                    <a16:creationId xmlns:a16="http://schemas.microsoft.com/office/drawing/2014/main" id="{E2FBED95-C72F-443B-BD00-797F9C8F66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-3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71" t="3747" r="3151" b="1383"/>
              <a:stretch/>
            </p:blipFill>
            <p:spPr>
              <a:xfrm>
                <a:off x="-2324100" y="2294184"/>
                <a:ext cx="2277319" cy="2277319"/>
              </a:xfrm>
              <a:custGeom>
                <a:avLst/>
                <a:gdLst>
                  <a:gd name="connsiteX0" fmla="*/ 1714147 w 3422770"/>
                  <a:gd name="connsiteY0" fmla="*/ 0 h 3422770"/>
                  <a:gd name="connsiteX1" fmla="*/ 1898266 w 3422770"/>
                  <a:gd name="connsiteY1" fmla="*/ 11035 h 3422770"/>
                  <a:gd name="connsiteX2" fmla="*/ 2080543 w 3422770"/>
                  <a:gd name="connsiteY2" fmla="*/ 40463 h 3422770"/>
                  <a:gd name="connsiteX3" fmla="*/ 2251774 w 3422770"/>
                  <a:gd name="connsiteY3" fmla="*/ 88282 h 3422770"/>
                  <a:gd name="connsiteX4" fmla="*/ 2419322 w 3422770"/>
                  <a:gd name="connsiteY4" fmla="*/ 152655 h 3422770"/>
                  <a:gd name="connsiteX5" fmla="*/ 2575823 w 3422770"/>
                  <a:gd name="connsiteY5" fmla="*/ 233580 h 3422770"/>
                  <a:gd name="connsiteX6" fmla="*/ 2723118 w 3422770"/>
                  <a:gd name="connsiteY6" fmla="*/ 331058 h 3422770"/>
                  <a:gd name="connsiteX7" fmla="*/ 2857525 w 3422770"/>
                  <a:gd name="connsiteY7" fmla="*/ 441411 h 3422770"/>
                  <a:gd name="connsiteX8" fmla="*/ 2982726 w 3422770"/>
                  <a:gd name="connsiteY8" fmla="*/ 566477 h 3422770"/>
                  <a:gd name="connsiteX9" fmla="*/ 3093197 w 3422770"/>
                  <a:gd name="connsiteY9" fmla="*/ 700739 h 3422770"/>
                  <a:gd name="connsiteX10" fmla="*/ 3190780 w 3422770"/>
                  <a:gd name="connsiteY10" fmla="*/ 847876 h 3422770"/>
                  <a:gd name="connsiteX11" fmla="*/ 3271793 w 3422770"/>
                  <a:gd name="connsiteY11" fmla="*/ 1006048 h 3422770"/>
                  <a:gd name="connsiteX12" fmla="*/ 3336234 w 3422770"/>
                  <a:gd name="connsiteY12" fmla="*/ 1171577 h 3422770"/>
                  <a:gd name="connsiteX13" fmla="*/ 3382264 w 3422770"/>
                  <a:gd name="connsiteY13" fmla="*/ 1342624 h 3422770"/>
                  <a:gd name="connsiteX14" fmla="*/ 3413564 w 3422770"/>
                  <a:gd name="connsiteY14" fmla="*/ 1524705 h 3422770"/>
                  <a:gd name="connsiteX15" fmla="*/ 3422770 w 3422770"/>
                  <a:gd name="connsiteY15" fmla="*/ 1712305 h 3422770"/>
                  <a:gd name="connsiteX16" fmla="*/ 3413564 w 3422770"/>
                  <a:gd name="connsiteY16" fmla="*/ 1898065 h 3422770"/>
                  <a:gd name="connsiteX17" fmla="*/ 3382264 w 3422770"/>
                  <a:gd name="connsiteY17" fmla="*/ 2080147 h 3422770"/>
                  <a:gd name="connsiteX18" fmla="*/ 3336234 w 3422770"/>
                  <a:gd name="connsiteY18" fmla="*/ 2251193 h 3422770"/>
                  <a:gd name="connsiteX19" fmla="*/ 3271793 w 3422770"/>
                  <a:gd name="connsiteY19" fmla="*/ 2420401 h 3422770"/>
                  <a:gd name="connsiteX20" fmla="*/ 3190780 w 3422770"/>
                  <a:gd name="connsiteY20" fmla="*/ 2574894 h 3422770"/>
                  <a:gd name="connsiteX21" fmla="*/ 3093197 w 3422770"/>
                  <a:gd name="connsiteY21" fmla="*/ 2722031 h 3422770"/>
                  <a:gd name="connsiteX22" fmla="*/ 2982726 w 3422770"/>
                  <a:gd name="connsiteY22" fmla="*/ 2856293 h 3422770"/>
                  <a:gd name="connsiteX23" fmla="*/ 2857525 w 3422770"/>
                  <a:gd name="connsiteY23" fmla="*/ 2981360 h 3422770"/>
                  <a:gd name="connsiteX24" fmla="*/ 2723118 w 3422770"/>
                  <a:gd name="connsiteY24" fmla="*/ 3091712 h 3422770"/>
                  <a:gd name="connsiteX25" fmla="*/ 2575823 w 3422770"/>
                  <a:gd name="connsiteY25" fmla="*/ 3189190 h 3422770"/>
                  <a:gd name="connsiteX26" fmla="*/ 2419322 w 3422770"/>
                  <a:gd name="connsiteY26" fmla="*/ 3270116 h 3422770"/>
                  <a:gd name="connsiteX27" fmla="*/ 2251774 w 3422770"/>
                  <a:gd name="connsiteY27" fmla="*/ 3334488 h 3422770"/>
                  <a:gd name="connsiteX28" fmla="*/ 2080543 w 3422770"/>
                  <a:gd name="connsiteY28" fmla="*/ 3382308 h 3422770"/>
                  <a:gd name="connsiteX29" fmla="*/ 1898266 w 3422770"/>
                  <a:gd name="connsiteY29" fmla="*/ 3411735 h 3422770"/>
                  <a:gd name="connsiteX30" fmla="*/ 1714147 w 3422770"/>
                  <a:gd name="connsiteY30" fmla="*/ 3422770 h 3422770"/>
                  <a:gd name="connsiteX31" fmla="*/ 1524505 w 3422770"/>
                  <a:gd name="connsiteY31" fmla="*/ 3411735 h 3422770"/>
                  <a:gd name="connsiteX32" fmla="*/ 1342227 w 3422770"/>
                  <a:gd name="connsiteY32" fmla="*/ 3382308 h 3422770"/>
                  <a:gd name="connsiteX33" fmla="*/ 1170996 w 3422770"/>
                  <a:gd name="connsiteY33" fmla="*/ 3334488 h 3422770"/>
                  <a:gd name="connsiteX34" fmla="*/ 1003448 w 3422770"/>
                  <a:gd name="connsiteY34" fmla="*/ 3270116 h 3422770"/>
                  <a:gd name="connsiteX35" fmla="*/ 848788 w 3422770"/>
                  <a:gd name="connsiteY35" fmla="*/ 3189190 h 3422770"/>
                  <a:gd name="connsiteX36" fmla="*/ 699652 w 3422770"/>
                  <a:gd name="connsiteY36" fmla="*/ 3091712 h 3422770"/>
                  <a:gd name="connsiteX37" fmla="*/ 565245 w 3422770"/>
                  <a:gd name="connsiteY37" fmla="*/ 2981360 h 3422770"/>
                  <a:gd name="connsiteX38" fmla="*/ 440044 w 3422770"/>
                  <a:gd name="connsiteY38" fmla="*/ 2856293 h 3422770"/>
                  <a:gd name="connsiteX39" fmla="*/ 329573 w 3422770"/>
                  <a:gd name="connsiteY39" fmla="*/ 2722031 h 3422770"/>
                  <a:gd name="connsiteX40" fmla="*/ 231990 w 3422770"/>
                  <a:gd name="connsiteY40" fmla="*/ 2574894 h 3422770"/>
                  <a:gd name="connsiteX41" fmla="*/ 150978 w 3422770"/>
                  <a:gd name="connsiteY41" fmla="*/ 2420401 h 3422770"/>
                  <a:gd name="connsiteX42" fmla="*/ 88377 w 3422770"/>
                  <a:gd name="connsiteY42" fmla="*/ 2251193 h 3422770"/>
                  <a:gd name="connsiteX43" fmla="*/ 40506 w 3422770"/>
                  <a:gd name="connsiteY43" fmla="*/ 2080147 h 3422770"/>
                  <a:gd name="connsiteX44" fmla="*/ 9206 w 3422770"/>
                  <a:gd name="connsiteY44" fmla="*/ 1898065 h 3422770"/>
                  <a:gd name="connsiteX45" fmla="*/ 0 w 3422770"/>
                  <a:gd name="connsiteY45" fmla="*/ 1712305 h 3422770"/>
                  <a:gd name="connsiteX46" fmla="*/ 9206 w 3422770"/>
                  <a:gd name="connsiteY46" fmla="*/ 1524705 h 3422770"/>
                  <a:gd name="connsiteX47" fmla="*/ 40506 w 3422770"/>
                  <a:gd name="connsiteY47" fmla="*/ 1342624 h 3422770"/>
                  <a:gd name="connsiteX48" fmla="*/ 88377 w 3422770"/>
                  <a:gd name="connsiteY48" fmla="*/ 1171577 h 3422770"/>
                  <a:gd name="connsiteX49" fmla="*/ 150978 w 3422770"/>
                  <a:gd name="connsiteY49" fmla="*/ 1006048 h 3422770"/>
                  <a:gd name="connsiteX50" fmla="*/ 231990 w 3422770"/>
                  <a:gd name="connsiteY50" fmla="*/ 847876 h 3422770"/>
                  <a:gd name="connsiteX51" fmla="*/ 329573 w 3422770"/>
                  <a:gd name="connsiteY51" fmla="*/ 700739 h 3422770"/>
                  <a:gd name="connsiteX52" fmla="*/ 440044 w 3422770"/>
                  <a:gd name="connsiteY52" fmla="*/ 566477 h 3422770"/>
                  <a:gd name="connsiteX53" fmla="*/ 565245 w 3422770"/>
                  <a:gd name="connsiteY53" fmla="*/ 441411 h 3422770"/>
                  <a:gd name="connsiteX54" fmla="*/ 699652 w 3422770"/>
                  <a:gd name="connsiteY54" fmla="*/ 331058 h 3422770"/>
                  <a:gd name="connsiteX55" fmla="*/ 848788 w 3422770"/>
                  <a:gd name="connsiteY55" fmla="*/ 233580 h 3422770"/>
                  <a:gd name="connsiteX56" fmla="*/ 1003448 w 3422770"/>
                  <a:gd name="connsiteY56" fmla="*/ 152655 h 3422770"/>
                  <a:gd name="connsiteX57" fmla="*/ 1170996 w 3422770"/>
                  <a:gd name="connsiteY57" fmla="*/ 88282 h 3422770"/>
                  <a:gd name="connsiteX58" fmla="*/ 1342227 w 3422770"/>
                  <a:gd name="connsiteY58" fmla="*/ 40463 h 3422770"/>
                  <a:gd name="connsiteX59" fmla="*/ 1524505 w 3422770"/>
                  <a:gd name="connsiteY59" fmla="*/ 11035 h 3422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3422770" h="3422770">
                    <a:moveTo>
                      <a:pt x="1714147" y="0"/>
                    </a:moveTo>
                    <a:lnTo>
                      <a:pt x="1898266" y="11035"/>
                    </a:lnTo>
                    <a:lnTo>
                      <a:pt x="2080543" y="40463"/>
                    </a:lnTo>
                    <a:lnTo>
                      <a:pt x="2251774" y="88282"/>
                    </a:lnTo>
                    <a:lnTo>
                      <a:pt x="2419322" y="152655"/>
                    </a:lnTo>
                    <a:lnTo>
                      <a:pt x="2575823" y="233580"/>
                    </a:lnTo>
                    <a:lnTo>
                      <a:pt x="2723118" y="331058"/>
                    </a:lnTo>
                    <a:lnTo>
                      <a:pt x="2857525" y="441411"/>
                    </a:lnTo>
                    <a:lnTo>
                      <a:pt x="2982726" y="566477"/>
                    </a:lnTo>
                    <a:lnTo>
                      <a:pt x="3093197" y="700739"/>
                    </a:lnTo>
                    <a:lnTo>
                      <a:pt x="3190780" y="847876"/>
                    </a:lnTo>
                    <a:lnTo>
                      <a:pt x="3271793" y="1006048"/>
                    </a:lnTo>
                    <a:lnTo>
                      <a:pt x="3336234" y="1171577"/>
                    </a:lnTo>
                    <a:lnTo>
                      <a:pt x="3382264" y="1342624"/>
                    </a:lnTo>
                    <a:lnTo>
                      <a:pt x="3413564" y="1524705"/>
                    </a:lnTo>
                    <a:lnTo>
                      <a:pt x="3422770" y="1712305"/>
                    </a:lnTo>
                    <a:lnTo>
                      <a:pt x="3413564" y="1898065"/>
                    </a:lnTo>
                    <a:lnTo>
                      <a:pt x="3382264" y="2080147"/>
                    </a:lnTo>
                    <a:lnTo>
                      <a:pt x="3336234" y="2251193"/>
                    </a:lnTo>
                    <a:lnTo>
                      <a:pt x="3271793" y="2420401"/>
                    </a:lnTo>
                    <a:lnTo>
                      <a:pt x="3190780" y="2574894"/>
                    </a:lnTo>
                    <a:lnTo>
                      <a:pt x="3093197" y="2722031"/>
                    </a:lnTo>
                    <a:lnTo>
                      <a:pt x="2982726" y="2856293"/>
                    </a:lnTo>
                    <a:lnTo>
                      <a:pt x="2857525" y="2981360"/>
                    </a:lnTo>
                    <a:lnTo>
                      <a:pt x="2723118" y="3091712"/>
                    </a:lnTo>
                    <a:lnTo>
                      <a:pt x="2575823" y="3189190"/>
                    </a:lnTo>
                    <a:lnTo>
                      <a:pt x="2419322" y="3270116"/>
                    </a:lnTo>
                    <a:lnTo>
                      <a:pt x="2251774" y="3334488"/>
                    </a:lnTo>
                    <a:lnTo>
                      <a:pt x="2080543" y="3382308"/>
                    </a:lnTo>
                    <a:lnTo>
                      <a:pt x="1898266" y="3411735"/>
                    </a:lnTo>
                    <a:lnTo>
                      <a:pt x="1714147" y="3422770"/>
                    </a:lnTo>
                    <a:lnTo>
                      <a:pt x="1524505" y="3411735"/>
                    </a:lnTo>
                    <a:lnTo>
                      <a:pt x="1342227" y="3382308"/>
                    </a:lnTo>
                    <a:lnTo>
                      <a:pt x="1170996" y="3334488"/>
                    </a:lnTo>
                    <a:lnTo>
                      <a:pt x="1003448" y="3270116"/>
                    </a:lnTo>
                    <a:lnTo>
                      <a:pt x="848788" y="3189190"/>
                    </a:lnTo>
                    <a:lnTo>
                      <a:pt x="699652" y="3091712"/>
                    </a:lnTo>
                    <a:lnTo>
                      <a:pt x="565245" y="2981360"/>
                    </a:lnTo>
                    <a:lnTo>
                      <a:pt x="440044" y="2856293"/>
                    </a:lnTo>
                    <a:lnTo>
                      <a:pt x="329573" y="2722031"/>
                    </a:lnTo>
                    <a:lnTo>
                      <a:pt x="231990" y="2574894"/>
                    </a:lnTo>
                    <a:lnTo>
                      <a:pt x="150978" y="2420401"/>
                    </a:lnTo>
                    <a:lnTo>
                      <a:pt x="88377" y="2251193"/>
                    </a:lnTo>
                    <a:lnTo>
                      <a:pt x="40506" y="2080147"/>
                    </a:lnTo>
                    <a:lnTo>
                      <a:pt x="9206" y="1898065"/>
                    </a:lnTo>
                    <a:lnTo>
                      <a:pt x="0" y="1712305"/>
                    </a:lnTo>
                    <a:lnTo>
                      <a:pt x="9206" y="1524705"/>
                    </a:lnTo>
                    <a:lnTo>
                      <a:pt x="40506" y="1342624"/>
                    </a:lnTo>
                    <a:lnTo>
                      <a:pt x="88377" y="1171577"/>
                    </a:lnTo>
                    <a:lnTo>
                      <a:pt x="150978" y="1006048"/>
                    </a:lnTo>
                    <a:lnTo>
                      <a:pt x="231990" y="847876"/>
                    </a:lnTo>
                    <a:lnTo>
                      <a:pt x="329573" y="700739"/>
                    </a:lnTo>
                    <a:lnTo>
                      <a:pt x="440044" y="566477"/>
                    </a:lnTo>
                    <a:lnTo>
                      <a:pt x="565245" y="441411"/>
                    </a:lnTo>
                    <a:lnTo>
                      <a:pt x="699652" y="331058"/>
                    </a:lnTo>
                    <a:lnTo>
                      <a:pt x="848788" y="233580"/>
                    </a:lnTo>
                    <a:lnTo>
                      <a:pt x="1003448" y="152655"/>
                    </a:lnTo>
                    <a:lnTo>
                      <a:pt x="1170996" y="88282"/>
                    </a:lnTo>
                    <a:lnTo>
                      <a:pt x="1342227" y="40463"/>
                    </a:lnTo>
                    <a:lnTo>
                      <a:pt x="1524505" y="11035"/>
                    </a:lnTo>
                    <a:close/>
                  </a:path>
                </a:pathLst>
              </a:custGeom>
            </p:spPr>
          </p:pic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D28B4B16-901A-4B9D-BC73-330C7324A880}"/>
                  </a:ext>
                </a:extLst>
              </p:cNvPr>
              <p:cNvSpPr/>
              <p:nvPr/>
            </p:nvSpPr>
            <p:spPr>
              <a:xfrm>
                <a:off x="-1962677" y="2984445"/>
                <a:ext cx="1508759" cy="1102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ko-KR" altLang="en-US" sz="1100" b="1" spc="-100" dirty="0">
                    <a:gradFill>
                      <a:gsLst>
                        <a:gs pos="4167">
                          <a:prstClr val="white"/>
                        </a:gs>
                        <a:gs pos="12000">
                          <a:prstClr val="white"/>
                        </a:gs>
                      </a:gsLst>
                      <a:lin ang="5400000" scaled="0"/>
                    </a:gra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통합관제센터</a:t>
                </a:r>
                <a:endParaRPr lang="en-US" altLang="ko-KR" sz="1100" spc="-100" dirty="0">
                  <a:gradFill>
                    <a:gsLst>
                      <a:gs pos="4167">
                        <a:prstClr val="white"/>
                      </a:gs>
                      <a:gs pos="12000">
                        <a:prstClr val="white"/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  <a:p>
                <a:pPr lvl="0" algn="ctr"/>
                <a:endParaRPr lang="en-US" altLang="ko-KR" sz="1050" spc="-100" dirty="0">
                  <a:gradFill>
                    <a:gsLst>
                      <a:gs pos="4167">
                        <a:prstClr val="white"/>
                      </a:gs>
                      <a:gs pos="12000">
                        <a:prstClr val="white"/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  <a:p>
                <a:pPr lvl="0" algn="ctr"/>
                <a:r>
                  <a:rPr lang="en-US" altLang="ko-KR" sz="1050" b="1" spc="-100" dirty="0">
                    <a:gradFill>
                      <a:gsLst>
                        <a:gs pos="4167">
                          <a:prstClr val="white"/>
                        </a:gs>
                        <a:gs pos="12000">
                          <a:prstClr val="white"/>
                        </a:gs>
                      </a:gsLst>
                      <a:lin ang="5400000" scaled="0"/>
                    </a:gra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24</a:t>
                </a:r>
                <a:r>
                  <a:rPr lang="ko-KR" altLang="en-US" sz="1050" b="1" spc="-100" dirty="0">
                    <a:gradFill>
                      <a:gsLst>
                        <a:gs pos="4167">
                          <a:prstClr val="white"/>
                        </a:gs>
                        <a:gs pos="12000">
                          <a:prstClr val="white"/>
                        </a:gs>
                      </a:gsLst>
                      <a:lin ang="5400000" scaled="0"/>
                    </a:gra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시간 실시간 </a:t>
                </a:r>
                <a:br>
                  <a:rPr lang="en-US" altLang="ko-KR" sz="1050" b="1" spc="-100" dirty="0">
                    <a:gradFill>
                      <a:gsLst>
                        <a:gs pos="4167">
                          <a:prstClr val="white"/>
                        </a:gs>
                        <a:gs pos="12000">
                          <a:prstClr val="white"/>
                        </a:gs>
                      </a:gsLst>
                      <a:lin ang="5400000" scaled="0"/>
                    </a:gra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</a:br>
                <a:r>
                  <a:rPr lang="ko-KR" altLang="en-US" sz="1050" b="1" spc="-100" dirty="0">
                    <a:gradFill>
                      <a:gsLst>
                        <a:gs pos="4167">
                          <a:prstClr val="white"/>
                        </a:gs>
                        <a:gs pos="12000">
                          <a:prstClr val="white"/>
                        </a:gs>
                      </a:gsLst>
                      <a:lin ang="5400000" scaled="0"/>
                    </a:gra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원격 감시</a:t>
                </a:r>
                <a:endParaRPr lang="en-US" altLang="ko-KR" sz="1050" b="1" spc="-100" dirty="0">
                  <a:gradFill>
                    <a:gsLst>
                      <a:gs pos="4167">
                        <a:prstClr val="white"/>
                      </a:gs>
                      <a:gs pos="12000">
                        <a:prstClr val="white"/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7C452FD1-7143-45A8-9FCE-BB0A4678505A}"/>
              </a:ext>
            </a:extLst>
          </p:cNvPr>
          <p:cNvGrpSpPr/>
          <p:nvPr/>
        </p:nvGrpSpPr>
        <p:grpSpPr>
          <a:xfrm>
            <a:off x="7242744" y="4533749"/>
            <a:ext cx="1455829" cy="1455829"/>
            <a:chOff x="3391598" y="2383419"/>
            <a:chExt cx="2880000" cy="2880000"/>
          </a:xfrm>
          <a:blipFill>
            <a:blip r:embed="rId14"/>
            <a:stretch>
              <a:fillRect/>
            </a:stretch>
          </a:blipFill>
        </p:grpSpPr>
        <p:sp>
          <p:nvSpPr>
            <p:cNvPr id="124" name="Freeform 70">
              <a:extLst>
                <a:ext uri="{FF2B5EF4-FFF2-40B4-BE49-F238E27FC236}">
                  <a16:creationId xmlns:a16="http://schemas.microsoft.com/office/drawing/2014/main" id="{39372490-868B-4920-9AC4-111F87EA0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598" y="2383419"/>
              <a:ext cx="2880000" cy="2880000"/>
            </a:xfrm>
            <a:custGeom>
              <a:avLst/>
              <a:gdLst>
                <a:gd name="T0" fmla="*/ 1378584 w 1859"/>
                <a:gd name="T1" fmla="*/ 0 h 1861"/>
                <a:gd name="T2" fmla="*/ 1526659 w 1859"/>
                <a:gd name="T3" fmla="*/ 8885 h 1861"/>
                <a:gd name="T4" fmla="*/ 1673254 w 1859"/>
                <a:gd name="T5" fmla="*/ 32579 h 1861"/>
                <a:gd name="T6" fmla="*/ 1810964 w 1859"/>
                <a:gd name="T7" fmla="*/ 71082 h 1861"/>
                <a:gd name="T8" fmla="*/ 1945713 w 1859"/>
                <a:gd name="T9" fmla="*/ 122912 h 1861"/>
                <a:gd name="T10" fmla="*/ 2071577 w 1859"/>
                <a:gd name="T11" fmla="*/ 188071 h 1861"/>
                <a:gd name="T12" fmla="*/ 2190038 w 1859"/>
                <a:gd name="T13" fmla="*/ 266557 h 1861"/>
                <a:gd name="T14" fmla="*/ 2298133 w 1859"/>
                <a:gd name="T15" fmla="*/ 355409 h 1861"/>
                <a:gd name="T16" fmla="*/ 2398824 w 1859"/>
                <a:gd name="T17" fmla="*/ 456108 h 1861"/>
                <a:gd name="T18" fmla="*/ 2487670 w 1859"/>
                <a:gd name="T19" fmla="*/ 564212 h 1861"/>
                <a:gd name="T20" fmla="*/ 2566150 w 1859"/>
                <a:gd name="T21" fmla="*/ 682681 h 1861"/>
                <a:gd name="T22" fmla="*/ 2631303 w 1859"/>
                <a:gd name="T23" fmla="*/ 810036 h 1861"/>
                <a:gd name="T24" fmla="*/ 2683129 w 1859"/>
                <a:gd name="T25" fmla="*/ 943315 h 1861"/>
                <a:gd name="T26" fmla="*/ 2720148 w 1859"/>
                <a:gd name="T27" fmla="*/ 1081035 h 1861"/>
                <a:gd name="T28" fmla="*/ 2745321 w 1859"/>
                <a:gd name="T29" fmla="*/ 1227642 h 1861"/>
                <a:gd name="T30" fmla="*/ 2752725 w 1859"/>
                <a:gd name="T31" fmla="*/ 1378690 h 1861"/>
                <a:gd name="T32" fmla="*/ 2745321 w 1859"/>
                <a:gd name="T33" fmla="*/ 1528258 h 1861"/>
                <a:gd name="T34" fmla="*/ 2720148 w 1859"/>
                <a:gd name="T35" fmla="*/ 1674865 h 1861"/>
                <a:gd name="T36" fmla="*/ 2683129 w 1859"/>
                <a:gd name="T37" fmla="*/ 1812585 h 1861"/>
                <a:gd name="T38" fmla="*/ 2631303 w 1859"/>
                <a:gd name="T39" fmla="*/ 1948826 h 1861"/>
                <a:gd name="T40" fmla="*/ 2566150 w 1859"/>
                <a:gd name="T41" fmla="*/ 2073219 h 1861"/>
                <a:gd name="T42" fmla="*/ 2487670 w 1859"/>
                <a:gd name="T43" fmla="*/ 2191688 h 1861"/>
                <a:gd name="T44" fmla="*/ 2398824 w 1859"/>
                <a:gd name="T45" fmla="*/ 2299792 h 1861"/>
                <a:gd name="T46" fmla="*/ 2298133 w 1859"/>
                <a:gd name="T47" fmla="*/ 2400491 h 1861"/>
                <a:gd name="T48" fmla="*/ 2190038 w 1859"/>
                <a:gd name="T49" fmla="*/ 2489343 h 1861"/>
                <a:gd name="T50" fmla="*/ 2071577 w 1859"/>
                <a:gd name="T51" fmla="*/ 2567829 h 1861"/>
                <a:gd name="T52" fmla="*/ 1945713 w 1859"/>
                <a:gd name="T53" fmla="*/ 2632988 h 1861"/>
                <a:gd name="T54" fmla="*/ 1810964 w 1859"/>
                <a:gd name="T55" fmla="*/ 2684818 h 1861"/>
                <a:gd name="T56" fmla="*/ 1673254 w 1859"/>
                <a:gd name="T57" fmla="*/ 2723321 h 1861"/>
                <a:gd name="T58" fmla="*/ 1526659 w 1859"/>
                <a:gd name="T59" fmla="*/ 2747015 h 1861"/>
                <a:gd name="T60" fmla="*/ 1378584 w 1859"/>
                <a:gd name="T61" fmla="*/ 2755900 h 1861"/>
                <a:gd name="T62" fmla="*/ 1226066 w 1859"/>
                <a:gd name="T63" fmla="*/ 2747015 h 1861"/>
                <a:gd name="T64" fmla="*/ 1079471 w 1859"/>
                <a:gd name="T65" fmla="*/ 2723321 h 1861"/>
                <a:gd name="T66" fmla="*/ 941761 w 1859"/>
                <a:gd name="T67" fmla="*/ 2684818 h 1861"/>
                <a:gd name="T68" fmla="*/ 807012 w 1859"/>
                <a:gd name="T69" fmla="*/ 2632988 h 1861"/>
                <a:gd name="T70" fmla="*/ 682628 w 1859"/>
                <a:gd name="T71" fmla="*/ 2567829 h 1861"/>
                <a:gd name="T72" fmla="*/ 562687 w 1859"/>
                <a:gd name="T73" fmla="*/ 2489343 h 1861"/>
                <a:gd name="T74" fmla="*/ 454592 w 1859"/>
                <a:gd name="T75" fmla="*/ 2400491 h 1861"/>
                <a:gd name="T76" fmla="*/ 353901 w 1859"/>
                <a:gd name="T77" fmla="*/ 2299792 h 1861"/>
                <a:gd name="T78" fmla="*/ 265055 w 1859"/>
                <a:gd name="T79" fmla="*/ 2191688 h 1861"/>
                <a:gd name="T80" fmla="*/ 186575 w 1859"/>
                <a:gd name="T81" fmla="*/ 2073219 h 1861"/>
                <a:gd name="T82" fmla="*/ 121422 w 1859"/>
                <a:gd name="T83" fmla="*/ 1948826 h 1861"/>
                <a:gd name="T84" fmla="*/ 71076 w 1859"/>
                <a:gd name="T85" fmla="*/ 1812585 h 1861"/>
                <a:gd name="T86" fmla="*/ 32577 w 1859"/>
                <a:gd name="T87" fmla="*/ 1674865 h 1861"/>
                <a:gd name="T88" fmla="*/ 7404 w 1859"/>
                <a:gd name="T89" fmla="*/ 1528258 h 1861"/>
                <a:gd name="T90" fmla="*/ 0 w 1859"/>
                <a:gd name="T91" fmla="*/ 1378690 h 1861"/>
                <a:gd name="T92" fmla="*/ 7404 w 1859"/>
                <a:gd name="T93" fmla="*/ 1227642 h 1861"/>
                <a:gd name="T94" fmla="*/ 32577 w 1859"/>
                <a:gd name="T95" fmla="*/ 1081035 h 1861"/>
                <a:gd name="T96" fmla="*/ 71076 w 1859"/>
                <a:gd name="T97" fmla="*/ 943315 h 1861"/>
                <a:gd name="T98" fmla="*/ 121422 w 1859"/>
                <a:gd name="T99" fmla="*/ 810036 h 1861"/>
                <a:gd name="T100" fmla="*/ 186575 w 1859"/>
                <a:gd name="T101" fmla="*/ 682681 h 1861"/>
                <a:gd name="T102" fmla="*/ 265055 w 1859"/>
                <a:gd name="T103" fmla="*/ 564212 h 1861"/>
                <a:gd name="T104" fmla="*/ 353901 w 1859"/>
                <a:gd name="T105" fmla="*/ 456108 h 1861"/>
                <a:gd name="T106" fmla="*/ 454592 w 1859"/>
                <a:gd name="T107" fmla="*/ 355409 h 1861"/>
                <a:gd name="T108" fmla="*/ 562687 w 1859"/>
                <a:gd name="T109" fmla="*/ 266557 h 1861"/>
                <a:gd name="T110" fmla="*/ 682628 w 1859"/>
                <a:gd name="T111" fmla="*/ 188071 h 1861"/>
                <a:gd name="T112" fmla="*/ 807012 w 1859"/>
                <a:gd name="T113" fmla="*/ 122912 h 1861"/>
                <a:gd name="T114" fmla="*/ 941761 w 1859"/>
                <a:gd name="T115" fmla="*/ 71082 h 1861"/>
                <a:gd name="T116" fmla="*/ 1079471 w 1859"/>
                <a:gd name="T117" fmla="*/ 32579 h 1861"/>
                <a:gd name="T118" fmla="*/ 1226066 w 1859"/>
                <a:gd name="T119" fmla="*/ 8885 h 1861"/>
                <a:gd name="T120" fmla="*/ 1378584 w 1859"/>
                <a:gd name="T121" fmla="*/ 0 h 186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859" h="1861">
                  <a:moveTo>
                    <a:pt x="931" y="0"/>
                  </a:moveTo>
                  <a:lnTo>
                    <a:pt x="1031" y="6"/>
                  </a:lnTo>
                  <a:lnTo>
                    <a:pt x="1130" y="22"/>
                  </a:lnTo>
                  <a:lnTo>
                    <a:pt x="1223" y="48"/>
                  </a:lnTo>
                  <a:lnTo>
                    <a:pt x="1314" y="83"/>
                  </a:lnTo>
                  <a:lnTo>
                    <a:pt x="1399" y="127"/>
                  </a:lnTo>
                  <a:lnTo>
                    <a:pt x="1479" y="180"/>
                  </a:lnTo>
                  <a:lnTo>
                    <a:pt x="1552" y="240"/>
                  </a:lnTo>
                  <a:lnTo>
                    <a:pt x="1620" y="308"/>
                  </a:lnTo>
                  <a:lnTo>
                    <a:pt x="1680" y="381"/>
                  </a:lnTo>
                  <a:lnTo>
                    <a:pt x="1733" y="461"/>
                  </a:lnTo>
                  <a:lnTo>
                    <a:pt x="1777" y="547"/>
                  </a:lnTo>
                  <a:lnTo>
                    <a:pt x="1812" y="637"/>
                  </a:lnTo>
                  <a:lnTo>
                    <a:pt x="1837" y="730"/>
                  </a:lnTo>
                  <a:lnTo>
                    <a:pt x="1854" y="829"/>
                  </a:lnTo>
                  <a:lnTo>
                    <a:pt x="1859" y="931"/>
                  </a:lnTo>
                  <a:lnTo>
                    <a:pt x="1854" y="1032"/>
                  </a:lnTo>
                  <a:lnTo>
                    <a:pt x="1837" y="1131"/>
                  </a:lnTo>
                  <a:lnTo>
                    <a:pt x="1812" y="1224"/>
                  </a:lnTo>
                  <a:lnTo>
                    <a:pt x="1777" y="1316"/>
                  </a:lnTo>
                  <a:lnTo>
                    <a:pt x="1733" y="1400"/>
                  </a:lnTo>
                  <a:lnTo>
                    <a:pt x="1680" y="1480"/>
                  </a:lnTo>
                  <a:lnTo>
                    <a:pt x="1620" y="1553"/>
                  </a:lnTo>
                  <a:lnTo>
                    <a:pt x="1552" y="1621"/>
                  </a:lnTo>
                  <a:lnTo>
                    <a:pt x="1479" y="1681"/>
                  </a:lnTo>
                  <a:lnTo>
                    <a:pt x="1399" y="1734"/>
                  </a:lnTo>
                  <a:lnTo>
                    <a:pt x="1314" y="1778"/>
                  </a:lnTo>
                  <a:lnTo>
                    <a:pt x="1223" y="1813"/>
                  </a:lnTo>
                  <a:lnTo>
                    <a:pt x="1130" y="1839"/>
                  </a:lnTo>
                  <a:lnTo>
                    <a:pt x="1031" y="1855"/>
                  </a:lnTo>
                  <a:lnTo>
                    <a:pt x="931" y="1861"/>
                  </a:lnTo>
                  <a:lnTo>
                    <a:pt x="828" y="1855"/>
                  </a:lnTo>
                  <a:lnTo>
                    <a:pt x="729" y="1839"/>
                  </a:lnTo>
                  <a:lnTo>
                    <a:pt x="636" y="1813"/>
                  </a:lnTo>
                  <a:lnTo>
                    <a:pt x="545" y="1778"/>
                  </a:lnTo>
                  <a:lnTo>
                    <a:pt x="461" y="1734"/>
                  </a:lnTo>
                  <a:lnTo>
                    <a:pt x="380" y="1681"/>
                  </a:lnTo>
                  <a:lnTo>
                    <a:pt x="307" y="1621"/>
                  </a:lnTo>
                  <a:lnTo>
                    <a:pt x="239" y="1553"/>
                  </a:lnTo>
                  <a:lnTo>
                    <a:pt x="179" y="1480"/>
                  </a:lnTo>
                  <a:lnTo>
                    <a:pt x="126" y="1400"/>
                  </a:lnTo>
                  <a:lnTo>
                    <a:pt x="82" y="1316"/>
                  </a:lnTo>
                  <a:lnTo>
                    <a:pt x="48" y="1224"/>
                  </a:lnTo>
                  <a:lnTo>
                    <a:pt x="22" y="1131"/>
                  </a:lnTo>
                  <a:lnTo>
                    <a:pt x="5" y="1032"/>
                  </a:lnTo>
                  <a:lnTo>
                    <a:pt x="0" y="931"/>
                  </a:lnTo>
                  <a:lnTo>
                    <a:pt x="5" y="829"/>
                  </a:lnTo>
                  <a:lnTo>
                    <a:pt x="22" y="730"/>
                  </a:lnTo>
                  <a:lnTo>
                    <a:pt x="48" y="637"/>
                  </a:lnTo>
                  <a:lnTo>
                    <a:pt x="82" y="547"/>
                  </a:lnTo>
                  <a:lnTo>
                    <a:pt x="126" y="461"/>
                  </a:lnTo>
                  <a:lnTo>
                    <a:pt x="179" y="381"/>
                  </a:lnTo>
                  <a:lnTo>
                    <a:pt x="239" y="308"/>
                  </a:lnTo>
                  <a:lnTo>
                    <a:pt x="307" y="240"/>
                  </a:lnTo>
                  <a:lnTo>
                    <a:pt x="380" y="180"/>
                  </a:lnTo>
                  <a:lnTo>
                    <a:pt x="461" y="127"/>
                  </a:lnTo>
                  <a:lnTo>
                    <a:pt x="545" y="83"/>
                  </a:lnTo>
                  <a:lnTo>
                    <a:pt x="636" y="48"/>
                  </a:lnTo>
                  <a:lnTo>
                    <a:pt x="729" y="22"/>
                  </a:lnTo>
                  <a:lnTo>
                    <a:pt x="828" y="6"/>
                  </a:lnTo>
                  <a:lnTo>
                    <a:pt x="931" y="0"/>
                  </a:lnTo>
                  <a:close/>
                </a:path>
              </a:pathLst>
            </a:custGeom>
            <a:grpFill/>
            <a:ln w="79375">
              <a:solidFill>
                <a:schemeClr val="bg1">
                  <a:lumMod val="75000"/>
                </a:schemeClr>
              </a:solidFill>
              <a:prstDash val="solid"/>
              <a:round/>
              <a:headEnd/>
              <a:tailEnd/>
            </a:ln>
            <a:extLst/>
          </p:spPr>
          <p:txBody>
            <a:bodyPr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10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125" name="Oval 75">
              <a:extLst>
                <a:ext uri="{FF2B5EF4-FFF2-40B4-BE49-F238E27FC236}">
                  <a16:creationId xmlns:a16="http://schemas.microsoft.com/office/drawing/2014/main" id="{9D97B662-B348-4861-BF56-ACD9BB9CE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571" y="2536876"/>
              <a:ext cx="2576055" cy="2573086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10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06C749A-F665-4A85-9AFC-6B5E470FA25E}"/>
              </a:ext>
            </a:extLst>
          </p:cNvPr>
          <p:cNvSpPr/>
          <p:nvPr/>
        </p:nvSpPr>
        <p:spPr>
          <a:xfrm>
            <a:off x="7471033" y="4975326"/>
            <a:ext cx="1021082" cy="415498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altLang="ko-KR" sz="1050" b="1" spc="-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050" b="1" spc="-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시간  출동</a:t>
            </a:r>
            <a:br>
              <a:rPr lang="en-US" altLang="ko-KR" sz="1050" b="1" spc="-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050" b="1" spc="-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기동 인력</a:t>
            </a:r>
            <a:endParaRPr lang="en-US" altLang="ko-KR" sz="1050" b="1" spc="-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3D613DE-3983-4C3C-99F6-B81ACB398D92}"/>
              </a:ext>
            </a:extLst>
          </p:cNvPr>
          <p:cNvSpPr txBox="1"/>
          <p:nvPr/>
        </p:nvSpPr>
        <p:spPr>
          <a:xfrm>
            <a:off x="4769296" y="6453336"/>
            <a:ext cx="367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-4-</a:t>
            </a:r>
            <a:endParaRPr lang="ko-KR" altLang="en-US" sz="1000" dirty="0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C35E6447-9710-46D8-A18E-8815FFF62346}"/>
              </a:ext>
            </a:extLst>
          </p:cNvPr>
          <p:cNvSpPr/>
          <p:nvPr/>
        </p:nvSpPr>
        <p:spPr>
          <a:xfrm>
            <a:off x="3238088" y="5508688"/>
            <a:ext cx="503761" cy="503761"/>
          </a:xfrm>
          <a:prstGeom prst="ellipse">
            <a:avLst/>
          </a:prstGeom>
          <a:blipFill>
            <a:blip r:embed="rId15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94E2C0C-02A0-41BD-8DBC-DFAB73A7539E}"/>
              </a:ext>
            </a:extLst>
          </p:cNvPr>
          <p:cNvSpPr/>
          <p:nvPr/>
        </p:nvSpPr>
        <p:spPr>
          <a:xfrm>
            <a:off x="3109529" y="5120281"/>
            <a:ext cx="503761" cy="503761"/>
          </a:xfrm>
          <a:prstGeom prst="ellipse">
            <a:avLst/>
          </a:prstGeom>
          <a:blipFill>
            <a:blip r:embed="rId16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DD3DFDAD-54AA-400D-A4BE-DE387341182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0086" y="5608358"/>
            <a:ext cx="765727" cy="5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16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나눔스퀘어">
      <a:majorFont>
        <a:latin typeface="나눔스퀘어"/>
        <a:ea typeface="나눔스퀘어"/>
        <a:cs typeface=""/>
      </a:majorFont>
      <a:minorFont>
        <a:latin typeface="나눔스퀘어"/>
        <a:ea typeface="나눔스퀘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26784</TotalTime>
  <Words>631</Words>
  <Application>Microsoft Office PowerPoint</Application>
  <PresentationFormat>A4 용지(210x297mm)</PresentationFormat>
  <Paragraphs>98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나눔스퀘어</vt:lpstr>
      <vt:lpstr>나눔고딕 ExtraBold</vt:lpstr>
      <vt:lpstr>Arial</vt:lpstr>
      <vt:lpstr>맑은 고딕</vt:lpstr>
      <vt:lpstr>Malgun Gothic Semilight</vt:lpstr>
      <vt:lpstr>LG스마트체 Regular</vt:lpstr>
      <vt:lpstr>Arial Narrow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이상윤</dc:creator>
  <cp:lastModifiedBy>Administrator</cp:lastModifiedBy>
  <cp:revision>1422</cp:revision>
  <cp:lastPrinted>2024-01-31T00:41:32Z</cp:lastPrinted>
  <dcterms:created xsi:type="dcterms:W3CDTF">2017-04-18T00:25:01Z</dcterms:created>
  <dcterms:modified xsi:type="dcterms:W3CDTF">2024-02-08T08:06:46Z</dcterms:modified>
</cp:coreProperties>
</file>