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80" r:id="rId2"/>
    <p:sldId id="294" r:id="rId3"/>
    <p:sldId id="295" r:id="rId4"/>
    <p:sldId id="296" r:id="rId5"/>
    <p:sldId id="290" r:id="rId6"/>
    <p:sldId id="288" r:id="rId7"/>
    <p:sldId id="289" r:id="rId8"/>
    <p:sldId id="292" r:id="rId9"/>
    <p:sldId id="297" r:id="rId10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3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3975" userDrawn="1">
          <p15:clr>
            <a:srgbClr val="A4A3A4"/>
          </p15:clr>
        </p15:guide>
        <p15:guide id="4" pos="241" userDrawn="1">
          <p15:clr>
            <a:srgbClr val="A4A3A4"/>
          </p15:clr>
        </p15:guide>
        <p15:guide id="5" orient="horz" pos="709" userDrawn="1">
          <p15:clr>
            <a:srgbClr val="A4A3A4"/>
          </p15:clr>
        </p15:guide>
        <p15:guide id="6" orient="horz" pos="3997" userDrawn="1">
          <p15:clr>
            <a:srgbClr val="A4A3A4"/>
          </p15:clr>
        </p15:guide>
        <p15:guide id="7" pos="1671" userDrawn="1">
          <p15:clr>
            <a:srgbClr val="A4A3A4"/>
          </p15:clr>
        </p15:guide>
        <p15:guide id="8" pos="3097" userDrawn="1">
          <p15:clr>
            <a:srgbClr val="A4A3A4"/>
          </p15:clr>
        </p15:guide>
        <p15:guide id="9" pos="6091" userDrawn="1">
          <p15:clr>
            <a:srgbClr val="A4A3A4"/>
          </p15:clr>
        </p15:guide>
        <p15:guide id="10" orient="horz" pos="1117" userDrawn="1">
          <p15:clr>
            <a:srgbClr val="A4A3A4"/>
          </p15:clr>
        </p15:guide>
        <p15:guide id="11" orient="horz" pos="6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AFDE"/>
    <a:srgbClr val="3281C8"/>
    <a:srgbClr val="1F4F7B"/>
    <a:srgbClr val="313233"/>
    <a:srgbClr val="E7E7E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9" autoAdjust="0"/>
    <p:restoredTop sz="96214" autoAdjust="0"/>
  </p:normalViewPr>
  <p:slideViewPr>
    <p:cSldViewPr snapToGrid="0">
      <p:cViewPr varScale="1">
        <p:scale>
          <a:sx n="111" d="100"/>
          <a:sy n="111" d="100"/>
        </p:scale>
        <p:origin x="1188" y="96"/>
      </p:cViewPr>
      <p:guideLst>
        <p:guide orient="horz" pos="483"/>
        <p:guide pos="2304"/>
        <p:guide orient="horz" pos="3975"/>
        <p:guide pos="241"/>
        <p:guide orient="horz" pos="709"/>
        <p:guide orient="horz" pos="3997"/>
        <p:guide pos="1671"/>
        <p:guide pos="3097"/>
        <p:guide pos="6091"/>
        <p:guide orient="horz" pos="1117"/>
        <p:guide orient="horz" pos="61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0D5C7A-3438-47A9-A18D-F71A75FD9F26}" type="datetimeFigureOut">
              <a:rPr lang="ko-KR" altLang="en-US" smtClean="0"/>
              <a:t>2024-05-22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10B856-9CD6-4752-B1F1-1D6EF7938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50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9" indent="0" algn="ctr">
              <a:buNone/>
              <a:defRPr sz="2000"/>
            </a:lvl2pPr>
            <a:lvl3pPr marL="914418" indent="0" algn="ctr">
              <a:buNone/>
              <a:defRPr sz="1800"/>
            </a:lvl3pPr>
            <a:lvl4pPr marL="1371626" indent="0" algn="ctr">
              <a:buNone/>
              <a:defRPr sz="1600"/>
            </a:lvl4pPr>
            <a:lvl5pPr marL="1828836" indent="0" algn="ctr">
              <a:buNone/>
              <a:defRPr sz="1600"/>
            </a:lvl5pPr>
            <a:lvl6pPr marL="2286044" indent="0" algn="ctr">
              <a:buNone/>
              <a:defRPr sz="1600"/>
            </a:lvl6pPr>
            <a:lvl7pPr marL="2743254" indent="0" algn="ctr">
              <a:buNone/>
              <a:defRPr sz="1600"/>
            </a:lvl7pPr>
            <a:lvl8pPr marL="3200461" indent="0" algn="ctr">
              <a:buNone/>
              <a:defRPr sz="1600"/>
            </a:lvl8pPr>
            <a:lvl9pPr marL="365767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F38D8-1047-4586-9080-A60583901D1F}" type="datetime1">
              <a:rPr lang="ko-KR" altLang="en-US" smtClean="0"/>
              <a:t>2024-05-22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906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C6D9-6798-4E20-AC32-B74C329AC606}" type="datetime1">
              <a:rPr lang="ko-KR" altLang="en-US" smtClean="0"/>
              <a:t>2024-05-22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443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82" y="1709746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82" y="4589471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3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4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6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7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EAA5E-C4DF-401B-8613-61DB2E496300}" type="datetime1">
              <a:rPr lang="ko-KR" altLang="en-US" smtClean="0"/>
              <a:t>2024-05-22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55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30EFD-69BC-4D8B-BCAC-93805E938002}" type="datetime1">
              <a:rPr lang="ko-KR" altLang="en-US" smtClean="0"/>
              <a:t>2024-05-22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7445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30" y="365129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31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6" indent="0">
              <a:buNone/>
              <a:defRPr sz="1600" b="1"/>
            </a:lvl4pPr>
            <a:lvl5pPr marL="1828836" indent="0">
              <a:buNone/>
              <a:defRPr sz="1600" b="1"/>
            </a:lvl5pPr>
            <a:lvl6pPr marL="2286044" indent="0">
              <a:buNone/>
              <a:defRPr sz="1600" b="1"/>
            </a:lvl6pPr>
            <a:lvl7pPr marL="2743254" indent="0">
              <a:buNone/>
              <a:defRPr sz="1600" b="1"/>
            </a:lvl7pPr>
            <a:lvl8pPr marL="3200461" indent="0">
              <a:buNone/>
              <a:defRPr sz="1600" b="1"/>
            </a:lvl8pPr>
            <a:lvl9pPr marL="365767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31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6" indent="0">
              <a:buNone/>
              <a:defRPr sz="1600" b="1"/>
            </a:lvl4pPr>
            <a:lvl5pPr marL="1828836" indent="0">
              <a:buNone/>
              <a:defRPr sz="1600" b="1"/>
            </a:lvl5pPr>
            <a:lvl6pPr marL="2286044" indent="0">
              <a:buNone/>
              <a:defRPr sz="1600" b="1"/>
            </a:lvl6pPr>
            <a:lvl7pPr marL="2743254" indent="0">
              <a:buNone/>
              <a:defRPr sz="1600" b="1"/>
            </a:lvl7pPr>
            <a:lvl8pPr marL="3200461" indent="0">
              <a:buNone/>
              <a:defRPr sz="1600" b="1"/>
            </a:lvl8pPr>
            <a:lvl9pPr marL="365767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F97B8-D5B7-4494-B1C8-226D036966C7}" type="datetime1">
              <a:rPr lang="ko-KR" altLang="en-US" smtClean="0"/>
              <a:t>2024-05-22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318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31150-DD2C-4E17-8382-7597C1A0EDE0}" type="datetime1">
              <a:rPr lang="ko-KR" altLang="en-US" smtClean="0"/>
              <a:t>2024-05-22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36574-54C3-4364-8CEC-841391665530}" type="datetime1">
              <a:rPr lang="ko-KR" altLang="en-US" smtClean="0"/>
              <a:t>2024-05-22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847481" y="6356358"/>
            <a:ext cx="2228850" cy="365125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/>
              <a:t>-</a:t>
            </a:r>
            <a:fld id="{D11C00A1-05A8-4FFD-B80E-FDE16F8F749C}" type="slidenum">
              <a:rPr lang="ko-KR" altLang="en-US" smtClean="0"/>
              <a:pPr/>
              <a:t>‹#›</a:t>
            </a:fld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0267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31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2" y="987433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31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9" indent="0">
              <a:buNone/>
              <a:defRPr sz="1400"/>
            </a:lvl2pPr>
            <a:lvl3pPr marL="914418" indent="0">
              <a:buNone/>
              <a:defRPr sz="1200"/>
            </a:lvl3pPr>
            <a:lvl4pPr marL="1371626" indent="0">
              <a:buNone/>
              <a:defRPr sz="1000"/>
            </a:lvl4pPr>
            <a:lvl5pPr marL="1828836" indent="0">
              <a:buNone/>
              <a:defRPr sz="1000"/>
            </a:lvl5pPr>
            <a:lvl6pPr marL="2286044" indent="0">
              <a:buNone/>
              <a:defRPr sz="1000"/>
            </a:lvl6pPr>
            <a:lvl7pPr marL="2743254" indent="0">
              <a:buNone/>
              <a:defRPr sz="1000"/>
            </a:lvl7pPr>
            <a:lvl8pPr marL="3200461" indent="0">
              <a:buNone/>
              <a:defRPr sz="1000"/>
            </a:lvl8pPr>
            <a:lvl9pPr marL="365767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64D6-493D-45BD-B3E4-F5CA212DB5D9}" type="datetime1">
              <a:rPr lang="ko-KR" altLang="en-US" smtClean="0"/>
              <a:t>2024-05-22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51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31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2" y="987433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9" indent="0">
              <a:buNone/>
              <a:defRPr sz="2800"/>
            </a:lvl2pPr>
            <a:lvl3pPr marL="914418" indent="0">
              <a:buNone/>
              <a:defRPr sz="2400"/>
            </a:lvl3pPr>
            <a:lvl4pPr marL="1371626" indent="0">
              <a:buNone/>
              <a:defRPr sz="2000"/>
            </a:lvl4pPr>
            <a:lvl5pPr marL="1828836" indent="0">
              <a:buNone/>
              <a:defRPr sz="2000"/>
            </a:lvl5pPr>
            <a:lvl6pPr marL="2286044" indent="0">
              <a:buNone/>
              <a:defRPr sz="2000"/>
            </a:lvl6pPr>
            <a:lvl7pPr marL="2743254" indent="0">
              <a:buNone/>
              <a:defRPr sz="2000"/>
            </a:lvl7pPr>
            <a:lvl8pPr marL="3200461" indent="0">
              <a:buNone/>
              <a:defRPr sz="2000"/>
            </a:lvl8pPr>
            <a:lvl9pPr marL="365767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31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9" indent="0">
              <a:buNone/>
              <a:defRPr sz="1400"/>
            </a:lvl2pPr>
            <a:lvl3pPr marL="914418" indent="0">
              <a:buNone/>
              <a:defRPr sz="1200"/>
            </a:lvl3pPr>
            <a:lvl4pPr marL="1371626" indent="0">
              <a:buNone/>
              <a:defRPr sz="1000"/>
            </a:lvl4pPr>
            <a:lvl5pPr marL="1828836" indent="0">
              <a:buNone/>
              <a:defRPr sz="1000"/>
            </a:lvl5pPr>
            <a:lvl6pPr marL="2286044" indent="0">
              <a:buNone/>
              <a:defRPr sz="1000"/>
            </a:lvl6pPr>
            <a:lvl7pPr marL="2743254" indent="0">
              <a:buNone/>
              <a:defRPr sz="1000"/>
            </a:lvl7pPr>
            <a:lvl8pPr marL="3200461" indent="0">
              <a:buNone/>
              <a:defRPr sz="1000"/>
            </a:lvl8pPr>
            <a:lvl9pPr marL="365767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7B014-A72F-429F-A56A-A2A70A75BD6F}" type="datetime1">
              <a:rPr lang="ko-KR" altLang="en-US" smtClean="0"/>
              <a:t>2024-05-22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255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78055-1BE0-4DA5-A2B6-6E4E91C45F7C}" type="datetime1">
              <a:rPr lang="ko-KR" altLang="en-US" smtClean="0"/>
              <a:t>2024-05-22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185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3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9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08119-058F-4CE5-B7C3-C5CE798FBE3E}" type="datetime1">
              <a:rPr lang="ko-KR" altLang="en-US" smtClean="0"/>
              <a:t>2024-05-22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015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9" y="365129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9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8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4743D-D19E-4CAE-959D-80583DFF4FCC}" type="datetime1">
              <a:rPr lang="ko-KR" altLang="en-US" smtClean="0"/>
              <a:t>2024-05-22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4" y="6356358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8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50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18" rtl="0" eaLnBrk="1" latinLnBrk="1" hangingPunct="1">
        <a:lnSpc>
          <a:spcPct val="90000"/>
        </a:lnSpc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8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3" indent="-228604" algn="l" defTabSz="914418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1" indent="-228604" algn="l" defTabSz="914418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31" indent="-228604" algn="l" defTabSz="914418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40" indent="-228604" algn="l" defTabSz="914418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48" indent="-228604" algn="l" defTabSz="914418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57" indent="-228604" algn="l" defTabSz="914418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66" indent="-228604" algn="l" defTabSz="914418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75" indent="-228604" algn="l" defTabSz="914418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9" algn="l" defTabSz="91441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8" algn="l" defTabSz="91441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6" algn="l" defTabSz="91441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6" algn="l" defTabSz="91441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44" algn="l" defTabSz="91441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54" algn="l" defTabSz="91441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61" algn="l" defTabSz="91441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70" algn="l" defTabSz="91441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slide" Target="slide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slide" Target="slide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3BD9DE8-B76D-4EC7-AB08-79547C6C4C8F}"/>
              </a:ext>
            </a:extLst>
          </p:cNvPr>
          <p:cNvCxnSpPr>
            <a:cxnSpLocks/>
          </p:cNvCxnSpPr>
          <p:nvPr/>
        </p:nvCxnSpPr>
        <p:spPr>
          <a:xfrm>
            <a:off x="1369161" y="2304807"/>
            <a:ext cx="743264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67F49A27-A52D-47EA-9434-7B757EF01493}"/>
              </a:ext>
            </a:extLst>
          </p:cNvPr>
          <p:cNvSpPr txBox="1">
            <a:spLocks/>
          </p:cNvSpPr>
          <p:nvPr/>
        </p:nvSpPr>
        <p:spPr>
          <a:xfrm>
            <a:off x="3772015" y="5245450"/>
            <a:ext cx="2361983" cy="1197835"/>
          </a:xfrm>
          <a:prstGeom prst="rect">
            <a:avLst/>
          </a:prstGeom>
          <a:ln>
            <a:noFill/>
          </a:ln>
        </p:spPr>
        <p:txBody>
          <a:bodyPr vert="horz" lIns="91440" tIns="45721" rIns="91440" bIns="45721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상품기획팀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2024.05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761828-F1FD-44A1-AF19-0147AB9486CD}"/>
              </a:ext>
            </a:extLst>
          </p:cNvPr>
          <p:cNvSpPr txBox="1"/>
          <p:nvPr/>
        </p:nvSpPr>
        <p:spPr>
          <a:xfrm>
            <a:off x="3213886" y="1781590"/>
            <a:ext cx="4524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고객의 마음을 여는 여정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6DE76F-6024-4906-8534-C120789FC8C6}"/>
              </a:ext>
            </a:extLst>
          </p:cNvPr>
          <p:cNvSpPr txBox="1"/>
          <p:nvPr/>
        </p:nvSpPr>
        <p:spPr>
          <a:xfrm>
            <a:off x="3989181" y="2394989"/>
            <a:ext cx="3131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( </a:t>
            </a:r>
            <a:r>
              <a:rPr lang="ko-KR" altLang="en-US" sz="16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첫 번째 고개 넘기 </a:t>
            </a:r>
            <a:r>
              <a:rPr lang="en-US" altLang="ko-KR" sz="16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)</a:t>
            </a:r>
            <a:endParaRPr lang="ko-KR" altLang="en-US" sz="1600" dirty="0">
              <a:latin typeface="나눔고딕 Light" panose="020D0904000000000000" pitchFamily="50" charset="-127"/>
              <a:ea typeface="나눔고딕 Light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8836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87A76CAC-EA2E-467A-A767-D7A8547C604C}"/>
              </a:ext>
            </a:extLst>
          </p:cNvPr>
          <p:cNvSpPr/>
          <p:nvPr/>
        </p:nvSpPr>
        <p:spPr>
          <a:xfrm>
            <a:off x="0" y="5984144"/>
            <a:ext cx="9914906" cy="87385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2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F44249-D9BE-437D-8173-83AAEE7C4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E02B04A-3777-4F13-B225-E7ED0882F115}"/>
              </a:ext>
            </a:extLst>
          </p:cNvPr>
          <p:cNvSpPr/>
          <p:nvPr/>
        </p:nvSpPr>
        <p:spPr>
          <a:xfrm>
            <a:off x="0" y="603683"/>
            <a:ext cx="532660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2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6F437A-2D07-47C5-86C4-9653CAAF5CE7}"/>
              </a:ext>
            </a:extLst>
          </p:cNvPr>
          <p:cNvSpPr txBox="1"/>
          <p:nvPr/>
        </p:nvSpPr>
        <p:spPr>
          <a:xfrm>
            <a:off x="712227" y="603683"/>
            <a:ext cx="7017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1. </a:t>
            </a:r>
            <a:r>
              <a:rPr lang="ko-KR" altLang="en-US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고객의 시각으로 본 가격</a:t>
            </a:r>
            <a:r>
              <a:rPr lang="en-US" altLang="ko-KR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?</a:t>
            </a:r>
            <a:endParaRPr lang="ko-KR" altLang="en-US" sz="2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25A243-EFC5-4B32-82C1-58E45128C325}"/>
              </a:ext>
            </a:extLst>
          </p:cNvPr>
          <p:cNvSpPr txBox="1"/>
          <p:nvPr/>
        </p:nvSpPr>
        <p:spPr>
          <a:xfrm>
            <a:off x="978563" y="1126904"/>
            <a:ext cx="3131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- </a:t>
            </a:r>
            <a:r>
              <a:rPr lang="ko-KR" altLang="en-US" sz="16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결코 호구가 되지 않겠다</a:t>
            </a:r>
            <a:r>
              <a:rPr lang="en-US" altLang="ko-KR" sz="16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?</a:t>
            </a:r>
            <a:endParaRPr lang="ko-KR" altLang="en-US" sz="1600" dirty="0">
              <a:latin typeface="나눔고딕 Light" panose="020D0904000000000000" pitchFamily="50" charset="-127"/>
              <a:ea typeface="나눔고딕 Light" panose="020D09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2DEAD17-D151-4DB7-A291-1FE73AF6E02C}"/>
              </a:ext>
            </a:extLst>
          </p:cNvPr>
          <p:cNvSpPr/>
          <p:nvPr/>
        </p:nvSpPr>
        <p:spPr>
          <a:xfrm>
            <a:off x="4840352" y="2868638"/>
            <a:ext cx="1612676" cy="415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 가치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(Customer Value)</a:t>
            </a: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6893944-8E0E-4CDD-87BD-D424E262B207}"/>
              </a:ext>
            </a:extLst>
          </p:cNvPr>
          <p:cNvSpPr/>
          <p:nvPr/>
        </p:nvSpPr>
        <p:spPr>
          <a:xfrm>
            <a:off x="4840352" y="3437981"/>
            <a:ext cx="1612676" cy="415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경쟁 환경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(Competition)</a:t>
            </a: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B876C66-7F3D-42ED-AE36-88C59DE24584}"/>
              </a:ext>
            </a:extLst>
          </p:cNvPr>
          <p:cNvSpPr/>
          <p:nvPr/>
        </p:nvSpPr>
        <p:spPr>
          <a:xfrm>
            <a:off x="4840352" y="4018816"/>
            <a:ext cx="1612676" cy="415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 원가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(Cost)</a:t>
            </a: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F284D3C-339E-4D28-8BA4-3EF9820FD6BD}"/>
              </a:ext>
            </a:extLst>
          </p:cNvPr>
          <p:cNvSpPr/>
          <p:nvPr/>
        </p:nvSpPr>
        <p:spPr>
          <a:xfrm>
            <a:off x="6180321" y="2878539"/>
            <a:ext cx="2932519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상품기획에서 타깃고객의 니즈 분석은 필수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7423F3D-A8D0-4A4F-8740-4F6F0B05D690}"/>
              </a:ext>
            </a:extLst>
          </p:cNvPr>
          <p:cNvSpPr/>
          <p:nvPr/>
        </p:nvSpPr>
        <p:spPr>
          <a:xfrm>
            <a:off x="6180321" y="3500924"/>
            <a:ext cx="2932519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경쟁에서 살아남으려면 경쟁상품분석이 중요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5279C43-E6D9-4332-BD15-A67269EFACA4}"/>
              </a:ext>
            </a:extLst>
          </p:cNvPr>
          <p:cNvSpPr/>
          <p:nvPr/>
        </p:nvSpPr>
        <p:spPr>
          <a:xfrm>
            <a:off x="6180321" y="4041799"/>
            <a:ext cx="2932519" cy="415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내부역량을 분석해야 무엇을 할 수 있는지 알 수 있음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B13B20-065A-4B76-BBE4-453EF3126038}"/>
              </a:ext>
            </a:extLst>
          </p:cNvPr>
          <p:cNvSpPr txBox="1"/>
          <p:nvPr/>
        </p:nvSpPr>
        <p:spPr>
          <a:xfrm>
            <a:off x="283519" y="5709453"/>
            <a:ext cx="48141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※ </a:t>
            </a:r>
            <a:r>
              <a:rPr lang="ko-KR" altLang="en-US" sz="9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준거가격</a:t>
            </a:r>
            <a:r>
              <a:rPr lang="en-US" altLang="ko-KR" sz="9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9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고객이 과거 경험 또는 시장정보를 통해 획득한 가격 정보와 구매 여력을 고려한 심리적 가격</a:t>
            </a: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86C11147-AABF-43F1-86E7-4B5CB0CD0143}"/>
              </a:ext>
            </a:extLst>
          </p:cNvPr>
          <p:cNvGrpSpPr/>
          <p:nvPr/>
        </p:nvGrpSpPr>
        <p:grpSpPr>
          <a:xfrm>
            <a:off x="670718" y="2035303"/>
            <a:ext cx="3439652" cy="2982903"/>
            <a:chOff x="390219" y="1863500"/>
            <a:chExt cx="3439652" cy="2982903"/>
          </a:xfrm>
        </p:grpSpPr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D67E1FFA-D42C-438D-BC0F-0D5B39C07A65}"/>
                </a:ext>
              </a:extLst>
            </p:cNvPr>
            <p:cNvCxnSpPr>
              <a:cxnSpLocks/>
              <a:stCxn id="50" idx="0"/>
              <a:endCxn id="30" idx="2"/>
            </p:cNvCxnSpPr>
            <p:nvPr/>
          </p:nvCxnSpPr>
          <p:spPr>
            <a:xfrm flipH="1" flipV="1">
              <a:off x="2137750" y="2109721"/>
              <a:ext cx="1" cy="2490461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6F99FBD-5439-4EC5-9E8A-A34DF5F5080E}"/>
                </a:ext>
              </a:extLst>
            </p:cNvPr>
            <p:cNvSpPr txBox="1"/>
            <p:nvPr/>
          </p:nvSpPr>
          <p:spPr>
            <a:xfrm>
              <a:off x="1469248" y="2275747"/>
              <a:ext cx="60946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9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수용 상한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8701CB7-D968-4C2D-AFE7-26DF4A1EA86A}"/>
                </a:ext>
              </a:extLst>
            </p:cNvPr>
            <p:cNvSpPr txBox="1"/>
            <p:nvPr/>
          </p:nvSpPr>
          <p:spPr>
            <a:xfrm>
              <a:off x="3130641" y="3239535"/>
              <a:ext cx="699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Max Profit</a:t>
              </a:r>
              <a:endParaRPr lang="ko-KR" altLang="en-US" sz="9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A53A482-062A-4629-9663-94B591D7DEF5}"/>
                </a:ext>
              </a:extLst>
            </p:cNvPr>
            <p:cNvSpPr txBox="1"/>
            <p:nvPr/>
          </p:nvSpPr>
          <p:spPr>
            <a:xfrm>
              <a:off x="1756876" y="1863500"/>
              <a:ext cx="7617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High Price</a:t>
              </a:r>
              <a:endParaRPr lang="ko-KR" altLang="en-US" sz="1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FE3AAB0D-E2DF-4DA6-8FA0-A2E6F7EB83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7750" y="4202273"/>
              <a:ext cx="1183420" cy="0"/>
            </a:xfrm>
            <a:prstGeom prst="line">
              <a:avLst/>
            </a:prstGeom>
            <a:ln w="1905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4416805D-4EB2-40E5-A409-3F839F9D67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74091" y="3171162"/>
              <a:ext cx="1627903" cy="0"/>
            </a:xfrm>
            <a:prstGeom prst="line">
              <a:avLst/>
            </a:prstGeom>
            <a:ln w="19050">
              <a:solidFill>
                <a:srgbClr val="C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AD0AFD40-5B80-4FF2-97B7-8D5ED17547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5370" y="2486940"/>
              <a:ext cx="239580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D69E762-22B0-4848-AD30-8FC86AA13F58}"/>
                </a:ext>
              </a:extLst>
            </p:cNvPr>
            <p:cNvSpPr txBox="1"/>
            <p:nvPr/>
          </p:nvSpPr>
          <p:spPr>
            <a:xfrm>
              <a:off x="2236894" y="2923595"/>
              <a:ext cx="62709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900" b="1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defRPr>
              </a:lvl1pPr>
            </a:lstStyle>
            <a:p>
              <a:r>
                <a:rPr lang="ko-KR" altLang="en-US" sz="1000" dirty="0">
                  <a:solidFill>
                    <a:srgbClr val="C00000"/>
                  </a:solidFill>
                </a:rPr>
                <a:t>준거가격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C801E7F-A68B-41ED-9FA5-D5B246F5BAC7}"/>
                </a:ext>
              </a:extLst>
            </p:cNvPr>
            <p:cNvSpPr txBox="1"/>
            <p:nvPr/>
          </p:nvSpPr>
          <p:spPr>
            <a:xfrm>
              <a:off x="1768098" y="4600182"/>
              <a:ext cx="73930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Low Price</a:t>
              </a:r>
              <a:endParaRPr lang="ko-KR" altLang="en-US" sz="1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48B3BAE-DE48-4C65-9CC9-C4E2C7213DA5}"/>
                </a:ext>
              </a:extLst>
            </p:cNvPr>
            <p:cNvSpPr txBox="1"/>
            <p:nvPr/>
          </p:nvSpPr>
          <p:spPr>
            <a:xfrm>
              <a:off x="1469247" y="3724611"/>
              <a:ext cx="60946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9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수용 하한</a:t>
              </a: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8E661576-20B8-43D1-89E5-16112A0481DE}"/>
                </a:ext>
              </a:extLst>
            </p:cNvPr>
            <p:cNvSpPr/>
            <p:nvPr/>
          </p:nvSpPr>
          <p:spPr>
            <a:xfrm>
              <a:off x="390219" y="3042736"/>
              <a:ext cx="8835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Competition</a:t>
              </a:r>
              <a:endParaRPr lang="ko-KR" altLang="en-US" sz="900" b="1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0B7607B8-E518-4590-B5B1-EBD96EB3CC6F}"/>
                </a:ext>
              </a:extLst>
            </p:cNvPr>
            <p:cNvSpPr/>
            <p:nvPr/>
          </p:nvSpPr>
          <p:spPr>
            <a:xfrm>
              <a:off x="1705116" y="4080097"/>
              <a:ext cx="4523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Cost</a:t>
              </a:r>
              <a:endParaRPr lang="ko-KR" altLang="en-US" sz="900" b="1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87924405-9B47-4D1C-97B8-86C395A0099D}"/>
                </a:ext>
              </a:extLst>
            </p:cNvPr>
            <p:cNvSpPr/>
            <p:nvPr/>
          </p:nvSpPr>
          <p:spPr>
            <a:xfrm>
              <a:off x="2078709" y="2411656"/>
              <a:ext cx="123275" cy="123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ADA3FBF2-7E74-4A1C-A38D-BAC08D750D40}"/>
                </a:ext>
              </a:extLst>
            </p:cNvPr>
            <p:cNvCxnSpPr/>
            <p:nvPr/>
          </p:nvCxnSpPr>
          <p:spPr>
            <a:xfrm flipV="1">
              <a:off x="1705117" y="2506579"/>
              <a:ext cx="0" cy="64393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EC366C19-DEE7-48E7-A720-DC582A2CCF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5742" y="2506579"/>
              <a:ext cx="0" cy="1194778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C7AFFC5-0A5A-4BD6-B36D-3F9BF98E20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5370" y="3738687"/>
              <a:ext cx="161550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E2F62555-2A4D-4A4C-B253-3FBD44EC05B8}"/>
                </a:ext>
              </a:extLst>
            </p:cNvPr>
            <p:cNvSpPr/>
            <p:nvPr/>
          </p:nvSpPr>
          <p:spPr>
            <a:xfrm>
              <a:off x="2078709" y="3670264"/>
              <a:ext cx="123275" cy="123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pic>
          <p:nvPicPr>
            <p:cNvPr id="69" name="그림 68">
              <a:extLst>
                <a:ext uri="{FF2B5EF4-FFF2-40B4-BE49-F238E27FC236}">
                  <a16:creationId xmlns:a16="http://schemas.microsoft.com/office/drawing/2014/main" id="{5AEA527E-8584-4E00-98D0-95AAD061CC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08812" y="3017505"/>
              <a:ext cx="257873" cy="261610"/>
            </a:xfrm>
            <a:prstGeom prst="rect">
              <a:avLst/>
            </a:prstGeom>
          </p:spPr>
        </p:pic>
        <p:cxnSp>
          <p:nvCxnSpPr>
            <p:cNvPr id="71" name="직선 화살표 연결선 70">
              <a:extLst>
                <a:ext uri="{FF2B5EF4-FFF2-40B4-BE49-F238E27FC236}">
                  <a16:creationId xmlns:a16="http://schemas.microsoft.com/office/drawing/2014/main" id="{E717530C-0BBC-48CC-BEE9-FF590FE2B3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5894" y="2534931"/>
              <a:ext cx="0" cy="164637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6C7638EC-AF01-4053-9265-4675D0A89217}"/>
                </a:ext>
              </a:extLst>
            </p:cNvPr>
            <p:cNvSpPr/>
            <p:nvPr/>
          </p:nvSpPr>
          <p:spPr>
            <a:xfrm>
              <a:off x="1332258" y="2649971"/>
              <a:ext cx="74571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Customer</a:t>
              </a:r>
            </a:p>
            <a:p>
              <a:pPr algn="ctr"/>
              <a:r>
                <a:rPr lang="en-US" altLang="ko-KR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value</a:t>
              </a:r>
              <a:endParaRPr lang="ko-KR" altLang="en-US" sz="900" b="1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</p:grp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784BA8BE-3C79-4164-9256-1267676629A3}"/>
              </a:ext>
            </a:extLst>
          </p:cNvPr>
          <p:cNvCxnSpPr/>
          <p:nvPr/>
        </p:nvCxnSpPr>
        <p:spPr>
          <a:xfrm>
            <a:off x="4908384" y="2646889"/>
            <a:ext cx="1500028" cy="0"/>
          </a:xfrm>
          <a:prstGeom prst="line">
            <a:avLst/>
          </a:prstGeom>
          <a:ln w="28575" cmpd="dbl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E71F39C8-ADA7-44A2-B931-FBCDF4395BFC}"/>
              </a:ext>
            </a:extLst>
          </p:cNvPr>
          <p:cNvSpPr/>
          <p:nvPr/>
        </p:nvSpPr>
        <p:spPr>
          <a:xfrm>
            <a:off x="4846631" y="2348185"/>
            <a:ext cx="1600118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prstClr val="black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3C</a:t>
            </a:r>
            <a:r>
              <a:rPr lang="ko-KR" altLang="en-US" sz="1100" b="1" dirty="0">
                <a:solidFill>
                  <a:prstClr val="black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분석을 통한 가격 책정</a:t>
            </a:r>
          </a:p>
        </p:txBody>
      </p:sp>
    </p:spTree>
    <p:extLst>
      <p:ext uri="{BB962C8B-B14F-4D97-AF65-F5344CB8AC3E}">
        <p14:creationId xmlns:p14="http://schemas.microsoft.com/office/powerpoint/2010/main" val="2752490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87A76CAC-EA2E-467A-A767-D7A8547C604C}"/>
              </a:ext>
            </a:extLst>
          </p:cNvPr>
          <p:cNvSpPr/>
          <p:nvPr/>
        </p:nvSpPr>
        <p:spPr>
          <a:xfrm>
            <a:off x="0" y="5984144"/>
            <a:ext cx="9914906" cy="87385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2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F44249-D9BE-437D-8173-83AAEE7C4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E02B04A-3777-4F13-B225-E7ED0882F115}"/>
              </a:ext>
            </a:extLst>
          </p:cNvPr>
          <p:cNvSpPr/>
          <p:nvPr/>
        </p:nvSpPr>
        <p:spPr>
          <a:xfrm>
            <a:off x="0" y="603683"/>
            <a:ext cx="532660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2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6F437A-2D07-47C5-86C4-9653CAAF5CE7}"/>
              </a:ext>
            </a:extLst>
          </p:cNvPr>
          <p:cNvSpPr txBox="1"/>
          <p:nvPr/>
        </p:nvSpPr>
        <p:spPr>
          <a:xfrm>
            <a:off x="712227" y="603683"/>
            <a:ext cx="7017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2. </a:t>
            </a:r>
            <a:r>
              <a:rPr lang="ko-KR" altLang="en-US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고객의 선택을 받고 싶다면</a:t>
            </a:r>
            <a:r>
              <a:rPr lang="en-US" altLang="ko-KR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?</a:t>
            </a:r>
            <a:endParaRPr lang="ko-KR" altLang="en-US" sz="2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25A243-EFC5-4B32-82C1-58E45128C325}"/>
              </a:ext>
            </a:extLst>
          </p:cNvPr>
          <p:cNvSpPr txBox="1"/>
          <p:nvPr/>
        </p:nvSpPr>
        <p:spPr>
          <a:xfrm>
            <a:off x="978563" y="1126904"/>
            <a:ext cx="5905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- </a:t>
            </a:r>
            <a:r>
              <a:rPr lang="ko-KR" altLang="en-US" sz="16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생각보다 저렴한 가격 제안 보다는 생각지도 못했던 가치 제안</a:t>
            </a:r>
            <a:r>
              <a:rPr lang="en-US" altLang="ko-KR" sz="16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!</a:t>
            </a:r>
            <a:endParaRPr lang="ko-KR" altLang="en-US" sz="1600" dirty="0">
              <a:latin typeface="나눔고딕 Light" panose="020D0904000000000000" pitchFamily="50" charset="-127"/>
              <a:ea typeface="나눔고딕 Light" panose="020D09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2DEAD17-D151-4DB7-A291-1FE73AF6E02C}"/>
              </a:ext>
            </a:extLst>
          </p:cNvPr>
          <p:cNvSpPr/>
          <p:nvPr/>
        </p:nvSpPr>
        <p:spPr>
          <a:xfrm>
            <a:off x="4840352" y="2868638"/>
            <a:ext cx="1612676" cy="415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 가치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(Customer Value)</a:t>
            </a: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6893944-8E0E-4CDD-87BD-D424E262B207}"/>
              </a:ext>
            </a:extLst>
          </p:cNvPr>
          <p:cNvSpPr/>
          <p:nvPr/>
        </p:nvSpPr>
        <p:spPr>
          <a:xfrm>
            <a:off x="4840352" y="3437981"/>
            <a:ext cx="1612676" cy="415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경쟁 환경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(Competition)</a:t>
            </a: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B876C66-7F3D-42ED-AE36-88C59DE24584}"/>
              </a:ext>
            </a:extLst>
          </p:cNvPr>
          <p:cNvSpPr/>
          <p:nvPr/>
        </p:nvSpPr>
        <p:spPr>
          <a:xfrm>
            <a:off x="4840352" y="4018816"/>
            <a:ext cx="1612676" cy="415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 원가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(Cost)</a:t>
            </a: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F284D3C-339E-4D28-8BA4-3EF9820FD6BD}"/>
              </a:ext>
            </a:extLst>
          </p:cNvPr>
          <p:cNvSpPr/>
          <p:nvPr/>
        </p:nvSpPr>
        <p:spPr>
          <a:xfrm>
            <a:off x="6180321" y="2878539"/>
            <a:ext cx="2932519" cy="577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고객의 선택을 받기위한 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Factor 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유무상여부 구분 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유상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Factor Data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축적으로 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Add-Value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정량화</a:t>
            </a: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7423F3D-A8D0-4A4F-8740-4F6F0B05D690}"/>
              </a:ext>
            </a:extLst>
          </p:cNvPr>
          <p:cNvSpPr/>
          <p:nvPr/>
        </p:nvSpPr>
        <p:spPr>
          <a:xfrm>
            <a:off x="6180321" y="3500924"/>
            <a:ext cx="2932519" cy="415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출시예정상품과 가장 유사한 경쟁상품 비교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분석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준거가격 제시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고객도 시장조사 통상 시행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)</a:t>
            </a: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5279C43-E6D9-4332-BD15-A67269EFACA4}"/>
              </a:ext>
            </a:extLst>
          </p:cNvPr>
          <p:cNvSpPr/>
          <p:nvPr/>
        </p:nvSpPr>
        <p:spPr>
          <a:xfrm>
            <a:off x="6180321" y="4041799"/>
            <a:ext cx="2932519" cy="415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내부역량을 분석해야 무엇을 할 수 있는지 알 수 있음</a:t>
            </a: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784BA8BE-3C79-4164-9256-1267676629A3}"/>
              </a:ext>
            </a:extLst>
          </p:cNvPr>
          <p:cNvCxnSpPr>
            <a:cxnSpLocks/>
          </p:cNvCxnSpPr>
          <p:nvPr/>
        </p:nvCxnSpPr>
        <p:spPr>
          <a:xfrm>
            <a:off x="4908384" y="2646889"/>
            <a:ext cx="1837473" cy="0"/>
          </a:xfrm>
          <a:prstGeom prst="line">
            <a:avLst/>
          </a:prstGeom>
          <a:ln w="28575" cmpd="dbl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E71F39C8-ADA7-44A2-B931-FBCDF4395BFC}"/>
              </a:ext>
            </a:extLst>
          </p:cNvPr>
          <p:cNvSpPr/>
          <p:nvPr/>
        </p:nvSpPr>
        <p:spPr>
          <a:xfrm>
            <a:off x="4846631" y="2348185"/>
            <a:ext cx="1970411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prstClr val="black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3C</a:t>
            </a:r>
            <a:r>
              <a:rPr lang="ko-KR" altLang="en-US" sz="1100" b="1" dirty="0">
                <a:solidFill>
                  <a:prstClr val="black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분석을 통한 가격 책정 </a:t>
            </a:r>
            <a:r>
              <a:rPr lang="en-US" altLang="ko-KR" sz="1100" b="1" dirty="0">
                <a:solidFill>
                  <a:prstClr val="black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1100" b="1" dirty="0">
                <a:solidFill>
                  <a:prstClr val="black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실무</a:t>
            </a:r>
            <a:r>
              <a:rPr lang="en-US" altLang="ko-KR" sz="1100" b="1" dirty="0">
                <a:solidFill>
                  <a:prstClr val="black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ko-KR" altLang="en-US" sz="1100" b="1" dirty="0">
              <a:solidFill>
                <a:prstClr val="black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EF574D3-7957-4FA0-AA88-C16C5BFDD0C2}"/>
              </a:ext>
            </a:extLst>
          </p:cNvPr>
          <p:cNvGrpSpPr/>
          <p:nvPr/>
        </p:nvGrpSpPr>
        <p:grpSpPr>
          <a:xfrm>
            <a:off x="194935" y="2357947"/>
            <a:ext cx="4218531" cy="2143613"/>
            <a:chOff x="194935" y="2357947"/>
            <a:chExt cx="4218531" cy="214361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106A27D-56AD-4A6F-8F29-48D58218D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3929" y="2577738"/>
              <a:ext cx="3639537" cy="1923822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1521F7A-2D6A-47BB-A325-D62EFB977AEB}"/>
                </a:ext>
              </a:extLst>
            </p:cNvPr>
            <p:cNvSpPr/>
            <p:nvPr/>
          </p:nvSpPr>
          <p:spPr>
            <a:xfrm>
              <a:off x="1086929" y="3644889"/>
              <a:ext cx="931400" cy="413853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550E6160-8D3F-4ADF-9074-CE64543E0F37}"/>
                </a:ext>
              </a:extLst>
            </p:cNvPr>
            <p:cNvSpPr/>
            <p:nvPr/>
          </p:nvSpPr>
          <p:spPr>
            <a:xfrm>
              <a:off x="1086930" y="4073224"/>
              <a:ext cx="3260784" cy="413853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8E661576-20B8-43D1-89E5-16112A0481DE}"/>
                </a:ext>
              </a:extLst>
            </p:cNvPr>
            <p:cNvSpPr/>
            <p:nvPr/>
          </p:nvSpPr>
          <p:spPr>
            <a:xfrm>
              <a:off x="2858643" y="2357947"/>
              <a:ext cx="883575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Competition</a:t>
              </a:r>
              <a:endParaRPr lang="ko-KR" altLang="en-US" sz="900" b="1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0B7607B8-E518-4590-B5B1-EBD96EB3CC6F}"/>
                </a:ext>
              </a:extLst>
            </p:cNvPr>
            <p:cNvSpPr/>
            <p:nvPr/>
          </p:nvSpPr>
          <p:spPr>
            <a:xfrm>
              <a:off x="194935" y="4111277"/>
              <a:ext cx="87395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Cost</a:t>
              </a:r>
              <a:br>
                <a:rPr lang="en-US" altLang="ko-KR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</a:br>
              <a:r>
                <a:rPr lang="en-US" altLang="ko-KR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(</a:t>
              </a:r>
              <a:r>
                <a:rPr lang="ko-KR" altLang="en-US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평판</a:t>
              </a:r>
              <a:r>
                <a:rPr lang="en-US" altLang="ko-KR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, A/S </a:t>
              </a:r>
              <a:r>
                <a:rPr lang="ko-KR" altLang="en-US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등</a:t>
              </a:r>
              <a:r>
                <a:rPr lang="en-US" altLang="ko-KR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)</a:t>
              </a:r>
              <a:endParaRPr lang="ko-KR" altLang="en-US" sz="900" b="1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6C7638EC-AF01-4053-9265-4675D0A89217}"/>
                </a:ext>
              </a:extLst>
            </p:cNvPr>
            <p:cNvSpPr/>
            <p:nvPr/>
          </p:nvSpPr>
          <p:spPr>
            <a:xfrm>
              <a:off x="279011" y="3654026"/>
              <a:ext cx="74571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Customer</a:t>
              </a:r>
            </a:p>
            <a:p>
              <a:pPr algn="ctr"/>
              <a:r>
                <a:rPr lang="en-US" altLang="ko-KR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value</a:t>
              </a:r>
              <a:endParaRPr lang="ko-KR" altLang="en-US" sz="900" b="1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9A49DD5C-A9FD-4A61-BC8B-B942FFE84AEE}"/>
                </a:ext>
              </a:extLst>
            </p:cNvPr>
            <p:cNvSpPr/>
            <p:nvPr/>
          </p:nvSpPr>
          <p:spPr>
            <a:xfrm>
              <a:off x="2018328" y="2641559"/>
              <a:ext cx="2329386" cy="1417182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ACF74CF-29E6-4280-B398-F275FC95B223}"/>
              </a:ext>
            </a:extLst>
          </p:cNvPr>
          <p:cNvGrpSpPr/>
          <p:nvPr/>
        </p:nvGrpSpPr>
        <p:grpSpPr>
          <a:xfrm>
            <a:off x="6323162" y="4608975"/>
            <a:ext cx="1106691" cy="235886"/>
            <a:chOff x="6323162" y="4608975"/>
            <a:chExt cx="1106691" cy="235886"/>
          </a:xfrm>
        </p:grpSpPr>
        <p:sp>
          <p:nvSpPr>
            <p:cNvPr id="27" name="실행 단추: 앞으로 또는 다음으로 이동 26">
              <a:hlinkClick r:id="rId3" action="ppaction://hlinksldjump" highlightClick="1"/>
              <a:extLst>
                <a:ext uri="{FF2B5EF4-FFF2-40B4-BE49-F238E27FC236}">
                  <a16:creationId xmlns:a16="http://schemas.microsoft.com/office/drawing/2014/main" id="{9A9AD7B3-41A4-4BD2-8ADE-5893C1EA84D5}"/>
                </a:ext>
              </a:extLst>
            </p:cNvPr>
            <p:cNvSpPr/>
            <p:nvPr/>
          </p:nvSpPr>
          <p:spPr>
            <a:xfrm>
              <a:off x="6323162" y="4634039"/>
              <a:ext cx="241539" cy="210822"/>
            </a:xfrm>
            <a:prstGeom prst="actionButtonForwardNex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0FDC244-9220-4CDC-BAD0-C4F6EA9C8161}"/>
                </a:ext>
              </a:extLst>
            </p:cNvPr>
            <p:cNvSpPr txBox="1"/>
            <p:nvPr/>
          </p:nvSpPr>
          <p:spPr>
            <a:xfrm>
              <a:off x="6559102" y="4608975"/>
              <a:ext cx="87075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※ </a:t>
              </a:r>
              <a:r>
                <a:rPr lang="ko-KR" altLang="en-US" sz="9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원가관리구분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50BE254-141F-4174-AE6A-29C430E0A327}"/>
              </a:ext>
            </a:extLst>
          </p:cNvPr>
          <p:cNvGrpSpPr/>
          <p:nvPr/>
        </p:nvGrpSpPr>
        <p:grpSpPr>
          <a:xfrm>
            <a:off x="7646580" y="4608975"/>
            <a:ext cx="907919" cy="235886"/>
            <a:chOff x="6323162" y="4608975"/>
            <a:chExt cx="907919" cy="235886"/>
          </a:xfrm>
        </p:grpSpPr>
        <p:sp>
          <p:nvSpPr>
            <p:cNvPr id="30" name="실행 단추: 앞으로 또는 다음으로 이동 29">
              <a:hlinkClick r:id="rId4" action="ppaction://hlinksldjump" highlightClick="1"/>
              <a:extLst>
                <a:ext uri="{FF2B5EF4-FFF2-40B4-BE49-F238E27FC236}">
                  <a16:creationId xmlns:a16="http://schemas.microsoft.com/office/drawing/2014/main" id="{26A203D3-FEFA-4703-8191-6D03FA687F61}"/>
                </a:ext>
              </a:extLst>
            </p:cNvPr>
            <p:cNvSpPr/>
            <p:nvPr/>
          </p:nvSpPr>
          <p:spPr>
            <a:xfrm>
              <a:off x="6323162" y="4634039"/>
              <a:ext cx="241539" cy="210822"/>
            </a:xfrm>
            <a:prstGeom prst="actionButtonForwardNex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3D210AB-4CE5-4149-930B-0F46E3F1EA95}"/>
                </a:ext>
              </a:extLst>
            </p:cNvPr>
            <p:cNvSpPr txBox="1"/>
            <p:nvPr/>
          </p:nvSpPr>
          <p:spPr>
            <a:xfrm>
              <a:off x="6559102" y="4608975"/>
              <a:ext cx="67197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※ </a:t>
              </a:r>
              <a:r>
                <a:rPr lang="ko-KR" altLang="en-US" sz="9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활용방안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1253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87A76CAC-EA2E-467A-A767-D7A8547C604C}"/>
              </a:ext>
            </a:extLst>
          </p:cNvPr>
          <p:cNvSpPr/>
          <p:nvPr/>
        </p:nvSpPr>
        <p:spPr>
          <a:xfrm>
            <a:off x="0" y="5984144"/>
            <a:ext cx="9914906" cy="87385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2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F44249-D9BE-437D-8173-83AAEE7C4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E02B04A-3777-4F13-B225-E7ED0882F115}"/>
              </a:ext>
            </a:extLst>
          </p:cNvPr>
          <p:cNvSpPr/>
          <p:nvPr/>
        </p:nvSpPr>
        <p:spPr>
          <a:xfrm>
            <a:off x="0" y="603683"/>
            <a:ext cx="532660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2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6F437A-2D07-47C5-86C4-9653CAAF5CE7}"/>
              </a:ext>
            </a:extLst>
          </p:cNvPr>
          <p:cNvSpPr txBox="1"/>
          <p:nvPr/>
        </p:nvSpPr>
        <p:spPr>
          <a:xfrm>
            <a:off x="712227" y="603683"/>
            <a:ext cx="7017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3. </a:t>
            </a:r>
            <a:r>
              <a:rPr lang="ko-KR" altLang="en-US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우리는</a:t>
            </a:r>
            <a:r>
              <a:rPr lang="en-US" altLang="ko-KR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?</a:t>
            </a:r>
            <a:endParaRPr lang="ko-KR" altLang="en-US" sz="2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25A243-EFC5-4B32-82C1-58E45128C325}"/>
              </a:ext>
            </a:extLst>
          </p:cNvPr>
          <p:cNvSpPr txBox="1"/>
          <p:nvPr/>
        </p:nvSpPr>
        <p:spPr>
          <a:xfrm>
            <a:off x="978563" y="1126904"/>
            <a:ext cx="5905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- </a:t>
            </a:r>
            <a:r>
              <a:rPr lang="ko-KR" altLang="en-US" sz="1600" dirty="0" err="1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에자일하게</a:t>
            </a:r>
            <a:r>
              <a:rPr lang="ko-KR" altLang="en-US" sz="16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 실행하고 평가하고 수정을 일상화</a:t>
            </a:r>
          </a:p>
        </p:txBody>
      </p:sp>
    </p:spTree>
    <p:extLst>
      <p:ext uri="{BB962C8B-B14F-4D97-AF65-F5344CB8AC3E}">
        <p14:creationId xmlns:p14="http://schemas.microsoft.com/office/powerpoint/2010/main" val="2002891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8471" y="155329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참고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전략 가격 조정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3409" y="558269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34">
            <a:extLst>
              <a:ext uri="{FF2B5EF4-FFF2-40B4-BE49-F238E27FC236}">
                <a16:creationId xmlns:a16="http://schemas.microsoft.com/office/drawing/2014/main" id="{69430EC9-2C5C-4FD3-B49C-62C1A70C6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466" y="929708"/>
            <a:ext cx="2294364" cy="378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indent="0" algn="ctr">
              <a:buNone/>
              <a:defRPr sz="900" b="0">
                <a:gradFill>
                  <a:gsLst>
                    <a:gs pos="0">
                      <a:srgbClr val="141414"/>
                    </a:gs>
                    <a:gs pos="100000">
                      <a:srgbClr val="141414"/>
                    </a:gs>
                  </a:gsLst>
                  <a:lin ang="5400000" scaled="0"/>
                </a:gradFill>
                <a:latin typeface="LG스마트체 SemiBold" pitchFamily="50" charset="-127"/>
                <a:ea typeface="LG스마트체 SemiBold" pitchFamily="50" charset="-127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굴림" charset="-127"/>
                <a:ea typeface="굴림" charset="-127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굴림" charset="-127"/>
                <a:ea typeface="굴림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굴림" charset="-127"/>
                <a:ea typeface="굴림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9pPr>
          </a:lstStyle>
          <a:p>
            <a:pPr algn="l" defTabSz="45718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401" b="1" spc="-7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가격 전략 종류</a:t>
            </a:r>
            <a:endParaRPr lang="en-US" altLang="ko-KR" sz="1401" spc="-71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6FAAFD5-014D-45C5-A54A-60CBC7AC0AC4}"/>
              </a:ext>
            </a:extLst>
          </p:cNvPr>
          <p:cNvSpPr/>
          <p:nvPr/>
        </p:nvSpPr>
        <p:spPr>
          <a:xfrm>
            <a:off x="695289" y="1307957"/>
            <a:ext cx="7818987" cy="337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44" indent="-171444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다양한 가격 전략이 존재하며</a:t>
            </a:r>
            <a:r>
              <a:rPr lang="en-US" altLang="ko-KR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각각의 전략은 독립적 또는 복합적으로 적용 가능</a:t>
            </a:r>
            <a:endParaRPr lang="en-US" altLang="ko-KR" sz="12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E369C1C-66AB-4E27-A9DE-A2BDF9850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327901"/>
              </p:ext>
            </p:extLst>
          </p:nvPr>
        </p:nvGraphicFramePr>
        <p:xfrm>
          <a:off x="695290" y="1808166"/>
          <a:ext cx="8276184" cy="3954283"/>
        </p:xfrm>
        <a:graphic>
          <a:graphicData uri="http://schemas.openxmlformats.org/drawingml/2006/table">
            <a:tbl>
              <a:tblPr/>
              <a:tblGrid>
                <a:gridCol w="1142140">
                  <a:extLst>
                    <a:ext uri="{9D8B030D-6E8A-4147-A177-3AD203B41FA5}">
                      <a16:colId xmlns:a16="http://schemas.microsoft.com/office/drawing/2014/main" val="2048359258"/>
                    </a:ext>
                  </a:extLst>
                </a:gridCol>
                <a:gridCol w="1783511">
                  <a:extLst>
                    <a:ext uri="{9D8B030D-6E8A-4147-A177-3AD203B41FA5}">
                      <a16:colId xmlns:a16="http://schemas.microsoft.com/office/drawing/2014/main" val="2364773646"/>
                    </a:ext>
                  </a:extLst>
                </a:gridCol>
                <a:gridCol w="1783511">
                  <a:extLst>
                    <a:ext uri="{9D8B030D-6E8A-4147-A177-3AD203B41FA5}">
                      <a16:colId xmlns:a16="http://schemas.microsoft.com/office/drawing/2014/main" val="3455270969"/>
                    </a:ext>
                  </a:extLst>
                </a:gridCol>
                <a:gridCol w="1783511">
                  <a:extLst>
                    <a:ext uri="{9D8B030D-6E8A-4147-A177-3AD203B41FA5}">
                      <a16:colId xmlns:a16="http://schemas.microsoft.com/office/drawing/2014/main" val="1944020459"/>
                    </a:ext>
                  </a:extLst>
                </a:gridCol>
                <a:gridCol w="1783511">
                  <a:extLst>
                    <a:ext uri="{9D8B030D-6E8A-4147-A177-3AD203B41FA5}">
                      <a16:colId xmlns:a16="http://schemas.microsoft.com/office/drawing/2014/main" val="2204846633"/>
                    </a:ext>
                  </a:extLst>
                </a:gridCol>
              </a:tblGrid>
              <a:tr h="49948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스키밍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시장 침투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제품 믹스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세분화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990470"/>
                  </a:ext>
                </a:extLst>
              </a:tr>
              <a:tr h="89712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전략 목표</a:t>
                      </a:r>
                    </a:p>
                    <a:p>
                      <a:pPr algn="ctr" fontAlgn="ctr"/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투자금 조기 회수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초기 고가격 설정</a:t>
                      </a: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시장 점유율 확대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저가격 설정</a:t>
                      </a: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제품 라인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가격 라인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선택 사양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묶음 제품</a:t>
                      </a: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세분 </a:t>
                      </a: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시장별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차별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8099336"/>
                  </a:ext>
                </a:extLst>
              </a:tr>
              <a:tr h="255767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개념도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098310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A017BEED-C0CB-4A87-91A4-DFFAC4BC9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660" y="3570716"/>
            <a:ext cx="2566639" cy="1835055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75562516-FA03-4D45-8DD4-5D0344779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315" y="3534171"/>
            <a:ext cx="2928582" cy="1871596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966D57-1981-463D-807A-72749484B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397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8471" y="155329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첨부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 가치 측정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3409" y="558269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34">
            <a:extLst>
              <a:ext uri="{FF2B5EF4-FFF2-40B4-BE49-F238E27FC236}">
                <a16:creationId xmlns:a16="http://schemas.microsoft.com/office/drawing/2014/main" id="{69430EC9-2C5C-4FD3-B49C-62C1A70C6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976" y="920698"/>
            <a:ext cx="2294364" cy="378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indent="0" algn="ctr">
              <a:buNone/>
              <a:defRPr sz="900" b="0">
                <a:gradFill>
                  <a:gsLst>
                    <a:gs pos="0">
                      <a:srgbClr val="141414"/>
                    </a:gs>
                    <a:gs pos="100000">
                      <a:srgbClr val="141414"/>
                    </a:gs>
                  </a:gsLst>
                  <a:lin ang="5400000" scaled="0"/>
                </a:gradFill>
                <a:latin typeface="LG스마트체 SemiBold" pitchFamily="50" charset="-127"/>
                <a:ea typeface="LG스마트체 SemiBold" pitchFamily="50" charset="-127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굴림" charset="-127"/>
                <a:ea typeface="굴림" charset="-127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굴림" charset="-127"/>
                <a:ea typeface="굴림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굴림" charset="-127"/>
                <a:ea typeface="굴림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9pPr>
          </a:lstStyle>
          <a:p>
            <a:pPr algn="l" defTabSz="45718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401" b="1" spc="-7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① 고객 가치 정량화 </a:t>
            </a:r>
            <a:endParaRPr lang="en-US" altLang="ko-KR" sz="1401" spc="-71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E369C1C-66AB-4E27-A9DE-A2BDF9850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872475"/>
              </p:ext>
            </p:extLst>
          </p:nvPr>
        </p:nvGraphicFramePr>
        <p:xfrm>
          <a:off x="695287" y="1532125"/>
          <a:ext cx="6043952" cy="1611758"/>
        </p:xfrm>
        <a:graphic>
          <a:graphicData uri="http://schemas.openxmlformats.org/drawingml/2006/table">
            <a:tbl>
              <a:tblPr/>
              <a:tblGrid>
                <a:gridCol w="1390684">
                  <a:extLst>
                    <a:ext uri="{9D8B030D-6E8A-4147-A177-3AD203B41FA5}">
                      <a16:colId xmlns:a16="http://schemas.microsoft.com/office/drawing/2014/main" val="2048359258"/>
                    </a:ext>
                  </a:extLst>
                </a:gridCol>
                <a:gridCol w="2951856">
                  <a:extLst>
                    <a:ext uri="{9D8B030D-6E8A-4147-A177-3AD203B41FA5}">
                      <a16:colId xmlns:a16="http://schemas.microsoft.com/office/drawing/2014/main" val="2364773646"/>
                    </a:ext>
                  </a:extLst>
                </a:gridCol>
                <a:gridCol w="1701412">
                  <a:extLst>
                    <a:ext uri="{9D8B030D-6E8A-4147-A177-3AD203B41FA5}">
                      <a16:colId xmlns:a16="http://schemas.microsoft.com/office/drawing/2014/main" val="1041108495"/>
                    </a:ext>
                  </a:extLst>
                </a:gridCol>
              </a:tblGrid>
              <a:tr h="32522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주요 활동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분석 자료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990470"/>
                  </a:ext>
                </a:extLst>
              </a:tr>
              <a:tr h="61843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사전 예측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고객 니즈 및 선호도 리서치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고객 가격 민감도 분석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고객 수용도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가설 수립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측정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평가</a:t>
                      </a: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038276"/>
                  </a:ext>
                </a:extLst>
              </a:tr>
              <a:tr h="66810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사후 관리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고객군별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선호하는 가치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Factor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분류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기판매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고객에 대한 가격 차액 분석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-Data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분석 및 예측 모델</a:t>
                      </a: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225869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C5FBAA6-0482-4F85-ADBE-778F7DE67274}"/>
              </a:ext>
            </a:extLst>
          </p:cNvPr>
          <p:cNvSpPr txBox="1"/>
          <p:nvPr/>
        </p:nvSpPr>
        <p:spPr>
          <a:xfrm>
            <a:off x="570915" y="6084416"/>
            <a:ext cx="4120039" cy="215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99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799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준거가격</a:t>
            </a:r>
            <a:r>
              <a:rPr lang="en-US" altLang="ko-KR" sz="799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799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과거 구매 경험이나 가지고 있는 가격정보를 기초로 형성된 고객의 심리적 가격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EE1B4E8-D26F-4503-BC67-84DD41A2A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287" y="3469168"/>
            <a:ext cx="3871296" cy="2085013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B571EB-D077-4BA8-AB88-E42FF7E7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125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8471" y="155329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첨부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경쟁 환경 분석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3409" y="558269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34">
            <a:extLst>
              <a:ext uri="{FF2B5EF4-FFF2-40B4-BE49-F238E27FC236}">
                <a16:creationId xmlns:a16="http://schemas.microsoft.com/office/drawing/2014/main" id="{69430EC9-2C5C-4FD3-B49C-62C1A70C6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976" y="937949"/>
            <a:ext cx="2294364" cy="378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indent="0" algn="ctr">
              <a:buNone/>
              <a:defRPr sz="900" b="0">
                <a:gradFill>
                  <a:gsLst>
                    <a:gs pos="0">
                      <a:srgbClr val="141414"/>
                    </a:gs>
                    <a:gs pos="100000">
                      <a:srgbClr val="141414"/>
                    </a:gs>
                  </a:gsLst>
                  <a:lin ang="5400000" scaled="0"/>
                </a:gradFill>
                <a:latin typeface="LG스마트체 SemiBold" pitchFamily="50" charset="-127"/>
                <a:ea typeface="LG스마트체 SemiBold" pitchFamily="50" charset="-127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굴림" charset="-127"/>
                <a:ea typeface="굴림" charset="-127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굴림" charset="-127"/>
                <a:ea typeface="굴림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굴림" charset="-127"/>
                <a:ea typeface="굴림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9pPr>
          </a:lstStyle>
          <a:p>
            <a:pPr algn="l" defTabSz="45718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401" b="1" spc="-7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②</a:t>
            </a:r>
            <a:r>
              <a:rPr lang="en-US" altLang="ko-KR" sz="1401" b="1" spc="-7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1" b="1" spc="-7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경쟁 환경 분석</a:t>
            </a:r>
            <a:endParaRPr lang="en-US" altLang="ko-KR" sz="1401" spc="-71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E369C1C-66AB-4E27-A9DE-A2BDF9850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242565"/>
              </p:ext>
            </p:extLst>
          </p:nvPr>
        </p:nvGraphicFramePr>
        <p:xfrm>
          <a:off x="721170" y="1514238"/>
          <a:ext cx="6024691" cy="1607726"/>
        </p:xfrm>
        <a:graphic>
          <a:graphicData uri="http://schemas.openxmlformats.org/drawingml/2006/table">
            <a:tbl>
              <a:tblPr/>
              <a:tblGrid>
                <a:gridCol w="1382847">
                  <a:extLst>
                    <a:ext uri="{9D8B030D-6E8A-4147-A177-3AD203B41FA5}">
                      <a16:colId xmlns:a16="http://schemas.microsoft.com/office/drawing/2014/main" val="2048359258"/>
                    </a:ext>
                  </a:extLst>
                </a:gridCol>
                <a:gridCol w="2932713">
                  <a:extLst>
                    <a:ext uri="{9D8B030D-6E8A-4147-A177-3AD203B41FA5}">
                      <a16:colId xmlns:a16="http://schemas.microsoft.com/office/drawing/2014/main" val="2364773646"/>
                    </a:ext>
                  </a:extLst>
                </a:gridCol>
                <a:gridCol w="1709131">
                  <a:extLst>
                    <a:ext uri="{9D8B030D-6E8A-4147-A177-3AD203B41FA5}">
                      <a16:colId xmlns:a16="http://schemas.microsoft.com/office/drawing/2014/main" val="1041108495"/>
                    </a:ext>
                  </a:extLst>
                </a:gridCol>
              </a:tblGrid>
              <a:tr h="3786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주요 활동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분석 자료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990470"/>
                  </a:ext>
                </a:extLst>
              </a:tr>
              <a:tr h="53895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경쟁 시장 분석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시장 점유율 현황 분석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시장 플레이어 및 경쟁 제품군 분석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업종 현황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기업 자료 </a:t>
                      </a: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432293"/>
                  </a:ext>
                </a:extLst>
              </a:tr>
              <a:tr h="6901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경쟁사 분석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주요 경쟁사 선정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경쟁사 가격 전략 분석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비교 우위 전략 수립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주요 고객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가격 정책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영업 채널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038276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658C1310-3141-4EB0-8FA4-EB1E07408682}"/>
              </a:ext>
            </a:extLst>
          </p:cNvPr>
          <p:cNvGrpSpPr/>
          <p:nvPr/>
        </p:nvGrpSpPr>
        <p:grpSpPr>
          <a:xfrm>
            <a:off x="721170" y="3612671"/>
            <a:ext cx="7345211" cy="2176192"/>
            <a:chOff x="721165" y="3612670"/>
            <a:chExt cx="7345209" cy="2176192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8CC1D8DB-143C-4F60-8858-3389D2ABE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1165" y="3612670"/>
              <a:ext cx="5476155" cy="2176192"/>
            </a:xfrm>
            <a:prstGeom prst="rect">
              <a:avLst/>
            </a:prstGeom>
          </p:spPr>
        </p:pic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E3E4A0B0-D5F0-4B6F-BC23-1F95D1796701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>
              <a:off x="1199077" y="4183751"/>
              <a:ext cx="5088927" cy="70"/>
            </a:xfrm>
            <a:prstGeom prst="line">
              <a:avLst/>
            </a:prstGeom>
            <a:ln w="190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3F1C42-080E-4B11-A3E8-F5897719C5F3}"/>
                </a:ext>
              </a:extLst>
            </p:cNvPr>
            <p:cNvSpPr txBox="1"/>
            <p:nvPr/>
          </p:nvSpPr>
          <p:spPr>
            <a:xfrm>
              <a:off x="6288004" y="4076093"/>
              <a:ext cx="561372" cy="2153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99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4,150</a:t>
              </a:r>
              <a:r>
                <a:rPr lang="ko-KR" altLang="en-US" sz="799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원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F8AF41F-D372-423A-9AF9-3CC55E9961F5}"/>
                </a:ext>
              </a:extLst>
            </p:cNvPr>
            <p:cNvSpPr txBox="1"/>
            <p:nvPr/>
          </p:nvSpPr>
          <p:spPr>
            <a:xfrm>
              <a:off x="6288004" y="3797166"/>
              <a:ext cx="561372" cy="2153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99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4,500</a:t>
              </a:r>
              <a:r>
                <a:rPr lang="ko-KR" altLang="en-US" sz="799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원</a:t>
              </a: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CD79AEED-5B9A-4C6E-AF00-76807CE7BA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6792" y="3917062"/>
              <a:ext cx="1991211" cy="131155"/>
            </a:xfrm>
            <a:prstGeom prst="line">
              <a:avLst/>
            </a:prstGeom>
            <a:ln w="12700">
              <a:solidFill>
                <a:srgbClr val="C00000"/>
              </a:solidFill>
              <a:prstDash val="solid"/>
              <a:headEnd type="arrow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AAE0DA5B-85B1-42F4-9A23-FCC3D5EF17A6}"/>
                </a:ext>
              </a:extLst>
            </p:cNvPr>
            <p:cNvSpPr/>
            <p:nvPr/>
          </p:nvSpPr>
          <p:spPr>
            <a:xfrm>
              <a:off x="6849372" y="3703255"/>
              <a:ext cx="1217002" cy="31521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2"/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8ABA08E8-1DD9-4A9F-92BF-14C544DCA172}"/>
                </a:ext>
              </a:extLst>
            </p:cNvPr>
            <p:cNvSpPr/>
            <p:nvPr/>
          </p:nvSpPr>
          <p:spPr>
            <a:xfrm>
              <a:off x="6849371" y="4070079"/>
              <a:ext cx="1217002" cy="31521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2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AD315A-D1D6-494D-A148-26717FC802AA}"/>
                </a:ext>
              </a:extLst>
            </p:cNvPr>
            <p:cNvSpPr txBox="1"/>
            <p:nvPr/>
          </p:nvSpPr>
          <p:spPr>
            <a:xfrm>
              <a:off x="6970137" y="4123490"/>
              <a:ext cx="941283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1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경쟁사 평균가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588385E-43E7-4DB9-8272-DB98AB8506BE}"/>
                </a:ext>
              </a:extLst>
            </p:cNvPr>
            <p:cNvSpPr txBox="1"/>
            <p:nvPr/>
          </p:nvSpPr>
          <p:spPr>
            <a:xfrm>
              <a:off x="6875254" y="3750689"/>
              <a:ext cx="1096775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1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목표 경쟁 </a:t>
              </a:r>
              <a:r>
                <a:rPr lang="ko-KR" altLang="en-US" sz="1001" b="1" dirty="0" err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타깃가</a:t>
              </a:r>
              <a:endParaRPr lang="ko-KR" altLang="en-US" sz="1001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67B812-3F65-493F-9F9F-D8AB71A7D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514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표 99">
            <a:extLst>
              <a:ext uri="{FF2B5EF4-FFF2-40B4-BE49-F238E27FC236}">
                <a16:creationId xmlns:a16="http://schemas.microsoft.com/office/drawing/2014/main" id="{981BA2FE-AAE2-4585-8C99-41D2905ED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330816"/>
              </p:ext>
            </p:extLst>
          </p:nvPr>
        </p:nvGraphicFramePr>
        <p:xfrm>
          <a:off x="468472" y="978383"/>
          <a:ext cx="8898043" cy="4909694"/>
        </p:xfrm>
        <a:graphic>
          <a:graphicData uri="http://schemas.openxmlformats.org/drawingml/2006/table">
            <a:tbl>
              <a:tblPr/>
              <a:tblGrid>
                <a:gridCol w="757300">
                  <a:extLst>
                    <a:ext uri="{9D8B030D-6E8A-4147-A177-3AD203B41FA5}">
                      <a16:colId xmlns:a16="http://schemas.microsoft.com/office/drawing/2014/main" val="620945613"/>
                    </a:ext>
                  </a:extLst>
                </a:gridCol>
                <a:gridCol w="2713581">
                  <a:extLst>
                    <a:ext uri="{9D8B030D-6E8A-4147-A177-3AD203B41FA5}">
                      <a16:colId xmlns:a16="http://schemas.microsoft.com/office/drawing/2014/main" val="2364773646"/>
                    </a:ext>
                  </a:extLst>
                </a:gridCol>
                <a:gridCol w="2713581">
                  <a:extLst>
                    <a:ext uri="{9D8B030D-6E8A-4147-A177-3AD203B41FA5}">
                      <a16:colId xmlns:a16="http://schemas.microsoft.com/office/drawing/2014/main" val="2831894605"/>
                    </a:ext>
                  </a:extLst>
                </a:gridCol>
                <a:gridCol w="2713581">
                  <a:extLst>
                    <a:ext uri="{9D8B030D-6E8A-4147-A177-3AD203B41FA5}">
                      <a16:colId xmlns:a16="http://schemas.microsoft.com/office/drawing/2014/main" val="1041108495"/>
                    </a:ext>
                  </a:extLst>
                </a:gridCol>
              </a:tblGrid>
              <a:tr h="3786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유형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동행 </a:t>
                      </a:r>
                      <a:r>
                        <a:rPr lang="en-US" altLang="ko-KR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I </a:t>
                      </a:r>
                      <a:r>
                        <a:rPr lang="ko-KR" altLang="en-US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동행 </a:t>
                      </a:r>
                      <a:r>
                        <a:rPr lang="en-US" altLang="ko-KR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II </a:t>
                      </a:r>
                      <a:r>
                        <a:rPr lang="ko-KR" altLang="en-US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주도 형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990470"/>
                  </a:ext>
                </a:extLst>
              </a:tr>
              <a:tr h="2431040"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개념도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432293"/>
                  </a:ext>
                </a:extLst>
              </a:tr>
              <a:tr h="70000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특징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변동원가 </a:t>
                      </a:r>
                      <a:r>
                        <a:rPr lang="en-US" altLang="ko-KR" sz="11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100%</a:t>
                      </a:r>
                      <a:endParaRPr lang="ko-KR" altLang="en-US" sz="1100" b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판매수량별</a:t>
                      </a:r>
                      <a:r>
                        <a:rPr lang="ko-KR" altLang="en-US" sz="11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단가할인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변동원가 </a:t>
                      </a:r>
                      <a:r>
                        <a:rPr lang="en-US" altLang="ko-KR" sz="11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50%, </a:t>
                      </a:r>
                      <a:r>
                        <a:rPr lang="ko-KR" altLang="en-US" sz="11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고정원가 </a:t>
                      </a:r>
                      <a:r>
                        <a:rPr lang="en-US" altLang="ko-KR" sz="11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50%</a:t>
                      </a:r>
                      <a:endParaRPr lang="ko-KR" altLang="en-US" sz="1100" b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939528"/>
                  </a:ext>
                </a:extLst>
              </a:tr>
              <a:tr h="700001"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기여도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재무 볼륨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업 기여               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Middle</a:t>
                      </a:r>
                    </a:p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이익률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비율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기여               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Zero</a:t>
                      </a: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재무 볼륨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업 기여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      High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이익률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비율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기여          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Middle </a:t>
                      </a: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재무 볼륨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업 기여                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High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이익률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비율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기여                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High</a:t>
                      </a: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038276"/>
                  </a:ext>
                </a:extLst>
              </a:tr>
              <a:tr h="700001"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상품군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용역형 상품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소기업 제공 상품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박리다매형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신기술주기가 짧은 상품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초기 투자비가 필요한 상품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자가 개발형 상품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(OEM, </a:t>
                      </a:r>
                      <a:r>
                        <a:rPr kumimoji="0" lang="en-US" altLang="ko-K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ODM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포함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공급 체인이 결합된 기업 상품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12334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68471" y="155329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첨부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원가 관리 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3409" y="558269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그림 96">
            <a:extLst>
              <a:ext uri="{FF2B5EF4-FFF2-40B4-BE49-F238E27FC236}">
                <a16:creationId xmlns:a16="http://schemas.microsoft.com/office/drawing/2014/main" id="{4D853765-A22C-4672-AFCE-8A41C599C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752" y="1684290"/>
            <a:ext cx="2694111" cy="2029483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D0D41D49-5E71-4870-9DB9-9262AC3B6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495" y="1684291"/>
            <a:ext cx="2634769" cy="2029483"/>
          </a:xfrm>
          <a:prstGeom prst="rect">
            <a:avLst/>
          </a:prstGeom>
        </p:spPr>
      </p:pic>
      <p:pic>
        <p:nvPicPr>
          <p:cNvPr id="99" name="그림 98">
            <a:extLst>
              <a:ext uri="{FF2B5EF4-FFF2-40B4-BE49-F238E27FC236}">
                <a16:creationId xmlns:a16="http://schemas.microsoft.com/office/drawing/2014/main" id="{DB15C54F-0B88-4872-9324-AEC746700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448" y="1684289"/>
            <a:ext cx="2539823" cy="2029483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7D75E7-DED8-4A43-91B3-C90C1C31E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실행 단추: 돌아가기 1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87A5BECD-461D-44E9-8F95-8D9AF90BF6DA}"/>
              </a:ext>
            </a:extLst>
          </p:cNvPr>
          <p:cNvSpPr/>
          <p:nvPr/>
        </p:nvSpPr>
        <p:spPr>
          <a:xfrm>
            <a:off x="9031799" y="6070586"/>
            <a:ext cx="319936" cy="285772"/>
          </a:xfrm>
          <a:prstGeom prst="actionButtonReturn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564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8471" y="155329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첨부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4.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기준 가격 활용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3409" y="558269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7D75E7-DED8-4A43-91B3-C90C1C31E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실행 단추: 돌아가기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87A5BECD-461D-44E9-8F95-8D9AF90BF6DA}"/>
              </a:ext>
            </a:extLst>
          </p:cNvPr>
          <p:cNvSpPr/>
          <p:nvPr/>
        </p:nvSpPr>
        <p:spPr>
          <a:xfrm>
            <a:off x="9031799" y="6070586"/>
            <a:ext cx="319936" cy="285772"/>
          </a:xfrm>
          <a:prstGeom prst="actionButtonReturn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AFDEC5E-A03B-4F03-B6B4-C89BDAA5852C}"/>
              </a:ext>
            </a:extLst>
          </p:cNvPr>
          <p:cNvSpPr/>
          <p:nvPr/>
        </p:nvSpPr>
        <p:spPr>
          <a:xfrm>
            <a:off x="5542438" y="1984260"/>
            <a:ext cx="2359830" cy="2247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Ⅰ 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상품매출액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Ⅱ 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상품매출원가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- 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상품구입액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- </a:t>
            </a:r>
            <a:r>
              <a:rPr lang="ko-KR" altLang="en-US" sz="105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직접인건비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전담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PO 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Ⅲ 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매출총이익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Ⅳ </a:t>
            </a:r>
            <a:r>
              <a:rPr lang="ko-KR" altLang="en-US" sz="105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판매비와일반관리비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마케팅비 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사업확대전략수반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Ⅴ 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영업이익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0D99CF2-3E07-46ED-9E0C-C286034AFE14}"/>
              </a:ext>
            </a:extLst>
          </p:cNvPr>
          <p:cNvSpPr/>
          <p:nvPr/>
        </p:nvSpPr>
        <p:spPr>
          <a:xfrm>
            <a:off x="7407615" y="1984260"/>
            <a:ext cx="2228849" cy="306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1" dirty="0">
                <a:highlight>
                  <a:srgbClr val="C0C0C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기준가격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x 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예상수요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F0F07F-58A6-4D37-86C4-73807D0964C7}"/>
              </a:ext>
            </a:extLst>
          </p:cNvPr>
          <p:cNvSpPr/>
          <p:nvPr/>
        </p:nvSpPr>
        <p:spPr>
          <a:xfrm>
            <a:off x="5589519" y="1391075"/>
            <a:ext cx="2932519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 계획 수립 및 평가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49E836B-B07A-445F-9E37-4FB22234846E}"/>
              </a:ext>
            </a:extLst>
          </p:cNvPr>
          <p:cNvSpPr/>
          <p:nvPr/>
        </p:nvSpPr>
        <p:spPr>
          <a:xfrm>
            <a:off x="2177662" y="1929693"/>
            <a:ext cx="1307408" cy="415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재무 목표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충족 여부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7EE541E-AC72-4C2C-B2F2-B215A6DE4EB7}"/>
              </a:ext>
            </a:extLst>
          </p:cNvPr>
          <p:cNvSpPr/>
          <p:nvPr/>
        </p:nvSpPr>
        <p:spPr>
          <a:xfrm>
            <a:off x="7407614" y="2462907"/>
            <a:ext cx="2228849" cy="306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1" dirty="0">
                <a:highlight>
                  <a:srgbClr val="C0C0C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매입원가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x 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예상수요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1DE410CD-4C10-4222-97CF-F7C1009E759A}"/>
              </a:ext>
            </a:extLst>
          </p:cNvPr>
          <p:cNvCxnSpPr/>
          <p:nvPr/>
        </p:nvCxnSpPr>
        <p:spPr>
          <a:xfrm flipH="1">
            <a:off x="6608305" y="2160778"/>
            <a:ext cx="7993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41D3483-7C3A-4D8F-A1F9-680481BFE0A1}"/>
              </a:ext>
            </a:extLst>
          </p:cNvPr>
          <p:cNvCxnSpPr/>
          <p:nvPr/>
        </p:nvCxnSpPr>
        <p:spPr>
          <a:xfrm flipH="1">
            <a:off x="6608305" y="2617978"/>
            <a:ext cx="7993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071BCB9-D9E4-49CC-A0E0-F7823255D59F}"/>
              </a:ext>
            </a:extLst>
          </p:cNvPr>
          <p:cNvSpPr/>
          <p:nvPr/>
        </p:nvSpPr>
        <p:spPr>
          <a:xfrm>
            <a:off x="5469618" y="1798469"/>
            <a:ext cx="3433314" cy="241276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0CD507D-C38B-4E78-A579-6A1A07151B8C}"/>
              </a:ext>
            </a:extLst>
          </p:cNvPr>
          <p:cNvSpPr/>
          <p:nvPr/>
        </p:nvSpPr>
        <p:spPr>
          <a:xfrm>
            <a:off x="2203540" y="3466519"/>
            <a:ext cx="1307408" cy="415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 전략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필요 여부</a:t>
            </a:r>
          </a:p>
        </p:txBody>
      </p:sp>
      <p:sp>
        <p:nvSpPr>
          <p:cNvPr id="16" name="순서도: 판단 15">
            <a:extLst>
              <a:ext uri="{FF2B5EF4-FFF2-40B4-BE49-F238E27FC236}">
                <a16:creationId xmlns:a16="http://schemas.microsoft.com/office/drawing/2014/main" id="{35CCBE9B-71AD-4B3D-9BEB-DEBFD4F812EF}"/>
              </a:ext>
            </a:extLst>
          </p:cNvPr>
          <p:cNvSpPr/>
          <p:nvPr/>
        </p:nvSpPr>
        <p:spPr>
          <a:xfrm>
            <a:off x="1890724" y="1538808"/>
            <a:ext cx="1307408" cy="1163136"/>
          </a:xfrm>
          <a:prstGeom prst="flowChartDecisi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순서도: 판단 21">
            <a:extLst>
              <a:ext uri="{FF2B5EF4-FFF2-40B4-BE49-F238E27FC236}">
                <a16:creationId xmlns:a16="http://schemas.microsoft.com/office/drawing/2014/main" id="{0040F1BB-3356-4D3D-9B69-743D77474BC3}"/>
              </a:ext>
            </a:extLst>
          </p:cNvPr>
          <p:cNvSpPr/>
          <p:nvPr/>
        </p:nvSpPr>
        <p:spPr>
          <a:xfrm>
            <a:off x="1890724" y="3092829"/>
            <a:ext cx="1307408" cy="1163136"/>
          </a:xfrm>
          <a:prstGeom prst="flowChartDecisi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D2FF1E7-754A-4236-8167-01A793BB0F62}"/>
              </a:ext>
            </a:extLst>
          </p:cNvPr>
          <p:cNvSpPr/>
          <p:nvPr/>
        </p:nvSpPr>
        <p:spPr>
          <a:xfrm>
            <a:off x="1016183" y="5105312"/>
            <a:ext cx="919219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>
                <a:latin typeface="나눔고딕" panose="020D0604000000000000" pitchFamily="50" charset="-127"/>
                <a:ea typeface="나눔고딕" panose="020D0604000000000000" pitchFamily="50" charset="-127"/>
              </a:rPr>
              <a:t>출시 확정</a:t>
            </a: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2FB31B7-5E95-4A3C-9BE3-0A01671CF005}"/>
              </a:ext>
            </a:extLst>
          </p:cNvPr>
          <p:cNvSpPr/>
          <p:nvPr/>
        </p:nvSpPr>
        <p:spPr>
          <a:xfrm>
            <a:off x="3267102" y="5110450"/>
            <a:ext cx="919219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출시 보류</a:t>
            </a: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F4857146-AF9C-407F-9AA6-84AA954690DD}"/>
              </a:ext>
            </a:extLst>
          </p:cNvPr>
          <p:cNvSpPr/>
          <p:nvPr/>
        </p:nvSpPr>
        <p:spPr>
          <a:xfrm>
            <a:off x="733246" y="4912127"/>
            <a:ext cx="1202156" cy="621091"/>
          </a:xfrm>
          <a:prstGeom prst="flowChartProcess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순서도: 처리 25">
            <a:extLst>
              <a:ext uri="{FF2B5EF4-FFF2-40B4-BE49-F238E27FC236}">
                <a16:creationId xmlns:a16="http://schemas.microsoft.com/office/drawing/2014/main" id="{872D0D3F-81D8-4CEA-AF09-7A58AA771510}"/>
              </a:ext>
            </a:extLst>
          </p:cNvPr>
          <p:cNvSpPr/>
          <p:nvPr/>
        </p:nvSpPr>
        <p:spPr>
          <a:xfrm>
            <a:off x="2999237" y="4912127"/>
            <a:ext cx="1202156" cy="621091"/>
          </a:xfrm>
          <a:prstGeom prst="flowChartProcess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AD12F5C3-19C0-49EC-8CDA-3479B6C36826}"/>
              </a:ext>
            </a:extLst>
          </p:cNvPr>
          <p:cNvCxnSpPr>
            <a:cxnSpLocks/>
            <a:endCxn id="16" idx="3"/>
          </p:cNvCxnSpPr>
          <p:nvPr/>
        </p:nvCxnSpPr>
        <p:spPr>
          <a:xfrm rot="10800000">
            <a:off x="3198132" y="2120377"/>
            <a:ext cx="2344306" cy="171693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8A084A35-5AD3-4BBB-9D27-3FADF9A804DD}"/>
              </a:ext>
            </a:extLst>
          </p:cNvPr>
          <p:cNvCxnSpPr>
            <a:stCxn id="16" idx="1"/>
            <a:endCxn id="17" idx="0"/>
          </p:cNvCxnSpPr>
          <p:nvPr/>
        </p:nvCxnSpPr>
        <p:spPr>
          <a:xfrm rot="10800000" flipV="1">
            <a:off x="1334324" y="2120375"/>
            <a:ext cx="556400" cy="279175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5C144A1-1889-4A86-B8D1-983E08F9B626}"/>
              </a:ext>
            </a:extLst>
          </p:cNvPr>
          <p:cNvSpPr/>
          <p:nvPr/>
        </p:nvSpPr>
        <p:spPr>
          <a:xfrm>
            <a:off x="1444130" y="1865273"/>
            <a:ext cx="281700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Y</a:t>
            </a: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6C0206DF-0C6C-45A9-9740-29CC65462F06}"/>
              </a:ext>
            </a:extLst>
          </p:cNvPr>
          <p:cNvCxnSpPr>
            <a:stCxn id="16" idx="2"/>
            <a:endCxn id="22" idx="0"/>
          </p:cNvCxnSpPr>
          <p:nvPr/>
        </p:nvCxnSpPr>
        <p:spPr>
          <a:xfrm>
            <a:off x="2544428" y="2701944"/>
            <a:ext cx="0" cy="390885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F0D70D9-36F1-4D77-B844-CF6429C1C71C}"/>
              </a:ext>
            </a:extLst>
          </p:cNvPr>
          <p:cNvSpPr/>
          <p:nvPr/>
        </p:nvSpPr>
        <p:spPr>
          <a:xfrm>
            <a:off x="1438780" y="3409503"/>
            <a:ext cx="281700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Y</a:t>
            </a: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54857DA-689D-4269-ACE6-D1D0B6C1EB74}"/>
              </a:ext>
            </a:extLst>
          </p:cNvPr>
          <p:cNvSpPr/>
          <p:nvPr/>
        </p:nvSpPr>
        <p:spPr>
          <a:xfrm>
            <a:off x="2226318" y="2666426"/>
            <a:ext cx="281700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</a:t>
            </a: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952D7DF6-B800-4841-859E-939A7B663D23}"/>
              </a:ext>
            </a:extLst>
          </p:cNvPr>
          <p:cNvCxnSpPr>
            <a:cxnSpLocks/>
            <a:stCxn id="22" idx="1"/>
            <a:endCxn id="17" idx="0"/>
          </p:cNvCxnSpPr>
          <p:nvPr/>
        </p:nvCxnSpPr>
        <p:spPr>
          <a:xfrm rot="10800000" flipV="1">
            <a:off x="1334324" y="3674397"/>
            <a:ext cx="556400" cy="12377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7BE58D8A-8705-4B9E-90ED-3CA8D263E446}"/>
              </a:ext>
            </a:extLst>
          </p:cNvPr>
          <p:cNvCxnSpPr>
            <a:cxnSpLocks/>
            <a:stCxn id="22" idx="2"/>
            <a:endCxn id="26" idx="0"/>
          </p:cNvCxnSpPr>
          <p:nvPr/>
        </p:nvCxnSpPr>
        <p:spPr>
          <a:xfrm rot="16200000" flipH="1">
            <a:off x="2744290" y="4056102"/>
            <a:ext cx="656162" cy="1055887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1B9FD71-E71B-418D-A850-86762773A206}"/>
              </a:ext>
            </a:extLst>
          </p:cNvPr>
          <p:cNvSpPr/>
          <p:nvPr/>
        </p:nvSpPr>
        <p:spPr>
          <a:xfrm>
            <a:off x="2226318" y="4330001"/>
            <a:ext cx="281700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</a:t>
            </a: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97FDC43A-73D2-496F-B92B-BDD0B014EF80}"/>
              </a:ext>
            </a:extLst>
          </p:cNvPr>
          <p:cNvCxnSpPr/>
          <p:nvPr/>
        </p:nvCxnSpPr>
        <p:spPr>
          <a:xfrm>
            <a:off x="5589519" y="1645119"/>
            <a:ext cx="1500028" cy="0"/>
          </a:xfrm>
          <a:prstGeom prst="line">
            <a:avLst/>
          </a:prstGeom>
          <a:ln w="28575" cmpd="dbl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979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5135</TotalTime>
  <Words>552</Words>
  <Application>Microsoft Office PowerPoint</Application>
  <PresentationFormat>A4 용지(210x297mm)</PresentationFormat>
  <Paragraphs>157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22" baseType="lpstr">
      <vt:lpstr>Pretendard</vt:lpstr>
      <vt:lpstr>Pretendard Black</vt:lpstr>
      <vt:lpstr>Pretendard Light</vt:lpstr>
      <vt:lpstr>나눔고딕</vt:lpstr>
      <vt:lpstr>나눔고딕 ExtraBold</vt:lpstr>
      <vt:lpstr>나눔고딕 Light</vt:lpstr>
      <vt:lpstr>나눔스퀘어라운드 ExtraBold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Administrator</cp:lastModifiedBy>
  <cp:revision>658</cp:revision>
  <cp:lastPrinted>2022-12-23T03:34:47Z</cp:lastPrinted>
  <dcterms:created xsi:type="dcterms:W3CDTF">2022-11-29T06:03:49Z</dcterms:created>
  <dcterms:modified xsi:type="dcterms:W3CDTF">2024-05-22T08:23:02Z</dcterms:modified>
</cp:coreProperties>
</file>