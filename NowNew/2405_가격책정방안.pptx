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0" r:id="rId2"/>
    <p:sldId id="282" r:id="rId3"/>
    <p:sldId id="281" r:id="rId4"/>
    <p:sldId id="272" r:id="rId5"/>
    <p:sldId id="273" r:id="rId6"/>
    <p:sldId id="287" r:id="rId7"/>
    <p:sldId id="286" r:id="rId8"/>
    <p:sldId id="292" r:id="rId9"/>
    <p:sldId id="288" r:id="rId10"/>
    <p:sldId id="289" r:id="rId11"/>
    <p:sldId id="291" r:id="rId12"/>
    <p:sldId id="290" r:id="rId13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7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3974" userDrawn="1">
          <p15:clr>
            <a:srgbClr val="A4A3A4"/>
          </p15:clr>
        </p15:guide>
        <p15:guide id="4" pos="240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orient="horz" pos="3997" userDrawn="1">
          <p15:clr>
            <a:srgbClr val="A4A3A4"/>
          </p15:clr>
        </p15:guide>
        <p15:guide id="7" pos="1669" userDrawn="1">
          <p15:clr>
            <a:srgbClr val="A4A3A4"/>
          </p15:clr>
        </p15:guide>
        <p15:guide id="8" pos="3097" userDrawn="1">
          <p15:clr>
            <a:srgbClr val="A4A3A4"/>
          </p15:clr>
        </p15:guide>
        <p15:guide id="9" pos="6091" userDrawn="1">
          <p15:clr>
            <a:srgbClr val="A4A3A4"/>
          </p15:clr>
        </p15:guide>
        <p15:guide id="10" orient="horz" pos="1139" userDrawn="1">
          <p15:clr>
            <a:srgbClr val="A4A3A4"/>
          </p15:clr>
        </p15:guide>
        <p15:guide id="11" orient="horz" pos="6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233"/>
    <a:srgbClr val="E7E7E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6214" autoAdjust="0"/>
  </p:normalViewPr>
  <p:slideViewPr>
    <p:cSldViewPr snapToGrid="0">
      <p:cViewPr varScale="1">
        <p:scale>
          <a:sx n="108" d="100"/>
          <a:sy n="108" d="100"/>
        </p:scale>
        <p:origin x="576" y="114"/>
      </p:cViewPr>
      <p:guideLst>
        <p:guide orient="horz" pos="527"/>
        <p:guide pos="2304"/>
        <p:guide orient="horz" pos="3974"/>
        <p:guide pos="240"/>
        <p:guide orient="horz" pos="709"/>
        <p:guide orient="horz" pos="3997"/>
        <p:guide pos="1669"/>
        <p:guide pos="3097"/>
        <p:guide pos="6091"/>
        <p:guide orient="horz" pos="1139"/>
        <p:guide orient="horz" pos="6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906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443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5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44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318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26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51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25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185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015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9A86C-19E5-4384-B432-4894CE112E5E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50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F0A9CF-61BD-427A-970A-DC63927EB5AC}"/>
              </a:ext>
            </a:extLst>
          </p:cNvPr>
          <p:cNvSpPr txBox="1">
            <a:spLocks/>
          </p:cNvSpPr>
          <p:nvPr/>
        </p:nvSpPr>
        <p:spPr>
          <a:xfrm>
            <a:off x="1296115" y="1341438"/>
            <a:ext cx="7581190" cy="1197834"/>
          </a:xfrm>
          <a:prstGeom prst="rect">
            <a:avLst/>
          </a:prstGeom>
          <a:ln>
            <a:noFill/>
          </a:ln>
        </p:spPr>
        <p:txBody>
          <a:bodyPr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가격 책정 방안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3BD9DE8-B76D-4EC7-AB08-79547C6C4C8F}"/>
              </a:ext>
            </a:extLst>
          </p:cNvPr>
          <p:cNvCxnSpPr>
            <a:cxnSpLocks/>
          </p:cNvCxnSpPr>
          <p:nvPr/>
        </p:nvCxnSpPr>
        <p:spPr>
          <a:xfrm>
            <a:off x="1369158" y="2304806"/>
            <a:ext cx="74326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67F49A27-A52D-47EA-9434-7B757EF01493}"/>
              </a:ext>
            </a:extLst>
          </p:cNvPr>
          <p:cNvSpPr txBox="1">
            <a:spLocks/>
          </p:cNvSpPr>
          <p:nvPr/>
        </p:nvSpPr>
        <p:spPr>
          <a:xfrm>
            <a:off x="3772009" y="5245449"/>
            <a:ext cx="2361981" cy="119783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상품기획팀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2024.05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8836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Prologue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994C72-F10E-4160-A81F-466CD9A3A4AB}"/>
              </a:ext>
            </a:extLst>
          </p:cNvPr>
          <p:cNvSpPr/>
          <p:nvPr/>
        </p:nvSpPr>
        <p:spPr>
          <a:xfrm>
            <a:off x="5063425" y="1560551"/>
            <a:ext cx="4609213" cy="4669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구독방식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스마트계약 등도 매 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스프린트마다 조금씩 업그레이드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시켜간다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귀사의 옥상 공간에 </a:t>
            </a:r>
            <a:r>
              <a:rPr lang="en-US" altLang="ko-KR" sz="10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A,B,C,D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유형별 스타일과 목적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규모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가격에 따라 신속하고 저렴하게 아름다우면서도 설치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변경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운영이 용이한 옥상 정원을 설치해 드립니다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사업관련 결정 권한은 각 본부장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b="1" u="sng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소사장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에게 있습니다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예를 들어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여의도본부에서 일어나는 모든 공사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FM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프로젝트의 투입여부나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투입인력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 등은 여의도를 맡은 </a:t>
            </a:r>
            <a:r>
              <a:rPr lang="ko-KR" altLang="en-US" sz="10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소사장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본부장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허가를 득해야 합니다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주차장 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PO(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각 본부장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횡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들에게 주차장 솔루션과 사업기회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가격정책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 초기혜택 등을 소개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합니다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중소형빌딩 시장에서는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FM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서비스와 솔루션을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건물주와 </a:t>
            </a:r>
            <a:r>
              <a:rPr lang="ko-KR" altLang="en-US" sz="10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테난트들이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직접 구매할 수 있도록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단품으로 만들어서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모바일 플랫폼에서 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 가격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주문</a:t>
            </a:r>
            <a:r>
              <a:rPr lang="en-US" altLang="ko-KR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결재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 수 있고 사용경험 리뷰를 올리는 </a:t>
            </a:r>
            <a:r>
              <a:rPr lang="ko-KR" altLang="en-US" sz="10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오퍼링을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만들어야 시작조차 할 수 있습니다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콘도나 골프클럽 멤버십처럼 가입 등급별로 제공되는 서비스를 달리할 수도 있고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서비스들의 가격을 달리할 수도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있습니다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우리에겐 해당문제에 대해 아직 솔루션이 없는 경우나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있어도 가격 등 </a:t>
            </a:r>
            <a:r>
              <a:rPr lang="ko-KR" altLang="en-US" sz="10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단품판매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준비가 되어 있지 않은 경우에는 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연결 소개만 </a:t>
            </a:r>
            <a:r>
              <a:rPr lang="ko-KR" altLang="en-US" sz="1050" b="1" u="sng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시켜서라도</a:t>
            </a:r>
            <a:r>
              <a:rPr lang="ko-KR" altLang="en-US" sz="105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문제를 해결할 수 있도록 </a:t>
            </a:r>
            <a:r>
              <a:rPr lang="ko-KR" altLang="en-US" sz="1050" b="1" u="sng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도와아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겠죠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7" name="오각형 139">
            <a:extLst>
              <a:ext uri="{FF2B5EF4-FFF2-40B4-BE49-F238E27FC236}">
                <a16:creationId xmlns:a16="http://schemas.microsoft.com/office/drawing/2014/main" id="{1206DF29-1B18-4273-909D-90E412A027AF}"/>
              </a:ext>
            </a:extLst>
          </p:cNvPr>
          <p:cNvSpPr/>
          <p:nvPr/>
        </p:nvSpPr>
        <p:spPr>
          <a:xfrm>
            <a:off x="577956" y="1212466"/>
            <a:ext cx="4003282" cy="493358"/>
          </a:xfrm>
          <a:prstGeom prst="homePlate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형 파트너의 생각</a:t>
            </a:r>
            <a:r>
              <a:rPr lang="en-US" altLang="ko-KR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채널의 메시지</a:t>
            </a:r>
            <a:r>
              <a:rPr lang="en-US" altLang="ko-KR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아이디어 中</a:t>
            </a:r>
            <a:endParaRPr lang="en-US" altLang="ko-KR" sz="12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’22.4.27~ ’24.4.30)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40636D1-46DD-484D-A8F3-D1F8E4D530F6}"/>
              </a:ext>
            </a:extLst>
          </p:cNvPr>
          <p:cNvSpPr>
            <a:spLocks noChangeAspect="1"/>
          </p:cNvSpPr>
          <p:nvPr/>
        </p:nvSpPr>
        <p:spPr>
          <a:xfrm>
            <a:off x="1362063" y="2190658"/>
            <a:ext cx="2340648" cy="223037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F2237F2E-5158-4976-ACC3-AD5DC897548A}"/>
              </a:ext>
            </a:extLst>
          </p:cNvPr>
          <p:cNvSpPr>
            <a:spLocks noChangeAspect="1"/>
          </p:cNvSpPr>
          <p:nvPr/>
        </p:nvSpPr>
        <p:spPr>
          <a:xfrm>
            <a:off x="2524325" y="3443387"/>
            <a:ext cx="826389" cy="82638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>
                <a:solidFill>
                  <a:sysClr val="windowText" lastClr="000000"/>
                </a:solidFill>
              </a:rPr>
              <a:t>경험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868385A-3DF3-4D86-B855-DBADCF3E81F4}"/>
              </a:ext>
            </a:extLst>
          </p:cNvPr>
          <p:cNvSpPr>
            <a:spLocks noChangeAspect="1"/>
          </p:cNvSpPr>
          <p:nvPr/>
        </p:nvSpPr>
        <p:spPr>
          <a:xfrm>
            <a:off x="3218746" y="3279929"/>
            <a:ext cx="183642" cy="183642"/>
          </a:xfrm>
          <a:prstGeom prst="ellipse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100">
              <a:solidFill>
                <a:sysClr val="windowText" lastClr="000000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A586E3C-6492-4817-9540-344AD4EE853F}"/>
              </a:ext>
            </a:extLst>
          </p:cNvPr>
          <p:cNvSpPr>
            <a:spLocks noChangeAspect="1"/>
          </p:cNvSpPr>
          <p:nvPr/>
        </p:nvSpPr>
        <p:spPr>
          <a:xfrm>
            <a:off x="1847146" y="2298854"/>
            <a:ext cx="1354359" cy="1354359"/>
          </a:xfrm>
          <a:prstGeom prst="ellipse">
            <a:avLst/>
          </a:prstGeom>
          <a:solidFill>
            <a:schemeClr val="accent6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>
                <a:solidFill>
                  <a:sysClr val="windowText" lastClr="000000"/>
                </a:solidFill>
              </a:rPr>
              <a:t>고객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6CCD7D0-0316-4B97-81D4-84463079AA11}"/>
              </a:ext>
            </a:extLst>
          </p:cNvPr>
          <p:cNvSpPr>
            <a:spLocks noChangeAspect="1"/>
          </p:cNvSpPr>
          <p:nvPr/>
        </p:nvSpPr>
        <p:spPr>
          <a:xfrm>
            <a:off x="1738109" y="3325182"/>
            <a:ext cx="918210" cy="91821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>
                <a:solidFill>
                  <a:sysClr val="windowText" lastClr="000000"/>
                </a:solidFill>
              </a:rPr>
              <a:t>가치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AF654ED-0684-4261-933E-A6A3AEE79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189594"/>
              </p:ext>
            </p:extLst>
          </p:nvPr>
        </p:nvGraphicFramePr>
        <p:xfrm>
          <a:off x="840635" y="4905865"/>
          <a:ext cx="3383505" cy="638175"/>
        </p:xfrm>
        <a:graphic>
          <a:graphicData uri="http://schemas.openxmlformats.org/drawingml/2006/table">
            <a:tbl>
              <a:tblPr/>
              <a:tblGrid>
                <a:gridCol w="676701">
                  <a:extLst>
                    <a:ext uri="{9D8B030D-6E8A-4147-A177-3AD203B41FA5}">
                      <a16:colId xmlns:a16="http://schemas.microsoft.com/office/drawing/2014/main" val="4156073886"/>
                    </a:ext>
                  </a:extLst>
                </a:gridCol>
                <a:gridCol w="676701">
                  <a:extLst>
                    <a:ext uri="{9D8B030D-6E8A-4147-A177-3AD203B41FA5}">
                      <a16:colId xmlns:a16="http://schemas.microsoft.com/office/drawing/2014/main" val="176287763"/>
                    </a:ext>
                  </a:extLst>
                </a:gridCol>
                <a:gridCol w="676701">
                  <a:extLst>
                    <a:ext uri="{9D8B030D-6E8A-4147-A177-3AD203B41FA5}">
                      <a16:colId xmlns:a16="http://schemas.microsoft.com/office/drawing/2014/main" val="1322112483"/>
                    </a:ext>
                  </a:extLst>
                </a:gridCol>
                <a:gridCol w="676701">
                  <a:extLst>
                    <a:ext uri="{9D8B030D-6E8A-4147-A177-3AD203B41FA5}">
                      <a16:colId xmlns:a16="http://schemas.microsoft.com/office/drawing/2014/main" val="3486823234"/>
                    </a:ext>
                  </a:extLst>
                </a:gridCol>
                <a:gridCol w="676701">
                  <a:extLst>
                    <a:ext uri="{9D8B030D-6E8A-4147-A177-3AD203B41FA5}">
                      <a16:colId xmlns:a16="http://schemas.microsoft.com/office/drawing/2014/main" val="106327331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가치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Value)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경험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UX)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39021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197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117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79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71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39446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59.4%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40.1%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8.6%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691912"/>
                  </a:ext>
                </a:extLst>
              </a:tr>
            </a:tbl>
          </a:graphicData>
        </a:graphic>
      </p:graphicFrame>
      <p:sp>
        <p:nvSpPr>
          <p:cNvPr id="2" name="설명선: 굽은 선 1">
            <a:extLst>
              <a:ext uri="{FF2B5EF4-FFF2-40B4-BE49-F238E27FC236}">
                <a16:creationId xmlns:a16="http://schemas.microsoft.com/office/drawing/2014/main" id="{9988876B-94EE-491D-B519-FA617F7692BB}"/>
              </a:ext>
            </a:extLst>
          </p:cNvPr>
          <p:cNvSpPr/>
          <p:nvPr/>
        </p:nvSpPr>
        <p:spPr>
          <a:xfrm>
            <a:off x="3915844" y="2838091"/>
            <a:ext cx="776926" cy="310551"/>
          </a:xfrm>
          <a:prstGeom prst="borderCallout2">
            <a:avLst>
              <a:gd name="adj1" fmla="val 18750"/>
              <a:gd name="adj2" fmla="val -2847"/>
              <a:gd name="adj3" fmla="val 18750"/>
              <a:gd name="adj4" fmla="val -16667"/>
              <a:gd name="adj5" fmla="val 148611"/>
              <a:gd name="adj6" fmla="val -70049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</a:t>
            </a:r>
          </a:p>
        </p:txBody>
      </p:sp>
      <p:sp>
        <p:nvSpPr>
          <p:cNvPr id="3" name="왼쪽 중괄호 2">
            <a:extLst>
              <a:ext uri="{FF2B5EF4-FFF2-40B4-BE49-F238E27FC236}">
                <a16:creationId xmlns:a16="http://schemas.microsoft.com/office/drawing/2014/main" id="{7743A826-39F6-40DB-B76F-67D35C9B283F}"/>
              </a:ext>
            </a:extLst>
          </p:cNvPr>
          <p:cNvSpPr/>
          <p:nvPr/>
        </p:nvSpPr>
        <p:spPr>
          <a:xfrm>
            <a:off x="4819849" y="1636816"/>
            <a:ext cx="243576" cy="4494951"/>
          </a:xfrm>
          <a:prstGeom prst="leftBrace">
            <a:avLst>
              <a:gd name="adj1" fmla="val 8333"/>
              <a:gd name="adj2" fmla="val 2965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064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Prologue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9D23A9E-868A-4140-B2F0-E394F6B40202}"/>
              </a:ext>
            </a:extLst>
          </p:cNvPr>
          <p:cNvGrpSpPr/>
          <p:nvPr/>
        </p:nvGrpSpPr>
        <p:grpSpPr>
          <a:xfrm>
            <a:off x="381000" y="981076"/>
            <a:ext cx="9144000" cy="4815876"/>
            <a:chOff x="381000" y="981075"/>
            <a:chExt cx="9144000" cy="520367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790682A-4C6A-48DC-BA3A-1B0BFEF6C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" y="981075"/>
              <a:ext cx="9144000" cy="5203673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B66876D5-E123-49C5-B2BE-AA66202F5931}"/>
                </a:ext>
              </a:extLst>
            </p:cNvPr>
            <p:cNvSpPr/>
            <p:nvPr/>
          </p:nvSpPr>
          <p:spPr>
            <a:xfrm>
              <a:off x="5995359" y="4597879"/>
              <a:ext cx="2389517" cy="2070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프로토타입 단계</a:t>
              </a: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23158F49-4F30-4254-860E-97B006E94B52}"/>
                </a:ext>
              </a:extLst>
            </p:cNvPr>
            <p:cNvSpPr/>
            <p:nvPr/>
          </p:nvSpPr>
          <p:spPr>
            <a:xfrm>
              <a:off x="5995358" y="4899803"/>
              <a:ext cx="2389517" cy="2070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파일럿 단계</a:t>
              </a: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468C025B-0266-4790-ADC7-B7ADA6C083DD}"/>
                </a:ext>
              </a:extLst>
            </p:cNvPr>
            <p:cNvSpPr/>
            <p:nvPr/>
          </p:nvSpPr>
          <p:spPr>
            <a:xfrm>
              <a:off x="5995357" y="5201727"/>
              <a:ext cx="2389517" cy="2070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양산 단계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1170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그림 9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7" b="98552" l="128" r="99552">
                        <a14:foregroundMark x1="18862" y1="13252" x2="18862" y2="13252"/>
                        <a14:foregroundMark x1="23338" y1="6013" x2="5627" y2="47105"/>
                        <a14:foregroundMark x1="15473" y1="17595" x2="9335" y2="30401"/>
                        <a14:foregroundMark x1="6458" y1="56570" x2="23465" y2="93096"/>
                        <a14:foregroundMark x1="33887" y1="88196" x2="51023" y2="55122"/>
                        <a14:foregroundMark x1="75256" y1="87973" x2="91752" y2="67483"/>
                        <a14:foregroundMark x1="82609" y1="12472" x2="95588" y2="53786"/>
                        <a14:foregroundMark x1="22442" y1="5234" x2="3517" y2="42539"/>
                        <a14:foregroundMark x1="16049" y1="12695" x2="3708" y2="34298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35949" y="3202295"/>
            <a:ext cx="1730327" cy="993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Agile NPD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(New Product Development)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Process_ver1.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그룹 120"/>
          <p:cNvGrpSpPr/>
          <p:nvPr/>
        </p:nvGrpSpPr>
        <p:grpSpPr>
          <a:xfrm>
            <a:off x="758249" y="1432334"/>
            <a:ext cx="8549208" cy="271865"/>
            <a:chOff x="458930" y="5492825"/>
            <a:chExt cx="8549208" cy="271865"/>
          </a:xfrm>
        </p:grpSpPr>
        <p:sp>
          <p:nvSpPr>
            <p:cNvPr id="79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58930" y="5492825"/>
              <a:ext cx="2376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 문제 발견</a:t>
              </a:r>
              <a:endParaRPr lang="en-US" altLang="ko-KR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0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2870350" y="5492827"/>
              <a:ext cx="2016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해결방안 탐색</a:t>
              </a:r>
              <a:endParaRPr lang="en-US" altLang="ko-KR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1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930511" y="5492827"/>
              <a:ext cx="2016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상품 개발</a:t>
              </a:r>
              <a:r>
                <a:rPr lang="en-US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출시</a:t>
              </a:r>
              <a:endParaRPr lang="en-US" altLang="ko-KR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2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6992138" y="5492827"/>
              <a:ext cx="2016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판매</a:t>
              </a:r>
              <a:r>
                <a:rPr lang="en-US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운영관리</a:t>
              </a:r>
              <a:endParaRPr lang="en-US" altLang="ko-KR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754010" y="5445469"/>
            <a:ext cx="8535994" cy="317471"/>
            <a:chOff x="455304" y="6023283"/>
            <a:chExt cx="8405848" cy="317471"/>
          </a:xfrm>
        </p:grpSpPr>
        <p:grpSp>
          <p:nvGrpSpPr>
            <p:cNvPr id="100" name="그룹 99"/>
            <p:cNvGrpSpPr/>
            <p:nvPr/>
          </p:nvGrpSpPr>
          <p:grpSpPr>
            <a:xfrm>
              <a:off x="455304" y="6023283"/>
              <a:ext cx="2369982" cy="307276"/>
              <a:chOff x="455304" y="6023283"/>
              <a:chExt cx="2369982" cy="307276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455304" y="6023283"/>
                <a:ext cx="2369982" cy="0"/>
              </a:xfrm>
              <a:prstGeom prst="line">
                <a:avLst/>
              </a:prstGeom>
              <a:ln w="571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1070289" y="6058696"/>
                <a:ext cx="1140012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Design</a:t>
                </a:r>
                <a:r>
                  <a:rPr lang="ko-KR" altLang="en-US" sz="105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105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Thinking</a:t>
                </a:r>
              </a:p>
            </p:txBody>
          </p:sp>
        </p:grpSp>
        <p:grpSp>
          <p:nvGrpSpPr>
            <p:cNvPr id="101" name="그룹 100"/>
            <p:cNvGrpSpPr/>
            <p:nvPr/>
          </p:nvGrpSpPr>
          <p:grpSpPr>
            <a:xfrm>
              <a:off x="2901282" y="6030227"/>
              <a:ext cx="1958662" cy="309609"/>
              <a:chOff x="2901282" y="6030227"/>
              <a:chExt cx="1958662" cy="309609"/>
            </a:xfrm>
          </p:grpSpPr>
          <p:cxnSp>
            <p:nvCxnSpPr>
              <p:cNvPr id="90" name="직선 연결선 89"/>
              <p:cNvCxnSpPr/>
              <p:nvPr/>
            </p:nvCxnSpPr>
            <p:spPr>
              <a:xfrm>
                <a:off x="2901282" y="6030227"/>
                <a:ext cx="1958662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3310607" y="6067973"/>
                <a:ext cx="1140012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Lean</a:t>
                </a:r>
              </a:p>
            </p:txBody>
          </p:sp>
        </p:grpSp>
        <p:grpSp>
          <p:nvGrpSpPr>
            <p:cNvPr id="102" name="그룹 101"/>
            <p:cNvGrpSpPr/>
            <p:nvPr/>
          </p:nvGrpSpPr>
          <p:grpSpPr>
            <a:xfrm>
              <a:off x="5007220" y="6023601"/>
              <a:ext cx="1780602" cy="312443"/>
              <a:chOff x="5007220" y="6023601"/>
              <a:chExt cx="1780602" cy="312443"/>
            </a:xfrm>
          </p:grpSpPr>
          <p:cxnSp>
            <p:nvCxnSpPr>
              <p:cNvPr id="91" name="직선 연결선 90"/>
              <p:cNvCxnSpPr/>
              <p:nvPr/>
            </p:nvCxnSpPr>
            <p:spPr>
              <a:xfrm>
                <a:off x="5007220" y="6023601"/>
                <a:ext cx="1780602" cy="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5327515" y="6064181"/>
                <a:ext cx="1140012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Agile</a:t>
                </a:r>
              </a:p>
            </p:txBody>
          </p:sp>
        </p:grpSp>
        <p:grpSp>
          <p:nvGrpSpPr>
            <p:cNvPr id="103" name="그룹 102"/>
            <p:cNvGrpSpPr/>
            <p:nvPr/>
          </p:nvGrpSpPr>
          <p:grpSpPr>
            <a:xfrm>
              <a:off x="6902490" y="6024929"/>
              <a:ext cx="1958662" cy="315825"/>
              <a:chOff x="6902490" y="6024929"/>
              <a:chExt cx="1958662" cy="315825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902490" y="6024929"/>
                <a:ext cx="1958662" cy="0"/>
              </a:xfrm>
              <a:prstGeom prst="line">
                <a:avLst/>
              </a:prstGeom>
              <a:ln w="571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7296879" y="6068891"/>
                <a:ext cx="1169886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DevOps</a:t>
                </a:r>
              </a:p>
            </p:txBody>
          </p:sp>
        </p:grpSp>
      </p:grpSp>
      <p:grpSp>
        <p:nvGrpSpPr>
          <p:cNvPr id="77" name="그룹 76"/>
          <p:cNvGrpSpPr/>
          <p:nvPr/>
        </p:nvGrpSpPr>
        <p:grpSpPr>
          <a:xfrm>
            <a:off x="381000" y="4100187"/>
            <a:ext cx="9000000" cy="1173735"/>
            <a:chOff x="81681" y="4232733"/>
            <a:chExt cx="9000000" cy="1173735"/>
          </a:xfrm>
        </p:grpSpPr>
        <p:cxnSp>
          <p:nvCxnSpPr>
            <p:cNvPr id="74" name="직선 연결선 73"/>
            <p:cNvCxnSpPr/>
            <p:nvPr/>
          </p:nvCxnSpPr>
          <p:spPr>
            <a:xfrm>
              <a:off x="81681" y="5401936"/>
              <a:ext cx="90000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/>
            <p:cNvCxnSpPr/>
            <p:nvPr/>
          </p:nvCxnSpPr>
          <p:spPr>
            <a:xfrm>
              <a:off x="2886984" y="4232733"/>
              <a:ext cx="0" cy="11450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/>
            <p:cNvCxnSpPr/>
            <p:nvPr/>
          </p:nvCxnSpPr>
          <p:spPr>
            <a:xfrm>
              <a:off x="6951426" y="4261408"/>
              <a:ext cx="0" cy="11450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타원 7"/>
          <p:cNvSpPr/>
          <p:nvPr/>
        </p:nvSpPr>
        <p:spPr>
          <a:xfrm>
            <a:off x="3185648" y="2618605"/>
            <a:ext cx="2020272" cy="2143810"/>
          </a:xfrm>
          <a:prstGeom prst="ellipse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5213964" y="2627140"/>
            <a:ext cx="2020272" cy="2143810"/>
          </a:xfrm>
          <a:prstGeom prst="ellipse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/>
          <p:cNvGrpSpPr/>
          <p:nvPr/>
        </p:nvGrpSpPr>
        <p:grpSpPr>
          <a:xfrm>
            <a:off x="442442" y="2619828"/>
            <a:ext cx="2754282" cy="2335265"/>
            <a:chOff x="669125" y="3480149"/>
            <a:chExt cx="3176177" cy="2537791"/>
          </a:xfrm>
        </p:grpSpPr>
        <p:sp>
          <p:nvSpPr>
            <p:cNvPr id="10" name="타원 9"/>
            <p:cNvSpPr/>
            <p:nvPr/>
          </p:nvSpPr>
          <p:spPr>
            <a:xfrm>
              <a:off x="1496171" y="3480149"/>
              <a:ext cx="2329732" cy="2329732"/>
            </a:xfrm>
            <a:prstGeom prst="ellipse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자유형 10"/>
            <p:cNvSpPr/>
            <p:nvPr/>
          </p:nvSpPr>
          <p:spPr>
            <a:xfrm>
              <a:off x="669125" y="4261900"/>
              <a:ext cx="906451" cy="1280166"/>
            </a:xfrm>
            <a:custGeom>
              <a:avLst/>
              <a:gdLst>
                <a:gd name="connsiteX0" fmla="*/ 818985 w 818985"/>
                <a:gd name="connsiteY0" fmla="*/ 0 h 1152940"/>
                <a:gd name="connsiteX1" fmla="*/ 731520 w 818985"/>
                <a:gd name="connsiteY1" fmla="*/ 254442 h 1152940"/>
                <a:gd name="connsiteX2" fmla="*/ 620202 w 818985"/>
                <a:gd name="connsiteY2" fmla="*/ 755374 h 1152940"/>
                <a:gd name="connsiteX3" fmla="*/ 0 w 818985"/>
                <a:gd name="connsiteY3" fmla="*/ 1152940 h 115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985" h="1152940">
                  <a:moveTo>
                    <a:pt x="818985" y="0"/>
                  </a:moveTo>
                  <a:cubicBezTo>
                    <a:pt x="791817" y="64273"/>
                    <a:pt x="764650" y="128546"/>
                    <a:pt x="731520" y="254442"/>
                  </a:cubicBezTo>
                  <a:cubicBezTo>
                    <a:pt x="698390" y="380338"/>
                    <a:pt x="742122" y="605624"/>
                    <a:pt x="620202" y="755374"/>
                  </a:cubicBezTo>
                  <a:cubicBezTo>
                    <a:pt x="498282" y="905124"/>
                    <a:pt x="84814" y="1133062"/>
                    <a:pt x="0" y="1152940"/>
                  </a:cubicBezTo>
                </a:path>
              </a:pathLst>
            </a:cu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1491716" y="3688207"/>
              <a:ext cx="2353586" cy="23297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타원 15"/>
          <p:cNvSpPr/>
          <p:nvPr/>
        </p:nvSpPr>
        <p:spPr>
          <a:xfrm>
            <a:off x="2393020" y="3338222"/>
            <a:ext cx="778903" cy="82653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762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3893833" y="2806206"/>
            <a:ext cx="510240" cy="493241"/>
          </a:xfrm>
          <a:prstGeom prst="ellipse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7256070" y="2627140"/>
            <a:ext cx="2020272" cy="2143810"/>
          </a:xfrm>
          <a:prstGeom prst="ellipse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rcRect l="2723" t="83759" r="92702" b="4347"/>
          <a:stretch/>
        </p:blipFill>
        <p:spPr>
          <a:xfrm>
            <a:off x="573255" y="3995166"/>
            <a:ext cx="612743" cy="588601"/>
          </a:xfrm>
          <a:prstGeom prst="ellipse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4"/>
          <a:srcRect l="57298" t="75411" r="38242" b="12863"/>
          <a:stretch/>
        </p:blipFill>
        <p:spPr>
          <a:xfrm>
            <a:off x="5197606" y="4266601"/>
            <a:ext cx="582627" cy="566443"/>
          </a:xfrm>
          <a:prstGeom prst="ellipse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4"/>
          <a:srcRect l="69324" t="71921" r="26093" b="16018"/>
          <a:stretch/>
        </p:blipFill>
        <p:spPr>
          <a:xfrm>
            <a:off x="6511118" y="4261289"/>
            <a:ext cx="598810" cy="582627"/>
          </a:xfrm>
          <a:prstGeom prst="ellipse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4"/>
          <a:srcRect l="67424" t="25574" r="28055" b="61862"/>
          <a:stretch/>
        </p:blipFill>
        <p:spPr>
          <a:xfrm>
            <a:off x="6495428" y="2516606"/>
            <a:ext cx="590719" cy="606904"/>
          </a:xfrm>
          <a:prstGeom prst="ellipse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4"/>
          <a:srcRect l="54739" t="33308" r="40678" b="54295"/>
          <a:stretch/>
        </p:blipFill>
        <p:spPr>
          <a:xfrm>
            <a:off x="5195635" y="2739387"/>
            <a:ext cx="598811" cy="598811"/>
          </a:xfrm>
          <a:prstGeom prst="ellipse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4"/>
          <a:srcRect l="30098" t="54695" r="65443" b="32992"/>
          <a:stretch/>
        </p:blipFill>
        <p:spPr>
          <a:xfrm>
            <a:off x="2910869" y="3482904"/>
            <a:ext cx="582625" cy="594765"/>
          </a:xfrm>
          <a:prstGeom prst="ellipse">
            <a:avLst/>
          </a:prstGeom>
        </p:spPr>
      </p:pic>
      <p:pic>
        <p:nvPicPr>
          <p:cNvPr id="51" name="그림 50"/>
          <p:cNvPicPr>
            <a:picLocks noChangeAspect="1"/>
          </p:cNvPicPr>
          <p:nvPr/>
        </p:nvPicPr>
        <p:blipFill rotWithShape="1">
          <a:blip r:embed="rId4"/>
          <a:srcRect l="23456" t="25937" r="72141" b="61750"/>
          <a:stretch/>
        </p:blipFill>
        <p:spPr>
          <a:xfrm>
            <a:off x="2626307" y="2601682"/>
            <a:ext cx="575239" cy="594765"/>
          </a:xfrm>
          <a:prstGeom prst="ellipse">
            <a:avLst/>
          </a:prstGeom>
        </p:spPr>
      </p:pic>
      <p:pic>
        <p:nvPicPr>
          <p:cNvPr id="52" name="그림 51"/>
          <p:cNvPicPr>
            <a:picLocks noChangeAspect="1"/>
          </p:cNvPicPr>
          <p:nvPr/>
        </p:nvPicPr>
        <p:blipFill rotWithShape="1">
          <a:blip r:embed="rId4"/>
          <a:srcRect l="13678" t="26859" r="81895" b="60654"/>
          <a:stretch/>
        </p:blipFill>
        <p:spPr>
          <a:xfrm>
            <a:off x="1929337" y="2277787"/>
            <a:ext cx="578264" cy="603210"/>
          </a:xfrm>
          <a:prstGeom prst="ellipse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 rotWithShape="1">
          <a:blip r:embed="rId4"/>
          <a:srcRect l="6943" t="69520" r="88451" b="18586"/>
          <a:stretch/>
        </p:blipFill>
        <p:spPr>
          <a:xfrm>
            <a:off x="879763" y="3307554"/>
            <a:ext cx="601767" cy="574535"/>
          </a:xfrm>
          <a:prstGeom prst="ellipse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4"/>
          <a:srcRect l="8473" t="47826" r="87024" b="40001"/>
          <a:stretch/>
        </p:blipFill>
        <p:spPr>
          <a:xfrm>
            <a:off x="1197816" y="2618606"/>
            <a:ext cx="588396" cy="588045"/>
          </a:xfrm>
          <a:prstGeom prst="ellipse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4"/>
          <a:srcRect l="94273" t="46263" r="896" b="41508"/>
          <a:stretch/>
        </p:blipFill>
        <p:spPr>
          <a:xfrm>
            <a:off x="8727736" y="4145992"/>
            <a:ext cx="631179" cy="590719"/>
          </a:xfrm>
          <a:prstGeom prst="ellipse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 rotWithShape="1">
          <a:blip r:embed="rId4"/>
          <a:srcRect l="87347" t="24011" r="8131" b="63928"/>
          <a:stretch/>
        </p:blipFill>
        <p:spPr>
          <a:xfrm>
            <a:off x="8735582" y="2662512"/>
            <a:ext cx="590720" cy="582628"/>
          </a:xfrm>
          <a:prstGeom prst="ellipse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4"/>
          <a:srcRect l="77448" t="28897" r="17968" b="58706"/>
          <a:stretch/>
        </p:blipFill>
        <p:spPr>
          <a:xfrm>
            <a:off x="7348376" y="2514917"/>
            <a:ext cx="598811" cy="598811"/>
          </a:xfrm>
          <a:prstGeom prst="ellipse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4"/>
          <a:srcRect l="73174" t="50256" r="22181" b="37599"/>
          <a:stretch/>
        </p:blipFill>
        <p:spPr>
          <a:xfrm>
            <a:off x="6944288" y="3467141"/>
            <a:ext cx="606903" cy="586673"/>
          </a:xfrm>
          <a:prstGeom prst="ellipse">
            <a:avLst/>
          </a:prstGeom>
        </p:spPr>
      </p:pic>
      <p:sp>
        <p:nvSpPr>
          <p:cNvPr id="72" name="모서리가 둥근 직사각형 71"/>
          <p:cNvSpPr/>
          <p:nvPr/>
        </p:nvSpPr>
        <p:spPr>
          <a:xfrm rot="18900000">
            <a:off x="4443271" y="4257903"/>
            <a:ext cx="828000" cy="2623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만들기</a:t>
            </a:r>
          </a:p>
        </p:txBody>
      </p:sp>
      <p:sp>
        <p:nvSpPr>
          <p:cNvPr id="70" name="모서리가 둥근 직사각형 69"/>
          <p:cNvSpPr/>
          <p:nvPr/>
        </p:nvSpPr>
        <p:spPr>
          <a:xfrm>
            <a:off x="3837652" y="2499336"/>
            <a:ext cx="612251" cy="2623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</a:t>
            </a:r>
          </a:p>
        </p:txBody>
      </p:sp>
      <p:sp>
        <p:nvSpPr>
          <p:cNvPr id="73" name="모서리가 둥근 직사각형 72"/>
          <p:cNvSpPr/>
          <p:nvPr/>
        </p:nvSpPr>
        <p:spPr>
          <a:xfrm rot="1800000">
            <a:off x="3297085" y="4415142"/>
            <a:ext cx="828000" cy="2623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측정</a:t>
            </a:r>
          </a:p>
        </p:txBody>
      </p:sp>
      <p:sp>
        <p:nvSpPr>
          <p:cNvPr id="83" name="오른쪽 화살표 82"/>
          <p:cNvSpPr/>
          <p:nvPr/>
        </p:nvSpPr>
        <p:spPr>
          <a:xfrm rot="1800000">
            <a:off x="4473750" y="2570900"/>
            <a:ext cx="198783" cy="230587"/>
          </a:xfrm>
          <a:prstGeom prst="rightArrow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오른쪽 화살표 83"/>
          <p:cNvSpPr/>
          <p:nvPr/>
        </p:nvSpPr>
        <p:spPr>
          <a:xfrm rot="9900000">
            <a:off x="4347856" y="4615711"/>
            <a:ext cx="198783" cy="230587"/>
          </a:xfrm>
          <a:prstGeom prst="rightArrow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오른쪽 화살표 84"/>
          <p:cNvSpPr/>
          <p:nvPr/>
        </p:nvSpPr>
        <p:spPr>
          <a:xfrm rot="14400000">
            <a:off x="3204190" y="4076348"/>
            <a:ext cx="198783" cy="230587"/>
          </a:xfrm>
          <a:prstGeom prst="rightArrow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오른쪽 화살표 85"/>
          <p:cNvSpPr/>
          <p:nvPr/>
        </p:nvSpPr>
        <p:spPr>
          <a:xfrm rot="10800000">
            <a:off x="8118608" y="4648125"/>
            <a:ext cx="198783" cy="230588"/>
          </a:xfrm>
          <a:prstGeom prst="rightArrow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모서리가 둥근 직사각형 103"/>
          <p:cNvSpPr/>
          <p:nvPr/>
        </p:nvSpPr>
        <p:spPr>
          <a:xfrm>
            <a:off x="1050182" y="4218142"/>
            <a:ext cx="746150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</a:t>
            </a:r>
            <a:r>
              <a:rPr lang="en-US" altLang="ko-KR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Needs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1282100" y="3487948"/>
            <a:ext cx="909635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공감하기</a:t>
            </a:r>
          </a:p>
        </p:txBody>
      </p:sp>
      <p:sp>
        <p:nvSpPr>
          <p:cNvPr id="106" name="모서리가 둥근 직사각형 105"/>
          <p:cNvSpPr/>
          <p:nvPr/>
        </p:nvSpPr>
        <p:spPr>
          <a:xfrm>
            <a:off x="1585569" y="2940635"/>
            <a:ext cx="796992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정의하기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1769774" y="2059363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아이데이션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2753032" y="2402595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프로토타입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9" name="모서리가 둥근 직사각형 108"/>
          <p:cNvSpPr/>
          <p:nvPr/>
        </p:nvSpPr>
        <p:spPr>
          <a:xfrm>
            <a:off x="2293183" y="3612520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Test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3683871" y="2912803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Pivot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4955562" y="2410880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스프린트 계획</a:t>
            </a: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5882089" y="2865671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실행</a:t>
            </a:r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6274379" y="4015960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증분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5339634" y="4012706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리뷰</a:t>
            </a: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7348669" y="2303009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릴리즈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6" name="모서리가 둥근 직사각형 115"/>
          <p:cNvSpPr/>
          <p:nvPr/>
        </p:nvSpPr>
        <p:spPr>
          <a:xfrm>
            <a:off x="8731068" y="2376268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 확대</a:t>
            </a: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8504251" y="4726286"/>
            <a:ext cx="1133876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모니터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7653970" y="4376330"/>
            <a:ext cx="1133876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순환</a:t>
            </a:r>
          </a:p>
        </p:txBody>
      </p:sp>
      <p:pic>
        <p:nvPicPr>
          <p:cNvPr id="125" name="그림 124"/>
          <p:cNvPicPr>
            <a:picLocks noChangeAspect="1"/>
          </p:cNvPicPr>
          <p:nvPr/>
        </p:nvPicPr>
        <p:blipFill rotWithShape="1">
          <a:blip r:embed="rId4"/>
          <a:srcRect l="30098" t="54695" r="65443" b="32992"/>
          <a:stretch/>
        </p:blipFill>
        <p:spPr>
          <a:xfrm>
            <a:off x="4931825" y="3468327"/>
            <a:ext cx="582625" cy="594765"/>
          </a:xfrm>
          <a:prstGeom prst="ellipse">
            <a:avLst/>
          </a:prstGeom>
        </p:spPr>
      </p:pic>
      <p:sp>
        <p:nvSpPr>
          <p:cNvPr id="126" name="모서리가 둥근 직사각형 125"/>
          <p:cNvSpPr/>
          <p:nvPr/>
        </p:nvSpPr>
        <p:spPr>
          <a:xfrm>
            <a:off x="4316367" y="3586013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Test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29" name="그룹 128"/>
          <p:cNvGrpSpPr/>
          <p:nvPr/>
        </p:nvGrpSpPr>
        <p:grpSpPr>
          <a:xfrm>
            <a:off x="746910" y="1792856"/>
            <a:ext cx="8568000" cy="217319"/>
            <a:chOff x="827086" y="1834935"/>
            <a:chExt cx="8054319" cy="305899"/>
          </a:xfrm>
        </p:grpSpPr>
        <p:grpSp>
          <p:nvGrpSpPr>
            <p:cNvPr id="130" name="그룹 129"/>
            <p:cNvGrpSpPr/>
            <p:nvPr/>
          </p:nvGrpSpPr>
          <p:grpSpPr>
            <a:xfrm>
              <a:off x="827086" y="1842167"/>
              <a:ext cx="8054319" cy="182508"/>
              <a:chOff x="827086" y="1842167"/>
              <a:chExt cx="8054319" cy="182508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827086" y="1947218"/>
                <a:ext cx="8054319" cy="0"/>
              </a:xfrm>
              <a:prstGeom prst="line">
                <a:avLst/>
              </a:prstGeom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>
                <a:off x="827088" y="1843200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>
                <a:off x="3112155" y="1844063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>
                <a:off x="5017030" y="1844063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>
                <a:off x="6954866" y="1842167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>
                <a:off x="8876638" y="1844675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0E99F1C-30DB-48FD-8054-69DB86526E27}"/>
                </a:ext>
              </a:extLst>
            </p:cNvPr>
            <p:cNvSpPr txBox="1"/>
            <p:nvPr/>
          </p:nvSpPr>
          <p:spPr>
            <a:xfrm>
              <a:off x="1243125" y="1837574"/>
              <a:ext cx="1461835" cy="3032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Customer-Problem Fit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FDDD1E1-C344-4055-A5C0-5BAD62E8B2BA}"/>
                </a:ext>
              </a:extLst>
            </p:cNvPr>
            <p:cNvSpPr txBox="1"/>
            <p:nvPr/>
          </p:nvSpPr>
          <p:spPr>
            <a:xfrm>
              <a:off x="3336410" y="1837510"/>
              <a:ext cx="1440000" cy="3032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Customer-Solution Fit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BC17E81-50C9-4F73-B8A2-8CB1417691C8}"/>
                </a:ext>
              </a:extLst>
            </p:cNvPr>
            <p:cNvSpPr txBox="1"/>
            <p:nvPr/>
          </p:nvSpPr>
          <p:spPr>
            <a:xfrm>
              <a:off x="5342469" y="1834935"/>
              <a:ext cx="1285200" cy="3032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Product-Market Fit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A6B70A5A-EF0B-479E-8122-A523E2D0841E}"/>
                </a:ext>
              </a:extLst>
            </p:cNvPr>
            <p:cNvSpPr txBox="1"/>
            <p:nvPr/>
          </p:nvSpPr>
          <p:spPr>
            <a:xfrm>
              <a:off x="7499881" y="1834935"/>
              <a:ext cx="913725" cy="3032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Scale up / Retire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549302" y="848419"/>
            <a:ext cx="5303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■ </a:t>
            </a:r>
            <a:r>
              <a:rPr lang="en-US" altLang="ko-KR" sz="14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Design Thinking + Learn + Agile + DevOps</a:t>
            </a:r>
            <a:endParaRPr lang="ko-KR" altLang="en-US" sz="1400" b="1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714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Agile NPD :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단계별 통과 기준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381000" y="600469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/>
          <p:cNvGrpSpPr/>
          <p:nvPr/>
        </p:nvGrpSpPr>
        <p:grpSpPr>
          <a:xfrm>
            <a:off x="962672" y="981224"/>
            <a:ext cx="7850340" cy="742669"/>
            <a:chOff x="836113" y="1298064"/>
            <a:chExt cx="7850340" cy="742669"/>
          </a:xfrm>
        </p:grpSpPr>
        <p:sp>
          <p:nvSpPr>
            <p:cNvPr id="31" name="타원 30"/>
            <p:cNvSpPr/>
            <p:nvPr/>
          </p:nvSpPr>
          <p:spPr>
            <a:xfrm>
              <a:off x="3270208" y="1298064"/>
              <a:ext cx="1787442" cy="662063"/>
            </a:xfrm>
            <a:prstGeom prst="ellipse">
              <a:avLst/>
            </a:prstGeom>
            <a:noFill/>
            <a:ln w="571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/>
            <p:cNvSpPr/>
            <p:nvPr/>
          </p:nvSpPr>
          <p:spPr>
            <a:xfrm>
              <a:off x="5083879" y="1300700"/>
              <a:ext cx="1787442" cy="662063"/>
            </a:xfrm>
            <a:prstGeom prst="ellipse">
              <a:avLst/>
            </a:prstGeom>
            <a:noFill/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836113" y="1298441"/>
              <a:ext cx="2429011" cy="742292"/>
              <a:chOff x="659956" y="3480149"/>
              <a:chExt cx="3165947" cy="2612047"/>
            </a:xfrm>
          </p:grpSpPr>
          <p:sp>
            <p:nvSpPr>
              <p:cNvPr id="38" name="타원 37"/>
              <p:cNvSpPr/>
              <p:nvPr/>
            </p:nvSpPr>
            <p:spPr>
              <a:xfrm>
                <a:off x="1496171" y="3480149"/>
                <a:ext cx="2329732" cy="2329732"/>
              </a:xfrm>
              <a:prstGeom prst="ellipse">
                <a:avLst/>
              </a:prstGeom>
              <a:noFill/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자유형 38"/>
              <p:cNvSpPr/>
              <p:nvPr/>
            </p:nvSpPr>
            <p:spPr>
              <a:xfrm>
                <a:off x="659956" y="4261900"/>
                <a:ext cx="906451" cy="1280166"/>
              </a:xfrm>
              <a:custGeom>
                <a:avLst/>
                <a:gdLst>
                  <a:gd name="connsiteX0" fmla="*/ 818985 w 818985"/>
                  <a:gd name="connsiteY0" fmla="*/ 0 h 1152940"/>
                  <a:gd name="connsiteX1" fmla="*/ 731520 w 818985"/>
                  <a:gd name="connsiteY1" fmla="*/ 254442 h 1152940"/>
                  <a:gd name="connsiteX2" fmla="*/ 620202 w 818985"/>
                  <a:gd name="connsiteY2" fmla="*/ 755374 h 1152940"/>
                  <a:gd name="connsiteX3" fmla="*/ 0 w 818985"/>
                  <a:gd name="connsiteY3" fmla="*/ 1152940 h 1152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8985" h="1152940">
                    <a:moveTo>
                      <a:pt x="818985" y="0"/>
                    </a:moveTo>
                    <a:cubicBezTo>
                      <a:pt x="791817" y="64273"/>
                      <a:pt x="764650" y="128546"/>
                      <a:pt x="731520" y="254442"/>
                    </a:cubicBezTo>
                    <a:cubicBezTo>
                      <a:pt x="698390" y="380338"/>
                      <a:pt x="742122" y="605624"/>
                      <a:pt x="620202" y="755374"/>
                    </a:cubicBezTo>
                    <a:cubicBezTo>
                      <a:pt x="498282" y="905124"/>
                      <a:pt x="84814" y="1133062"/>
                      <a:pt x="0" y="1152940"/>
                    </a:cubicBezTo>
                  </a:path>
                </a:pathLst>
              </a:custGeom>
              <a:noFill/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타원 39"/>
              <p:cNvSpPr/>
              <p:nvPr/>
            </p:nvSpPr>
            <p:spPr>
              <a:xfrm>
                <a:off x="1506185" y="3762463"/>
                <a:ext cx="2291960" cy="2329733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4" name="그룹 33"/>
            <p:cNvGrpSpPr/>
            <p:nvPr/>
          </p:nvGrpSpPr>
          <p:grpSpPr>
            <a:xfrm>
              <a:off x="3193413" y="1607556"/>
              <a:ext cx="136342" cy="67217"/>
              <a:chOff x="3732422" y="4567836"/>
              <a:chExt cx="177706" cy="236527"/>
            </a:xfrm>
          </p:grpSpPr>
          <p:sp>
            <p:nvSpPr>
              <p:cNvPr id="36" name="타원 35"/>
              <p:cNvSpPr/>
              <p:nvPr/>
            </p:nvSpPr>
            <p:spPr>
              <a:xfrm>
                <a:off x="3732422" y="4567836"/>
                <a:ext cx="177706" cy="236527"/>
              </a:xfrm>
              <a:prstGeom prst="ellipse">
                <a:avLst/>
              </a:prstGeom>
              <a:noFill/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타원 36"/>
              <p:cNvSpPr/>
              <p:nvPr/>
            </p:nvSpPr>
            <p:spPr>
              <a:xfrm>
                <a:off x="3784918" y="4649744"/>
                <a:ext cx="75366" cy="75363"/>
              </a:xfrm>
              <a:prstGeom prst="ellipse">
                <a:avLst/>
              </a:prstGeom>
              <a:noFill/>
              <a:ln w="571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5" name="타원 34"/>
            <p:cNvSpPr/>
            <p:nvPr/>
          </p:nvSpPr>
          <p:spPr>
            <a:xfrm>
              <a:off x="6899011" y="1300700"/>
              <a:ext cx="1787442" cy="662063"/>
            </a:xfrm>
            <a:prstGeom prst="ellipse">
              <a:avLst/>
            </a:prstGeom>
            <a:noFill/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1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3720481" y="1176486"/>
            <a:ext cx="1140012" cy="271863"/>
          </a:xfrm>
          <a:prstGeom prst="homePlate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해결방안 탐색</a:t>
            </a:r>
            <a:endParaRPr lang="en-US" altLang="ko-KR" sz="11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5534152" y="1176486"/>
            <a:ext cx="1140012" cy="271863"/>
          </a:xfrm>
          <a:prstGeom prst="homePlate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 개발</a:t>
            </a:r>
            <a:r>
              <a:rPr lang="en-US" altLang="ko-KR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출시</a:t>
            </a:r>
            <a:endParaRPr lang="en-US" altLang="ko-KR" sz="11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1579403" y="1176486"/>
            <a:ext cx="1140012" cy="271863"/>
          </a:xfrm>
          <a:prstGeom prst="homePlate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문제 발견</a:t>
            </a:r>
            <a:endParaRPr lang="en-US" altLang="ko-KR" sz="11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7349284" y="1176486"/>
            <a:ext cx="1140012" cy="271863"/>
          </a:xfrm>
          <a:prstGeom prst="homePlate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판매</a:t>
            </a:r>
            <a:r>
              <a:rPr lang="en-US" altLang="ko-KR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운영관리</a:t>
            </a:r>
            <a:endParaRPr lang="en-US" altLang="ko-KR" sz="11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8FDAA1-28D2-4DFD-B444-13BD6E1A727D}"/>
              </a:ext>
            </a:extLst>
          </p:cNvPr>
          <p:cNvSpPr txBox="1"/>
          <p:nvPr/>
        </p:nvSpPr>
        <p:spPr>
          <a:xfrm>
            <a:off x="1204683" y="1687098"/>
            <a:ext cx="1916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고객과 사용자의 문제를 수집하고 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진짜 문제를 발견</a:t>
            </a:r>
            <a:r>
              <a:rPr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확인하는 단계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2791B3-4688-4624-9AFA-DD0AC812AB11}"/>
              </a:ext>
            </a:extLst>
          </p:cNvPr>
          <p:cNvSpPr txBox="1"/>
          <p:nvPr/>
        </p:nvSpPr>
        <p:spPr>
          <a:xfrm>
            <a:off x="3315484" y="1691865"/>
            <a:ext cx="19237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진짜 문제를 해결할 수 있는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아이디어를 도출하고 구체화하여  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고객에게 확인하는 단계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B07862-205B-4959-9A2C-0B6F9DBCBD6C}"/>
              </a:ext>
            </a:extLst>
          </p:cNvPr>
          <p:cNvSpPr txBox="1"/>
          <p:nvPr/>
        </p:nvSpPr>
        <p:spPr>
          <a:xfrm>
            <a:off x="5058923" y="1692257"/>
            <a:ext cx="20580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지속적인 고객 피드백과 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상품성 개선을 통해 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완전한 시장 출시를 준비하는 단계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2AAD4F-9FDB-46FA-9198-4AB964CC10DE}"/>
              </a:ext>
            </a:extLst>
          </p:cNvPr>
          <p:cNvSpPr txBox="1"/>
          <p:nvPr/>
        </p:nvSpPr>
        <p:spPr>
          <a:xfrm>
            <a:off x="7020554" y="1684306"/>
            <a:ext cx="174907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프로덕트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목표 달성 및 유지를 통해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비즈니스 성과를 극대화 단계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상황에 따라 </a:t>
            </a:r>
            <a:r>
              <a:rPr lang="ko-KR" altLang="en-US" sz="7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프로덕트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종료 결정</a:t>
            </a:r>
            <a:r>
              <a:rPr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pSp>
        <p:nvGrpSpPr>
          <p:cNvPr id="49" name="그룹 48"/>
          <p:cNvGrpSpPr/>
          <p:nvPr/>
        </p:nvGrpSpPr>
        <p:grpSpPr>
          <a:xfrm>
            <a:off x="953646" y="2247301"/>
            <a:ext cx="7885112" cy="201930"/>
            <a:chOff x="827088" y="1834935"/>
            <a:chExt cx="7885112" cy="284235"/>
          </a:xfrm>
        </p:grpSpPr>
        <p:grpSp>
          <p:nvGrpSpPr>
            <p:cNvPr id="50" name="그룹 49"/>
            <p:cNvGrpSpPr/>
            <p:nvPr/>
          </p:nvGrpSpPr>
          <p:grpSpPr>
            <a:xfrm>
              <a:off x="827088" y="1842167"/>
              <a:ext cx="7885112" cy="182508"/>
              <a:chOff x="827088" y="1842167"/>
              <a:chExt cx="7885112" cy="182508"/>
            </a:xfrm>
          </p:grpSpPr>
          <p:cxnSp>
            <p:nvCxnSpPr>
              <p:cNvPr id="55" name="직선 연결선 54"/>
              <p:cNvCxnSpPr/>
              <p:nvPr/>
            </p:nvCxnSpPr>
            <p:spPr>
              <a:xfrm>
                <a:off x="827088" y="1947218"/>
                <a:ext cx="7884000" cy="0"/>
              </a:xfrm>
              <a:prstGeom prst="line">
                <a:avLst/>
              </a:prstGeom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/>
              <p:cNvCxnSpPr/>
              <p:nvPr/>
            </p:nvCxnSpPr>
            <p:spPr>
              <a:xfrm>
                <a:off x="827088" y="1843200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/>
              <p:cNvCxnSpPr/>
              <p:nvPr/>
            </p:nvCxnSpPr>
            <p:spPr>
              <a:xfrm>
                <a:off x="3276600" y="1844063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/>
              <p:cNvCxnSpPr/>
              <p:nvPr/>
            </p:nvCxnSpPr>
            <p:spPr>
              <a:xfrm>
                <a:off x="5076825" y="1844063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>
              <a:xfrm>
                <a:off x="6880123" y="1842167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>
              <a:xfrm>
                <a:off x="8712200" y="1844675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0E99F1C-30DB-48FD-8054-69DB86526E27}"/>
                </a:ext>
              </a:extLst>
            </p:cNvPr>
            <p:cNvSpPr txBox="1"/>
            <p:nvPr/>
          </p:nvSpPr>
          <p:spPr>
            <a:xfrm>
              <a:off x="1310395" y="1837574"/>
              <a:ext cx="1461835" cy="2815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Customer-Problem Fit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FDDD1E1-C344-4055-A5C0-5BAD62E8B2BA}"/>
                </a:ext>
              </a:extLst>
            </p:cNvPr>
            <p:cNvSpPr txBox="1"/>
            <p:nvPr/>
          </p:nvSpPr>
          <p:spPr>
            <a:xfrm>
              <a:off x="3463476" y="1837509"/>
              <a:ext cx="1440000" cy="2815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Customer-Solution Fit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BC17E81-50C9-4F73-B8A2-8CB1417691C8}"/>
                </a:ext>
              </a:extLst>
            </p:cNvPr>
            <p:cNvSpPr txBox="1"/>
            <p:nvPr/>
          </p:nvSpPr>
          <p:spPr>
            <a:xfrm>
              <a:off x="5342469" y="1834935"/>
              <a:ext cx="1285200" cy="2815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Product-Market Fit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6B70A5A-EF0B-479E-8122-A523E2D0841E}"/>
                </a:ext>
              </a:extLst>
            </p:cNvPr>
            <p:cNvSpPr txBox="1"/>
            <p:nvPr/>
          </p:nvSpPr>
          <p:spPr>
            <a:xfrm>
              <a:off x="7342914" y="1834935"/>
              <a:ext cx="853200" cy="2815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Scale up / Retire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4746450" y="836303"/>
            <a:ext cx="898312" cy="558297"/>
            <a:chOff x="4619891" y="628358"/>
            <a:chExt cx="898312" cy="558297"/>
          </a:xfrm>
        </p:grpSpPr>
        <p:sp>
          <p:nvSpPr>
            <p:cNvPr id="62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619891" y="628358"/>
              <a:ext cx="898312" cy="271863"/>
            </a:xfrm>
            <a:prstGeom prst="homePlate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accent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MVP</a:t>
              </a:r>
            </a:p>
          </p:txBody>
        </p:sp>
        <p:sp>
          <p:nvSpPr>
            <p:cNvPr id="63" name="별: 꼭짓점 5개 18">
              <a:extLst>
                <a:ext uri="{FF2B5EF4-FFF2-40B4-BE49-F238E27FC236}">
                  <a16:creationId xmlns:a16="http://schemas.microsoft.com/office/drawing/2014/main" id="{97B0AC14-7AC5-4B43-B263-272020C210DC}"/>
                </a:ext>
              </a:extLst>
            </p:cNvPr>
            <p:cNvSpPr/>
            <p:nvPr/>
          </p:nvSpPr>
          <p:spPr>
            <a:xfrm>
              <a:off x="4951352" y="960318"/>
              <a:ext cx="235390" cy="226337"/>
            </a:xfrm>
            <a:prstGeom prst="star5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6600"/>
                </a:solidFill>
              </a:endParaRPr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6554453" y="838313"/>
            <a:ext cx="898312" cy="558297"/>
            <a:chOff x="4619891" y="628358"/>
            <a:chExt cx="898312" cy="558297"/>
          </a:xfrm>
        </p:grpSpPr>
        <p:sp>
          <p:nvSpPr>
            <p:cNvPr id="65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619891" y="628358"/>
              <a:ext cx="898312" cy="271863"/>
            </a:xfrm>
            <a:prstGeom prst="homePlate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완제품</a:t>
              </a:r>
              <a:endParaRPr lang="en-US" altLang="ko-KR" sz="1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별: 꼭짓점 5개 18">
              <a:extLst>
                <a:ext uri="{FF2B5EF4-FFF2-40B4-BE49-F238E27FC236}">
                  <a16:creationId xmlns:a16="http://schemas.microsoft.com/office/drawing/2014/main" id="{97B0AC14-7AC5-4B43-B263-272020C210DC}"/>
                </a:ext>
              </a:extLst>
            </p:cNvPr>
            <p:cNvSpPr/>
            <p:nvPr/>
          </p:nvSpPr>
          <p:spPr>
            <a:xfrm>
              <a:off x="4951352" y="960318"/>
              <a:ext cx="235390" cy="226337"/>
            </a:xfrm>
            <a:prstGeom prst="star5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6600"/>
                </a:solidFill>
              </a:endParaRPr>
            </a:p>
          </p:txBody>
        </p:sp>
      </p:grpSp>
      <p:sp>
        <p:nvSpPr>
          <p:cNvPr id="67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2815016" y="2489470"/>
            <a:ext cx="1140012" cy="271863"/>
          </a:xfrm>
          <a:prstGeom prst="homePlate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  <a:endParaRPr lang="en-US" altLang="ko-KR" sz="12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4659056" y="2480092"/>
            <a:ext cx="1140012" cy="271863"/>
          </a:xfrm>
          <a:prstGeom prst="homePlate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  <a:endParaRPr lang="en-US" altLang="ko-KR" sz="12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6503096" y="2470713"/>
            <a:ext cx="1140012" cy="271863"/>
          </a:xfrm>
          <a:prstGeom prst="homePlate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  <a:endParaRPr lang="en-US" altLang="ko-KR" sz="12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9FD441D9-50C3-4679-8321-07F652866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986521"/>
              </p:ext>
            </p:extLst>
          </p:nvPr>
        </p:nvGraphicFramePr>
        <p:xfrm>
          <a:off x="914365" y="3027606"/>
          <a:ext cx="7962561" cy="2959129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681336">
                  <a:extLst>
                    <a:ext uri="{9D8B030D-6E8A-4147-A177-3AD203B41FA5}">
                      <a16:colId xmlns:a16="http://schemas.microsoft.com/office/drawing/2014/main" val="4187331244"/>
                    </a:ext>
                  </a:extLst>
                </a:gridCol>
                <a:gridCol w="1357532">
                  <a:extLst>
                    <a:ext uri="{9D8B030D-6E8A-4147-A177-3AD203B41FA5}">
                      <a16:colId xmlns:a16="http://schemas.microsoft.com/office/drawing/2014/main" val="2709555191"/>
                    </a:ext>
                  </a:extLst>
                </a:gridCol>
                <a:gridCol w="2595555">
                  <a:extLst>
                    <a:ext uri="{9D8B030D-6E8A-4147-A177-3AD203B41FA5}">
                      <a16:colId xmlns:a16="http://schemas.microsoft.com/office/drawing/2014/main" val="3188573936"/>
                    </a:ext>
                  </a:extLst>
                </a:gridCol>
                <a:gridCol w="776046">
                  <a:extLst>
                    <a:ext uri="{9D8B030D-6E8A-4147-A177-3AD203B41FA5}">
                      <a16:colId xmlns:a16="http://schemas.microsoft.com/office/drawing/2014/main" val="4173923147"/>
                    </a:ext>
                  </a:extLst>
                </a:gridCol>
                <a:gridCol w="776046">
                  <a:extLst>
                    <a:ext uri="{9D8B030D-6E8A-4147-A177-3AD203B41FA5}">
                      <a16:colId xmlns:a16="http://schemas.microsoft.com/office/drawing/2014/main" val="3014507141"/>
                    </a:ext>
                  </a:extLst>
                </a:gridCol>
                <a:gridCol w="776046">
                  <a:extLst>
                    <a:ext uri="{9D8B030D-6E8A-4147-A177-3AD203B41FA5}">
                      <a16:colId xmlns:a16="http://schemas.microsoft.com/office/drawing/2014/main" val="125839134"/>
                    </a:ext>
                  </a:extLst>
                </a:gridCol>
              </a:tblGrid>
              <a:tr h="31189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 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기준</a:t>
                      </a:r>
                      <a:endParaRPr lang="en-US" altLang="ko-KR" sz="1100" b="1" u="none" strike="noStrike" dirty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564473"/>
                  </a:ext>
                </a:extLst>
              </a:tr>
              <a:tr h="38249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Customer</a:t>
                      </a:r>
                      <a:r>
                        <a:rPr lang="en-US" sz="1000" b="1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Desirability</a:t>
                      </a:r>
                      <a:b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가치</a:t>
                      </a:r>
                      <a:r>
                        <a:rPr lang="en-US" altLang="ko-KR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욕구</a:t>
                      </a:r>
                      <a:r>
                        <a:rPr lang="en-US" altLang="ko-KR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문제정의</a:t>
                      </a:r>
                      <a:endParaRPr lang="en-US" altLang="ko-KR" sz="1000" u="none" strike="noStrike" dirty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문제 정의서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BMC, PR/FAQ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943293"/>
                  </a:ext>
                </a:extLst>
              </a:tr>
              <a:tr h="382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검증 </a:t>
                      </a:r>
                      <a:endParaRPr lang="en-US" altLang="ko-KR" sz="1000" u="none" strike="noStrike" dirty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인터뷰 </a:t>
                      </a:r>
                      <a:r>
                        <a:rPr lang="en-US" altLang="ko-KR" sz="1000" b="1" u="sng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1" u="sng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고객수용도 조사</a:t>
                      </a:r>
                      <a:r>
                        <a:rPr lang="en-US" altLang="ko-KR" sz="1000" b="1" u="sng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1000" b="1" i="0" u="sng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77532"/>
                  </a:ext>
                </a:extLst>
              </a:tr>
              <a:tr h="338107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6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검증 </a:t>
                      </a:r>
                      <a:endParaRPr lang="en-US" altLang="ko-KR" sz="1000" u="none" strike="noStrike" dirty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NPS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추천 지수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 ↑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28"/>
                  </a:ext>
                </a:extLst>
              </a:tr>
              <a:tr h="38249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Economical Viability</a:t>
                      </a:r>
                      <a:b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경제적 지속 가능성</a:t>
                      </a:r>
                      <a:r>
                        <a:rPr lang="en-US" altLang="ko-KR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RISK</a:t>
                      </a:r>
                    </a:p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(RM,</a:t>
                      </a:r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</a:t>
                      </a:r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,IT)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hedge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가능여부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198019"/>
                  </a:ext>
                </a:extLst>
              </a:tr>
              <a:tr h="461629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6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재무 수익성</a:t>
                      </a:r>
                      <a:endParaRPr lang="en-US" altLang="ko-KR" sz="1000" u="none" strike="noStrike" dirty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 이내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BEP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초과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ROI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달성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1" i="0" u="sng" strike="noStrike" baseline="0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1" i="0" u="sng" strike="noStrike" baseline="0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사업계획 수립</a:t>
                      </a:r>
                      <a:r>
                        <a:rPr lang="en-US" altLang="ko-KR" sz="1000" b="1" i="0" u="sng" strike="noStrike" baseline="0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1000" b="1" i="0" u="sng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518090"/>
                  </a:ext>
                </a:extLst>
              </a:tr>
              <a:tr h="38249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Technical </a:t>
                      </a:r>
                      <a:r>
                        <a:rPr lang="ko-KR" altLang="en-US" sz="10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Feasibility</a:t>
                      </a:r>
                      <a:endParaRPr lang="en-US" altLang="ko-KR" sz="10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(기술적 실현 가능성)</a:t>
                      </a: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To-do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이행 여부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379309"/>
                  </a:ext>
                </a:extLst>
              </a:tr>
              <a:tr h="317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기능성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오류 발생 건수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</a:t>
                      </a:r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631415"/>
                  </a:ext>
                </a:extLst>
              </a:tr>
            </a:tbl>
          </a:graphicData>
        </a:graphic>
      </p:graphicFrame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C7629752-16CF-47EB-B831-3D551FA93EFA}"/>
              </a:ext>
            </a:extLst>
          </p:cNvPr>
          <p:cNvCxnSpPr>
            <a:cxnSpLocks/>
            <a:stCxn id="67" idx="3"/>
          </p:cNvCxnSpPr>
          <p:nvPr/>
        </p:nvCxnSpPr>
        <p:spPr>
          <a:xfrm>
            <a:off x="3955028" y="2625402"/>
            <a:ext cx="2719136" cy="1178847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FD2978A3-5E51-46E6-A6CD-B69934A120D3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5799068" y="2616024"/>
            <a:ext cx="1653697" cy="118822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8F388EA9-3071-4D78-BDC0-C938979B9D5E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7643108" y="2606645"/>
            <a:ext cx="534734" cy="119760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1ACAA526-5C18-4229-AA29-6446592863E8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7643108" y="2606645"/>
            <a:ext cx="534734" cy="230178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105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화살표: 오각형 23">
            <a:extLst>
              <a:ext uri="{FF2B5EF4-FFF2-40B4-BE49-F238E27FC236}">
                <a16:creationId xmlns:a16="http://schemas.microsoft.com/office/drawing/2014/main" id="{16791B36-742B-48AF-AEDC-5584C09E0AE8}"/>
              </a:ext>
            </a:extLst>
          </p:cNvPr>
          <p:cNvSpPr/>
          <p:nvPr/>
        </p:nvSpPr>
        <p:spPr>
          <a:xfrm>
            <a:off x="7786989" y="1553563"/>
            <a:ext cx="1730420" cy="3605028"/>
          </a:xfrm>
          <a:prstGeom prst="homePlate">
            <a:avLst>
              <a:gd name="adj" fmla="val 0"/>
            </a:avLst>
          </a:prstGeom>
          <a:solidFill>
            <a:schemeClr val="bg1">
              <a:lumMod val="85000"/>
              <a:alpha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각형 22">
            <a:extLst>
              <a:ext uri="{FF2B5EF4-FFF2-40B4-BE49-F238E27FC236}">
                <a16:creationId xmlns:a16="http://schemas.microsoft.com/office/drawing/2014/main" id="{ABD88DAF-5677-435A-ACC3-6D54314228D5}"/>
              </a:ext>
            </a:extLst>
          </p:cNvPr>
          <p:cNvSpPr/>
          <p:nvPr/>
        </p:nvSpPr>
        <p:spPr>
          <a:xfrm>
            <a:off x="5984668" y="1540455"/>
            <a:ext cx="1905754" cy="3605028"/>
          </a:xfrm>
          <a:prstGeom prst="homePlate">
            <a:avLst>
              <a:gd name="adj" fmla="val 12919"/>
            </a:avLst>
          </a:prstGeom>
          <a:solidFill>
            <a:schemeClr val="bg1">
              <a:lumMod val="85000"/>
              <a:alpha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각형 21">
            <a:extLst>
              <a:ext uri="{FF2B5EF4-FFF2-40B4-BE49-F238E27FC236}">
                <a16:creationId xmlns:a16="http://schemas.microsoft.com/office/drawing/2014/main" id="{8A148EF7-F413-4A23-97E4-D0042B8FBB63}"/>
              </a:ext>
            </a:extLst>
          </p:cNvPr>
          <p:cNvSpPr/>
          <p:nvPr/>
        </p:nvSpPr>
        <p:spPr>
          <a:xfrm>
            <a:off x="4051933" y="1547009"/>
            <a:ext cx="2039656" cy="3605028"/>
          </a:xfrm>
          <a:prstGeom prst="homePlate">
            <a:avLst>
              <a:gd name="adj" fmla="val 13389"/>
            </a:avLst>
          </a:prstGeom>
          <a:solidFill>
            <a:schemeClr val="bg1">
              <a:lumMod val="85000"/>
              <a:alpha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23D2D72F-25F9-4B79-B3FB-77AC2D235177}"/>
              </a:ext>
            </a:extLst>
          </p:cNvPr>
          <p:cNvSpPr/>
          <p:nvPr/>
        </p:nvSpPr>
        <p:spPr>
          <a:xfrm>
            <a:off x="491974" y="1553563"/>
            <a:ext cx="3663809" cy="3605028"/>
          </a:xfrm>
          <a:prstGeom prst="homePlate">
            <a:avLst>
              <a:gd name="adj" fmla="val 7867"/>
            </a:avLst>
          </a:prstGeom>
          <a:solidFill>
            <a:schemeClr val="bg1">
              <a:lumMod val="85000"/>
              <a:alpha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Pricing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컨셉 수립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4">
            <a:extLst>
              <a:ext uri="{FF2B5EF4-FFF2-40B4-BE49-F238E27FC236}">
                <a16:creationId xmlns:a16="http://schemas.microsoft.com/office/drawing/2014/main" id="{A6639A2C-4635-4AB2-A8E8-5E833F9EC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73" y="912067"/>
            <a:ext cx="2294362" cy="37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</a:t>
            </a:r>
            <a:r>
              <a:rPr lang="en-US" altLang="ko-KR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Pricing</a:t>
            </a: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process</a:t>
            </a:r>
            <a:endParaRPr lang="en-US" altLang="ko-KR" sz="1400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C86BD8-9037-4EB4-9FB3-1DC0B2EB26B6}"/>
              </a:ext>
            </a:extLst>
          </p:cNvPr>
          <p:cNvSpPr/>
          <p:nvPr/>
        </p:nvSpPr>
        <p:spPr>
          <a:xfrm>
            <a:off x="611657" y="1553563"/>
            <a:ext cx="1707435" cy="33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1) </a:t>
            </a:r>
            <a:r>
              <a:rPr lang="ko-KR" altLang="en-US" sz="12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가격의 요인 분석</a:t>
            </a:r>
            <a:endParaRPr lang="en-US" altLang="ko-KR" sz="1200" b="1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2D7713F-19D8-48A8-BF6E-A7EB6DE9D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35" y="2008232"/>
            <a:ext cx="3167723" cy="2863969"/>
          </a:xfrm>
          <a:prstGeom prst="rect">
            <a:avLst/>
          </a:prstGeom>
        </p:spPr>
      </p:pic>
      <p:sp>
        <p:nvSpPr>
          <p:cNvPr id="14" name="오각형 139">
            <a:extLst>
              <a:ext uri="{FF2B5EF4-FFF2-40B4-BE49-F238E27FC236}">
                <a16:creationId xmlns:a16="http://schemas.microsoft.com/office/drawing/2014/main" id="{66C5121B-D1B8-4F4F-B2F0-BDFDEC507001}"/>
              </a:ext>
            </a:extLst>
          </p:cNvPr>
          <p:cNvSpPr/>
          <p:nvPr/>
        </p:nvSpPr>
        <p:spPr>
          <a:xfrm>
            <a:off x="4287336" y="2943639"/>
            <a:ext cx="1472044" cy="337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glow rad="63500">
              <a:schemeClr val="accent5">
                <a:satMod val="175000"/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② 고객중심 가격 책정</a:t>
            </a:r>
            <a:endParaRPr lang="en-US" altLang="ko-KR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오각형 139">
            <a:extLst>
              <a:ext uri="{FF2B5EF4-FFF2-40B4-BE49-F238E27FC236}">
                <a16:creationId xmlns:a16="http://schemas.microsoft.com/office/drawing/2014/main" id="{96E0700D-21B0-446A-B752-2B53B2D7E268}"/>
              </a:ext>
            </a:extLst>
          </p:cNvPr>
          <p:cNvSpPr/>
          <p:nvPr/>
        </p:nvSpPr>
        <p:spPr>
          <a:xfrm>
            <a:off x="4287336" y="2232108"/>
            <a:ext cx="1472044" cy="337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glow rad="63500">
              <a:schemeClr val="accent5">
                <a:satMod val="175000"/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① 원가중심 가격 책정</a:t>
            </a:r>
            <a:endParaRPr lang="en-US" altLang="ko-KR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오각형 139">
            <a:extLst>
              <a:ext uri="{FF2B5EF4-FFF2-40B4-BE49-F238E27FC236}">
                <a16:creationId xmlns:a16="http://schemas.microsoft.com/office/drawing/2014/main" id="{9526B9B4-474C-4353-9EE8-9F5BA7A38E6B}"/>
              </a:ext>
            </a:extLst>
          </p:cNvPr>
          <p:cNvSpPr/>
          <p:nvPr/>
        </p:nvSpPr>
        <p:spPr>
          <a:xfrm>
            <a:off x="4287336" y="3357560"/>
            <a:ext cx="1472044" cy="337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glow rad="63500">
              <a:schemeClr val="accent5">
                <a:satMod val="175000"/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③ 경쟁중심 가격 책정</a:t>
            </a:r>
            <a:endParaRPr lang="en-US" altLang="ko-KR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오각형 139">
            <a:extLst>
              <a:ext uri="{FF2B5EF4-FFF2-40B4-BE49-F238E27FC236}">
                <a16:creationId xmlns:a16="http://schemas.microsoft.com/office/drawing/2014/main" id="{77B2502C-E40D-453B-9D40-A744529D23D8}"/>
              </a:ext>
            </a:extLst>
          </p:cNvPr>
          <p:cNvSpPr/>
          <p:nvPr/>
        </p:nvSpPr>
        <p:spPr>
          <a:xfrm>
            <a:off x="6244963" y="2620292"/>
            <a:ext cx="1339058" cy="337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기업 </a:t>
            </a:r>
            <a:r>
              <a:rPr lang="ko-KR" altLang="en-US" sz="105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목표 반영</a:t>
            </a:r>
            <a:endParaRPr lang="en-US" altLang="ko-KR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오각형 139">
            <a:extLst>
              <a:ext uri="{FF2B5EF4-FFF2-40B4-BE49-F238E27FC236}">
                <a16:creationId xmlns:a16="http://schemas.microsoft.com/office/drawing/2014/main" id="{6BED4DF1-AB53-404A-A668-5F4A5FBAEAA0}"/>
              </a:ext>
            </a:extLst>
          </p:cNvPr>
          <p:cNvSpPr/>
          <p:nvPr/>
        </p:nvSpPr>
        <p:spPr>
          <a:xfrm>
            <a:off x="8047877" y="2991226"/>
            <a:ext cx="1339058" cy="337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점검</a:t>
            </a:r>
            <a:endParaRPr lang="en-US" altLang="ko-KR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수정보완</a:t>
            </a:r>
            <a:endParaRPr lang="en-US" altLang="ko-KR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589BA5-ACE3-4544-BC01-97C4C042DBC6}"/>
              </a:ext>
            </a:extLst>
          </p:cNvPr>
          <p:cNvSpPr/>
          <p:nvPr/>
        </p:nvSpPr>
        <p:spPr>
          <a:xfrm>
            <a:off x="4250669" y="1553563"/>
            <a:ext cx="1707435" cy="33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2) </a:t>
            </a:r>
            <a:r>
              <a:rPr lang="ko-KR" altLang="en-US" sz="12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기초 가격 책정</a:t>
            </a:r>
            <a:endParaRPr lang="en-US" altLang="ko-KR" sz="1200" b="1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A8AF00-88DA-4A0B-AAC8-240C7724AE8A}"/>
              </a:ext>
            </a:extLst>
          </p:cNvPr>
          <p:cNvSpPr/>
          <p:nvPr/>
        </p:nvSpPr>
        <p:spPr>
          <a:xfrm>
            <a:off x="6182987" y="1553563"/>
            <a:ext cx="1707435" cy="33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3) </a:t>
            </a:r>
            <a:r>
              <a:rPr lang="ko-KR" altLang="en-US" sz="12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전략 가격 조정</a:t>
            </a:r>
            <a:endParaRPr lang="en-US" altLang="ko-KR" sz="1200" b="1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C5E0379-B957-4512-91D4-E5C3293C6DD5}"/>
              </a:ext>
            </a:extLst>
          </p:cNvPr>
          <p:cNvSpPr/>
          <p:nvPr/>
        </p:nvSpPr>
        <p:spPr>
          <a:xfrm>
            <a:off x="7965655" y="1553563"/>
            <a:ext cx="1707435" cy="33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4) </a:t>
            </a:r>
            <a:r>
              <a:rPr lang="ko-KR" altLang="en-US" sz="12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 가격 결정</a:t>
            </a:r>
            <a:endParaRPr lang="en-US" altLang="ko-KR" sz="1200" b="1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D39B457-4465-4169-9009-792EFF8DF997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596063" y="2398144"/>
            <a:ext cx="691273" cy="266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B1937A5-FA95-4C51-8518-BDB6EDAAE080}"/>
              </a:ext>
            </a:extLst>
          </p:cNvPr>
          <p:cNvCxnSpPr>
            <a:cxnSpLocks/>
          </p:cNvCxnSpPr>
          <p:nvPr/>
        </p:nvCxnSpPr>
        <p:spPr>
          <a:xfrm>
            <a:off x="3596063" y="3118300"/>
            <a:ext cx="691273" cy="266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4F52CFB-755C-439C-B667-D15FAD8C5D1F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596063" y="3525146"/>
            <a:ext cx="691273" cy="111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오각형 139">
            <a:extLst>
              <a:ext uri="{FF2B5EF4-FFF2-40B4-BE49-F238E27FC236}">
                <a16:creationId xmlns:a16="http://schemas.microsoft.com/office/drawing/2014/main" id="{FEC9E27C-0375-4CC9-B39D-4C2F51D2AD25}"/>
              </a:ext>
            </a:extLst>
          </p:cNvPr>
          <p:cNvSpPr/>
          <p:nvPr/>
        </p:nvSpPr>
        <p:spPr>
          <a:xfrm>
            <a:off x="6244963" y="3730795"/>
            <a:ext cx="1339058" cy="337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 및 수요 예측</a:t>
            </a:r>
            <a:endParaRPr lang="en-US" altLang="ko-KR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오각형 139">
            <a:extLst>
              <a:ext uri="{FF2B5EF4-FFF2-40B4-BE49-F238E27FC236}">
                <a16:creationId xmlns:a16="http://schemas.microsoft.com/office/drawing/2014/main" id="{E1D9B5C2-2C10-418D-8B6C-62564AE62F34}"/>
              </a:ext>
            </a:extLst>
          </p:cNvPr>
          <p:cNvSpPr/>
          <p:nvPr/>
        </p:nvSpPr>
        <p:spPr>
          <a:xfrm>
            <a:off x="6244963" y="4172597"/>
            <a:ext cx="1339058" cy="337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정책 및 기술 트랜드 분석</a:t>
            </a:r>
            <a:endParaRPr lang="en-US" altLang="ko-KR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4225C0D-CA37-424C-9897-3C836E561017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3596063" y="2788992"/>
            <a:ext cx="2648900" cy="1983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Dot"/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F69E637-74A4-4875-94B1-7381BEC163C6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3596063" y="3899495"/>
            <a:ext cx="2648900" cy="14214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Dot"/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0DB9B742-8707-487C-8AC2-13A8EE48323E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596063" y="4293588"/>
            <a:ext cx="2648900" cy="47709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Dot"/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79B31BFA-2298-4B1A-9FB9-C69BA96C313B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3596063" y="4341297"/>
            <a:ext cx="2648900" cy="32794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Dot"/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35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기초 가격 책정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34">
            <a:extLst>
              <a:ext uri="{FF2B5EF4-FFF2-40B4-BE49-F238E27FC236}">
                <a16:creationId xmlns:a16="http://schemas.microsoft.com/office/drawing/2014/main" id="{69430EC9-2C5C-4FD3-B49C-62C1A70C6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73" y="929319"/>
            <a:ext cx="2294362" cy="37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</a:t>
            </a:r>
            <a:r>
              <a:rPr lang="en-US" altLang="ko-KR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원가중심 가격 책정</a:t>
            </a:r>
            <a:endParaRPr lang="en-US" altLang="ko-KR" sz="1400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369C1C-66AB-4E27-A9DE-A2BDF985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975913"/>
              </p:ext>
            </p:extLst>
          </p:nvPr>
        </p:nvGraphicFramePr>
        <p:xfrm>
          <a:off x="721919" y="1540745"/>
          <a:ext cx="6023937" cy="1845138"/>
        </p:xfrm>
        <a:graphic>
          <a:graphicData uri="http://schemas.openxmlformats.org/drawingml/2006/table">
            <a:tbl>
              <a:tblPr/>
              <a:tblGrid>
                <a:gridCol w="1393834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2923750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706353">
                  <a:extLst>
                    <a:ext uri="{9D8B030D-6E8A-4147-A177-3AD203B41FA5}">
                      <a16:colId xmlns:a16="http://schemas.microsoft.com/office/drawing/2014/main" val="1041108495"/>
                    </a:ext>
                  </a:extLst>
                </a:gridCol>
              </a:tblGrid>
              <a:tr h="3786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활동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 자료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50462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수요 예측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판매 수요 예측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판매수요 조사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시장규모 조사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945728"/>
                  </a:ext>
                </a:extLst>
              </a:tr>
              <a:tr h="4571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원가 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변동원가 및 고정원가 분류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원가명세서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432293"/>
                  </a:ext>
                </a:extLst>
              </a:tr>
              <a:tr h="5046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단가 합의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판매 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수량별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단가 할인 합의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합의서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협약서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38276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8F329D88-CB68-4B22-9548-586A6DF29F61}"/>
              </a:ext>
            </a:extLst>
          </p:cNvPr>
          <p:cNvSpPr/>
          <p:nvPr/>
        </p:nvSpPr>
        <p:spPr>
          <a:xfrm>
            <a:off x="4296673" y="4116764"/>
            <a:ext cx="3346331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예시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] 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① 총고정비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1,000,000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endParaRPr lang="en-US" altLang="ko-KR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②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개당변동비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  20,000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endParaRPr lang="en-US" altLang="ko-KR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③ 예상판매량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       100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</a:t>
            </a:r>
            <a:endParaRPr lang="en-US" altLang="ko-KR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산식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개당 원가 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변동비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(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고정비 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÷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예상판매량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</a:p>
          <a:p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30,000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 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 20,000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 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+(1,000,000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/100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D1FCAE4-A914-4167-9DE4-AB12AD8E9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19" y="3691255"/>
            <a:ext cx="3706689" cy="2237426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2EA6418-17CF-44A7-8AA2-330481920B32}"/>
              </a:ext>
            </a:extLst>
          </p:cNvPr>
          <p:cNvSpPr/>
          <p:nvPr/>
        </p:nvSpPr>
        <p:spPr>
          <a:xfrm>
            <a:off x="4554533" y="5446493"/>
            <a:ext cx="1217002" cy="31521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80653D-4BFF-4A49-80EC-DA32194C6F45}"/>
              </a:ext>
            </a:extLst>
          </p:cNvPr>
          <p:cNvSpPr txBox="1"/>
          <p:nvPr/>
        </p:nvSpPr>
        <p:spPr>
          <a:xfrm>
            <a:off x="4813322" y="5499903"/>
            <a:ext cx="700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판매 가격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09E4BDA-457E-4135-BF6B-0BF2068474F0}"/>
              </a:ext>
            </a:extLst>
          </p:cNvPr>
          <p:cNvSpPr/>
          <p:nvPr/>
        </p:nvSpPr>
        <p:spPr>
          <a:xfrm>
            <a:off x="5771535" y="5478949"/>
            <a:ext cx="161267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개당 원가 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목표 이익</a:t>
            </a:r>
          </a:p>
        </p:txBody>
      </p:sp>
    </p:spTree>
    <p:extLst>
      <p:ext uri="{BB962C8B-B14F-4D97-AF65-F5344CB8AC3E}">
        <p14:creationId xmlns:p14="http://schemas.microsoft.com/office/powerpoint/2010/main" val="2962080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표 99">
            <a:extLst>
              <a:ext uri="{FF2B5EF4-FFF2-40B4-BE49-F238E27FC236}">
                <a16:creationId xmlns:a16="http://schemas.microsoft.com/office/drawing/2014/main" id="{981BA2FE-AAE2-4585-8C99-41D2905ED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185501"/>
              </p:ext>
            </p:extLst>
          </p:nvPr>
        </p:nvGraphicFramePr>
        <p:xfrm>
          <a:off x="689053" y="981075"/>
          <a:ext cx="8629695" cy="4611857"/>
        </p:xfrm>
        <a:graphic>
          <a:graphicData uri="http://schemas.openxmlformats.org/drawingml/2006/table">
            <a:tbl>
              <a:tblPr/>
              <a:tblGrid>
                <a:gridCol w="2876565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2876565">
                  <a:extLst>
                    <a:ext uri="{9D8B030D-6E8A-4147-A177-3AD203B41FA5}">
                      <a16:colId xmlns:a16="http://schemas.microsoft.com/office/drawing/2014/main" val="1041108495"/>
                    </a:ext>
                  </a:extLst>
                </a:gridCol>
                <a:gridCol w="2876565">
                  <a:extLst>
                    <a:ext uri="{9D8B030D-6E8A-4147-A177-3AD203B41FA5}">
                      <a16:colId xmlns:a16="http://schemas.microsoft.com/office/drawing/2014/main" val="3740939879"/>
                    </a:ext>
                  </a:extLst>
                </a:gridCol>
              </a:tblGrid>
              <a:tr h="3786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변동원가 </a:t>
                      </a:r>
                      <a:r>
                        <a:rPr lang="en-US" altLang="ko-KR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100%</a:t>
                      </a:r>
                      <a:endParaRPr lang="ko-KR" altLang="en-US" sz="1100" dirty="0"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변동원가 </a:t>
                      </a:r>
                      <a:r>
                        <a:rPr lang="en-US" altLang="ko-KR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50%, </a:t>
                      </a: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고정원가 </a:t>
                      </a:r>
                      <a:r>
                        <a:rPr lang="en-US" altLang="ko-KR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50%</a:t>
                      </a:r>
                      <a:endParaRPr lang="ko-KR" altLang="en-US" sz="1100" dirty="0"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err="1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판매수량별</a:t>
                      </a: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단가할인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2431040"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432293"/>
                  </a:ext>
                </a:extLst>
              </a:tr>
              <a:tr h="1802167"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3827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기초 가격 책정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그림 96">
            <a:extLst>
              <a:ext uri="{FF2B5EF4-FFF2-40B4-BE49-F238E27FC236}">
                <a16:creationId xmlns:a16="http://schemas.microsoft.com/office/drawing/2014/main" id="{4D853765-A22C-4672-AFCE-8A41C599C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94" y="1623910"/>
            <a:ext cx="2694109" cy="2029483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D0D41D49-5E71-4870-9DB9-9262AC3B6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616" y="1623909"/>
            <a:ext cx="2634768" cy="2029483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DB15C54F-0B88-4872-9324-AEC746700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55" y="1623908"/>
            <a:ext cx="2539821" cy="202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64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기초 가격 책정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34">
            <a:extLst>
              <a:ext uri="{FF2B5EF4-FFF2-40B4-BE49-F238E27FC236}">
                <a16:creationId xmlns:a16="http://schemas.microsoft.com/office/drawing/2014/main" id="{69430EC9-2C5C-4FD3-B49C-62C1A70C6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73" y="920693"/>
            <a:ext cx="2294362" cy="37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②</a:t>
            </a:r>
            <a:r>
              <a:rPr lang="en-US" altLang="ko-KR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고객중심 가격 책정</a:t>
            </a:r>
            <a:endParaRPr lang="en-US" altLang="ko-KR" sz="1400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369C1C-66AB-4E27-A9DE-A2BDF985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566135"/>
              </p:ext>
            </p:extLst>
          </p:nvPr>
        </p:nvGraphicFramePr>
        <p:xfrm>
          <a:off x="695286" y="1532121"/>
          <a:ext cx="6043952" cy="1520963"/>
        </p:xfrm>
        <a:graphic>
          <a:graphicData uri="http://schemas.openxmlformats.org/drawingml/2006/table">
            <a:tbl>
              <a:tblPr/>
              <a:tblGrid>
                <a:gridCol w="1390684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2951856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701412">
                  <a:extLst>
                    <a:ext uri="{9D8B030D-6E8A-4147-A177-3AD203B41FA5}">
                      <a16:colId xmlns:a16="http://schemas.microsoft.com/office/drawing/2014/main" val="1041108495"/>
                    </a:ext>
                  </a:extLst>
                </a:gridCol>
              </a:tblGrid>
              <a:tr h="3786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활동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 자료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52975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특정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타겟 고객층 및 유효 고객층 선정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비즈니스모델캠퍼스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페르소나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432293"/>
                  </a:ext>
                </a:extLst>
              </a:tr>
              <a:tr h="61255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리서치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니즈 및 선호도 조사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가격 민감도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수용도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3827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C5FBAA6-0482-4F85-ADBE-778F7DE67274}"/>
              </a:ext>
            </a:extLst>
          </p:cNvPr>
          <p:cNvSpPr txBox="1"/>
          <p:nvPr/>
        </p:nvSpPr>
        <p:spPr>
          <a:xfrm>
            <a:off x="491973" y="6176642"/>
            <a:ext cx="41200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준거가격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과거 구매 경험이나 가지고 있는 가격정보를 기초로 형성된 고객의 심리적 가격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8E582B18-4028-4BC6-9654-9A5D4DAD6CE3}"/>
              </a:ext>
            </a:extLst>
          </p:cNvPr>
          <p:cNvGrpSpPr/>
          <p:nvPr/>
        </p:nvGrpSpPr>
        <p:grpSpPr>
          <a:xfrm>
            <a:off x="717452" y="3554089"/>
            <a:ext cx="3864172" cy="1974196"/>
            <a:chOff x="4162775" y="4028535"/>
            <a:chExt cx="3864172" cy="197419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0911DA-F103-4AFA-BCC9-BB6871F64A87}"/>
                </a:ext>
              </a:extLst>
            </p:cNvPr>
            <p:cNvSpPr txBox="1"/>
            <p:nvPr/>
          </p:nvSpPr>
          <p:spPr>
            <a:xfrm>
              <a:off x="4162775" y="4152313"/>
              <a:ext cx="37702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가격</a:t>
              </a: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B526CAE6-C6ED-4CFA-9D8A-C55A3229F8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2017" y="4028535"/>
              <a:ext cx="0" cy="175875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7DBF985A-3D9F-443D-89D3-727AB74B11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2017" y="5787288"/>
              <a:ext cx="3199652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CCA31D3-2677-4F82-A3F3-4A2D3A67907A}"/>
                </a:ext>
              </a:extLst>
            </p:cNvPr>
            <p:cNvSpPr txBox="1"/>
            <p:nvPr/>
          </p:nvSpPr>
          <p:spPr>
            <a:xfrm>
              <a:off x="7187556" y="5787287"/>
              <a:ext cx="37702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품질</a:t>
              </a: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2D07FE1A-3835-43E3-9CD6-36B2DE5870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2016" y="4338416"/>
              <a:ext cx="1777043" cy="1448871"/>
            </a:xfrm>
            <a:prstGeom prst="straightConnector1">
              <a:avLst/>
            </a:prstGeom>
            <a:ln w="3175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EB8B80DB-3599-499A-9472-BE45E553BA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1694" y="4152313"/>
              <a:ext cx="0" cy="1634974"/>
            </a:xfrm>
            <a:prstGeom prst="straightConnector1">
              <a:avLst/>
            </a:prstGeom>
            <a:ln w="3175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A10F1834-63E2-4AE8-92AA-A0D61885ED97}"/>
                </a:ext>
              </a:extLst>
            </p:cNvPr>
            <p:cNvSpPr/>
            <p:nvPr/>
          </p:nvSpPr>
          <p:spPr>
            <a:xfrm>
              <a:off x="5494691" y="4854505"/>
              <a:ext cx="154006" cy="154006"/>
            </a:xfrm>
            <a:prstGeom prst="ellipse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C01057C6-34F9-43D9-9A8A-6F36B15A22C4}"/>
                </a:ext>
              </a:extLst>
            </p:cNvPr>
            <p:cNvSpPr/>
            <p:nvPr/>
          </p:nvSpPr>
          <p:spPr>
            <a:xfrm>
              <a:off x="5494691" y="4398008"/>
              <a:ext cx="154006" cy="154006"/>
            </a:xfrm>
            <a:prstGeom prst="ellipse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C6E86436-3B54-4CF0-8F5F-FAE3BD4A60FE}"/>
                </a:ext>
              </a:extLst>
            </p:cNvPr>
            <p:cNvSpPr/>
            <p:nvPr/>
          </p:nvSpPr>
          <p:spPr>
            <a:xfrm>
              <a:off x="5494691" y="5311636"/>
              <a:ext cx="154006" cy="154006"/>
            </a:xfrm>
            <a:prstGeom prst="ellipse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9233036-45E6-4D31-A753-1EAE442F8B62}"/>
                </a:ext>
              </a:extLst>
            </p:cNvPr>
            <p:cNvSpPr txBox="1"/>
            <p:nvPr/>
          </p:nvSpPr>
          <p:spPr>
            <a:xfrm>
              <a:off x="4771445" y="5287593"/>
              <a:ext cx="76174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최저수용가격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9AAA609-E8E6-4451-9F3E-DF9ADFB48B94}"/>
                </a:ext>
              </a:extLst>
            </p:cNvPr>
            <p:cNvSpPr txBox="1"/>
            <p:nvPr/>
          </p:nvSpPr>
          <p:spPr>
            <a:xfrm>
              <a:off x="4963805" y="4372712"/>
              <a:ext cx="56938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유보가격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8AB952A-EB75-44CA-A694-FA4F734C4EBF}"/>
                </a:ext>
              </a:extLst>
            </p:cNvPr>
            <p:cNvSpPr txBox="1"/>
            <p:nvPr/>
          </p:nvSpPr>
          <p:spPr>
            <a:xfrm>
              <a:off x="4963805" y="4835451"/>
              <a:ext cx="56938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준거가격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F86E34C-791D-4835-9033-0ABE4EABDDF5}"/>
                </a:ext>
              </a:extLst>
            </p:cNvPr>
            <p:cNvSpPr txBox="1"/>
            <p:nvPr/>
          </p:nvSpPr>
          <p:spPr>
            <a:xfrm>
              <a:off x="5810549" y="4084816"/>
              <a:ext cx="1233030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너무 비싸서 구매를 유보</a:t>
              </a:r>
            </a:p>
          </p:txBody>
        </p:sp>
        <p:sp>
          <p:nvSpPr>
            <p:cNvPr id="34" name="오른쪽 중괄호 33">
              <a:extLst>
                <a:ext uri="{FF2B5EF4-FFF2-40B4-BE49-F238E27FC236}">
                  <a16:creationId xmlns:a16="http://schemas.microsoft.com/office/drawing/2014/main" id="{B17B38DA-839E-4EF8-8B00-8811F6F3F1FB}"/>
                </a:ext>
              </a:extLst>
            </p:cNvPr>
            <p:cNvSpPr/>
            <p:nvPr/>
          </p:nvSpPr>
          <p:spPr>
            <a:xfrm>
              <a:off x="5674546" y="4028535"/>
              <a:ext cx="112742" cy="33922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오른쪽 중괄호 34">
              <a:extLst>
                <a:ext uri="{FF2B5EF4-FFF2-40B4-BE49-F238E27FC236}">
                  <a16:creationId xmlns:a16="http://schemas.microsoft.com/office/drawing/2014/main" id="{90411427-6BAE-4A07-B2CF-531F5729212B}"/>
                </a:ext>
              </a:extLst>
            </p:cNvPr>
            <p:cNvSpPr/>
            <p:nvPr/>
          </p:nvSpPr>
          <p:spPr>
            <a:xfrm>
              <a:off x="5674546" y="4472124"/>
              <a:ext cx="112742" cy="33922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오른쪽 중괄호 35">
              <a:extLst>
                <a:ext uri="{FF2B5EF4-FFF2-40B4-BE49-F238E27FC236}">
                  <a16:creationId xmlns:a16="http://schemas.microsoft.com/office/drawing/2014/main" id="{AF501FE6-4F05-4976-96A8-B41ABEAE5012}"/>
                </a:ext>
              </a:extLst>
            </p:cNvPr>
            <p:cNvSpPr/>
            <p:nvPr/>
          </p:nvSpPr>
          <p:spPr>
            <a:xfrm>
              <a:off x="5674546" y="4948373"/>
              <a:ext cx="112742" cy="33922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오른쪽 중괄호 36">
              <a:extLst>
                <a:ext uri="{FF2B5EF4-FFF2-40B4-BE49-F238E27FC236}">
                  <a16:creationId xmlns:a16="http://schemas.microsoft.com/office/drawing/2014/main" id="{4494EB01-49BA-4FEB-8D32-01B9BC319634}"/>
                </a:ext>
              </a:extLst>
            </p:cNvPr>
            <p:cNvSpPr/>
            <p:nvPr/>
          </p:nvSpPr>
          <p:spPr>
            <a:xfrm>
              <a:off x="5674546" y="5395315"/>
              <a:ext cx="112742" cy="33922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4326424-FE56-40D2-82FC-F7B33190C2DC}"/>
                </a:ext>
              </a:extLst>
            </p:cNvPr>
            <p:cNvSpPr txBox="1"/>
            <p:nvPr/>
          </p:nvSpPr>
          <p:spPr>
            <a:xfrm>
              <a:off x="5810549" y="4531377"/>
              <a:ext cx="790601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비싸다고 느낌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F8D6AE5-E9B9-4975-9323-5C8B9B68F3A5}"/>
                </a:ext>
              </a:extLst>
            </p:cNvPr>
            <p:cNvSpPr txBox="1"/>
            <p:nvPr/>
          </p:nvSpPr>
          <p:spPr>
            <a:xfrm>
              <a:off x="5810549" y="5009837"/>
              <a:ext cx="694421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싸다고 느낌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984229F-6A0B-4C9C-A599-3A40565EE718}"/>
                </a:ext>
              </a:extLst>
            </p:cNvPr>
            <p:cNvSpPr txBox="1"/>
            <p:nvPr/>
          </p:nvSpPr>
          <p:spPr>
            <a:xfrm>
              <a:off x="5810549" y="5457965"/>
              <a:ext cx="1136850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너무 싸서 품질을 의심</a:t>
              </a:r>
            </a:p>
          </p:txBody>
        </p:sp>
        <p:sp>
          <p:nvSpPr>
            <p:cNvPr id="43" name="오른쪽 중괄호 42">
              <a:extLst>
                <a:ext uri="{FF2B5EF4-FFF2-40B4-BE49-F238E27FC236}">
                  <a16:creationId xmlns:a16="http://schemas.microsoft.com/office/drawing/2014/main" id="{11196D94-7A45-4644-A1D6-9642089A7694}"/>
                </a:ext>
              </a:extLst>
            </p:cNvPr>
            <p:cNvSpPr/>
            <p:nvPr/>
          </p:nvSpPr>
          <p:spPr>
            <a:xfrm>
              <a:off x="6601150" y="4472124"/>
              <a:ext cx="84761" cy="871962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FD74E430-257F-4504-AF05-5A0EE0F85A1F}"/>
                </a:ext>
              </a:extLst>
            </p:cNvPr>
            <p:cNvSpPr/>
            <p:nvPr/>
          </p:nvSpPr>
          <p:spPr>
            <a:xfrm>
              <a:off x="6809945" y="4742716"/>
              <a:ext cx="1217002" cy="31521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2BF3385-EB35-4E88-880C-43E9323BB639}"/>
                </a:ext>
              </a:extLst>
            </p:cNvPr>
            <p:cNvSpPr txBox="1"/>
            <p:nvPr/>
          </p:nvSpPr>
          <p:spPr>
            <a:xfrm>
              <a:off x="6930712" y="4796126"/>
              <a:ext cx="97654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고객수용 가격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6125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기초 가격 책정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34">
            <a:extLst>
              <a:ext uri="{FF2B5EF4-FFF2-40B4-BE49-F238E27FC236}">
                <a16:creationId xmlns:a16="http://schemas.microsoft.com/office/drawing/2014/main" id="{69430EC9-2C5C-4FD3-B49C-62C1A70C6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73" y="937945"/>
            <a:ext cx="2294362" cy="37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③</a:t>
            </a:r>
            <a:r>
              <a:rPr lang="en-US" altLang="ko-KR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경쟁중심 가격 책정</a:t>
            </a:r>
            <a:endParaRPr lang="en-US" altLang="ko-KR" sz="1400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369C1C-66AB-4E27-A9DE-A2BDF985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242565"/>
              </p:ext>
            </p:extLst>
          </p:nvPr>
        </p:nvGraphicFramePr>
        <p:xfrm>
          <a:off x="721165" y="1514230"/>
          <a:ext cx="6024691" cy="1607721"/>
        </p:xfrm>
        <a:graphic>
          <a:graphicData uri="http://schemas.openxmlformats.org/drawingml/2006/table">
            <a:tbl>
              <a:tblPr/>
              <a:tblGrid>
                <a:gridCol w="1382847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2932713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709131">
                  <a:extLst>
                    <a:ext uri="{9D8B030D-6E8A-4147-A177-3AD203B41FA5}">
                      <a16:colId xmlns:a16="http://schemas.microsoft.com/office/drawing/2014/main" val="1041108495"/>
                    </a:ext>
                  </a:extLst>
                </a:gridCol>
              </a:tblGrid>
              <a:tr h="3786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활동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 자료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53895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 시장 분석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 점유율 현황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 플레이어 및 경쟁 제품군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업종 현황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기업 자료 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432293"/>
                  </a:ext>
                </a:extLst>
              </a:tr>
              <a:tr h="6901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경쟁사 분석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경쟁사 선정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경쟁사 가격 전략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비교 우위 전략 수립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고객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가격 정책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영업 채널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38276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658C1310-3141-4EB0-8FA4-EB1E07408682}"/>
              </a:ext>
            </a:extLst>
          </p:cNvPr>
          <p:cNvGrpSpPr/>
          <p:nvPr/>
        </p:nvGrpSpPr>
        <p:grpSpPr>
          <a:xfrm>
            <a:off x="721165" y="3612670"/>
            <a:ext cx="7345209" cy="2176192"/>
            <a:chOff x="721165" y="3612670"/>
            <a:chExt cx="7345209" cy="217619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CC1D8DB-143C-4F60-8858-3389D2ABE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1165" y="3612670"/>
              <a:ext cx="5476155" cy="2176192"/>
            </a:xfrm>
            <a:prstGeom prst="rect">
              <a:avLst/>
            </a:prstGeom>
          </p:spPr>
        </p:pic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E3E4A0B0-D5F0-4B6F-BC23-1F95D1796701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1199072" y="4183814"/>
              <a:ext cx="5088930" cy="0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3F1C42-080E-4B11-A3E8-F5897719C5F3}"/>
                </a:ext>
              </a:extLst>
            </p:cNvPr>
            <p:cNvSpPr txBox="1"/>
            <p:nvPr/>
          </p:nvSpPr>
          <p:spPr>
            <a:xfrm>
              <a:off x="6288002" y="4076092"/>
              <a:ext cx="5613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4,150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원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8AF41F-D372-423A-9AF9-3CC55E9961F5}"/>
                </a:ext>
              </a:extLst>
            </p:cNvPr>
            <p:cNvSpPr txBox="1"/>
            <p:nvPr/>
          </p:nvSpPr>
          <p:spPr>
            <a:xfrm>
              <a:off x="6288002" y="3797166"/>
              <a:ext cx="5613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4,500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원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CD79AEED-5B9A-4C6E-AF00-76807CE7BA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6792" y="3917062"/>
              <a:ext cx="1991211" cy="131155"/>
            </a:xfrm>
            <a:prstGeom prst="line">
              <a:avLst/>
            </a:prstGeom>
            <a:ln w="12700">
              <a:solidFill>
                <a:srgbClr val="C00000"/>
              </a:solidFill>
              <a:prstDash val="solid"/>
              <a:headEnd type="arrow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AE0DA5B-85B1-42F4-9A23-FCC3D5EF17A6}"/>
                </a:ext>
              </a:extLst>
            </p:cNvPr>
            <p:cNvSpPr/>
            <p:nvPr/>
          </p:nvSpPr>
          <p:spPr>
            <a:xfrm>
              <a:off x="6849372" y="3703255"/>
              <a:ext cx="1217002" cy="31521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8ABA08E8-1DD9-4A9F-92BF-14C544DCA172}"/>
                </a:ext>
              </a:extLst>
            </p:cNvPr>
            <p:cNvSpPr/>
            <p:nvPr/>
          </p:nvSpPr>
          <p:spPr>
            <a:xfrm>
              <a:off x="6849371" y="4070079"/>
              <a:ext cx="1217002" cy="31521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AD315A-D1D6-494D-A148-26717FC802AA}"/>
                </a:ext>
              </a:extLst>
            </p:cNvPr>
            <p:cNvSpPr txBox="1"/>
            <p:nvPr/>
          </p:nvSpPr>
          <p:spPr>
            <a:xfrm>
              <a:off x="6970138" y="4123489"/>
              <a:ext cx="94128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경쟁사 평균가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588385E-43E7-4DB9-8272-DB98AB8506BE}"/>
                </a:ext>
              </a:extLst>
            </p:cNvPr>
            <p:cNvSpPr txBox="1"/>
            <p:nvPr/>
          </p:nvSpPr>
          <p:spPr>
            <a:xfrm>
              <a:off x="6849374" y="3759315"/>
              <a:ext cx="121700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타겟 경쟁사 </a:t>
              </a:r>
              <a:r>
                <a:rPr lang="ko-KR" altLang="en-US" sz="1000" b="1" dirty="0" err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동일가</a:t>
              </a:r>
              <a:endPara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8514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3C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측면의 가격 책정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C2D91C-3702-4F7A-B180-22ADA33760EC}"/>
              </a:ext>
            </a:extLst>
          </p:cNvPr>
          <p:cNvSpPr txBox="1"/>
          <p:nvPr/>
        </p:nvSpPr>
        <p:spPr>
          <a:xfrm>
            <a:off x="2742819" y="1560458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상한선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CE2E4EC-6C78-4CBE-AF27-DD29861F7461}"/>
              </a:ext>
            </a:extLst>
          </p:cNvPr>
          <p:cNvCxnSpPr>
            <a:cxnSpLocks/>
          </p:cNvCxnSpPr>
          <p:nvPr/>
        </p:nvCxnSpPr>
        <p:spPr>
          <a:xfrm>
            <a:off x="974785" y="1847051"/>
            <a:ext cx="270000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837C29A-CBB1-4E08-A68B-7E2CDC268351}"/>
              </a:ext>
            </a:extLst>
          </p:cNvPr>
          <p:cNvCxnSpPr>
            <a:cxnSpLocks/>
          </p:cNvCxnSpPr>
          <p:nvPr/>
        </p:nvCxnSpPr>
        <p:spPr>
          <a:xfrm>
            <a:off x="974785" y="3194486"/>
            <a:ext cx="270000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A245293-A372-42AF-8A2B-4819B394CF07}"/>
              </a:ext>
            </a:extLst>
          </p:cNvPr>
          <p:cNvCxnSpPr>
            <a:cxnSpLocks/>
          </p:cNvCxnSpPr>
          <p:nvPr/>
        </p:nvCxnSpPr>
        <p:spPr>
          <a:xfrm>
            <a:off x="974785" y="4873493"/>
            <a:ext cx="270000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45241A5-8DF2-417A-93C1-5CB88F0DC43C}"/>
              </a:ext>
            </a:extLst>
          </p:cNvPr>
          <p:cNvSpPr/>
          <p:nvPr/>
        </p:nvSpPr>
        <p:spPr>
          <a:xfrm>
            <a:off x="974785" y="1475350"/>
            <a:ext cx="1217002" cy="315218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고객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F3582FD-D044-41C2-853B-9BF61720999C}"/>
              </a:ext>
            </a:extLst>
          </p:cNvPr>
          <p:cNvSpPr/>
          <p:nvPr/>
        </p:nvSpPr>
        <p:spPr>
          <a:xfrm>
            <a:off x="974785" y="4907997"/>
            <a:ext cx="1217002" cy="315218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기업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637A4AF-4095-4F1C-A23E-EB7111B47341}"/>
              </a:ext>
            </a:extLst>
          </p:cNvPr>
          <p:cNvSpPr/>
          <p:nvPr/>
        </p:nvSpPr>
        <p:spPr>
          <a:xfrm>
            <a:off x="974785" y="2843760"/>
            <a:ext cx="1217002" cy="315218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경쟁사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C03DF8-E816-4ACB-A4ED-F034E7F9BC7A}"/>
              </a:ext>
            </a:extLst>
          </p:cNvPr>
          <p:cNvSpPr txBox="1"/>
          <p:nvPr/>
        </p:nvSpPr>
        <p:spPr>
          <a:xfrm>
            <a:off x="2742818" y="4899759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하한선</a:t>
            </a:r>
          </a:p>
        </p:txBody>
      </p:sp>
      <p:sp>
        <p:nvSpPr>
          <p:cNvPr id="35" name="화살표: 위쪽/아래쪽 34">
            <a:extLst>
              <a:ext uri="{FF2B5EF4-FFF2-40B4-BE49-F238E27FC236}">
                <a16:creationId xmlns:a16="http://schemas.microsoft.com/office/drawing/2014/main" id="{E8D084A1-DEA5-429D-AE0E-A1FACEAA04BF}"/>
              </a:ext>
            </a:extLst>
          </p:cNvPr>
          <p:cNvSpPr/>
          <p:nvPr/>
        </p:nvSpPr>
        <p:spPr>
          <a:xfrm>
            <a:off x="2808811" y="1863722"/>
            <a:ext cx="485489" cy="2991918"/>
          </a:xfrm>
          <a:prstGeom prst="upDownArrow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5400000" scaled="1"/>
          </a:gra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이익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F6783A4-075F-4A60-840A-F2D058A48834}"/>
              </a:ext>
            </a:extLst>
          </p:cNvPr>
          <p:cNvGrpSpPr/>
          <p:nvPr/>
        </p:nvGrpSpPr>
        <p:grpSpPr>
          <a:xfrm>
            <a:off x="3657600" y="1404461"/>
            <a:ext cx="5273615" cy="3968152"/>
            <a:chOff x="3657600" y="1404461"/>
            <a:chExt cx="5273615" cy="3968152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6FAAFD5-014D-45C5-A54A-60CBC7AC0AC4}"/>
                </a:ext>
              </a:extLst>
            </p:cNvPr>
            <p:cNvSpPr/>
            <p:nvPr/>
          </p:nvSpPr>
          <p:spPr>
            <a:xfrm>
              <a:off x="5124484" y="1419295"/>
              <a:ext cx="3806731" cy="3370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 가치 증대</a:t>
              </a:r>
              <a:r>
                <a:rPr lang="en-US" altLang="ko-KR" sz="12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12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니즈 충족 및 리스크 감소</a:t>
              </a:r>
              <a:r>
                <a:rPr lang="en-US" altLang="ko-KR" sz="12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E7AA41E-9B23-43D9-AD21-E832AB49B7EB}"/>
                </a:ext>
              </a:extLst>
            </p:cNvPr>
            <p:cNvCxnSpPr>
              <a:cxnSpLocks/>
            </p:cNvCxnSpPr>
            <p:nvPr/>
          </p:nvCxnSpPr>
          <p:spPr>
            <a:xfrm>
              <a:off x="3660780" y="1404461"/>
              <a:ext cx="1368000" cy="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F51B502C-9E51-465B-A375-42162E2ED3DE}"/>
                </a:ext>
              </a:extLst>
            </p:cNvPr>
            <p:cNvCxnSpPr>
              <a:cxnSpLocks/>
            </p:cNvCxnSpPr>
            <p:nvPr/>
          </p:nvCxnSpPr>
          <p:spPr>
            <a:xfrm>
              <a:off x="3660780" y="5310797"/>
              <a:ext cx="1368000" cy="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9601768E-B101-4C2A-B451-05DB16ABC272}"/>
                </a:ext>
              </a:extLst>
            </p:cNvPr>
            <p:cNvCxnSpPr>
              <a:cxnSpLocks/>
            </p:cNvCxnSpPr>
            <p:nvPr/>
          </p:nvCxnSpPr>
          <p:spPr>
            <a:xfrm>
              <a:off x="3657600" y="3194081"/>
              <a:ext cx="1368000" cy="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5B5FCF8-F97B-449A-8990-D90F35E314B6}"/>
                </a:ext>
              </a:extLst>
            </p:cNvPr>
            <p:cNvCxnSpPr>
              <a:cxnSpLocks/>
            </p:cNvCxnSpPr>
            <p:nvPr/>
          </p:nvCxnSpPr>
          <p:spPr>
            <a:xfrm>
              <a:off x="3663283" y="1414949"/>
              <a:ext cx="0" cy="432102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66591E40-0DB9-45DF-A336-DF48807DB179}"/>
                </a:ext>
              </a:extLst>
            </p:cNvPr>
            <p:cNvCxnSpPr>
              <a:cxnSpLocks/>
            </p:cNvCxnSpPr>
            <p:nvPr/>
          </p:nvCxnSpPr>
          <p:spPr>
            <a:xfrm>
              <a:off x="3677593" y="4873493"/>
              <a:ext cx="0" cy="432102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화살표: 위쪽/아래쪽 35">
              <a:extLst>
                <a:ext uri="{FF2B5EF4-FFF2-40B4-BE49-F238E27FC236}">
                  <a16:creationId xmlns:a16="http://schemas.microsoft.com/office/drawing/2014/main" id="{4733F21A-A88E-445B-94D8-7CA56FF62E88}"/>
                </a:ext>
              </a:extLst>
            </p:cNvPr>
            <p:cNvSpPr/>
            <p:nvPr/>
          </p:nvSpPr>
          <p:spPr>
            <a:xfrm>
              <a:off x="4107448" y="1404461"/>
              <a:ext cx="485489" cy="3901134"/>
            </a:xfrm>
            <a:prstGeom prst="upDownArrow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40000">
                  <a:schemeClr val="accent2">
                    <a:lumMod val="60000"/>
                    <a:lumOff val="40000"/>
                  </a:schemeClr>
                </a:gs>
                <a:gs pos="71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이익</a:t>
              </a:r>
              <a:endParaRPr lang="en-US" altLang="ko-KR" sz="12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극</a:t>
              </a:r>
              <a:endParaRPr lang="en-US" altLang="ko-KR" sz="12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대화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A6F60441-3533-4481-8844-9FC920806FBC}"/>
                </a:ext>
              </a:extLst>
            </p:cNvPr>
            <p:cNvSpPr/>
            <p:nvPr/>
          </p:nvSpPr>
          <p:spPr>
            <a:xfrm>
              <a:off x="5124484" y="4758599"/>
              <a:ext cx="3806731" cy="614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얼라이언스 원가 관리 지원</a:t>
              </a:r>
              <a:endPara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판매 물량에 따른 구매단가 할인율 극대화</a:t>
              </a:r>
              <a:endParaRPr lang="en-US" altLang="ko-KR" sz="12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174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참고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전략 가격 조정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34">
            <a:extLst>
              <a:ext uri="{FF2B5EF4-FFF2-40B4-BE49-F238E27FC236}">
                <a16:creationId xmlns:a16="http://schemas.microsoft.com/office/drawing/2014/main" id="{69430EC9-2C5C-4FD3-B49C-62C1A70C6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464" y="929705"/>
            <a:ext cx="2294362" cy="37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가격 전략 종류</a:t>
            </a:r>
            <a:endParaRPr lang="en-US" altLang="ko-KR" sz="1400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FAAFD5-014D-45C5-A54A-60CBC7AC0AC4}"/>
              </a:ext>
            </a:extLst>
          </p:cNvPr>
          <p:cNvSpPr/>
          <p:nvPr/>
        </p:nvSpPr>
        <p:spPr>
          <a:xfrm>
            <a:off x="695286" y="1307950"/>
            <a:ext cx="7818986" cy="337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다양한 가격 전략이 존재하며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각각의 전략은 독립적 또는 복합적으로 적용 가능</a:t>
            </a: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369C1C-66AB-4E27-A9DE-A2BDF985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327901"/>
              </p:ext>
            </p:extLst>
          </p:nvPr>
        </p:nvGraphicFramePr>
        <p:xfrm>
          <a:off x="695286" y="1808163"/>
          <a:ext cx="8276184" cy="3954282"/>
        </p:xfrm>
        <a:graphic>
          <a:graphicData uri="http://schemas.openxmlformats.org/drawingml/2006/table">
            <a:tbl>
              <a:tblPr/>
              <a:tblGrid>
                <a:gridCol w="1142140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1783511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783511">
                  <a:extLst>
                    <a:ext uri="{9D8B030D-6E8A-4147-A177-3AD203B41FA5}">
                      <a16:colId xmlns:a16="http://schemas.microsoft.com/office/drawing/2014/main" val="3455270969"/>
                    </a:ext>
                  </a:extLst>
                </a:gridCol>
                <a:gridCol w="1783511">
                  <a:extLst>
                    <a:ext uri="{9D8B030D-6E8A-4147-A177-3AD203B41FA5}">
                      <a16:colId xmlns:a16="http://schemas.microsoft.com/office/drawing/2014/main" val="1944020459"/>
                    </a:ext>
                  </a:extLst>
                </a:gridCol>
                <a:gridCol w="1783511">
                  <a:extLst>
                    <a:ext uri="{9D8B030D-6E8A-4147-A177-3AD203B41FA5}">
                      <a16:colId xmlns:a16="http://schemas.microsoft.com/office/drawing/2014/main" val="2204846633"/>
                    </a:ext>
                  </a:extLst>
                </a:gridCol>
              </a:tblGrid>
              <a:tr h="49948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스키밍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 침투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제품 믹스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세분화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89712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전략 목표</a:t>
                      </a:r>
                    </a:p>
                    <a:p>
                      <a:pPr algn="ctr" fontAlgn="ctr"/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투자금 조기 회수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초기 고가격 설정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 점유율 확대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저가격 설정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제품 라인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가격 라인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 사양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묶음 제품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세분 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시장별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차별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8099336"/>
                  </a:ext>
                </a:extLst>
              </a:tr>
              <a:tr h="25576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개념도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098310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A017BEED-C0CB-4A87-91A4-DFFAC4BC9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656" y="3570709"/>
            <a:ext cx="2566638" cy="183505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75562516-FA03-4D45-8DD4-5D0344779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309" y="3534168"/>
            <a:ext cx="2928581" cy="187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397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4320</TotalTime>
  <Words>906</Words>
  <Application>Microsoft Office PowerPoint</Application>
  <PresentationFormat>A4 용지(210x297mm)</PresentationFormat>
  <Paragraphs>252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Pretendard</vt:lpstr>
      <vt:lpstr>Pretendard Medium</vt:lpstr>
      <vt:lpstr>나눔고딕</vt:lpstr>
      <vt:lpstr>나눔고딕 ExtraBold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Administrator</cp:lastModifiedBy>
  <cp:revision>542</cp:revision>
  <cp:lastPrinted>2022-12-23T03:34:47Z</cp:lastPrinted>
  <dcterms:created xsi:type="dcterms:W3CDTF">2022-11-29T06:03:49Z</dcterms:created>
  <dcterms:modified xsi:type="dcterms:W3CDTF">2024-05-08T08:27:53Z</dcterms:modified>
</cp:coreProperties>
</file>