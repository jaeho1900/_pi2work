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9" r:id="rId1"/>
  </p:sldMasterIdLst>
  <p:notesMasterIdLst>
    <p:notesMasterId r:id="rId4"/>
  </p:notesMasterIdLst>
  <p:handoutMasterIdLst>
    <p:handoutMasterId r:id="rId5"/>
  </p:handoutMasterIdLst>
  <p:sldIdLst>
    <p:sldId id="293" r:id="rId2"/>
    <p:sldId id="679" r:id="rId3"/>
  </p:sldIdLst>
  <p:sldSz cx="9144000" cy="6858000" type="screen4x3"/>
  <p:notesSz cx="6797675" cy="9926638"/>
  <p:embeddedFontLst>
    <p:embeddedFont>
      <p:font typeface="여기어때 잘난체 2" panose="020B0600000101010101" charset="-127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alibri Light" panose="020F0302020204030204" pitchFamily="34" charset="0"/>
      <p:regular r:id="rId11"/>
      <p:italic r:id="rId12"/>
    </p:embeddedFont>
    <p:embeddedFont>
      <p:font typeface="LG스마트체2.0 Regular" panose="020B0600000101010101" pitchFamily="50" charset="-127"/>
      <p:regular r:id="rId13"/>
    </p:embeddedFont>
    <p:embeddedFont>
      <p:font typeface="나눔스퀘어 Bold" panose="020B0600000101010101" pitchFamily="50" charset="-127"/>
      <p:bold r:id="rId14"/>
    </p:embeddedFont>
    <p:embeddedFont>
      <p:font typeface="나눔스퀘어 ExtraBold" panose="020B0600000101010101" pitchFamily="50" charset="-127"/>
      <p:bold r:id="rId15"/>
    </p:embeddedFont>
    <p:embeddedFont>
      <p:font typeface="맑은 고딕" panose="020B0503020000020004" pitchFamily="50" charset="-127"/>
      <p:regular r:id="rId16"/>
      <p:bold r:id="rId17"/>
    </p:embeddedFont>
    <p:embeddedFont>
      <p:font typeface="한컴 말랑말랑 Bold" panose="020F0803000000000000" pitchFamily="50" charset="-127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29" userDrawn="1">
          <p15:clr>
            <a:srgbClr val="A4A3A4"/>
          </p15:clr>
        </p15:guide>
        <p15:guide id="3" pos="5296" userDrawn="1">
          <p15:clr>
            <a:srgbClr val="A4A3A4"/>
          </p15:clr>
        </p15:guide>
        <p15:guide id="4" pos="431" userDrawn="1">
          <p15:clr>
            <a:srgbClr val="A4A3A4"/>
          </p15:clr>
        </p15:guide>
        <p15:guide id="5" pos="1299" userDrawn="1">
          <p15:clr>
            <a:srgbClr val="A4A3A4"/>
          </p15:clr>
        </p15:guide>
        <p15:guide id="6" pos="1536" userDrawn="1">
          <p15:clr>
            <a:srgbClr val="A4A3A4"/>
          </p15:clr>
        </p15:guide>
        <p15:guide id="7" orient="horz" pos="2024" userDrawn="1">
          <p15:clr>
            <a:srgbClr val="A4A3A4"/>
          </p15:clr>
        </p15:guide>
        <p15:guide id="8" orient="horz" pos="281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1BC"/>
    <a:srgbClr val="192133"/>
    <a:srgbClr val="F2F2F2"/>
    <a:srgbClr val="CD0F46"/>
    <a:srgbClr val="D32D5D"/>
    <a:srgbClr val="E7E6E6"/>
    <a:srgbClr val="EF4572"/>
    <a:srgbClr val="FDE7ED"/>
    <a:srgbClr val="FBC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035" autoAdjust="0"/>
    <p:restoredTop sz="96548" autoAdjust="0"/>
  </p:normalViewPr>
  <p:slideViewPr>
    <p:cSldViewPr snapToGrid="0">
      <p:cViewPr varScale="1">
        <p:scale>
          <a:sx n="111" d="100"/>
          <a:sy n="111" d="100"/>
        </p:scale>
        <p:origin x="2202" y="96"/>
      </p:cViewPr>
      <p:guideLst>
        <p:guide orient="horz" pos="2183"/>
        <p:guide pos="2829"/>
        <p:guide pos="5296"/>
        <p:guide pos="431"/>
        <p:guide pos="1299"/>
        <p:guide pos="1536"/>
        <p:guide orient="horz" pos="2024"/>
        <p:guide orient="horz" pos="281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89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7114B-044D-4860-ACCD-01AD90BD310B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EA7018-D408-49C2-AD95-CBE21595B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292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1A598FD3-F804-4504-BCD1-3C772EEB0AD0}" type="datetimeFigureOut">
              <a:rPr lang="ko-KR" altLang="en-US" smtClean="0"/>
              <a:pPr/>
              <a:t>2024-02-06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B1021E21-696C-408E-ABFA-5E3931B76EF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4407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LG스마트체2.0 Regular" panose="020B0600000101010101" pitchFamily="50" charset="-127"/>
        <a:ea typeface="LG스마트체2.0 Regular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LG스마트체2.0 Regular" panose="020B0600000101010101" pitchFamily="50" charset="-127"/>
        <a:ea typeface="LG스마트체2.0 Regular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LG스마트체2.0 Regular" panose="020B0600000101010101" pitchFamily="50" charset="-127"/>
        <a:ea typeface="LG스마트체2.0 Regular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LG스마트체2.0 Regular" panose="020B0600000101010101" pitchFamily="50" charset="-127"/>
        <a:ea typeface="LG스마트체2.0 Regular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LG스마트체2.0 Regular" panose="020B0600000101010101" pitchFamily="50" charset="-127"/>
        <a:ea typeface="LG스마트체2.0 Regular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021E21-696C-408E-ABFA-5E3931B76EFA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58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021E21-696C-408E-ABFA-5E3931B76EF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5905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BA801-5A2A-42D5-9C1F-97BA09A7B43C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5772-571B-492C-B44F-91F4DD6690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81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BA801-5A2A-42D5-9C1F-97BA09A7B43C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5772-571B-492C-B44F-91F4DD6690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69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BA801-5A2A-42D5-9C1F-97BA09A7B43C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5772-571B-492C-B44F-91F4DD6690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361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BA801-5A2A-42D5-9C1F-97BA09A7B43C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5772-571B-492C-B44F-91F4DD6690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24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BA801-5A2A-42D5-9C1F-97BA09A7B43C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5772-571B-492C-B44F-91F4DD6690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228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BA801-5A2A-42D5-9C1F-97BA09A7B43C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5772-571B-492C-B44F-91F4DD6690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726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BA801-5A2A-42D5-9C1F-97BA09A7B43C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5772-571B-492C-B44F-91F4DD6690E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F919EEF-C6EE-475D-801C-27E5A1DABB94}"/>
              </a:ext>
            </a:extLst>
          </p:cNvPr>
          <p:cNvCxnSpPr/>
          <p:nvPr userDrawn="1"/>
        </p:nvCxnSpPr>
        <p:spPr>
          <a:xfrm>
            <a:off x="0" y="553673"/>
            <a:ext cx="9144000" cy="0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43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BA801-5A2A-42D5-9C1F-97BA09A7B43C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5772-571B-492C-B44F-91F4DD6690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74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BA801-5A2A-42D5-9C1F-97BA09A7B43C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5772-571B-492C-B44F-91F4DD6690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15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BA801-5A2A-42D5-9C1F-97BA09A7B43C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5772-571B-492C-B44F-91F4DD6690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06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BA801-5A2A-42D5-9C1F-97BA09A7B43C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5772-571B-492C-B44F-91F4DD6690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485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슬라이드번호제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9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BA801-5A2A-42D5-9C1F-97BA09A7B43C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E5772-571B-492C-B44F-91F4DD6690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072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gif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0971A4AB-BABB-4FD5-9CCA-4AEC8F39C55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" y="0"/>
            <a:ext cx="4770408" cy="6858000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450566" y="25401"/>
            <a:ext cx="5693433" cy="6824133"/>
          </a:xfrm>
          <a:custGeom>
            <a:avLst/>
            <a:gdLst>
              <a:gd name="connsiteX0" fmla="*/ 0 w 6091347"/>
              <a:gd name="connsiteY0" fmla="*/ 0 h 6858000"/>
              <a:gd name="connsiteX1" fmla="*/ 6091347 w 6091347"/>
              <a:gd name="connsiteY1" fmla="*/ 0 h 6858000"/>
              <a:gd name="connsiteX2" fmla="*/ 6091347 w 6091347"/>
              <a:gd name="connsiteY2" fmla="*/ 6858000 h 6858000"/>
              <a:gd name="connsiteX3" fmla="*/ 0 w 6091347"/>
              <a:gd name="connsiteY3" fmla="*/ 6858000 h 6858000"/>
              <a:gd name="connsiteX4" fmla="*/ 0 w 6091347"/>
              <a:gd name="connsiteY4" fmla="*/ 0 h 6858000"/>
              <a:gd name="connsiteX0" fmla="*/ 1388533 w 6091347"/>
              <a:gd name="connsiteY0" fmla="*/ 0 h 6858000"/>
              <a:gd name="connsiteX1" fmla="*/ 6091347 w 6091347"/>
              <a:gd name="connsiteY1" fmla="*/ 0 h 6858000"/>
              <a:gd name="connsiteX2" fmla="*/ 6091347 w 6091347"/>
              <a:gd name="connsiteY2" fmla="*/ 6858000 h 6858000"/>
              <a:gd name="connsiteX3" fmla="*/ 0 w 6091347"/>
              <a:gd name="connsiteY3" fmla="*/ 6858000 h 6858000"/>
              <a:gd name="connsiteX4" fmla="*/ 1388533 w 6091347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1347" h="6858000">
                <a:moveTo>
                  <a:pt x="1388533" y="0"/>
                </a:moveTo>
                <a:lnTo>
                  <a:pt x="6091347" y="0"/>
                </a:lnTo>
                <a:lnTo>
                  <a:pt x="6091347" y="6858000"/>
                </a:lnTo>
                <a:lnTo>
                  <a:pt x="0" y="6858000"/>
                </a:lnTo>
                <a:lnTo>
                  <a:pt x="1388533" y="0"/>
                </a:lnTo>
                <a:close/>
              </a:path>
            </a:pathLst>
          </a:custGeom>
          <a:solidFill>
            <a:srgbClr val="C30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9140" y="16934"/>
            <a:ext cx="5244860" cy="6841066"/>
          </a:xfrm>
          <a:custGeom>
            <a:avLst/>
            <a:gdLst>
              <a:gd name="connsiteX0" fmla="*/ 5728267 w 5728267"/>
              <a:gd name="connsiteY0" fmla="*/ 0 h 6858000"/>
              <a:gd name="connsiteX1" fmla="*/ 5728267 w 5728267"/>
              <a:gd name="connsiteY1" fmla="*/ 6858000 h 6858000"/>
              <a:gd name="connsiteX2" fmla="*/ 0 w 5728267"/>
              <a:gd name="connsiteY2" fmla="*/ 6858000 h 6858000"/>
              <a:gd name="connsiteX3" fmla="*/ 977900 w 5728267"/>
              <a:gd name="connsiteY3" fmla="*/ 31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8267" h="6858000">
                <a:moveTo>
                  <a:pt x="5728267" y="0"/>
                </a:moveTo>
                <a:lnTo>
                  <a:pt x="5728267" y="6858000"/>
                </a:lnTo>
                <a:lnTo>
                  <a:pt x="0" y="6858000"/>
                </a:lnTo>
                <a:lnTo>
                  <a:pt x="977900" y="3175"/>
                </a:lnTo>
                <a:close/>
              </a:path>
            </a:pathLst>
          </a:custGeom>
        </p:spPr>
      </p:pic>
      <p:sp>
        <p:nvSpPr>
          <p:cNvPr id="59" name="TextBox 58"/>
          <p:cNvSpPr txBox="1"/>
          <p:nvPr/>
        </p:nvSpPr>
        <p:spPr>
          <a:xfrm>
            <a:off x="1" y="2898858"/>
            <a:ext cx="9143999" cy="1077218"/>
          </a:xfrm>
          <a:prstGeom prst="rect">
            <a:avLst/>
          </a:prstGeom>
          <a:solidFill>
            <a:srgbClr val="192133">
              <a:alpha val="69804"/>
            </a:srgbClr>
          </a:solidFill>
        </p:spPr>
        <p:txBody>
          <a:bodyPr wrap="square" rtlCol="0" anchor="ctr">
            <a:noAutofit/>
          </a:bodyPr>
          <a:lstStyle/>
          <a:p>
            <a:endParaRPr lang="ko-KR" altLang="en-US" sz="3200" dirty="0">
              <a:solidFill>
                <a:srgbClr val="FFFF00"/>
              </a:solidFill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9E8ABE-3C76-49E0-B5D2-9644C1EDF718}"/>
              </a:ext>
            </a:extLst>
          </p:cNvPr>
          <p:cNvSpPr txBox="1"/>
          <p:nvPr/>
        </p:nvSpPr>
        <p:spPr>
          <a:xfrm>
            <a:off x="435632" y="3103147"/>
            <a:ext cx="85315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주식회사 </a:t>
            </a:r>
            <a:r>
              <a:rPr lang="ko-KR" altLang="en-US" sz="32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디에스이트레이드</a:t>
            </a:r>
            <a:r>
              <a:rPr lang="ko-KR" alt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귀빈 분들을 환영합니다</a:t>
            </a:r>
            <a:r>
              <a:rPr lang="en-US" altLang="ko-KR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.</a:t>
            </a:r>
            <a:endParaRPr lang="ko-KR" altLang="en-US" sz="32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F5D6DF-28B5-41F2-9A8A-0042D21123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15" y="6026129"/>
            <a:ext cx="644988" cy="64498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754D7A8-1917-49D0-8668-E2BED4CF37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031" y="6026129"/>
            <a:ext cx="644988" cy="64498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F2EE7A1-447F-47C8-982E-59AC5CD961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547" y="6026129"/>
            <a:ext cx="644988" cy="64498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25E393B-5A8E-4FA6-847C-8103703244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063" y="6026129"/>
            <a:ext cx="644988" cy="64498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E966599-602A-48A0-9964-CCB0F7FD20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579" y="6026129"/>
            <a:ext cx="644988" cy="64498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62597A9-5FF5-482F-9EE6-C88129CE8E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095" y="6026129"/>
            <a:ext cx="644988" cy="64498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3354266-FC61-4E6E-BE0A-A7EBC23DFF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611" y="6026129"/>
            <a:ext cx="644988" cy="64498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FBC8182-6C43-46F1-9F22-5C7DD8ADA0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127" y="6026129"/>
            <a:ext cx="644988" cy="64498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4A1845A-CDE8-4CF4-927D-1D893AF803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643" y="6026129"/>
            <a:ext cx="644988" cy="64498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5523A41-3C85-4426-A606-216ABF0434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156" y="6026129"/>
            <a:ext cx="644988" cy="64498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BDE6707-C839-495D-B611-EC1C2477FA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3" y="6026129"/>
            <a:ext cx="644988" cy="64498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E77C5ED-5AF4-4367-846E-D7E79959DF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99" y="6026129"/>
            <a:ext cx="644988" cy="64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2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그림 64">
            <a:extLst>
              <a:ext uri="{FF2B5EF4-FFF2-40B4-BE49-F238E27FC236}">
                <a16:creationId xmlns:a16="http://schemas.microsoft.com/office/drawing/2014/main" id="{4793742C-0639-4E2E-864F-3A02BB9462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4679836" cy="685800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BF80B8EF-1EB8-4E70-8F47-81833E5C305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26612" y="16934"/>
            <a:ext cx="5417388" cy="6841066"/>
          </a:xfrm>
          <a:custGeom>
            <a:avLst/>
            <a:gdLst>
              <a:gd name="connsiteX0" fmla="*/ 5728267 w 5728267"/>
              <a:gd name="connsiteY0" fmla="*/ 0 h 6858000"/>
              <a:gd name="connsiteX1" fmla="*/ 5728267 w 5728267"/>
              <a:gd name="connsiteY1" fmla="*/ 6858000 h 6858000"/>
              <a:gd name="connsiteX2" fmla="*/ 0 w 5728267"/>
              <a:gd name="connsiteY2" fmla="*/ 6858000 h 6858000"/>
              <a:gd name="connsiteX3" fmla="*/ 977900 w 5728267"/>
              <a:gd name="connsiteY3" fmla="*/ 31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8267" h="6858000">
                <a:moveTo>
                  <a:pt x="5728267" y="0"/>
                </a:moveTo>
                <a:lnTo>
                  <a:pt x="5728267" y="6858000"/>
                </a:lnTo>
                <a:lnTo>
                  <a:pt x="0" y="6858000"/>
                </a:lnTo>
                <a:lnTo>
                  <a:pt x="977900" y="3175"/>
                </a:lnTo>
                <a:close/>
              </a:path>
            </a:pathLst>
          </a:custGeom>
        </p:spPr>
      </p:pic>
      <p:sp>
        <p:nvSpPr>
          <p:cNvPr id="68" name="사각형: 둥근 대각선 방향 모서리 67">
            <a:extLst>
              <a:ext uri="{FF2B5EF4-FFF2-40B4-BE49-F238E27FC236}">
                <a16:creationId xmlns:a16="http://schemas.microsoft.com/office/drawing/2014/main" id="{99B27136-5422-452D-BB28-01D6B5C32DAE}"/>
              </a:ext>
            </a:extLst>
          </p:cNvPr>
          <p:cNvSpPr/>
          <p:nvPr/>
        </p:nvSpPr>
        <p:spPr>
          <a:xfrm>
            <a:off x="5760381" y="2568250"/>
            <a:ext cx="2646065" cy="543464"/>
          </a:xfrm>
          <a:prstGeom prst="round2Diag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대각선 방향 모서리 68">
            <a:extLst>
              <a:ext uri="{FF2B5EF4-FFF2-40B4-BE49-F238E27FC236}">
                <a16:creationId xmlns:a16="http://schemas.microsoft.com/office/drawing/2014/main" id="{51D5D9A1-0FCC-4D8A-A5AC-FD72BB906766}"/>
              </a:ext>
            </a:extLst>
          </p:cNvPr>
          <p:cNvSpPr/>
          <p:nvPr/>
        </p:nvSpPr>
        <p:spPr>
          <a:xfrm>
            <a:off x="5760381" y="3344023"/>
            <a:ext cx="2646065" cy="543464"/>
          </a:xfrm>
          <a:prstGeom prst="round2Diag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사각형: 둥근 대각선 방향 모서리 69">
            <a:extLst>
              <a:ext uri="{FF2B5EF4-FFF2-40B4-BE49-F238E27FC236}">
                <a16:creationId xmlns:a16="http://schemas.microsoft.com/office/drawing/2014/main" id="{D96A364F-D819-4F5B-B837-93EEC892E3BD}"/>
              </a:ext>
            </a:extLst>
          </p:cNvPr>
          <p:cNvSpPr/>
          <p:nvPr/>
        </p:nvSpPr>
        <p:spPr>
          <a:xfrm>
            <a:off x="5760381" y="5111504"/>
            <a:ext cx="2646065" cy="543464"/>
          </a:xfrm>
          <a:prstGeom prst="round2Diag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B84B1C-9EA5-4DD8-B5DC-600E1D3FE108}"/>
              </a:ext>
            </a:extLst>
          </p:cNvPr>
          <p:cNvSpPr txBox="1"/>
          <p:nvPr/>
        </p:nvSpPr>
        <p:spPr>
          <a:xfrm>
            <a:off x="1" y="-3754"/>
            <a:ext cx="9144000" cy="1077218"/>
          </a:xfrm>
          <a:prstGeom prst="rect">
            <a:avLst/>
          </a:prstGeom>
          <a:solidFill>
            <a:srgbClr val="192133">
              <a:alpha val="69804"/>
            </a:srgbClr>
          </a:solidFill>
        </p:spPr>
        <p:txBody>
          <a:bodyPr wrap="square" rtlCol="0" anchor="ctr">
            <a:noAutofit/>
          </a:bodyPr>
          <a:lstStyle/>
          <a:p>
            <a:endParaRPr lang="ko-KR" altLang="en-US" sz="3200" dirty="0">
              <a:solidFill>
                <a:srgbClr val="FFFF00"/>
              </a:solidFill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D735D4D-9D28-4D80-B891-B02E52CB72A4}"/>
              </a:ext>
            </a:extLst>
          </p:cNvPr>
          <p:cNvSpPr/>
          <p:nvPr/>
        </p:nvSpPr>
        <p:spPr>
          <a:xfrm>
            <a:off x="1321807" y="3898960"/>
            <a:ext cx="3972067" cy="1061050"/>
          </a:xfrm>
          <a:prstGeom prst="rect">
            <a:avLst/>
          </a:prstGeom>
          <a:solidFill>
            <a:srgbClr val="0771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1B0D7-4977-4081-AE77-B6F32FA42516}"/>
              </a:ext>
            </a:extLst>
          </p:cNvPr>
          <p:cNvSpPr txBox="1"/>
          <p:nvPr/>
        </p:nvSpPr>
        <p:spPr>
          <a:xfrm>
            <a:off x="344134" y="360375"/>
            <a:ext cx="1184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일정 계획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20D87AF-BF89-4246-8F9D-B2A2EB818691}"/>
              </a:ext>
            </a:extLst>
          </p:cNvPr>
          <p:cNvGrpSpPr/>
          <p:nvPr/>
        </p:nvGrpSpPr>
        <p:grpSpPr>
          <a:xfrm>
            <a:off x="666198" y="1750981"/>
            <a:ext cx="4891180" cy="595226"/>
            <a:chOff x="556883" y="1354344"/>
            <a:chExt cx="4891180" cy="59522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6D1D5BD-EEB0-4F12-869B-BB6E6DECE70B}"/>
                </a:ext>
              </a:extLst>
            </p:cNvPr>
            <p:cNvSpPr/>
            <p:nvPr/>
          </p:nvSpPr>
          <p:spPr>
            <a:xfrm>
              <a:off x="988205" y="1354345"/>
              <a:ext cx="224287" cy="595224"/>
            </a:xfrm>
            <a:custGeom>
              <a:avLst/>
              <a:gdLst>
                <a:gd name="connsiteX0" fmla="*/ 0 w 155276"/>
                <a:gd name="connsiteY0" fmla="*/ 0 h 543465"/>
                <a:gd name="connsiteX1" fmla="*/ 155276 w 155276"/>
                <a:gd name="connsiteY1" fmla="*/ 0 h 543465"/>
                <a:gd name="connsiteX2" fmla="*/ 155276 w 155276"/>
                <a:gd name="connsiteY2" fmla="*/ 543465 h 543465"/>
                <a:gd name="connsiteX3" fmla="*/ 0 w 155276"/>
                <a:gd name="connsiteY3" fmla="*/ 543465 h 543465"/>
                <a:gd name="connsiteX4" fmla="*/ 0 w 155276"/>
                <a:gd name="connsiteY4" fmla="*/ 0 h 543465"/>
                <a:gd name="connsiteX0" fmla="*/ 0 w 224287"/>
                <a:gd name="connsiteY0" fmla="*/ 0 h 595224"/>
                <a:gd name="connsiteX1" fmla="*/ 224287 w 224287"/>
                <a:gd name="connsiteY1" fmla="*/ 51759 h 595224"/>
                <a:gd name="connsiteX2" fmla="*/ 224287 w 224287"/>
                <a:gd name="connsiteY2" fmla="*/ 595224 h 595224"/>
                <a:gd name="connsiteX3" fmla="*/ 69011 w 224287"/>
                <a:gd name="connsiteY3" fmla="*/ 595224 h 595224"/>
                <a:gd name="connsiteX4" fmla="*/ 0 w 224287"/>
                <a:gd name="connsiteY4" fmla="*/ 0 h 595224"/>
                <a:gd name="connsiteX0" fmla="*/ 0 w 224287"/>
                <a:gd name="connsiteY0" fmla="*/ 0 h 595224"/>
                <a:gd name="connsiteX1" fmla="*/ 224287 w 224287"/>
                <a:gd name="connsiteY1" fmla="*/ 51759 h 595224"/>
                <a:gd name="connsiteX2" fmla="*/ 224287 w 224287"/>
                <a:gd name="connsiteY2" fmla="*/ 595224 h 595224"/>
                <a:gd name="connsiteX3" fmla="*/ 8626 w 224287"/>
                <a:gd name="connsiteY3" fmla="*/ 457201 h 595224"/>
                <a:gd name="connsiteX4" fmla="*/ 0 w 224287"/>
                <a:gd name="connsiteY4" fmla="*/ 0 h 59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287" h="595224">
                  <a:moveTo>
                    <a:pt x="0" y="0"/>
                  </a:moveTo>
                  <a:lnTo>
                    <a:pt x="224287" y="51759"/>
                  </a:lnTo>
                  <a:lnTo>
                    <a:pt x="224287" y="595224"/>
                  </a:lnTo>
                  <a:lnTo>
                    <a:pt x="8626" y="457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2199C8F-591F-4198-8C90-8024244443B9}"/>
                </a:ext>
              </a:extLst>
            </p:cNvPr>
            <p:cNvSpPr/>
            <p:nvPr/>
          </p:nvSpPr>
          <p:spPr>
            <a:xfrm>
              <a:off x="556883" y="1354344"/>
              <a:ext cx="543465" cy="543465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화살표: 오각형 7">
              <a:extLst>
                <a:ext uri="{FF2B5EF4-FFF2-40B4-BE49-F238E27FC236}">
                  <a16:creationId xmlns:a16="http://schemas.microsoft.com/office/drawing/2014/main" id="{A5DA83E8-43E4-46B4-9AA5-1112D92C0C18}"/>
                </a:ext>
              </a:extLst>
            </p:cNvPr>
            <p:cNvSpPr/>
            <p:nvPr/>
          </p:nvSpPr>
          <p:spPr>
            <a:xfrm>
              <a:off x="1212493" y="1406105"/>
              <a:ext cx="4235570" cy="543465"/>
            </a:xfrm>
            <a:prstGeom prst="homePlate">
              <a:avLst/>
            </a:prstGeom>
            <a:solidFill>
              <a:srgbClr val="00B05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F49BD4A-D1E1-47CD-8C7A-5707DF9FE92C}"/>
                </a:ext>
              </a:extLst>
            </p:cNvPr>
            <p:cNvSpPr/>
            <p:nvPr/>
          </p:nvSpPr>
          <p:spPr>
            <a:xfrm>
              <a:off x="1418297" y="1493171"/>
              <a:ext cx="10310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en-US" altLang="ko-KR" b="1" dirty="0">
                  <a:solidFill>
                    <a:schemeClr val="bg1"/>
                  </a:solidFill>
                </a:rPr>
                <a:t>S&amp;I </a:t>
              </a:r>
              <a:r>
                <a:rPr lang="ko-KR" altLang="en-US" b="1" dirty="0">
                  <a:solidFill>
                    <a:schemeClr val="bg1"/>
                  </a:solidFill>
                </a:rPr>
                <a:t>소개</a:t>
              </a:r>
              <a:endParaRPr lang="ko-KR" altLang="en-US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876CDB2-ED45-482F-8DED-77935341D388}"/>
                </a:ext>
              </a:extLst>
            </p:cNvPr>
            <p:cNvSpPr/>
            <p:nvPr/>
          </p:nvSpPr>
          <p:spPr>
            <a:xfrm>
              <a:off x="677772" y="1441410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en-US" altLang="ko-KR" b="1" dirty="0">
                  <a:solidFill>
                    <a:schemeClr val="bg1"/>
                  </a:solidFill>
                </a:rPr>
                <a:t>1</a:t>
              </a:r>
              <a:endParaRPr lang="ko-KR" altLang="en-US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A9971A6-90F8-48BD-8764-9E8A349CBE27}"/>
              </a:ext>
            </a:extLst>
          </p:cNvPr>
          <p:cNvGrpSpPr/>
          <p:nvPr/>
        </p:nvGrpSpPr>
        <p:grpSpPr>
          <a:xfrm>
            <a:off x="666198" y="2527358"/>
            <a:ext cx="4891180" cy="595226"/>
            <a:chOff x="556883" y="1354344"/>
            <a:chExt cx="4891180" cy="595226"/>
          </a:xfrm>
        </p:grpSpPr>
        <p:sp>
          <p:nvSpPr>
            <p:cNvPr id="29" name="직사각형 8">
              <a:extLst>
                <a:ext uri="{FF2B5EF4-FFF2-40B4-BE49-F238E27FC236}">
                  <a16:creationId xmlns:a16="http://schemas.microsoft.com/office/drawing/2014/main" id="{68D5932A-38CB-444C-A5A0-92A08C864BCB}"/>
                </a:ext>
              </a:extLst>
            </p:cNvPr>
            <p:cNvSpPr/>
            <p:nvPr/>
          </p:nvSpPr>
          <p:spPr>
            <a:xfrm>
              <a:off x="988205" y="1354345"/>
              <a:ext cx="224287" cy="595224"/>
            </a:xfrm>
            <a:custGeom>
              <a:avLst/>
              <a:gdLst>
                <a:gd name="connsiteX0" fmla="*/ 0 w 155276"/>
                <a:gd name="connsiteY0" fmla="*/ 0 h 543465"/>
                <a:gd name="connsiteX1" fmla="*/ 155276 w 155276"/>
                <a:gd name="connsiteY1" fmla="*/ 0 h 543465"/>
                <a:gd name="connsiteX2" fmla="*/ 155276 w 155276"/>
                <a:gd name="connsiteY2" fmla="*/ 543465 h 543465"/>
                <a:gd name="connsiteX3" fmla="*/ 0 w 155276"/>
                <a:gd name="connsiteY3" fmla="*/ 543465 h 543465"/>
                <a:gd name="connsiteX4" fmla="*/ 0 w 155276"/>
                <a:gd name="connsiteY4" fmla="*/ 0 h 543465"/>
                <a:gd name="connsiteX0" fmla="*/ 0 w 224287"/>
                <a:gd name="connsiteY0" fmla="*/ 0 h 595224"/>
                <a:gd name="connsiteX1" fmla="*/ 224287 w 224287"/>
                <a:gd name="connsiteY1" fmla="*/ 51759 h 595224"/>
                <a:gd name="connsiteX2" fmla="*/ 224287 w 224287"/>
                <a:gd name="connsiteY2" fmla="*/ 595224 h 595224"/>
                <a:gd name="connsiteX3" fmla="*/ 69011 w 224287"/>
                <a:gd name="connsiteY3" fmla="*/ 595224 h 595224"/>
                <a:gd name="connsiteX4" fmla="*/ 0 w 224287"/>
                <a:gd name="connsiteY4" fmla="*/ 0 h 595224"/>
                <a:gd name="connsiteX0" fmla="*/ 0 w 224287"/>
                <a:gd name="connsiteY0" fmla="*/ 0 h 595224"/>
                <a:gd name="connsiteX1" fmla="*/ 224287 w 224287"/>
                <a:gd name="connsiteY1" fmla="*/ 51759 h 595224"/>
                <a:gd name="connsiteX2" fmla="*/ 224287 w 224287"/>
                <a:gd name="connsiteY2" fmla="*/ 595224 h 595224"/>
                <a:gd name="connsiteX3" fmla="*/ 8626 w 224287"/>
                <a:gd name="connsiteY3" fmla="*/ 457201 h 595224"/>
                <a:gd name="connsiteX4" fmla="*/ 0 w 224287"/>
                <a:gd name="connsiteY4" fmla="*/ 0 h 59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287" h="595224">
                  <a:moveTo>
                    <a:pt x="0" y="0"/>
                  </a:moveTo>
                  <a:lnTo>
                    <a:pt x="224287" y="51759"/>
                  </a:lnTo>
                  <a:lnTo>
                    <a:pt x="224287" y="595224"/>
                  </a:lnTo>
                  <a:lnTo>
                    <a:pt x="8626" y="457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C471C51C-E5F9-4247-B96D-CEA217BA0770}"/>
                </a:ext>
              </a:extLst>
            </p:cNvPr>
            <p:cNvSpPr/>
            <p:nvPr/>
          </p:nvSpPr>
          <p:spPr>
            <a:xfrm>
              <a:off x="556883" y="1354344"/>
              <a:ext cx="543465" cy="54346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화살표: 오각형 30">
              <a:extLst>
                <a:ext uri="{FF2B5EF4-FFF2-40B4-BE49-F238E27FC236}">
                  <a16:creationId xmlns:a16="http://schemas.microsoft.com/office/drawing/2014/main" id="{455AD5C1-A2DC-4ABE-8F88-B8A6A17B2B4D}"/>
                </a:ext>
              </a:extLst>
            </p:cNvPr>
            <p:cNvSpPr/>
            <p:nvPr/>
          </p:nvSpPr>
          <p:spPr>
            <a:xfrm>
              <a:off x="1212493" y="1406105"/>
              <a:ext cx="4235570" cy="543465"/>
            </a:xfrm>
            <a:prstGeom prst="homePlate">
              <a:avLst/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22BBF0D-1EAE-4D60-8A96-9398CD17EED5}"/>
                </a:ext>
              </a:extLst>
            </p:cNvPr>
            <p:cNvSpPr/>
            <p:nvPr/>
          </p:nvSpPr>
          <p:spPr>
            <a:xfrm>
              <a:off x="1418297" y="1493171"/>
              <a:ext cx="152496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en-US" altLang="ko-KR" b="1" dirty="0">
                  <a:solidFill>
                    <a:schemeClr val="bg1"/>
                  </a:solidFill>
                </a:rPr>
                <a:t>T/L </a:t>
              </a:r>
              <a:r>
                <a:rPr lang="ko-KR" altLang="en-US" b="1" dirty="0">
                  <a:solidFill>
                    <a:schemeClr val="bg1"/>
                  </a:solidFill>
                </a:rPr>
                <a:t>센터 </a:t>
              </a:r>
              <a:r>
                <a:rPr lang="en-US" altLang="ko-KR" b="1" dirty="0">
                  <a:solidFill>
                    <a:schemeClr val="bg1"/>
                  </a:solidFill>
                </a:rPr>
                <a:t>Tour 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1BF53022-8073-4CA9-9284-529C66238C43}"/>
                </a:ext>
              </a:extLst>
            </p:cNvPr>
            <p:cNvSpPr/>
            <p:nvPr/>
          </p:nvSpPr>
          <p:spPr>
            <a:xfrm>
              <a:off x="677772" y="1441410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en-US" altLang="ko-KR" b="1" dirty="0">
                  <a:solidFill>
                    <a:schemeClr val="bg1"/>
                  </a:solidFill>
                  <a:latin typeface="Calibri" panose="020F0502020204030204" pitchFamily="34" charset="0"/>
                  <a:ea typeface="나눔스퀘어 Bold" panose="020B0600000101010101" pitchFamily="50" charset="-127"/>
                  <a:cs typeface="Calibri" panose="020F0502020204030204" pitchFamily="34" charset="0"/>
                </a:rPr>
                <a:t>2</a:t>
              </a:r>
              <a:endParaRPr lang="ko-KR" altLang="en-US" b="1" dirty="0">
                <a:solidFill>
                  <a:schemeClr val="bg1"/>
                </a:solidFill>
                <a:latin typeface="Calibri" panose="020F0502020204030204" pitchFamily="34" charset="0"/>
                <a:ea typeface="나눔스퀘어 Bold" panose="020B0600000101010101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92A3621-112D-439A-A477-AAAE346779BE}"/>
              </a:ext>
            </a:extLst>
          </p:cNvPr>
          <p:cNvGrpSpPr/>
          <p:nvPr/>
        </p:nvGrpSpPr>
        <p:grpSpPr>
          <a:xfrm>
            <a:off x="666198" y="3303735"/>
            <a:ext cx="4891180" cy="1656275"/>
            <a:chOff x="556883" y="1354344"/>
            <a:chExt cx="4891180" cy="1656275"/>
          </a:xfrm>
        </p:grpSpPr>
        <p:sp>
          <p:nvSpPr>
            <p:cNvPr id="35" name="직사각형 8">
              <a:extLst>
                <a:ext uri="{FF2B5EF4-FFF2-40B4-BE49-F238E27FC236}">
                  <a16:creationId xmlns:a16="http://schemas.microsoft.com/office/drawing/2014/main" id="{D7AF2CD3-80BD-42CB-AF55-A6DF9D4BA2E8}"/>
                </a:ext>
              </a:extLst>
            </p:cNvPr>
            <p:cNvSpPr/>
            <p:nvPr/>
          </p:nvSpPr>
          <p:spPr>
            <a:xfrm>
              <a:off x="623969" y="1394632"/>
              <a:ext cx="588523" cy="1615987"/>
            </a:xfrm>
            <a:custGeom>
              <a:avLst/>
              <a:gdLst>
                <a:gd name="connsiteX0" fmla="*/ 0 w 155276"/>
                <a:gd name="connsiteY0" fmla="*/ 0 h 543465"/>
                <a:gd name="connsiteX1" fmla="*/ 155276 w 155276"/>
                <a:gd name="connsiteY1" fmla="*/ 0 h 543465"/>
                <a:gd name="connsiteX2" fmla="*/ 155276 w 155276"/>
                <a:gd name="connsiteY2" fmla="*/ 543465 h 543465"/>
                <a:gd name="connsiteX3" fmla="*/ 0 w 155276"/>
                <a:gd name="connsiteY3" fmla="*/ 543465 h 543465"/>
                <a:gd name="connsiteX4" fmla="*/ 0 w 155276"/>
                <a:gd name="connsiteY4" fmla="*/ 0 h 543465"/>
                <a:gd name="connsiteX0" fmla="*/ 0 w 224287"/>
                <a:gd name="connsiteY0" fmla="*/ 0 h 595224"/>
                <a:gd name="connsiteX1" fmla="*/ 224287 w 224287"/>
                <a:gd name="connsiteY1" fmla="*/ 51759 h 595224"/>
                <a:gd name="connsiteX2" fmla="*/ 224287 w 224287"/>
                <a:gd name="connsiteY2" fmla="*/ 595224 h 595224"/>
                <a:gd name="connsiteX3" fmla="*/ 69011 w 224287"/>
                <a:gd name="connsiteY3" fmla="*/ 595224 h 595224"/>
                <a:gd name="connsiteX4" fmla="*/ 0 w 224287"/>
                <a:gd name="connsiteY4" fmla="*/ 0 h 595224"/>
                <a:gd name="connsiteX0" fmla="*/ 0 w 224287"/>
                <a:gd name="connsiteY0" fmla="*/ 0 h 595224"/>
                <a:gd name="connsiteX1" fmla="*/ 224287 w 224287"/>
                <a:gd name="connsiteY1" fmla="*/ 51759 h 595224"/>
                <a:gd name="connsiteX2" fmla="*/ 224287 w 224287"/>
                <a:gd name="connsiteY2" fmla="*/ 595224 h 595224"/>
                <a:gd name="connsiteX3" fmla="*/ 8626 w 224287"/>
                <a:gd name="connsiteY3" fmla="*/ 457201 h 595224"/>
                <a:gd name="connsiteX4" fmla="*/ 0 w 224287"/>
                <a:gd name="connsiteY4" fmla="*/ 0 h 595224"/>
                <a:gd name="connsiteX0" fmla="*/ 97906 w 215661"/>
                <a:gd name="connsiteY0" fmla="*/ 0 h 561993"/>
                <a:gd name="connsiteX1" fmla="*/ 215661 w 215661"/>
                <a:gd name="connsiteY1" fmla="*/ 18528 h 561993"/>
                <a:gd name="connsiteX2" fmla="*/ 215661 w 215661"/>
                <a:gd name="connsiteY2" fmla="*/ 561993 h 561993"/>
                <a:gd name="connsiteX3" fmla="*/ 0 w 215661"/>
                <a:gd name="connsiteY3" fmla="*/ 423970 h 561993"/>
                <a:gd name="connsiteX4" fmla="*/ 97906 w 215661"/>
                <a:gd name="connsiteY4" fmla="*/ 0 h 561993"/>
                <a:gd name="connsiteX0" fmla="*/ 18007 w 135762"/>
                <a:gd name="connsiteY0" fmla="*/ 0 h 561993"/>
                <a:gd name="connsiteX1" fmla="*/ 135762 w 135762"/>
                <a:gd name="connsiteY1" fmla="*/ 18528 h 561993"/>
                <a:gd name="connsiteX2" fmla="*/ 135762 w 135762"/>
                <a:gd name="connsiteY2" fmla="*/ 561993 h 561993"/>
                <a:gd name="connsiteX3" fmla="*/ 0 w 135762"/>
                <a:gd name="connsiteY3" fmla="*/ 179268 h 561993"/>
                <a:gd name="connsiteX4" fmla="*/ 18007 w 135762"/>
                <a:gd name="connsiteY4" fmla="*/ 0 h 561993"/>
                <a:gd name="connsiteX0" fmla="*/ 0 w 144388"/>
                <a:gd name="connsiteY0" fmla="*/ 0 h 549909"/>
                <a:gd name="connsiteX1" fmla="*/ 144388 w 144388"/>
                <a:gd name="connsiteY1" fmla="*/ 6444 h 549909"/>
                <a:gd name="connsiteX2" fmla="*/ 144388 w 144388"/>
                <a:gd name="connsiteY2" fmla="*/ 549909 h 549909"/>
                <a:gd name="connsiteX3" fmla="*/ 8626 w 144388"/>
                <a:gd name="connsiteY3" fmla="*/ 167184 h 549909"/>
                <a:gd name="connsiteX4" fmla="*/ 0 w 144388"/>
                <a:gd name="connsiteY4" fmla="*/ 0 h 549909"/>
                <a:gd name="connsiteX0" fmla="*/ 444135 w 588523"/>
                <a:gd name="connsiteY0" fmla="*/ 0 h 549909"/>
                <a:gd name="connsiteX1" fmla="*/ 588523 w 588523"/>
                <a:gd name="connsiteY1" fmla="*/ 6444 h 549909"/>
                <a:gd name="connsiteX2" fmla="*/ 588523 w 588523"/>
                <a:gd name="connsiteY2" fmla="*/ 549909 h 549909"/>
                <a:gd name="connsiteX3" fmla="*/ 0 w 588523"/>
                <a:gd name="connsiteY3" fmla="*/ 167184 h 549909"/>
                <a:gd name="connsiteX4" fmla="*/ 444135 w 588523"/>
                <a:gd name="connsiteY4" fmla="*/ 0 h 54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8523" h="549909">
                  <a:moveTo>
                    <a:pt x="444135" y="0"/>
                  </a:moveTo>
                  <a:lnTo>
                    <a:pt x="588523" y="6444"/>
                  </a:lnTo>
                  <a:lnTo>
                    <a:pt x="588523" y="549909"/>
                  </a:lnTo>
                  <a:lnTo>
                    <a:pt x="0" y="167184"/>
                  </a:lnTo>
                  <a:lnTo>
                    <a:pt x="44413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1FE9395C-31E9-46E8-B2B8-78C3EBA89DB4}"/>
                </a:ext>
              </a:extLst>
            </p:cNvPr>
            <p:cNvSpPr/>
            <p:nvPr/>
          </p:nvSpPr>
          <p:spPr>
            <a:xfrm>
              <a:off x="556883" y="1354344"/>
              <a:ext cx="543465" cy="543465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화살표: 오각형 36">
              <a:extLst>
                <a:ext uri="{FF2B5EF4-FFF2-40B4-BE49-F238E27FC236}">
                  <a16:creationId xmlns:a16="http://schemas.microsoft.com/office/drawing/2014/main" id="{07A02F19-0B71-414E-933D-0565E9E42BB6}"/>
                </a:ext>
              </a:extLst>
            </p:cNvPr>
            <p:cNvSpPr/>
            <p:nvPr/>
          </p:nvSpPr>
          <p:spPr>
            <a:xfrm>
              <a:off x="1212493" y="1406105"/>
              <a:ext cx="4235570" cy="543465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83C9CD53-ED2A-4E63-8A8C-A76BE05BB7FA}"/>
                </a:ext>
              </a:extLst>
            </p:cNvPr>
            <p:cNvSpPr/>
            <p:nvPr/>
          </p:nvSpPr>
          <p:spPr>
            <a:xfrm>
              <a:off x="1418297" y="1493171"/>
              <a:ext cx="14446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ko-KR" altLang="en-US" b="1" dirty="0">
                  <a:solidFill>
                    <a:schemeClr val="bg1"/>
                  </a:solidFill>
                </a:rPr>
                <a:t>솔루션 제안 </a:t>
              </a:r>
              <a:endParaRPr lang="ko-KR" altLang="en-US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11EBBEDB-0B32-4045-89D1-2264B2CD7442}"/>
                </a:ext>
              </a:extLst>
            </p:cNvPr>
            <p:cNvSpPr/>
            <p:nvPr/>
          </p:nvSpPr>
          <p:spPr>
            <a:xfrm>
              <a:off x="677772" y="1441410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en-US" altLang="ko-KR" b="1" dirty="0">
                  <a:solidFill>
                    <a:schemeClr val="bg1"/>
                  </a:solidFill>
                  <a:latin typeface="Calibri" panose="020F0502020204030204" pitchFamily="34" charset="0"/>
                  <a:ea typeface="나눔스퀘어 Bold" panose="020B0600000101010101" pitchFamily="50" charset="-127"/>
                  <a:cs typeface="Calibri" panose="020F0502020204030204" pitchFamily="34" charset="0"/>
                </a:rPr>
                <a:t>3</a:t>
              </a:r>
              <a:endParaRPr lang="ko-KR" altLang="en-US" b="1" dirty="0">
                <a:solidFill>
                  <a:schemeClr val="bg1"/>
                </a:solidFill>
                <a:latin typeface="Calibri" panose="020F0502020204030204" pitchFamily="34" charset="0"/>
                <a:ea typeface="나눔스퀘어 Bold" panose="020B0600000101010101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73908E9-CEBD-4D70-BE5A-46E5FD7AA8B0}"/>
              </a:ext>
            </a:extLst>
          </p:cNvPr>
          <p:cNvGrpSpPr/>
          <p:nvPr/>
        </p:nvGrpSpPr>
        <p:grpSpPr>
          <a:xfrm>
            <a:off x="666198" y="5065866"/>
            <a:ext cx="4891180" cy="595226"/>
            <a:chOff x="556883" y="1354344"/>
            <a:chExt cx="4891180" cy="595226"/>
          </a:xfrm>
        </p:grpSpPr>
        <p:sp>
          <p:nvSpPr>
            <p:cNvPr id="41" name="직사각형 8">
              <a:extLst>
                <a:ext uri="{FF2B5EF4-FFF2-40B4-BE49-F238E27FC236}">
                  <a16:creationId xmlns:a16="http://schemas.microsoft.com/office/drawing/2014/main" id="{7EC68745-71FB-44F3-B792-3993E430F327}"/>
                </a:ext>
              </a:extLst>
            </p:cNvPr>
            <p:cNvSpPr/>
            <p:nvPr/>
          </p:nvSpPr>
          <p:spPr>
            <a:xfrm>
              <a:off x="988205" y="1354345"/>
              <a:ext cx="224287" cy="595224"/>
            </a:xfrm>
            <a:custGeom>
              <a:avLst/>
              <a:gdLst>
                <a:gd name="connsiteX0" fmla="*/ 0 w 155276"/>
                <a:gd name="connsiteY0" fmla="*/ 0 h 543465"/>
                <a:gd name="connsiteX1" fmla="*/ 155276 w 155276"/>
                <a:gd name="connsiteY1" fmla="*/ 0 h 543465"/>
                <a:gd name="connsiteX2" fmla="*/ 155276 w 155276"/>
                <a:gd name="connsiteY2" fmla="*/ 543465 h 543465"/>
                <a:gd name="connsiteX3" fmla="*/ 0 w 155276"/>
                <a:gd name="connsiteY3" fmla="*/ 543465 h 543465"/>
                <a:gd name="connsiteX4" fmla="*/ 0 w 155276"/>
                <a:gd name="connsiteY4" fmla="*/ 0 h 543465"/>
                <a:gd name="connsiteX0" fmla="*/ 0 w 224287"/>
                <a:gd name="connsiteY0" fmla="*/ 0 h 595224"/>
                <a:gd name="connsiteX1" fmla="*/ 224287 w 224287"/>
                <a:gd name="connsiteY1" fmla="*/ 51759 h 595224"/>
                <a:gd name="connsiteX2" fmla="*/ 224287 w 224287"/>
                <a:gd name="connsiteY2" fmla="*/ 595224 h 595224"/>
                <a:gd name="connsiteX3" fmla="*/ 69011 w 224287"/>
                <a:gd name="connsiteY3" fmla="*/ 595224 h 595224"/>
                <a:gd name="connsiteX4" fmla="*/ 0 w 224287"/>
                <a:gd name="connsiteY4" fmla="*/ 0 h 595224"/>
                <a:gd name="connsiteX0" fmla="*/ 0 w 224287"/>
                <a:gd name="connsiteY0" fmla="*/ 0 h 595224"/>
                <a:gd name="connsiteX1" fmla="*/ 224287 w 224287"/>
                <a:gd name="connsiteY1" fmla="*/ 51759 h 595224"/>
                <a:gd name="connsiteX2" fmla="*/ 224287 w 224287"/>
                <a:gd name="connsiteY2" fmla="*/ 595224 h 595224"/>
                <a:gd name="connsiteX3" fmla="*/ 8626 w 224287"/>
                <a:gd name="connsiteY3" fmla="*/ 457201 h 595224"/>
                <a:gd name="connsiteX4" fmla="*/ 0 w 224287"/>
                <a:gd name="connsiteY4" fmla="*/ 0 h 59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287" h="595224">
                  <a:moveTo>
                    <a:pt x="0" y="0"/>
                  </a:moveTo>
                  <a:lnTo>
                    <a:pt x="224287" y="51759"/>
                  </a:lnTo>
                  <a:lnTo>
                    <a:pt x="224287" y="595224"/>
                  </a:lnTo>
                  <a:lnTo>
                    <a:pt x="8626" y="457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E0CF61A-EF0E-4EB4-82BD-CB5A7767CB74}"/>
                </a:ext>
              </a:extLst>
            </p:cNvPr>
            <p:cNvSpPr/>
            <p:nvPr/>
          </p:nvSpPr>
          <p:spPr>
            <a:xfrm>
              <a:off x="556883" y="1354344"/>
              <a:ext cx="543465" cy="543465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화살표: 오각형 42">
              <a:extLst>
                <a:ext uri="{FF2B5EF4-FFF2-40B4-BE49-F238E27FC236}">
                  <a16:creationId xmlns:a16="http://schemas.microsoft.com/office/drawing/2014/main" id="{59E045D2-3033-4A28-9218-995B53C253A6}"/>
                </a:ext>
              </a:extLst>
            </p:cNvPr>
            <p:cNvSpPr/>
            <p:nvPr/>
          </p:nvSpPr>
          <p:spPr>
            <a:xfrm>
              <a:off x="1212493" y="1406105"/>
              <a:ext cx="4235570" cy="543465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A939FA9-4D7D-474B-BBA6-2B8234A77253}"/>
                </a:ext>
              </a:extLst>
            </p:cNvPr>
            <p:cNvSpPr/>
            <p:nvPr/>
          </p:nvSpPr>
          <p:spPr>
            <a:xfrm>
              <a:off x="1418297" y="1493171"/>
              <a:ext cx="24737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ko-KR" altLang="en-US" b="1" dirty="0">
                  <a:solidFill>
                    <a:schemeClr val="bg1"/>
                  </a:solidFill>
                </a:rPr>
                <a:t>시너지 창출 방향 논의 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289AEF91-FE2D-407A-82DA-4C257B76731B}"/>
                </a:ext>
              </a:extLst>
            </p:cNvPr>
            <p:cNvSpPr/>
            <p:nvPr/>
          </p:nvSpPr>
          <p:spPr>
            <a:xfrm>
              <a:off x="677772" y="1441410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en-US" altLang="ko-KR" b="1" dirty="0">
                  <a:solidFill>
                    <a:schemeClr val="bg1"/>
                  </a:solidFill>
                  <a:latin typeface="Calibri" panose="020F0502020204030204" pitchFamily="34" charset="0"/>
                  <a:ea typeface="나눔스퀘어 Bold" panose="020B0600000101010101" pitchFamily="50" charset="-127"/>
                  <a:cs typeface="Calibri" panose="020F0502020204030204" pitchFamily="34" charset="0"/>
                </a:rPr>
                <a:t>4</a:t>
              </a:r>
              <a:endParaRPr lang="ko-KR" altLang="en-US" b="1" dirty="0">
                <a:solidFill>
                  <a:schemeClr val="bg1"/>
                </a:solidFill>
                <a:latin typeface="Calibri" panose="020F0502020204030204" pitchFamily="34" charset="0"/>
                <a:ea typeface="나눔스퀘어 Bold" panose="020B0600000101010101" pitchFamily="50" charset="-127"/>
                <a:cs typeface="Calibri" panose="020F0502020204030204" pitchFamily="34" charset="0"/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96FFC1E-4DB9-4F40-8B05-E2BC76EE7EAB}"/>
              </a:ext>
            </a:extLst>
          </p:cNvPr>
          <p:cNvSpPr/>
          <p:nvPr/>
        </p:nvSpPr>
        <p:spPr>
          <a:xfrm>
            <a:off x="5760382" y="2611629"/>
            <a:ext cx="17173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200" dirty="0">
                <a:latin typeface="+mn-ea"/>
              </a:rPr>
              <a:t>S&amp;I corp. </a:t>
            </a:r>
          </a:p>
          <a:p>
            <a:pPr latinLnBrk="1"/>
            <a:r>
              <a:rPr lang="ko-KR" altLang="en-US" sz="1400" dirty="0">
                <a:latin typeface="+mn-ea"/>
              </a:rPr>
              <a:t>송영수 파트너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07BDAE5-6259-47C0-B4BF-2B2DE563868A}"/>
              </a:ext>
            </a:extLst>
          </p:cNvPr>
          <p:cNvSpPr/>
          <p:nvPr/>
        </p:nvSpPr>
        <p:spPr>
          <a:xfrm>
            <a:off x="5760382" y="3388006"/>
            <a:ext cx="17173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200" dirty="0" err="1">
                <a:latin typeface="+mn-ea"/>
              </a:rPr>
              <a:t>DSeTrade</a:t>
            </a:r>
            <a:endParaRPr lang="en-US" altLang="ko-KR" sz="1200" dirty="0">
              <a:latin typeface="+mn-ea"/>
            </a:endParaRPr>
          </a:p>
          <a:p>
            <a:pPr latinLnBrk="1"/>
            <a:r>
              <a:rPr lang="ko-KR" altLang="en-US" sz="1400" dirty="0">
                <a:latin typeface="+mn-ea"/>
              </a:rPr>
              <a:t>김용주 이사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303F917-2372-452F-9431-B1FAF38FE516}"/>
              </a:ext>
            </a:extLst>
          </p:cNvPr>
          <p:cNvSpPr/>
          <p:nvPr/>
        </p:nvSpPr>
        <p:spPr>
          <a:xfrm>
            <a:off x="5760382" y="5168649"/>
            <a:ext cx="17173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200" dirty="0">
                <a:latin typeface="+mn-ea"/>
              </a:rPr>
              <a:t>S&amp;I corp.</a:t>
            </a:r>
          </a:p>
          <a:p>
            <a:pPr latinLnBrk="1"/>
            <a:r>
              <a:rPr lang="ko-KR" altLang="en-US" sz="1400" dirty="0">
                <a:latin typeface="+mn-ea"/>
              </a:rPr>
              <a:t>장재호 파트너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B1552A6-B361-41BF-943F-E992A1A1974A}"/>
              </a:ext>
            </a:extLst>
          </p:cNvPr>
          <p:cNvSpPr/>
          <p:nvPr/>
        </p:nvSpPr>
        <p:spPr>
          <a:xfrm>
            <a:off x="1527612" y="3881559"/>
            <a:ext cx="3773956" cy="1026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</a:rPr>
              <a:t>LLM</a:t>
            </a:r>
            <a:r>
              <a:rPr lang="ko-KR" altLang="en-US" sz="1400" dirty="0">
                <a:solidFill>
                  <a:schemeClr val="bg1"/>
                </a:solidFill>
              </a:rPr>
              <a:t>기반 </a:t>
            </a:r>
            <a:r>
              <a:rPr lang="en-US" altLang="ko-KR" sz="1400" dirty="0">
                <a:solidFill>
                  <a:schemeClr val="bg1"/>
                </a:solidFill>
              </a:rPr>
              <a:t>FM</a:t>
            </a:r>
            <a:r>
              <a:rPr lang="ko-KR" altLang="en-US" sz="1400" dirty="0">
                <a:solidFill>
                  <a:schemeClr val="bg1"/>
                </a:solidFill>
              </a:rPr>
              <a:t>용 </a:t>
            </a:r>
            <a:r>
              <a:rPr lang="en-US" altLang="ko-KR" sz="1400" dirty="0">
                <a:solidFill>
                  <a:schemeClr val="bg1"/>
                </a:solidFill>
              </a:rPr>
              <a:t>AI </a:t>
            </a:r>
            <a:r>
              <a:rPr lang="ko-KR" altLang="en-US" sz="1400" dirty="0" err="1">
                <a:solidFill>
                  <a:schemeClr val="bg1"/>
                </a:solidFill>
              </a:rPr>
              <a:t>챗봇</a:t>
            </a:r>
            <a:r>
              <a:rPr lang="ko-KR" altLang="en-US" sz="1400" dirty="0">
                <a:solidFill>
                  <a:schemeClr val="bg1"/>
                </a:solidFill>
              </a:rPr>
              <a:t> 솔루션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</a:rPr>
              <a:t>AI</a:t>
            </a:r>
            <a:r>
              <a:rPr lang="ko-KR" altLang="en-US" sz="1400" dirty="0">
                <a:solidFill>
                  <a:schemeClr val="bg1"/>
                </a:solidFill>
              </a:rPr>
              <a:t>기반 </a:t>
            </a:r>
            <a:r>
              <a:rPr lang="en-US" altLang="ko-KR" sz="1400" dirty="0">
                <a:solidFill>
                  <a:schemeClr val="bg1"/>
                </a:solidFill>
              </a:rPr>
              <a:t>PM</a:t>
            </a:r>
            <a:r>
              <a:rPr lang="ko-KR" altLang="en-US" sz="1400" dirty="0">
                <a:solidFill>
                  <a:schemeClr val="bg1"/>
                </a:solidFill>
              </a:rPr>
              <a:t>관리 솔루션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</a:rPr>
              <a:t>AI</a:t>
            </a:r>
            <a:r>
              <a:rPr lang="ko-KR" altLang="en-US" sz="1400" dirty="0">
                <a:solidFill>
                  <a:schemeClr val="bg1"/>
                </a:solidFill>
              </a:rPr>
              <a:t>기반 이상상황 예측 및 사전관리 솔루션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677DC7B-7E68-4C98-A9B1-ED4BB79BD900}"/>
              </a:ext>
            </a:extLst>
          </p:cNvPr>
          <p:cNvSpPr/>
          <p:nvPr/>
        </p:nvSpPr>
        <p:spPr>
          <a:xfrm>
            <a:off x="7442447" y="2718165"/>
            <a:ext cx="96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200" dirty="0">
                <a:latin typeface="+mn-ea"/>
              </a:rPr>
              <a:t>50</a:t>
            </a:r>
            <a:r>
              <a:rPr lang="ko-KR" altLang="en-US" sz="1200" dirty="0">
                <a:latin typeface="+mn-ea"/>
              </a:rPr>
              <a:t>분</a:t>
            </a:r>
            <a:endParaRPr lang="ko-KR" altLang="en-US" sz="1400" dirty="0">
              <a:latin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BF00C7E-621C-4E3B-A2D8-356965567926}"/>
              </a:ext>
            </a:extLst>
          </p:cNvPr>
          <p:cNvSpPr/>
          <p:nvPr/>
        </p:nvSpPr>
        <p:spPr>
          <a:xfrm>
            <a:off x="7442447" y="3494542"/>
            <a:ext cx="96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200" dirty="0">
                <a:latin typeface="+mn-ea"/>
              </a:rPr>
              <a:t>60</a:t>
            </a:r>
            <a:r>
              <a:rPr lang="ko-KR" altLang="en-US" sz="1200" dirty="0">
                <a:latin typeface="+mn-ea"/>
              </a:rPr>
              <a:t>분</a:t>
            </a:r>
            <a:endParaRPr lang="en-US" altLang="ko-KR" sz="1200" dirty="0">
              <a:latin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0D3425A0-C22B-4ED7-92AE-1CEEE23A1599}"/>
              </a:ext>
            </a:extLst>
          </p:cNvPr>
          <p:cNvSpPr/>
          <p:nvPr/>
        </p:nvSpPr>
        <p:spPr>
          <a:xfrm>
            <a:off x="7442447" y="5275185"/>
            <a:ext cx="96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200" dirty="0">
                <a:latin typeface="+mn-ea"/>
              </a:rPr>
              <a:t>60</a:t>
            </a:r>
            <a:r>
              <a:rPr lang="ko-KR" altLang="en-US" sz="1200" dirty="0">
                <a:latin typeface="+mn-ea"/>
              </a:rPr>
              <a:t>분</a:t>
            </a:r>
            <a:endParaRPr lang="ko-KR" altLang="en-US" sz="1400" dirty="0">
              <a:latin typeface="+mn-ea"/>
            </a:endParaRPr>
          </a:p>
        </p:txBody>
      </p:sp>
      <p:sp>
        <p:nvSpPr>
          <p:cNvPr id="67" name="사각형: 둥근 대각선 방향 모서리 66">
            <a:extLst>
              <a:ext uri="{FF2B5EF4-FFF2-40B4-BE49-F238E27FC236}">
                <a16:creationId xmlns:a16="http://schemas.microsoft.com/office/drawing/2014/main" id="{59F51A82-FB34-4886-B089-CB584F784BF6}"/>
              </a:ext>
            </a:extLst>
          </p:cNvPr>
          <p:cNvSpPr/>
          <p:nvPr/>
        </p:nvSpPr>
        <p:spPr>
          <a:xfrm>
            <a:off x="5760382" y="1802742"/>
            <a:ext cx="2646065" cy="543464"/>
          </a:xfrm>
          <a:prstGeom prst="round2Diag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F101FF-3492-4162-AA01-B3D2A79C548B}"/>
              </a:ext>
            </a:extLst>
          </p:cNvPr>
          <p:cNvSpPr/>
          <p:nvPr/>
        </p:nvSpPr>
        <p:spPr>
          <a:xfrm>
            <a:off x="5760382" y="1826374"/>
            <a:ext cx="17173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200" dirty="0">
                <a:latin typeface="+mn-ea"/>
              </a:rPr>
              <a:t>S&amp;I corp.</a:t>
            </a:r>
          </a:p>
          <a:p>
            <a:pPr latinLnBrk="1"/>
            <a:r>
              <a:rPr lang="ko-KR" altLang="en-US" sz="1400" dirty="0">
                <a:latin typeface="+mn-ea"/>
              </a:rPr>
              <a:t>송영수 파트너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47494E1-9A27-4F7B-9B3A-90069D88E691}"/>
              </a:ext>
            </a:extLst>
          </p:cNvPr>
          <p:cNvSpPr/>
          <p:nvPr/>
        </p:nvSpPr>
        <p:spPr>
          <a:xfrm>
            <a:off x="7442447" y="1932910"/>
            <a:ext cx="96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200" dirty="0">
                <a:latin typeface="+mn-ea"/>
              </a:rPr>
              <a:t>10</a:t>
            </a:r>
            <a:r>
              <a:rPr lang="ko-KR" altLang="en-US" sz="1200" dirty="0">
                <a:latin typeface="+mn-ea"/>
              </a:rPr>
              <a:t>분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68031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5476</TotalTime>
  <Words>81</Words>
  <Application>Microsoft Office PowerPoint</Application>
  <PresentationFormat>화면 슬라이드 쇼(4:3)</PresentationFormat>
  <Paragraphs>27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Calibri Light</vt:lpstr>
      <vt:lpstr>여기어때 잘난체 2</vt:lpstr>
      <vt:lpstr>Calibri</vt:lpstr>
      <vt:lpstr>LG스마트체2.0 Regular</vt:lpstr>
      <vt:lpstr>Arial</vt:lpstr>
      <vt:lpstr>맑은 고딕</vt:lpstr>
      <vt:lpstr>한컴 말랑말랑 Bold</vt:lpstr>
      <vt:lpstr>나눔스퀘어 ExtraBold</vt:lpstr>
      <vt:lpstr>나눔스퀘어 Bold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SERVEONE</dc:creator>
  <cp:lastModifiedBy>Administrator</cp:lastModifiedBy>
  <cp:revision>560</cp:revision>
  <cp:lastPrinted>2021-12-30T06:09:18Z</cp:lastPrinted>
  <dcterms:created xsi:type="dcterms:W3CDTF">2018-06-20T04:57:05Z</dcterms:created>
  <dcterms:modified xsi:type="dcterms:W3CDTF">2024-02-06T05:44:34Z</dcterms:modified>
</cp:coreProperties>
</file>