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  <p:sldMasterId id="2147483668" r:id="rId2"/>
  </p:sldMasterIdLst>
  <p:notesMasterIdLst>
    <p:notesMasterId r:id="rId6"/>
  </p:notesMasterIdLst>
  <p:sldIdLst>
    <p:sldId id="268" r:id="rId3"/>
    <p:sldId id="620" r:id="rId4"/>
    <p:sldId id="621" r:id="rId5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>
          <p15:clr>
            <a:srgbClr val="A4A3A4"/>
          </p15:clr>
        </p15:guide>
        <p15:guide id="2" orient="horz" pos="4319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935">
          <p15:clr>
            <a:srgbClr val="A4A3A4"/>
          </p15:clr>
        </p15:guide>
        <p15:guide id="8" orient="horz" pos="2614">
          <p15:clr>
            <a:srgbClr val="A4A3A4"/>
          </p15:clr>
        </p15:guide>
        <p15:guide id="9" pos="3120">
          <p15:clr>
            <a:srgbClr val="A4A3A4"/>
          </p15:clr>
        </p15:guide>
        <p15:guide id="10" pos="126">
          <p15:clr>
            <a:srgbClr val="A4A3A4"/>
          </p15:clr>
        </p15:guide>
        <p15:guide id="11" pos="6114">
          <p15:clr>
            <a:srgbClr val="A4A3A4"/>
          </p15:clr>
        </p15:guide>
        <p15:guide id="12" pos="1669">
          <p15:clr>
            <a:srgbClr val="A4A3A4"/>
          </p15:clr>
        </p15:guide>
        <p15:guide id="13" pos="308">
          <p15:clr>
            <a:srgbClr val="A4A3A4"/>
          </p15:clr>
        </p15:guide>
        <p15:guide id="14" pos="5932">
          <p15:clr>
            <a:srgbClr val="A4A3A4"/>
          </p15:clr>
        </p15:guide>
        <p15:guide id="15" pos="3029">
          <p15:clr>
            <a:srgbClr val="A4A3A4"/>
          </p15:clr>
        </p15:guide>
        <p15:guide id="16" pos="3211">
          <p15:clr>
            <a:srgbClr val="A4A3A4"/>
          </p15:clr>
        </p15:guide>
        <p15:guide id="17" pos="4572">
          <p15:clr>
            <a:srgbClr val="A4A3A4"/>
          </p15:clr>
        </p15:guide>
        <p15:guide id="18" pos="38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VEONE" initials="S" lastIdx="1" clrIdx="0">
    <p:extLst>
      <p:ext uri="{19B8F6BF-5375-455C-9EA6-DF929625EA0E}">
        <p15:presenceInfo xmlns:p15="http://schemas.microsoft.com/office/powerpoint/2012/main" userId="SERVE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CCCCCC"/>
    <a:srgbClr val="0099FF"/>
    <a:srgbClr val="0099CC"/>
    <a:srgbClr val="3399FF"/>
    <a:srgbClr val="FF9999"/>
    <a:srgbClr val="FF6600"/>
    <a:srgbClr val="A50034"/>
    <a:srgbClr val="FFFFFF"/>
    <a:srgbClr val="C5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911" autoAdjust="0"/>
    <p:restoredTop sz="96582" autoAdjust="0"/>
  </p:normalViewPr>
  <p:slideViewPr>
    <p:cSldViewPr>
      <p:cViewPr varScale="1">
        <p:scale>
          <a:sx n="116" d="100"/>
          <a:sy n="116" d="100"/>
        </p:scale>
        <p:origin x="1722" y="102"/>
      </p:cViewPr>
      <p:guideLst>
        <p:guide orient="horz" pos="1207"/>
        <p:guide orient="horz" pos="4319"/>
        <p:guide orient="horz" pos="1616"/>
        <p:guide orient="horz" pos="3974"/>
        <p:guide orient="horz" pos="2160"/>
        <p:guide orient="horz" pos="935"/>
        <p:guide orient="horz" pos="2614"/>
        <p:guide pos="3120"/>
        <p:guide pos="126"/>
        <p:guide pos="6114"/>
        <p:guide pos="1669"/>
        <p:guide pos="308"/>
        <p:guide pos="5932"/>
        <p:guide pos="3029"/>
        <p:guide pos="3211"/>
        <p:guide pos="4572"/>
        <p:guide pos="3846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2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863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383" y="4715832"/>
            <a:ext cx="5436909" cy="446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863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CAAA1D-F35D-4B17-84EE-4EE23C36AB51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65813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비밀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대외비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7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자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3782870" y="6381331"/>
            <a:ext cx="2311400" cy="476251"/>
          </a:xfrm>
          <a:prstGeom prst="rect">
            <a:avLst/>
          </a:prstGeom>
        </p:spPr>
        <p:txBody>
          <a:bodyPr anchor="b"/>
          <a:lstStyle>
            <a:lvl1pPr algn="ctr">
              <a:defRPr sz="1000" b="1">
                <a:solidFill>
                  <a:schemeClr val="tx1"/>
                </a:solidFill>
                <a:latin typeface="Arial" pitchFamily="34" charset="0"/>
                <a:ea typeface="가는둥근제목체" pitchFamily="18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DDAB4-6EBD-4FE5-A400-982DB9D5976A}" type="slidenum">
              <a:rPr kumimoji="1" lang="en-US" altLang="ko-KR" sz="1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itchFamily="34" charset="0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 / 14</a:t>
            </a:r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수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3793928" y="6381328"/>
            <a:ext cx="2311200" cy="4752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5 / 10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,Govering Mess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06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02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74415" y="1911399"/>
            <a:ext cx="4929222" cy="5814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39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852936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 sz="6000" b="0">
                <a:solidFill>
                  <a:srgbClr val="42424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6513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40B1A-2E36-4B64-94B4-17E6F1EE7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634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5268FA-5A0C-44B1-AF8B-9AFC21436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A281A5-27CB-4DFF-8C36-4D5E5AAE5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09F7E9-9C43-4406-9CE3-F6E70614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22-10-06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28A854-A3D5-4D99-9F36-80249A7BB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5F000E-14AA-4F6B-9963-577947BD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597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BFE4C-11EE-4F48-ABA9-38FEDCE1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4637C-61B7-4BD9-BAF9-ED0A6D457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45D78-3902-4415-A5A7-E21D87923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22-10-06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A7764D-6F15-43D0-9C34-2C4740527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D2643E-F9CE-40DB-80A3-268A12C3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901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5738A-C9D2-421F-B68F-A70133F22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8707E8-6535-48EA-8AAC-3FC0421A2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D5727-F024-44E9-BB98-3D8391614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22-10-06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3B82D0-6935-4635-B090-F161A5755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8B767A-8957-4DF3-BD19-777283960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487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E7922-A9EB-40C5-9150-E77E7DB1C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774297-3CC2-436D-BC50-84A14CA92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155E7F-E0EE-4AC2-BDA9-1D8F8EB7B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74C817-A0E8-42C7-B325-C8EECA954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22-10-06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9FD873-0C84-4825-A445-CCD187F6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0C739-70E8-4101-A23A-136108CD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468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2C78A-FA7A-4E55-9687-59C5CF4D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ABF5F8-E323-4353-9A20-2D0FF1C40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BF17D6-7D2B-4992-AFB9-4C9F531CB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35264D-1466-4F9D-A9AF-A4BDE9D7C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DEEE79-C8F8-4847-8901-4155F01E9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FBE930-33F4-4BD7-873A-5007B2325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22-10-06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02BAD2-8CF5-4B11-A586-C9010D67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938D90-9B5C-4007-B065-3C18B32F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281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2CDFB-28FD-45C9-916C-3CF95C20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20DCED-CF82-434C-8CE1-A50727425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22-10-06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760406-C783-47BA-9545-B11B19E1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63BB0-9F1E-480C-91C6-EC2D1165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36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62DD4D-AE33-42FB-805E-D6FCE1E0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22-10-06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022D86C-0655-42EF-9230-F5A15D4D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06DC1-9A16-46A2-B05A-7796B8B99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859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2C350-C78E-4F03-B46C-62203871D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B2780-A903-457A-A62C-806EF33D3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64B85E-A845-4886-9F4D-AAD199C65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9088D5-8E35-4F1E-93A2-D5B08722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22-10-06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1E5AF5-5768-4D0E-B820-FCB789F6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4405C8-891C-4BC9-8E89-3DEA9ABA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0136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7AEB8-D101-46EE-8DB3-337E9559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7A643A-BC73-4E22-9090-9F040E74A8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E51A2E-217D-4AF7-8A96-21382E234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9B113B-0BA1-4199-9B4D-D7A33A22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22-10-06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250DC9-1D80-41F5-A785-6821E46E1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99251F-C60C-4F2A-9E5E-C41A009D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784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E5F15-5542-4319-8759-83A92C7FD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35FCD1-839F-4832-A00D-BB759D33B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0A04C7-1BA0-444B-926E-91AB2A72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22-10-06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F68BC-C85A-4964-848D-E787EEFE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8ACE68-9E4C-4C99-93F0-5210E278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0226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1AA9EC-38DB-449B-A5C1-F0792F8FE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539B65-09DE-4C25-8C8E-28D75799B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80987B-AB65-444E-877F-5BEF7D17B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22-10-06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D29351-BEFC-4EC5-8E90-2A3C2D4EA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25C14-A8C6-47A8-9FFF-F9E618C8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716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61" r:id="rId4"/>
    <p:sldLayoutId id="2147483662" r:id="rId5"/>
    <p:sldLayoutId id="2147483666" r:id="rId6"/>
    <p:sldLayoutId id="2147483657" r:id="rId7"/>
    <p:sldLayoutId id="2147483663" r:id="rId8"/>
    <p:sldLayoutId id="2147483664" r:id="rId9"/>
    <p:sldLayoutId id="2147483667" r:id="rId10"/>
  </p:sldLayoutIdLst>
  <p:hf sldNum="0"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08F6C2-4D5F-4EEE-B8F2-E4D7646E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A99B0C-03EA-45A6-9507-E74CAF34D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7129FC-3EF7-42A1-BC79-CA9749F571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42B30-093D-4E8A-866B-51AF540DB0FE}" type="datetimeFigureOut">
              <a:rPr lang="ko-KR" altLang="en-US" smtClean="0"/>
              <a:t>22-10-06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B31499-E663-4B8F-8986-0C35DAD941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28A00-B09A-4B22-B4BD-8BEB19D37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64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5DE0B03-0D6B-4473-BB38-B6D02C0AC769}"/>
              </a:ext>
            </a:extLst>
          </p:cNvPr>
          <p:cNvSpPr/>
          <p:nvPr/>
        </p:nvSpPr>
        <p:spPr>
          <a:xfrm>
            <a:off x="485807" y="4480378"/>
            <a:ext cx="8850277" cy="1536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463">
              <a:solidFill>
                <a:prstClr val="white"/>
              </a:solidFill>
              <a:latin typeface="Arial"/>
              <a:ea typeface="나눔고딕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25EA974-F875-4BA8-83F9-E8638D63285E}"/>
              </a:ext>
            </a:extLst>
          </p:cNvPr>
          <p:cNvCxnSpPr/>
          <p:nvPr/>
        </p:nvCxnSpPr>
        <p:spPr>
          <a:xfrm>
            <a:off x="151861" y="1175619"/>
            <a:ext cx="96022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F40DB4B-8D70-4204-9096-20F56287A024}"/>
              </a:ext>
            </a:extLst>
          </p:cNvPr>
          <p:cNvSpPr txBox="1"/>
          <p:nvPr/>
        </p:nvSpPr>
        <p:spPr>
          <a:xfrm>
            <a:off x="571401" y="840772"/>
            <a:ext cx="358723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차별화 종합 서비스 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A4DFD7-2701-4A40-A67C-32C1ACD0E8B8}"/>
              </a:ext>
            </a:extLst>
          </p:cNvPr>
          <p:cNvSpPr/>
          <p:nvPr/>
        </p:nvSpPr>
        <p:spPr>
          <a:xfrm>
            <a:off x="511653" y="2311258"/>
            <a:ext cx="3911967" cy="198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1463" dirty="0">
              <a:solidFill>
                <a:prstClr val="black"/>
              </a:solidFill>
              <a:latin typeface="Arial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6A4056-56DF-4273-8DB6-8ECDE4FCF501}"/>
              </a:ext>
            </a:extLst>
          </p:cNvPr>
          <p:cNvSpPr txBox="1"/>
          <p:nvPr/>
        </p:nvSpPr>
        <p:spPr>
          <a:xfrm>
            <a:off x="485808" y="4473472"/>
            <a:ext cx="34811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3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kumimoji="0" lang="en-US" altLang="ko-KR" sz="13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kumimoji="0" lang="ko-KR" altLang="en-US" sz="13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후 모습</a:t>
            </a:r>
            <a:endParaRPr kumimoji="0" lang="ko-KR" altLang="en-US" sz="1138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748DE2-78D8-4800-AB3F-5A7E53DBB8B1}"/>
              </a:ext>
            </a:extLst>
          </p:cNvPr>
          <p:cNvSpPr txBox="1"/>
          <p:nvPr/>
        </p:nvSpPr>
        <p:spPr>
          <a:xfrm>
            <a:off x="569916" y="4742598"/>
            <a:ext cx="8766168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고객이 필요로 하는 상품 추천을 가장 잘 해주는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전문 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MD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최다 보유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공급 업체가 가장 선호하는 협업 파트너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건물관리 상품 외 헬스 케어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63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모빌리티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등의 상품을 결합한 종합 패키지</a:t>
            </a:r>
            <a:b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상품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가장 빠르게 발굴하고 가장 많은 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상품을 보유한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AA4DFD7-2701-4A40-A67C-32C1ACD0E8B8}"/>
              </a:ext>
            </a:extLst>
          </p:cNvPr>
          <p:cNvSpPr/>
          <p:nvPr/>
        </p:nvSpPr>
        <p:spPr>
          <a:xfrm>
            <a:off x="5146121" y="2311257"/>
            <a:ext cx="4191874" cy="198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1463" dirty="0">
              <a:solidFill>
                <a:prstClr val="black"/>
              </a:solidFill>
              <a:latin typeface="Arial"/>
              <a:ea typeface="나눔고딕"/>
            </a:endParaRPr>
          </a:p>
        </p:txBody>
      </p:sp>
      <p:sp>
        <p:nvSpPr>
          <p:cNvPr id="23" name="btfpNumberBubble773230">
            <a:extLst>
              <a:ext uri="{FF2B5EF4-FFF2-40B4-BE49-F238E27FC236}">
                <a16:creationId xmlns:a16="http://schemas.microsoft.com/office/drawing/2014/main" id="{0A244F8A-9D76-42D3-B6CB-64D21E55C5FA}"/>
              </a:ext>
            </a:extLst>
          </p:cNvPr>
          <p:cNvSpPr/>
          <p:nvPr>
            <p:custDataLst>
              <p:tags r:id="rId1"/>
            </p:custDataLst>
          </p:nvPr>
        </p:nvSpPr>
        <p:spPr bwMode="gray">
          <a:xfrm>
            <a:off x="123664" y="857077"/>
            <a:ext cx="446252" cy="250287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950" fontAlgn="auto">
              <a:spcAft>
                <a:spcPts val="0"/>
              </a:spcAft>
            </a:pPr>
            <a:r>
              <a:rPr kumimoji="0" lang="en-US" altLang="ko-KR" sz="1625" b="1" dirty="0">
                <a:solidFill>
                  <a:srgbClr val="CC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kumimoji="0" lang="ko-KR" altLang="en-US" sz="1625" b="1" dirty="0">
              <a:solidFill>
                <a:srgbClr val="CC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DD69BA-9218-4F53-9EA4-BFFEE40B68E6}"/>
              </a:ext>
            </a:extLst>
          </p:cNvPr>
          <p:cNvSpPr txBox="1"/>
          <p:nvPr/>
        </p:nvSpPr>
        <p:spPr>
          <a:xfrm>
            <a:off x="569916" y="1230345"/>
            <a:ext cx="8562957" cy="390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463" b="1" dirty="0">
                <a:solidFill>
                  <a:prstClr val="black"/>
                </a:solidFill>
                <a:latin typeface="Arial"/>
                <a:ea typeface="나눔고딕"/>
              </a:rPr>
              <a:t>슬로건 </a:t>
            </a:r>
            <a:r>
              <a:rPr kumimoji="0" lang="en-US" altLang="ko-KR" sz="1463" b="1" dirty="0">
                <a:solidFill>
                  <a:prstClr val="black"/>
                </a:solidFill>
                <a:latin typeface="Arial"/>
                <a:ea typeface="나눔고딕"/>
              </a:rPr>
              <a:t>: </a:t>
            </a:r>
            <a:r>
              <a:rPr kumimoji="0" lang="ko-KR" altLang="en-US" sz="1463" b="1" dirty="0">
                <a:solidFill>
                  <a:prstClr val="black"/>
                </a:solidFill>
                <a:latin typeface="Arial"/>
                <a:ea typeface="나눔고딕"/>
              </a:rPr>
              <a:t>고객의 숨겨진 니즈까지 충족 시킬 수 있는 </a:t>
            </a:r>
            <a:r>
              <a:rPr kumimoji="0" lang="en-US" altLang="ko-KR" sz="1463" b="1" dirty="0">
                <a:solidFill>
                  <a:prstClr val="black"/>
                </a:solidFill>
                <a:latin typeface="Arial"/>
                <a:ea typeface="나눔고딕"/>
              </a:rPr>
              <a:t>FM </a:t>
            </a:r>
            <a:r>
              <a:rPr kumimoji="0" lang="ko-KR" altLang="en-US" sz="1463" b="1" dirty="0">
                <a:solidFill>
                  <a:prstClr val="black"/>
                </a:solidFill>
                <a:latin typeface="Arial"/>
                <a:ea typeface="나눔고딕"/>
              </a:rPr>
              <a:t>서비스 패키지 제공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850229-AFB2-42F9-9563-B1C14646F839}"/>
              </a:ext>
            </a:extLst>
          </p:cNvPr>
          <p:cNvSpPr/>
          <p:nvPr/>
        </p:nvSpPr>
        <p:spPr>
          <a:xfrm>
            <a:off x="6623907" y="1897461"/>
            <a:ext cx="1236300" cy="3174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u="sng" dirty="0">
                <a:solidFill>
                  <a:prstClr val="black"/>
                </a:solidFill>
                <a:latin typeface="Arial"/>
                <a:ea typeface="나눔고딕"/>
              </a:rPr>
              <a:t>To-Be image</a:t>
            </a:r>
          </a:p>
        </p:txBody>
      </p:sp>
      <p:pic>
        <p:nvPicPr>
          <p:cNvPr id="4100" name="Picture 4" descr="베라 조합 추천">
            <a:extLst>
              <a:ext uri="{FF2B5EF4-FFF2-40B4-BE49-F238E27FC236}">
                <a16:creationId xmlns:a16="http://schemas.microsoft.com/office/drawing/2014/main" id="{2A992E24-362E-4542-A866-339F9A8A03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2" b="26405"/>
          <a:stretch/>
        </p:blipFill>
        <p:spPr bwMode="auto">
          <a:xfrm>
            <a:off x="5780464" y="2340863"/>
            <a:ext cx="3091277" cy="1938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투게더 미니어처 - 아싸비어">
            <a:extLst>
              <a:ext uri="{FF2B5EF4-FFF2-40B4-BE49-F238E27FC236}">
                <a16:creationId xmlns:a16="http://schemas.microsoft.com/office/drawing/2014/main" id="{E8DC6DE7-AE42-491C-B17F-B265B756D1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9" t="22977" r="22266" b="22829"/>
          <a:stretch/>
        </p:blipFill>
        <p:spPr bwMode="auto">
          <a:xfrm>
            <a:off x="1422558" y="2340863"/>
            <a:ext cx="1884924" cy="183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BF45EAF6-16DA-4419-A593-5A6F49BCDFC5}"/>
              </a:ext>
            </a:extLst>
          </p:cNvPr>
          <p:cNvSpPr/>
          <p:nvPr/>
        </p:nvSpPr>
        <p:spPr>
          <a:xfrm>
            <a:off x="1832426" y="1896336"/>
            <a:ext cx="1165705" cy="3174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u="sng" dirty="0">
                <a:solidFill>
                  <a:prstClr val="black"/>
                </a:solidFill>
                <a:latin typeface="Arial"/>
                <a:ea typeface="나눔고딕"/>
              </a:rPr>
              <a:t>As-is image</a:t>
            </a:r>
          </a:p>
        </p:txBody>
      </p:sp>
    </p:spTree>
    <p:extLst>
      <p:ext uri="{BB962C8B-B14F-4D97-AF65-F5344CB8AC3E}">
        <p14:creationId xmlns:p14="http://schemas.microsoft.com/office/powerpoint/2010/main" val="334737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06" y="79164"/>
            <a:ext cx="5749782" cy="490067"/>
          </a:xfrm>
        </p:spPr>
        <p:txBody>
          <a:bodyPr/>
          <a:lstStyle/>
          <a:p>
            <a:r>
              <a:rPr lang="en-US" altLang="ko-KR" dirty="0"/>
              <a:t>PR  (5</a:t>
            </a:r>
            <a:r>
              <a:rPr lang="ko-KR" altLang="en-US" dirty="0" err="1"/>
              <a:t>년후의</a:t>
            </a:r>
            <a:r>
              <a:rPr lang="ko-KR" altLang="en-US" dirty="0"/>
              <a:t> 모습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0DA525E-C303-4D78-9AAF-0E857A3E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592" y="-1910443"/>
            <a:ext cx="7870916" cy="49593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C77DA5-5788-40E9-A97A-702B25589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1592" y="3411415"/>
            <a:ext cx="7870916" cy="4562850"/>
          </a:xfrm>
          <a:prstGeom prst="rect">
            <a:avLst/>
          </a:prstGeom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60BC142-3FA6-4DD4-820D-4B9B54A30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067999"/>
              </p:ext>
            </p:extLst>
          </p:nvPr>
        </p:nvGraphicFramePr>
        <p:xfrm>
          <a:off x="561306" y="670445"/>
          <a:ext cx="9001000" cy="7393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650">
                  <a:extLst>
                    <a:ext uri="{9D8B030D-6E8A-4147-A177-3AD203B41FA5}">
                      <a16:colId xmlns:a16="http://schemas.microsoft.com/office/drawing/2014/main" val="3857424020"/>
                    </a:ext>
                  </a:extLst>
                </a:gridCol>
                <a:gridCol w="7098350">
                  <a:extLst>
                    <a:ext uri="{9D8B030D-6E8A-4147-A177-3AD203B41FA5}">
                      <a16:colId xmlns:a16="http://schemas.microsoft.com/office/drawing/2014/main" val="3334094002"/>
                    </a:ext>
                  </a:extLst>
                </a:gridCol>
              </a:tblGrid>
              <a:tr h="4218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구성요소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474914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제 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000537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부 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중소형 및 대형 건물에 맞춘 건물관리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IoT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패키지로 고객의 불필요한 비용 낭비 절감 및 품질 향상을 위한 상품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건물주가 자신에게 맞는 상품 서비스를 손쉽게 선택할 수 있는 상품임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923568"/>
                  </a:ext>
                </a:extLst>
              </a:tr>
              <a:tr h="8089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문제점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공급자 중심으로 구성된 패키지 상품으로 건물에 필요하지 않은 서비스까지 구입하므로 불필요한 비용 지불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사람에 따른 서비스 품질에 차이가 있어 안정적인 건물관리 어려움 발생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전문 건물 관리 인력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전문성이 없어서 필요한 서비스가 무엇인지 알지 못한다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상품별로 구매 방법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계약기간등이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달라 구매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하는대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어려움이 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서비스 비교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업체 검색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개별 상담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개별 방문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개별 견적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업체별 견적 비교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가격 협상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시공 의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복잡한 서비스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</a:rPr>
                        <a:t>딜리버리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 프로세스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228600" indent="-2286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지속적인 인건비 상승에 따른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건물 유지 관리 비용의 지속 증가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228600" indent="-22860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업체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IoT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개발업체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통신업체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출동보안업체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로봇제조업체 등 서비스 경계가 불분명한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제품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서비스선택의 비교 어려움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790605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솔루션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코퍼레이션은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다양하게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퍼져있는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상품들을 고객이 쉽게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찾을수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있게 구성하고 내부에 전문인력을 활용하여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건물 맞춤형 상품을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선택할수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있게 도와주고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기반으로 상품을 구성한 토탈 패키지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 전문가에 의한 철저한 검수를 거친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안전 솔루션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단순 제품구매나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 1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회성 설치가 아닌 계약보증기간 동안 안심할 수 있는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안심 솔루션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전국 서비스센터를 통한 당일주문 당일설치를 보장하는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신속 솔루션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200932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내부 관계자의 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해당상품을 기획한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팀은 대형빌딩위주 사업을 추진하다가 중소형 건물관리 진출을 위해 고객 맞춤형 상품 발굴 및 개발을 통한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인력중심의 사업에서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IoT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접목한 서비스 개발을 통해 비용은 절감하고 품질은 향상 시키는 서비스를 출시 하게 되었다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또는 시장을 석권하게 되었다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199023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이용방법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종합 플랫폼을 이용하여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기반 추천과 전문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를 통해 언제든지 서비스를 이용할 수 있고  전국에 있는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체험관을 통해 서비스를 체험하고 구매할 수 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3950"/>
                  </a:ext>
                </a:extLst>
              </a:tr>
              <a:tr h="953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고객의 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최근 중소형 빌딩을 구매한 홍길동씨는 건물관리 상품이 너무 다양하고 구성이 복잡해서 어떤 상품이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좋은지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알수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없었는대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에스애아이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상품은 쉽게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이해할수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있어 나에게 맞는 상품을 찾기 편했고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전문가 도움으로 건물에 맞는 상품을 선택할 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있었따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그래서 비용을 합리적으로 사용했다는 생각이 들었다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합리적인 상품을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구매할수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있어서 너무 좋았다 건물관리 상품이 너무 많고 건물에 맞는 적합한 상품을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전문가가 추천해줘서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비용 절감 및 최상의 상품을 구매하게 되었음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7103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마무리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향후 개인 주택 및 아파트 시장을 대상으로 하는 서비스를 준비중에 있다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633785"/>
                  </a:ext>
                </a:extLst>
              </a:tr>
            </a:tbl>
          </a:graphicData>
        </a:graphic>
      </p:graphicFrame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FD83A5C3-106A-405E-9620-BA690F2515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BBDAF5-515F-4092-9D7D-17832D6BA923}"/>
              </a:ext>
            </a:extLst>
          </p:cNvPr>
          <p:cNvSpPr txBox="1"/>
          <p:nvPr/>
        </p:nvSpPr>
        <p:spPr>
          <a:xfrm>
            <a:off x="848544" y="7305199"/>
            <a:ext cx="8766168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고객이 필요로 하는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추천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가장 잘 해주는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 </a:t>
            </a:r>
            <a:r>
              <a:rPr kumimoji="0" lang="en-US" altLang="ko-KR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MD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최다 보유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공급 업체가 가장 선호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하는 협업 파트너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건물관리 상품 외 헬스 케어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63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모빌리티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등의 상품을 결합한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종합 패키지</a:t>
            </a:r>
            <a:b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상품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빠르게 발굴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하고 가장 많은 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상품을 보유한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2EF06A-B3F7-413F-BAC4-D6E13FEE4F5B}"/>
              </a:ext>
            </a:extLst>
          </p:cNvPr>
          <p:cNvSpPr/>
          <p:nvPr/>
        </p:nvSpPr>
        <p:spPr>
          <a:xfrm>
            <a:off x="2721529" y="1412776"/>
            <a:ext cx="46069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kern="0" dirty="0" err="1">
                <a:solidFill>
                  <a:prstClr val="black"/>
                </a:solidFill>
                <a:latin typeface="Arial"/>
                <a:ea typeface="나눔고딕"/>
              </a:rPr>
              <a:t>에스앤아이</a:t>
            </a:r>
            <a:r>
              <a:rPr kumimoji="0" lang="ko-KR" altLang="en-US" sz="1200" b="1" kern="0" dirty="0">
                <a:solidFill>
                  <a:prstClr val="black"/>
                </a:solidFill>
                <a:latin typeface="Arial"/>
                <a:ea typeface="나눔고딕"/>
              </a:rPr>
              <a:t> </a:t>
            </a:r>
            <a:r>
              <a:rPr kumimoji="0" lang="ko-KR" altLang="en-US" sz="1200" b="1" kern="0" dirty="0" err="1">
                <a:solidFill>
                  <a:prstClr val="black"/>
                </a:solidFill>
                <a:latin typeface="Arial"/>
                <a:ea typeface="나눔고딕"/>
              </a:rPr>
              <a:t>코퍼레이션</a:t>
            </a:r>
            <a:r>
              <a:rPr kumimoji="0" lang="ko-KR" altLang="en-US" sz="1200" b="1" kern="0" dirty="0">
                <a:solidFill>
                  <a:prstClr val="black"/>
                </a:solidFill>
                <a:latin typeface="Arial"/>
                <a:ea typeface="나눔고딕"/>
              </a:rPr>
              <a:t> 중소형 건물관리 시장 석권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891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06" y="79164"/>
            <a:ext cx="5749782" cy="490067"/>
          </a:xfrm>
        </p:spPr>
        <p:txBody>
          <a:bodyPr/>
          <a:lstStyle/>
          <a:p>
            <a:r>
              <a:rPr lang="en-US" altLang="ko-KR" dirty="0"/>
              <a:t>FAQ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D95A13-D466-4BE6-8A6F-DA22EBF0B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38DB51-6B43-4D0B-A497-974C0D55D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9464" y="698936"/>
            <a:ext cx="4948138" cy="330340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2115869-BA6F-404B-8537-7A6D6D47590E}"/>
              </a:ext>
            </a:extLst>
          </p:cNvPr>
          <p:cNvSpPr/>
          <p:nvPr/>
        </p:nvSpPr>
        <p:spPr>
          <a:xfrm>
            <a:off x="128464" y="695937"/>
            <a:ext cx="648072" cy="296381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내부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FAQ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0D2F47-BE38-4CCD-A3A1-AD4105D0C1ED}"/>
              </a:ext>
            </a:extLst>
          </p:cNvPr>
          <p:cNvSpPr/>
          <p:nvPr/>
        </p:nvSpPr>
        <p:spPr>
          <a:xfrm>
            <a:off x="128464" y="3792787"/>
            <a:ext cx="648072" cy="296381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외부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FAQ (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고객관점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9B4CA7-D179-4D71-9423-B7E26110C984}"/>
              </a:ext>
            </a:extLst>
          </p:cNvPr>
          <p:cNvSpPr/>
          <p:nvPr/>
        </p:nvSpPr>
        <p:spPr>
          <a:xfrm>
            <a:off x="858704" y="695937"/>
            <a:ext cx="8918832" cy="28007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운영시기는 언제로 할 것인가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판매방식은 어떻게 할 것인가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서비스 제공 방식은 무엇입니까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비용절감 및 품질향상 방안은 무엇입니까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AI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는 어떻게 활용할 수 있나요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D4CEEE-0350-4C89-A52E-928F3AF3AA19}"/>
              </a:ext>
            </a:extLst>
          </p:cNvPr>
          <p:cNvSpPr/>
          <p:nvPr/>
        </p:nvSpPr>
        <p:spPr>
          <a:xfrm>
            <a:off x="858704" y="3717032"/>
            <a:ext cx="8918832" cy="28007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왜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S&amp;I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에서 구매해야 하나요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품질보증 기간은 어떻게 되나요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패키지 서비스 중에서 내가 원하는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것만도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구매 가능한가요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내가 원하는 서비스가 없습니다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AI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는 어떻게 활용할 수 있나요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</p:txBody>
      </p:sp>
    </p:spTree>
    <p:extLst>
      <p:ext uri="{BB962C8B-B14F-4D97-AF65-F5344CB8AC3E}">
        <p14:creationId xmlns:p14="http://schemas.microsoft.com/office/powerpoint/2010/main" val="37997361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993"/>
</p:tagLst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서비스개발팀">
      <a:majorFont>
        <a:latin typeface="LG스마트체 Regular"/>
        <a:ea typeface="LG스마트체 Regular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>
          <a:lnSpc>
            <a:spcPct val="120000"/>
          </a:lnSpc>
          <a:spcBef>
            <a:spcPts val="600"/>
          </a:spcBef>
          <a:defRPr sz="1100" dirty="0" smtClean="0">
            <a:solidFill>
              <a:schemeClr val="tx1"/>
            </a:solidFill>
            <a:latin typeface="+mn-ea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latinLnBrk="0">
          <a:lnSpc>
            <a:spcPct val="120000"/>
          </a:lnSpc>
          <a:spcBef>
            <a:spcPts val="600"/>
          </a:spcBef>
          <a:defRPr sz="1200" dirty="0" smtClean="0">
            <a:latin typeface="+mn-lt"/>
            <a:ea typeface="+mn-ea"/>
            <a:cs typeface="Arial" pitchFamily="34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Arial"/>
        <a:ea typeface="나눔고딕"/>
        <a:cs typeface=""/>
      </a:majorFont>
      <a:minorFont>
        <a:latin typeface="Arial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30521</TotalTime>
  <Words>623</Words>
  <Application>Microsoft Office PowerPoint</Application>
  <PresentationFormat>A4 용지(210x297mm)</PresentationFormat>
  <Paragraphs>76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LG스마트체 Regular</vt:lpstr>
      <vt:lpstr>LG스마트체 SemiBold</vt:lpstr>
      <vt:lpstr>굴림</vt:lpstr>
      <vt:lpstr>나눔고딕</vt:lpstr>
      <vt:lpstr>맑은 고딕</vt:lpstr>
      <vt:lpstr>Arial</vt:lpstr>
      <vt:lpstr>기본 디자인</vt:lpstr>
      <vt:lpstr>Office 테마</vt:lpstr>
      <vt:lpstr>PowerPoint 프레젠테이션</vt:lpstr>
      <vt:lpstr>PR  (5년후의 모습)</vt:lpstr>
      <vt:lpstr>FAQ</vt:lpstr>
    </vt:vector>
  </TitlesOfParts>
  <Manager>류창우</Manager>
  <Company>SERVEONE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- 기본</dc:title>
  <dc:creator>외부사업담당</dc:creator>
  <cp:lastModifiedBy>Ucjh</cp:lastModifiedBy>
  <cp:revision>2681</cp:revision>
  <cp:lastPrinted>2017-07-06T08:43:05Z</cp:lastPrinted>
  <dcterms:created xsi:type="dcterms:W3CDTF">2010-05-06T04:51:51Z</dcterms:created>
  <dcterms:modified xsi:type="dcterms:W3CDTF">2022-10-06T03:55:19Z</dcterms:modified>
</cp:coreProperties>
</file>