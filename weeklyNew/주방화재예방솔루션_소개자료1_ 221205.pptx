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74" r:id="rId3"/>
    <p:sldId id="263" r:id="rId4"/>
    <p:sldId id="272" r:id="rId5"/>
    <p:sldId id="277" r:id="rId6"/>
    <p:sldId id="278" r:id="rId7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308" userDrawn="1">
          <p15:clr>
            <a:srgbClr val="A4A3A4"/>
          </p15:clr>
        </p15:guide>
        <p15:guide id="4" pos="398" userDrawn="1">
          <p15:clr>
            <a:srgbClr val="A4A3A4"/>
          </p15:clr>
        </p15:guide>
        <p15:guide id="5" pos="1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E5E"/>
    <a:srgbClr val="EFF1F5"/>
    <a:srgbClr val="69809F"/>
    <a:srgbClr val="F0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4625" autoAdjust="0"/>
  </p:normalViewPr>
  <p:slideViewPr>
    <p:cSldViewPr snapToGrid="0">
      <p:cViewPr varScale="1">
        <p:scale>
          <a:sx n="109" d="100"/>
          <a:sy n="109" d="100"/>
        </p:scale>
        <p:origin x="324" y="78"/>
      </p:cViewPr>
      <p:guideLst>
        <p:guide orient="horz" pos="2160"/>
        <p:guide pos="3120"/>
        <p:guide pos="308"/>
        <p:guide pos="398"/>
        <p:guide pos="149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C0B2D-7CC6-4DD1-9E85-D6335CE662F2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04D3D-BACA-405C-9829-D831E3EC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719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726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05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31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84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03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46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09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75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252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40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93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96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A0C25-1B6F-47BB-8135-C607813A3A4A}" type="datetimeFigureOut">
              <a:rPr lang="ko-KR" altLang="en-US" smtClean="0"/>
              <a:t>22-12-06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41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0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4700" y="612759"/>
            <a:ext cx="953136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200"/>
              </a:spcAft>
            </a:pP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內 조리기구 화재와 관련한 고객 </a:t>
            </a:r>
            <a:r>
              <a:rPr lang="en-US" altLang="ko-KR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 Point</a:t>
            </a: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개선하고 시설물의 안전 향상을 위한 서비스를 제안함</a:t>
            </a:r>
            <a:endParaRPr lang="en-US" altLang="ko-KR" sz="14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43179" y="1491356"/>
            <a:ext cx="2466278" cy="25984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조리기구 화재 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Point</a:t>
            </a:r>
            <a:endParaRPr lang="ko-KR" altLang="en-US" sz="11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1695" y="1836360"/>
            <a:ext cx="4505184" cy="90024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식용류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등 기름을 사용하는 조리기구는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발연점을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넘으면 자동 착화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발화로 </a:t>
            </a:r>
            <a:b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화재 위험이 크지만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대부분 조리사의 경험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감각에 의존한 온도 관리가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이루어짐</a:t>
            </a:r>
            <a:b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소화 위주의 화재 대처로 인한 직접적인 피해보다 음식물 오염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주방 청소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화재 원인 규명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보고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소화 약제 충전 등 후속 조치에 따른 간접 피해가 큼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2604" t="19065" r="95261" b="76604"/>
          <a:stretch/>
        </p:blipFill>
        <p:spPr>
          <a:xfrm>
            <a:off x="335323" y="1517152"/>
            <a:ext cx="199506" cy="232756"/>
          </a:xfrm>
          <a:prstGeom prst="rect">
            <a:avLst/>
          </a:prstGeom>
        </p:spPr>
      </p:pic>
      <p:sp>
        <p:nvSpPr>
          <p:cNvPr id="18" name="사각형: 둥근 모서리 161">
            <a:extLst>
              <a:ext uri="{FF2B5EF4-FFF2-40B4-BE49-F238E27FC236}">
                <a16:creationId xmlns:a16="http://schemas.microsoft.com/office/drawing/2014/main" id="{6E19D037-B450-42E8-A1F9-3A425FC82A24}"/>
              </a:ext>
            </a:extLst>
          </p:cNvPr>
          <p:cNvSpPr/>
          <p:nvPr/>
        </p:nvSpPr>
        <p:spPr>
          <a:xfrm flipH="1">
            <a:off x="389264" y="3682193"/>
            <a:ext cx="9217025" cy="1834453"/>
          </a:xfrm>
          <a:prstGeom prst="roundRect">
            <a:avLst>
              <a:gd name="adj" fmla="val 343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1524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D690776-AB6F-47E3-9A76-EA08D6C51782}"/>
              </a:ext>
            </a:extLst>
          </p:cNvPr>
          <p:cNvGrpSpPr/>
          <p:nvPr/>
        </p:nvGrpSpPr>
        <p:grpSpPr>
          <a:xfrm>
            <a:off x="392317" y="3299912"/>
            <a:ext cx="3759017" cy="292516"/>
            <a:chOff x="573784" y="2158310"/>
            <a:chExt cx="4615164" cy="359139"/>
          </a:xfrm>
        </p:grpSpPr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5B80F974-61DA-4B0C-81A1-C0D4CF521538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59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en-US" altLang="ko-KR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RMS x </a:t>
              </a:r>
              <a:r>
                <a:rPr lang="ko-KR" altLang="en-US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㈜그립 주방 화재 예방 솔루션</a:t>
              </a:r>
            </a:p>
          </p:txBody>
        </p:sp>
        <p:grpSp>
          <p:nvGrpSpPr>
            <p:cNvPr id="21" name="Group 27">
              <a:extLst>
                <a:ext uri="{FF2B5EF4-FFF2-40B4-BE49-F238E27FC236}">
                  <a16:creationId xmlns:a16="http://schemas.microsoft.com/office/drawing/2014/main" id="{A14B6DBC-BCA7-49CA-AF08-47A70A841D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22" name="Freeform 28">
                <a:extLst>
                  <a:ext uri="{FF2B5EF4-FFF2-40B4-BE49-F238E27FC236}">
                    <a16:creationId xmlns:a16="http://schemas.microsoft.com/office/drawing/2014/main" id="{B4F97440-14AC-412A-AA0B-4A532BDE6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Freeform 29">
                <a:extLst>
                  <a:ext uri="{FF2B5EF4-FFF2-40B4-BE49-F238E27FC236}">
                    <a16:creationId xmlns:a16="http://schemas.microsoft.com/office/drawing/2014/main" id="{4BF8206D-CE93-48F4-A62E-FA1ACE235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4" name="Freeform 30">
                <a:extLst>
                  <a:ext uri="{FF2B5EF4-FFF2-40B4-BE49-F238E27FC236}">
                    <a16:creationId xmlns:a16="http://schemas.microsoft.com/office/drawing/2014/main" id="{9AD5ACCD-868B-4D48-94C1-B3981C751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32C85E5-DB30-420F-9F45-FA617E59B7A6}"/>
              </a:ext>
            </a:extLst>
          </p:cNvPr>
          <p:cNvGrpSpPr/>
          <p:nvPr/>
        </p:nvGrpSpPr>
        <p:grpSpPr>
          <a:xfrm>
            <a:off x="542842" y="3708318"/>
            <a:ext cx="2680921" cy="283347"/>
            <a:chOff x="3383406" y="4342029"/>
            <a:chExt cx="2703964" cy="28345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A1D4A9-ADFD-418E-9243-67E79881B479}"/>
                </a:ext>
              </a:extLst>
            </p:cNvPr>
            <p:cNvSpPr txBox="1"/>
            <p:nvPr/>
          </p:nvSpPr>
          <p:spPr>
            <a:xfrm>
              <a:off x="3502699" y="4342029"/>
              <a:ext cx="2584671" cy="28345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>
                <a:lnSpc>
                  <a:spcPct val="130000"/>
                </a:lnSpc>
                <a:defRPr/>
              </a:pPr>
              <a:r>
                <a:rPr lang="ko-KR" altLang="en-US" sz="105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운영 예상 시나리오</a:t>
              </a:r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DBA7E4E1-3C74-422F-84ED-123C93957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3406" y="4437730"/>
              <a:ext cx="120319" cy="120320"/>
            </a:xfrm>
            <a:custGeom>
              <a:avLst/>
              <a:gdLst>
                <a:gd name="T0" fmla="*/ 50 w 61"/>
                <a:gd name="T1" fmla="*/ 0 h 61"/>
                <a:gd name="T2" fmla="*/ 11 w 61"/>
                <a:gd name="T3" fmla="*/ 0 h 61"/>
                <a:gd name="T4" fmla="*/ 0 w 61"/>
                <a:gd name="T5" fmla="*/ 11 h 61"/>
                <a:gd name="T6" fmla="*/ 0 w 61"/>
                <a:gd name="T7" fmla="*/ 50 h 61"/>
                <a:gd name="T8" fmla="*/ 11 w 61"/>
                <a:gd name="T9" fmla="*/ 61 h 61"/>
                <a:gd name="T10" fmla="*/ 50 w 61"/>
                <a:gd name="T11" fmla="*/ 61 h 61"/>
                <a:gd name="T12" fmla="*/ 61 w 61"/>
                <a:gd name="T13" fmla="*/ 50 h 61"/>
                <a:gd name="T14" fmla="*/ 61 w 61"/>
                <a:gd name="T15" fmla="*/ 11 h 61"/>
                <a:gd name="T16" fmla="*/ 50 w 61"/>
                <a:gd name="T17" fmla="*/ 0 h 61"/>
                <a:gd name="T18" fmla="*/ 25 w 61"/>
                <a:gd name="T19" fmla="*/ 51 h 61"/>
                <a:gd name="T20" fmla="*/ 19 w 61"/>
                <a:gd name="T21" fmla="*/ 45 h 61"/>
                <a:gd name="T22" fmla="*/ 34 w 61"/>
                <a:gd name="T23" fmla="*/ 30 h 61"/>
                <a:gd name="T24" fmla="*/ 19 w 61"/>
                <a:gd name="T25" fmla="*/ 16 h 61"/>
                <a:gd name="T26" fmla="*/ 25 w 61"/>
                <a:gd name="T27" fmla="*/ 9 h 61"/>
                <a:gd name="T28" fmla="*/ 46 w 61"/>
                <a:gd name="T29" fmla="*/ 30 h 61"/>
                <a:gd name="T30" fmla="*/ 25 w 61"/>
                <a:gd name="T31" fmla="*/ 5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" h="61">
                  <a:moveTo>
                    <a:pt x="5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6"/>
                    <a:pt x="5" y="61"/>
                    <a:pt x="11" y="61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56" y="61"/>
                    <a:pt x="61" y="56"/>
                    <a:pt x="61" y="50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5"/>
                    <a:pt x="56" y="0"/>
                    <a:pt x="50" y="0"/>
                  </a:cubicBezTo>
                  <a:close/>
                  <a:moveTo>
                    <a:pt x="25" y="51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46" y="30"/>
                    <a:pt x="46" y="30"/>
                    <a:pt x="46" y="30"/>
                  </a:cubicBezTo>
                  <a:lnTo>
                    <a:pt x="25" y="51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242C38"/>
                </a:gs>
                <a:gs pos="100000">
                  <a:srgbClr val="404E62"/>
                </a:gs>
                <a:gs pos="50000">
                  <a:srgbClr val="404E62"/>
                </a:gs>
                <a:gs pos="45000">
                  <a:srgbClr val="242C38"/>
                </a:gs>
              </a:gsLst>
              <a:lin ang="13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1" i="0" u="none" strike="noStrike" kern="1200" cap="none" spc="-5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45CB377-76BA-46F9-87DC-84E4F4B48D7F}"/>
              </a:ext>
            </a:extLst>
          </p:cNvPr>
          <p:cNvGrpSpPr/>
          <p:nvPr/>
        </p:nvGrpSpPr>
        <p:grpSpPr>
          <a:xfrm>
            <a:off x="335323" y="4232896"/>
            <a:ext cx="617635" cy="224626"/>
            <a:chOff x="3191893" y="6444349"/>
            <a:chExt cx="699876" cy="268425"/>
          </a:xfrm>
        </p:grpSpPr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E825E747-74E3-4BA7-8119-8416C62C9663}"/>
                </a:ext>
              </a:extLst>
            </p:cNvPr>
            <p:cNvSpPr/>
            <p:nvPr/>
          </p:nvSpPr>
          <p:spPr>
            <a:xfrm rot="16200000">
              <a:off x="3194053" y="6643174"/>
              <a:ext cx="67574" cy="71625"/>
            </a:xfrm>
            <a:prstGeom prst="triangle">
              <a:avLst/>
            </a:prstGeom>
            <a:solidFill>
              <a:srgbClr val="333E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29DDE03-B3A2-4D55-AAAB-E1BCE199E92F}"/>
                </a:ext>
              </a:extLst>
            </p:cNvPr>
            <p:cNvSpPr/>
            <p:nvPr/>
          </p:nvSpPr>
          <p:spPr>
            <a:xfrm>
              <a:off x="3191893" y="6444349"/>
              <a:ext cx="699876" cy="234386"/>
            </a:xfrm>
            <a:prstGeom prst="rect">
              <a:avLst/>
            </a:prstGeom>
            <a:solidFill>
              <a:srgbClr val="8898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 defTabSz="914400" latinLnBrk="1">
                <a:defRPr/>
              </a:pPr>
              <a:r>
                <a:rPr lang="en-US" altLang="ko-KR" sz="1000" i="1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As-is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E5007ED-FD44-4B8F-84FA-F5C05F27289B}"/>
              </a:ext>
            </a:extLst>
          </p:cNvPr>
          <p:cNvGrpSpPr/>
          <p:nvPr/>
        </p:nvGrpSpPr>
        <p:grpSpPr>
          <a:xfrm>
            <a:off x="1956708" y="3991583"/>
            <a:ext cx="7413520" cy="549935"/>
            <a:chOff x="931641" y="2597484"/>
            <a:chExt cx="8536415" cy="549935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D8023452-E4C1-43AF-B790-6F568B291267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824743" y="2962019"/>
              <a:ext cx="6482687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33" name="Text Box 7">
              <a:extLst>
                <a:ext uri="{FF2B5EF4-FFF2-40B4-BE49-F238E27FC236}">
                  <a16:creationId xmlns:a16="http://schemas.microsoft.com/office/drawing/2014/main" id="{C6A62ADF-74EB-4BC8-BA6E-8953A8A92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641" y="2776619"/>
              <a:ext cx="893102" cy="370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50">
                  <a:latin typeface="Arial Narrow" panose="020B0606020202030204" pitchFamily="34" charset="0"/>
                </a:rPr>
                <a:t>우편</a:t>
              </a:r>
              <a:r>
                <a:rPr lang="en-US" altLang="ko-KR" spc="-50" dirty="0">
                  <a:latin typeface="Arial Narrow" panose="020B0606020202030204" pitchFamily="34" charset="0"/>
                </a:rPr>
                <a:t>/</a:t>
              </a:r>
              <a:r>
                <a:rPr lang="ko-KR" altLang="en-US" spc="-50" dirty="0">
                  <a:latin typeface="Arial Narrow" panose="020B0606020202030204" pitchFamily="34" charset="0"/>
                </a:rPr>
                <a:t>택배 포장</a:t>
              </a:r>
            </a:p>
          </p:txBody>
        </p:sp>
        <p:sp>
          <p:nvSpPr>
            <p:cNvPr id="34" name="Text Box 7">
              <a:extLst>
                <a:ext uri="{FF2B5EF4-FFF2-40B4-BE49-F238E27FC236}">
                  <a16:creationId xmlns:a16="http://schemas.microsoft.com/office/drawing/2014/main" id="{053E2E32-4929-4844-9199-F761A213F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110" y="2776619"/>
              <a:ext cx="786321" cy="370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50" dirty="0">
                  <a:latin typeface="Arial Narrow" panose="020B0606020202030204" pitchFamily="34" charset="0"/>
                </a:rPr>
                <a:t>우편</a:t>
              </a:r>
              <a:r>
                <a:rPr lang="en-US" altLang="ko-KR" spc="-50" dirty="0">
                  <a:latin typeface="Arial Narrow" panose="020B0606020202030204" pitchFamily="34" charset="0"/>
                </a:rPr>
                <a:t>/</a:t>
              </a:r>
              <a:r>
                <a:rPr lang="ko-KR" altLang="en-US" spc="-50" dirty="0">
                  <a:latin typeface="Arial Narrow" panose="020B0606020202030204" pitchFamily="34" charset="0"/>
                </a:rPr>
                <a:t>택배 신청</a:t>
              </a:r>
              <a:endParaRPr lang="en-US" altLang="ko-KR" spc="-50" dirty="0">
                <a:latin typeface="Arial Narrow" panose="020B0606020202030204" pitchFamily="34" charset="0"/>
              </a:endParaRPr>
            </a:p>
            <a:p>
              <a:r>
                <a:rPr lang="en-US" altLang="ko-KR" spc="-50" dirty="0">
                  <a:latin typeface="Arial Narrow" panose="020B0606020202030204" pitchFamily="34" charset="0"/>
                </a:rPr>
                <a:t>(</a:t>
              </a:r>
              <a:r>
                <a:rPr lang="ko-KR" altLang="en-US" spc="-50" dirty="0">
                  <a:latin typeface="Arial Narrow" panose="020B0606020202030204" pitchFamily="34" charset="0"/>
                </a:rPr>
                <a:t>총무 시스템</a:t>
              </a:r>
              <a:r>
                <a:rPr lang="en-US" altLang="ko-KR" spc="-50" dirty="0">
                  <a:latin typeface="Arial Narrow" panose="020B0606020202030204" pitchFamily="34" charset="0"/>
                </a:rPr>
                <a:t>)</a:t>
              </a:r>
            </a:p>
          </p:txBody>
        </p:sp>
        <p:sp>
          <p:nvSpPr>
            <p:cNvPr id="35" name="Text Box 7">
              <a:extLst>
                <a:ext uri="{FF2B5EF4-FFF2-40B4-BE49-F238E27FC236}">
                  <a16:creationId xmlns:a16="http://schemas.microsoft.com/office/drawing/2014/main" id="{8DDDF653-29DD-4471-9706-EAA0751B2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5735" y="2776619"/>
              <a:ext cx="433660" cy="370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50" dirty="0">
                  <a:latin typeface="Arial Narrow" panose="020B0606020202030204" pitchFamily="34" charset="0"/>
                </a:rPr>
                <a:t>총무팀</a:t>
              </a:r>
              <a:endParaRPr lang="en-US" altLang="ko-KR" spc="-50" dirty="0">
                <a:latin typeface="Arial Narrow" panose="020B0606020202030204" pitchFamily="34" charset="0"/>
              </a:endParaRPr>
            </a:p>
            <a:p>
              <a:r>
                <a:rPr lang="ko-KR" altLang="en-US" spc="-50" dirty="0">
                  <a:latin typeface="Arial Narrow" panose="020B0606020202030204" pitchFamily="34" charset="0"/>
                </a:rPr>
                <a:t>전달</a:t>
              </a:r>
              <a:endParaRPr lang="en-US" altLang="ko-KR" spc="-50" dirty="0">
                <a:latin typeface="Arial Narrow" panose="020B0606020202030204" pitchFamily="34" charset="0"/>
              </a:endParaRPr>
            </a:p>
          </p:txBody>
        </p:sp>
        <p:sp>
          <p:nvSpPr>
            <p:cNvPr id="36" name="Text Box 7">
              <a:extLst>
                <a:ext uri="{FF2B5EF4-FFF2-40B4-BE49-F238E27FC236}">
                  <a16:creationId xmlns:a16="http://schemas.microsoft.com/office/drawing/2014/main" id="{19673493-0C10-470C-804D-904CFBBF2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3699" y="2776619"/>
              <a:ext cx="1109777" cy="370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50" dirty="0">
                  <a:latin typeface="Arial Narrow" panose="020B0606020202030204" pitchFamily="34" charset="0"/>
                </a:rPr>
                <a:t>우체국 이동</a:t>
              </a:r>
              <a:endParaRPr lang="en-US" altLang="ko-KR" spc="-50" dirty="0">
                <a:latin typeface="Arial Narrow" panose="020B0606020202030204" pitchFamily="34" charset="0"/>
              </a:endParaRPr>
            </a:p>
            <a:p>
              <a:r>
                <a:rPr lang="en-US" altLang="ko-KR" spc="-50" dirty="0">
                  <a:latin typeface="Arial Narrow" panose="020B0606020202030204" pitchFamily="34" charset="0"/>
                </a:rPr>
                <a:t>(</a:t>
              </a:r>
              <a:r>
                <a:rPr lang="ko-KR" altLang="en-US" spc="-50" dirty="0">
                  <a:latin typeface="Arial Narrow" panose="020B0606020202030204" pitchFamily="34" charset="0"/>
                </a:rPr>
                <a:t>도보 </a:t>
              </a:r>
              <a:r>
                <a:rPr lang="en-US" altLang="ko-KR" spc="-50" dirty="0">
                  <a:latin typeface="Arial Narrow" panose="020B0606020202030204" pitchFamily="34" charset="0"/>
                </a:rPr>
                <a:t>30</a:t>
              </a:r>
              <a:r>
                <a:rPr lang="ko-KR" altLang="en-US" spc="-50" dirty="0">
                  <a:latin typeface="Arial Narrow" panose="020B0606020202030204" pitchFamily="34" charset="0"/>
                </a:rPr>
                <a:t>분</a:t>
              </a:r>
              <a:r>
                <a:rPr lang="en-US" altLang="ko-KR" spc="-50" dirty="0">
                  <a:latin typeface="Arial Narrow" panose="020B0606020202030204" pitchFamily="34" charset="0"/>
                </a:rPr>
                <a:t> / </a:t>
              </a:r>
              <a:r>
                <a:rPr lang="ko-KR" altLang="en-US" spc="-50" dirty="0">
                  <a:latin typeface="Arial Narrow" panose="020B0606020202030204" pitchFamily="34" charset="0"/>
                </a:rPr>
                <a:t>운전 </a:t>
              </a:r>
              <a:r>
                <a:rPr lang="en-US" altLang="ko-KR" spc="-50" dirty="0">
                  <a:latin typeface="Arial Narrow" panose="020B0606020202030204" pitchFamily="34" charset="0"/>
                </a:rPr>
                <a:t>10</a:t>
              </a:r>
              <a:r>
                <a:rPr lang="ko-KR" altLang="en-US" spc="-50" dirty="0">
                  <a:latin typeface="Arial Narrow" panose="020B0606020202030204" pitchFamily="34" charset="0"/>
                </a:rPr>
                <a:t>분</a:t>
              </a:r>
              <a:r>
                <a:rPr lang="en-US" altLang="ko-KR" spc="-50" dirty="0">
                  <a:latin typeface="Arial Narrow" panose="020B0606020202030204" pitchFamily="34" charset="0"/>
                </a:rPr>
                <a:t>)</a:t>
              </a:r>
            </a:p>
          </p:txBody>
        </p:sp>
        <p:sp>
          <p:nvSpPr>
            <p:cNvPr id="37" name="Text Box 7">
              <a:extLst>
                <a:ext uri="{FF2B5EF4-FFF2-40B4-BE49-F238E27FC236}">
                  <a16:creationId xmlns:a16="http://schemas.microsoft.com/office/drawing/2014/main" id="{5B83956F-087C-4C62-8AA0-61603F8F7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4920" y="2776619"/>
              <a:ext cx="519423" cy="370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50" dirty="0">
                  <a:latin typeface="Arial Narrow" panose="020B0606020202030204" pitchFamily="34" charset="0"/>
                </a:rPr>
                <a:t>접수대기</a:t>
              </a:r>
              <a:endParaRPr lang="en-US" altLang="ko-KR" spc="-50" dirty="0">
                <a:latin typeface="Arial Narrow" panose="020B0606020202030204" pitchFamily="34" charset="0"/>
              </a:endParaRPr>
            </a:p>
            <a:p>
              <a:r>
                <a:rPr lang="en-US" altLang="ko-KR" spc="-50" dirty="0">
                  <a:latin typeface="Arial Narrow" panose="020B0606020202030204" pitchFamily="34" charset="0"/>
                </a:rPr>
                <a:t>(10</a:t>
              </a:r>
              <a:r>
                <a:rPr lang="ko-KR" altLang="en-US" spc="-50" dirty="0">
                  <a:latin typeface="Arial Narrow" panose="020B0606020202030204" pitchFamily="34" charset="0"/>
                </a:rPr>
                <a:t>분</a:t>
              </a:r>
              <a:r>
                <a:rPr lang="en-US" altLang="ko-KR" spc="-50" dirty="0">
                  <a:latin typeface="Arial Narrow" panose="020B0606020202030204" pitchFamily="34" charset="0"/>
                </a:rPr>
                <a:t>)</a:t>
              </a:r>
            </a:p>
          </p:txBody>
        </p:sp>
        <p:sp>
          <p:nvSpPr>
            <p:cNvPr id="38" name="Text Box 7">
              <a:extLst>
                <a:ext uri="{FF2B5EF4-FFF2-40B4-BE49-F238E27FC236}">
                  <a16:creationId xmlns:a16="http://schemas.microsoft.com/office/drawing/2014/main" id="{8FA4EBCD-B4EC-420B-A25C-5FB35CC2B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3181" y="2776619"/>
              <a:ext cx="570282" cy="370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50" dirty="0">
                  <a:latin typeface="Arial Narrow" panose="020B0606020202030204" pitchFamily="34" charset="0"/>
                </a:rPr>
                <a:t>우편</a:t>
              </a:r>
              <a:r>
                <a:rPr lang="en-US" altLang="ko-KR" spc="-50" dirty="0">
                  <a:latin typeface="Arial Narrow" panose="020B0606020202030204" pitchFamily="34" charset="0"/>
                </a:rPr>
                <a:t>/</a:t>
              </a:r>
              <a:r>
                <a:rPr lang="ko-KR" altLang="en-US" spc="-50" dirty="0">
                  <a:latin typeface="Arial Narrow" panose="020B0606020202030204" pitchFamily="34" charset="0"/>
                </a:rPr>
                <a:t>택배</a:t>
              </a:r>
              <a:endParaRPr lang="en-US" altLang="ko-KR" spc="-50" dirty="0">
                <a:latin typeface="Arial Narrow" panose="020B0606020202030204" pitchFamily="34" charset="0"/>
              </a:endParaRPr>
            </a:p>
            <a:p>
              <a:r>
                <a:rPr lang="ko-KR" altLang="en-US" spc="-50" dirty="0">
                  <a:latin typeface="Arial Narrow" panose="020B0606020202030204" pitchFamily="34" charset="0"/>
                </a:rPr>
                <a:t>수기접수</a:t>
              </a:r>
              <a:endParaRPr lang="en-US" altLang="ko-KR" spc="-50" dirty="0">
                <a:latin typeface="Arial Narrow" panose="020B0606020202030204" pitchFamily="34" charset="0"/>
              </a:endParaRPr>
            </a:p>
          </p:txBody>
        </p:sp>
        <p:sp>
          <p:nvSpPr>
            <p:cNvPr id="39" name="Text Box 7">
              <a:extLst>
                <a:ext uri="{FF2B5EF4-FFF2-40B4-BE49-F238E27FC236}">
                  <a16:creationId xmlns:a16="http://schemas.microsoft.com/office/drawing/2014/main" id="{2D63EF70-27FC-4F5C-BE3A-BB67CE38B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0076" y="2776619"/>
              <a:ext cx="713520" cy="370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50" dirty="0">
                  <a:latin typeface="Arial Narrow" panose="020B0606020202030204" pitchFamily="34" charset="0"/>
                </a:rPr>
                <a:t>무게측정 및</a:t>
              </a:r>
              <a:br>
                <a:rPr lang="en-US" altLang="ko-KR" spc="-50" dirty="0">
                  <a:latin typeface="Arial Narrow" panose="020B0606020202030204" pitchFamily="34" charset="0"/>
                </a:rPr>
              </a:br>
              <a:r>
                <a:rPr lang="ko-KR" altLang="en-US" spc="-50" dirty="0">
                  <a:latin typeface="Arial Narrow" panose="020B0606020202030204" pitchFamily="34" charset="0"/>
                </a:rPr>
                <a:t>비용 결제</a:t>
              </a:r>
              <a:endParaRPr lang="en-US" altLang="ko-KR" spc="-50" dirty="0">
                <a:latin typeface="Arial Narrow" panose="020B0606020202030204" pitchFamily="34" charset="0"/>
              </a:endParaRPr>
            </a:p>
          </p:txBody>
        </p:sp>
        <p:sp>
          <p:nvSpPr>
            <p:cNvPr id="40" name="Text Box 7">
              <a:extLst>
                <a:ext uri="{FF2B5EF4-FFF2-40B4-BE49-F238E27FC236}">
                  <a16:creationId xmlns:a16="http://schemas.microsoft.com/office/drawing/2014/main" id="{B8DC5703-6585-4DF3-B550-2A3F86351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8537" y="2776619"/>
              <a:ext cx="858527" cy="370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50" dirty="0">
                  <a:latin typeface="Arial Narrow" panose="020B0606020202030204" pitchFamily="34" charset="0"/>
                </a:rPr>
                <a:t>접수 확인</a:t>
              </a:r>
              <a:endParaRPr lang="en-US" altLang="ko-KR" spc="-50" dirty="0">
                <a:latin typeface="Arial Narrow" panose="020B0606020202030204" pitchFamily="34" charset="0"/>
              </a:endParaRPr>
            </a:p>
            <a:p>
              <a:r>
                <a:rPr lang="en-US" altLang="ko-KR" spc="-50" dirty="0">
                  <a:latin typeface="Arial Narrow" panose="020B0606020202030204" pitchFamily="34" charset="0"/>
                </a:rPr>
                <a:t>(</a:t>
              </a:r>
              <a:r>
                <a:rPr lang="ko-KR" altLang="en-US" spc="-50" dirty="0">
                  <a:latin typeface="Arial Narrow" panose="020B0606020202030204" pitchFamily="34" charset="0"/>
                </a:rPr>
                <a:t>영수증</a:t>
              </a:r>
              <a:r>
                <a:rPr lang="en-US" altLang="ko-KR" spc="-50" dirty="0">
                  <a:latin typeface="Arial Narrow" panose="020B0606020202030204" pitchFamily="34" charset="0"/>
                </a:rPr>
                <a:t>, </a:t>
              </a:r>
              <a:r>
                <a:rPr lang="ko-KR" altLang="en-US" spc="-50" dirty="0">
                  <a:latin typeface="Arial Narrow" panose="020B0606020202030204" pitchFamily="34" charset="0"/>
                </a:rPr>
                <a:t>문자 등</a:t>
              </a:r>
              <a:r>
                <a:rPr lang="en-US" altLang="ko-KR" spc="-50" dirty="0">
                  <a:latin typeface="Arial Narrow" panose="020B0606020202030204" pitchFamily="34" charset="0"/>
                </a:rPr>
                <a:t>)</a:t>
              </a:r>
            </a:p>
          </p:txBody>
        </p:sp>
        <p:sp>
          <p:nvSpPr>
            <p:cNvPr id="41" name="Text Box 7">
              <a:extLst>
                <a:ext uri="{FF2B5EF4-FFF2-40B4-BE49-F238E27FC236}">
                  <a16:creationId xmlns:a16="http://schemas.microsoft.com/office/drawing/2014/main" id="{1DD5C740-8ED3-453B-8DCF-B8CFFEAA1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430" y="2776619"/>
              <a:ext cx="1160625" cy="370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50" dirty="0">
                  <a:latin typeface="Arial Narrow" panose="020B0606020202030204" pitchFamily="34" charset="0"/>
                </a:rPr>
                <a:t>회사 복귀</a:t>
              </a:r>
              <a:br>
                <a:rPr lang="en-US" altLang="ko-KR" spc="-50" dirty="0">
                  <a:latin typeface="Arial Narrow" panose="020B0606020202030204" pitchFamily="34" charset="0"/>
                </a:rPr>
              </a:br>
              <a:r>
                <a:rPr lang="en-US" altLang="ko-KR" spc="-50" dirty="0">
                  <a:latin typeface="Arial Narrow" panose="020B0606020202030204" pitchFamily="34" charset="0"/>
                </a:rPr>
                <a:t>(</a:t>
              </a:r>
              <a:r>
                <a:rPr lang="ko-KR" altLang="en-US" spc="-50" dirty="0">
                  <a:latin typeface="Arial Narrow" panose="020B0606020202030204" pitchFamily="34" charset="0"/>
                </a:rPr>
                <a:t>도보 </a:t>
              </a:r>
              <a:r>
                <a:rPr lang="en-US" altLang="ko-KR" spc="-50" dirty="0">
                  <a:latin typeface="Arial Narrow" panose="020B0606020202030204" pitchFamily="34" charset="0"/>
                </a:rPr>
                <a:t>30</a:t>
              </a:r>
              <a:r>
                <a:rPr lang="ko-KR" altLang="en-US" spc="-50" dirty="0">
                  <a:latin typeface="Arial Narrow" panose="020B0606020202030204" pitchFamily="34" charset="0"/>
                </a:rPr>
                <a:t>분 </a:t>
              </a:r>
              <a:r>
                <a:rPr lang="en-US" altLang="ko-KR" spc="-50" dirty="0">
                  <a:latin typeface="Arial Narrow" panose="020B0606020202030204" pitchFamily="34" charset="0"/>
                </a:rPr>
                <a:t>/ </a:t>
              </a:r>
              <a:r>
                <a:rPr lang="ko-KR" altLang="en-US" spc="-50" dirty="0">
                  <a:latin typeface="Arial Narrow" panose="020B0606020202030204" pitchFamily="34" charset="0"/>
                </a:rPr>
                <a:t>운전 </a:t>
              </a:r>
              <a:r>
                <a:rPr lang="en-US" altLang="ko-KR" spc="-50" dirty="0">
                  <a:latin typeface="Arial Narrow" panose="020B0606020202030204" pitchFamily="34" charset="0"/>
                </a:rPr>
                <a:t>10</a:t>
              </a:r>
              <a:r>
                <a:rPr lang="ko-KR" altLang="en-US" spc="-50" dirty="0">
                  <a:latin typeface="Arial Narrow" panose="020B0606020202030204" pitchFamily="34" charset="0"/>
                </a:rPr>
                <a:t>분</a:t>
              </a:r>
              <a:r>
                <a:rPr lang="en-US" altLang="ko-KR" spc="-50" dirty="0">
                  <a:latin typeface="Arial Narrow" panose="020B0606020202030204" pitchFamily="34" charset="0"/>
                </a:rPr>
                <a:t>)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17574C7E-7921-4760-B28F-7FE818419D83}"/>
                </a:ext>
              </a:extLst>
            </p:cNvPr>
            <p:cNvGrpSpPr/>
            <p:nvPr/>
          </p:nvGrpSpPr>
          <p:grpSpPr>
            <a:xfrm>
              <a:off x="1936400" y="2610319"/>
              <a:ext cx="4352502" cy="111126"/>
              <a:chOff x="929869" y="2610319"/>
              <a:chExt cx="5423491" cy="111126"/>
            </a:xfrm>
          </p:grpSpPr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A7C4D9B4-B7D7-415B-AD10-703FAD9F0722}"/>
                  </a:ext>
                </a:extLst>
              </p:cNvPr>
              <p:cNvCxnSpPr/>
              <p:nvPr/>
            </p:nvCxnSpPr>
            <p:spPr>
              <a:xfrm flipV="1">
                <a:off x="929869" y="2610319"/>
                <a:ext cx="0" cy="111126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49081EF4-7F36-46B5-9865-7F1EAAE9DD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869" y="2665882"/>
                <a:ext cx="5423491" cy="0"/>
              </a:xfrm>
              <a:prstGeom prst="line">
                <a:avLst/>
              </a:prstGeom>
              <a:ln w="6350">
                <a:solidFill>
                  <a:schemeClr val="tx1">
                    <a:lumMod val="65000"/>
                    <a:lumOff val="35000"/>
                  </a:schemeClr>
                </a:solidFill>
                <a:headEnd type="none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ADBA531-24D4-400A-9CF2-BE49C2A7AAFC}"/>
                </a:ext>
              </a:extLst>
            </p:cNvPr>
            <p:cNvSpPr/>
            <p:nvPr/>
          </p:nvSpPr>
          <p:spPr>
            <a:xfrm>
              <a:off x="3784824" y="2599378"/>
              <a:ext cx="640253" cy="13300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ko-KR" altLang="en-US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접수</a:t>
              </a: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90444B5E-5F93-4B35-B4CC-F8C8DC6B9B28}"/>
                </a:ext>
              </a:extLst>
            </p:cNvPr>
            <p:cNvGrpSpPr/>
            <p:nvPr/>
          </p:nvGrpSpPr>
          <p:grpSpPr>
            <a:xfrm>
              <a:off x="6288902" y="2606099"/>
              <a:ext cx="971793" cy="133008"/>
              <a:chOff x="6288902" y="2606099"/>
              <a:chExt cx="971793" cy="133008"/>
            </a:xfrm>
          </p:grpSpPr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FEE3EFD9-096A-4C8C-85E4-43DB41C2EF26}"/>
                  </a:ext>
                </a:extLst>
              </p:cNvPr>
              <p:cNvGrpSpPr/>
              <p:nvPr/>
            </p:nvGrpSpPr>
            <p:grpSpPr>
              <a:xfrm>
                <a:off x="6288902" y="2610319"/>
                <a:ext cx="971793" cy="111126"/>
                <a:chOff x="5634017" y="2610319"/>
                <a:chExt cx="1034477" cy="111126"/>
              </a:xfrm>
            </p:grpSpPr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E94B496D-5A97-4F4E-95C7-6A80FCC52554}"/>
                    </a:ext>
                  </a:extLst>
                </p:cNvPr>
                <p:cNvCxnSpPr/>
                <p:nvPr/>
              </p:nvCxnSpPr>
              <p:spPr>
                <a:xfrm flipV="1">
                  <a:off x="5634017" y="2610319"/>
                  <a:ext cx="0" cy="111126"/>
                </a:xfrm>
                <a:prstGeom prst="line">
                  <a:avLst/>
                </a:prstGeom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821186C9-5D28-454E-AD2F-C5C696975F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42441" y="2665882"/>
                  <a:ext cx="1026053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headEnd type="none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4C878930-E8E3-423B-8474-FD89DB70C4ED}"/>
                  </a:ext>
                </a:extLst>
              </p:cNvPr>
              <p:cNvSpPr/>
              <p:nvPr/>
            </p:nvSpPr>
            <p:spPr>
              <a:xfrm>
                <a:off x="6550860" y="2606099"/>
                <a:ext cx="453539" cy="133008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/>
                <a:r>
                  <a:rPr lang="ko-KR" altLang="en-US" sz="700" i="1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gradFill>
                      <a:gsLst>
                        <a:gs pos="0">
                          <a:prstClr val="black">
                            <a:lumMod val="75000"/>
                            <a:lumOff val="25000"/>
                          </a:prstClr>
                        </a:gs>
                        <a:gs pos="100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5400000" scaled="0"/>
                    </a:gra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itchFamily="34" charset="0"/>
                  </a:rPr>
                  <a:t>비용결제</a:t>
                </a: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4753739D-BC0A-485A-A200-5310DFCB6971}"/>
                </a:ext>
              </a:extLst>
            </p:cNvPr>
            <p:cNvGrpSpPr/>
            <p:nvPr/>
          </p:nvGrpSpPr>
          <p:grpSpPr>
            <a:xfrm>
              <a:off x="7264596" y="2610319"/>
              <a:ext cx="2203460" cy="111126"/>
              <a:chOff x="5355163" y="2610319"/>
              <a:chExt cx="2786555" cy="111126"/>
            </a:xfrm>
          </p:grpSpPr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B061EEA5-94E8-4B4D-BAD9-5A15E7BC0FCB}"/>
                  </a:ext>
                </a:extLst>
              </p:cNvPr>
              <p:cNvCxnSpPr/>
              <p:nvPr/>
            </p:nvCxnSpPr>
            <p:spPr>
              <a:xfrm flipV="1">
                <a:off x="5355163" y="2610319"/>
                <a:ext cx="0" cy="111126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72590828-42C5-4470-9DA5-62D421F9A9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3585" y="2665882"/>
                <a:ext cx="2778133" cy="0"/>
              </a:xfrm>
              <a:prstGeom prst="line">
                <a:avLst/>
              </a:prstGeom>
              <a:ln w="6350">
                <a:solidFill>
                  <a:schemeClr val="tx1">
                    <a:lumMod val="65000"/>
                    <a:lumOff val="35000"/>
                  </a:schemeClr>
                </a:solidFill>
                <a:headEnd type="none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AE47E6B-C4ED-490C-A4AD-DA03851367F4}"/>
                </a:ext>
              </a:extLst>
            </p:cNvPr>
            <p:cNvSpPr/>
            <p:nvPr/>
          </p:nvSpPr>
          <p:spPr>
            <a:xfrm>
              <a:off x="7901612" y="2597829"/>
              <a:ext cx="803189" cy="13300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ko-KR" altLang="en-US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접수확인</a:t>
              </a: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00235A9A-79A8-4B05-B3F6-76332000E764}"/>
                </a:ext>
              </a:extLst>
            </p:cNvPr>
            <p:cNvGrpSpPr/>
            <p:nvPr/>
          </p:nvGrpSpPr>
          <p:grpSpPr>
            <a:xfrm>
              <a:off x="962002" y="2597484"/>
              <a:ext cx="966698" cy="133008"/>
              <a:chOff x="6026944" y="2596573"/>
              <a:chExt cx="1228457" cy="133008"/>
            </a:xfrm>
          </p:grpSpPr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B2B3ED06-892F-4974-935E-B35F288DBC5C}"/>
                  </a:ext>
                </a:extLst>
              </p:cNvPr>
              <p:cNvGrpSpPr/>
              <p:nvPr/>
            </p:nvGrpSpPr>
            <p:grpSpPr>
              <a:xfrm>
                <a:off x="6026944" y="2610319"/>
                <a:ext cx="1228457" cy="111126"/>
                <a:chOff x="5355163" y="2610319"/>
                <a:chExt cx="1307697" cy="111126"/>
              </a:xfrm>
            </p:grpSpPr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C7EA1442-2270-4320-85A6-C0AE0736F503}"/>
                    </a:ext>
                  </a:extLst>
                </p:cNvPr>
                <p:cNvCxnSpPr/>
                <p:nvPr/>
              </p:nvCxnSpPr>
              <p:spPr>
                <a:xfrm flipV="1">
                  <a:off x="5355163" y="2610319"/>
                  <a:ext cx="0" cy="111126"/>
                </a:xfrm>
                <a:prstGeom prst="line">
                  <a:avLst/>
                </a:prstGeom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E0B8B0E9-D120-46D8-A969-4D23701BB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63585" y="2665882"/>
                  <a:ext cx="1299275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headEnd type="none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14A6BD31-775B-421F-87C1-7354F5B208FF}"/>
                  </a:ext>
                </a:extLst>
              </p:cNvPr>
              <p:cNvSpPr/>
              <p:nvPr/>
            </p:nvSpPr>
            <p:spPr>
              <a:xfrm>
                <a:off x="6235318" y="2596573"/>
                <a:ext cx="721605" cy="133008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/>
                <a:r>
                  <a:rPr lang="ko-KR" altLang="en-US" sz="700" i="1" dirty="0">
                    <a:ln>
                      <a:solidFill>
                        <a:schemeClr val="tx1">
                          <a:lumMod val="50000"/>
                          <a:lumOff val="50000"/>
                          <a:alpha val="0"/>
                        </a:schemeClr>
                      </a:solidFill>
                    </a:ln>
                    <a:gradFill>
                      <a:gsLst>
                        <a:gs pos="0">
                          <a:prstClr val="black">
                            <a:lumMod val="75000"/>
                            <a:lumOff val="25000"/>
                          </a:prstClr>
                        </a:gs>
                        <a:gs pos="100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5400000" scaled="0"/>
                    </a:gra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itchFamily="34" charset="0"/>
                  </a:rPr>
                  <a:t>발송준비</a:t>
                </a:r>
              </a:p>
            </p:txBody>
          </p:sp>
        </p:grp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277D5E4-51B9-4E80-A9EC-E35E808380D9}"/>
              </a:ext>
            </a:extLst>
          </p:cNvPr>
          <p:cNvGrpSpPr/>
          <p:nvPr/>
        </p:nvGrpSpPr>
        <p:grpSpPr>
          <a:xfrm>
            <a:off x="910513" y="4073203"/>
            <a:ext cx="527444" cy="527444"/>
            <a:chOff x="8951947" y="1068920"/>
            <a:chExt cx="759048" cy="759048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B5F5A72D-99FF-4403-90D4-6C3E8B41725C}"/>
                </a:ext>
              </a:extLst>
            </p:cNvPr>
            <p:cNvGrpSpPr/>
            <p:nvPr/>
          </p:nvGrpSpPr>
          <p:grpSpPr>
            <a:xfrm>
              <a:off x="8951947" y="1068920"/>
              <a:ext cx="759048" cy="759048"/>
              <a:chOff x="7169179" y="1547603"/>
              <a:chExt cx="759048" cy="759048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F225CC92-7766-49B6-9143-473FD995CD51}"/>
                  </a:ext>
                </a:extLst>
              </p:cNvPr>
              <p:cNvSpPr/>
              <p:nvPr/>
            </p:nvSpPr>
            <p:spPr>
              <a:xfrm>
                <a:off x="7169179" y="1547603"/>
                <a:ext cx="759048" cy="759048"/>
              </a:xfrm>
              <a:prstGeom prst="ellipse">
                <a:avLst/>
              </a:prstGeom>
              <a:solidFill>
                <a:srgbClr val="8898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CBB72C64-B59D-492E-BD9B-DDD3D307EE35}"/>
                  </a:ext>
                </a:extLst>
              </p:cNvPr>
              <p:cNvSpPr/>
              <p:nvPr/>
            </p:nvSpPr>
            <p:spPr>
              <a:xfrm>
                <a:off x="7206587" y="1583249"/>
                <a:ext cx="684000" cy="6840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  <p:sp>
          <p:nvSpPr>
            <p:cNvPr id="62" name="TextBox 17">
              <a:extLst>
                <a:ext uri="{FF2B5EF4-FFF2-40B4-BE49-F238E27FC236}">
                  <a16:creationId xmlns:a16="http://schemas.microsoft.com/office/drawing/2014/main" id="{45653325-AF8F-4463-BBBF-BFC86D2D5722}"/>
                </a:ext>
              </a:extLst>
            </p:cNvPr>
            <p:cNvSpPr txBox="1"/>
            <p:nvPr/>
          </p:nvSpPr>
          <p:spPr>
            <a:xfrm>
              <a:off x="8957351" y="1196091"/>
              <a:ext cx="728264" cy="4995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약 </a:t>
              </a:r>
              <a:r>
                <a:rPr lang="en-US" altLang="ko-KR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1</a:t>
              </a:r>
              <a:r>
                <a: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시간</a:t>
              </a:r>
              <a:endPara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anose="020B0604020202020204" pitchFamily="34" charset="0"/>
              </a:endParaRPr>
            </a:p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소요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B7E32BF8-A2EA-4C9C-9031-D5D8698C481E}"/>
              </a:ext>
            </a:extLst>
          </p:cNvPr>
          <p:cNvGrpSpPr/>
          <p:nvPr/>
        </p:nvGrpSpPr>
        <p:grpSpPr>
          <a:xfrm>
            <a:off x="1975256" y="4828297"/>
            <a:ext cx="7389846" cy="370800"/>
            <a:chOff x="2480462" y="3405605"/>
            <a:chExt cx="6939612" cy="370800"/>
          </a:xfrm>
        </p:grpSpPr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D5C2E429-481C-452D-90EE-142BC20BF7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883" y="3585439"/>
              <a:ext cx="5286933" cy="14477"/>
            </a:xfrm>
            <a:prstGeom prst="straightConnector1">
              <a:avLst/>
            </a:prstGeom>
            <a:noFill/>
            <a:ln w="381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67" name="Text Box 7">
              <a:extLst>
                <a:ext uri="{FF2B5EF4-FFF2-40B4-BE49-F238E27FC236}">
                  <a16:creationId xmlns:a16="http://schemas.microsoft.com/office/drawing/2014/main" id="{A8F213BC-BC73-46EB-AF52-93301CF94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0462" y="3405605"/>
              <a:ext cx="731931" cy="370800"/>
            </a:xfrm>
            <a:prstGeom prst="rect">
              <a:avLst/>
            </a:prstGeom>
            <a:solidFill>
              <a:srgbClr val="FAEDC7"/>
            </a:solidFill>
            <a:ln w="6350">
              <a:solidFill>
                <a:schemeClr val="accent4">
                  <a:lumMod val="50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 spc="-5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arrow" panose="020B0606020202030204" pitchFamily="34" charset="0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우편</a:t>
              </a:r>
              <a:r>
                <a:rPr lang="en-US" altLang="ko-KR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/</a:t>
              </a:r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택배 포장</a:t>
              </a:r>
            </a:p>
          </p:txBody>
        </p:sp>
        <p:sp>
          <p:nvSpPr>
            <p:cNvPr id="68" name="Text Box 7">
              <a:extLst>
                <a:ext uri="{FF2B5EF4-FFF2-40B4-BE49-F238E27FC236}">
                  <a16:creationId xmlns:a16="http://schemas.microsoft.com/office/drawing/2014/main" id="{105194F8-35A7-47BA-B4DD-99FC56F70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9401" y="3405605"/>
              <a:ext cx="778707" cy="370800"/>
            </a:xfrm>
            <a:prstGeom prst="rect">
              <a:avLst/>
            </a:prstGeom>
            <a:solidFill>
              <a:srgbClr val="FAEDC7"/>
            </a:solidFill>
            <a:ln w="6350">
              <a:solidFill>
                <a:schemeClr val="accent4">
                  <a:lumMod val="50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 spc="-5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arrow" panose="020B0606020202030204" pitchFamily="34" charset="0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40" dirty="0" err="1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하이파인애플</a:t>
              </a:r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 앱</a:t>
              </a:r>
              <a:endPara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endParaRPr>
            </a:p>
            <a:p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발송 접수</a:t>
              </a:r>
              <a:endPara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endParaRPr>
            </a:p>
          </p:txBody>
        </p:sp>
        <p:sp>
          <p:nvSpPr>
            <p:cNvPr id="69" name="Text Box 7">
              <a:extLst>
                <a:ext uri="{FF2B5EF4-FFF2-40B4-BE49-F238E27FC236}">
                  <a16:creationId xmlns:a16="http://schemas.microsoft.com/office/drawing/2014/main" id="{BF289BBB-6182-4D27-B20B-9E1DB7BB79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900" y="3405605"/>
              <a:ext cx="735519" cy="370800"/>
            </a:xfrm>
            <a:prstGeom prst="rect">
              <a:avLst/>
            </a:prstGeom>
            <a:solidFill>
              <a:srgbClr val="FAEDC7"/>
            </a:solidFill>
            <a:ln w="3175">
              <a:solidFill>
                <a:schemeClr val="accent4">
                  <a:lumMod val="50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 spc="-5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arrow" panose="020B0606020202030204" pitchFamily="34" charset="0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키오스크</a:t>
              </a:r>
              <a:endPara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endParaRPr>
            </a:p>
            <a:p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무게측정 및 결제</a:t>
              </a:r>
              <a:endPara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endParaRPr>
            </a:p>
          </p:txBody>
        </p:sp>
        <p:sp>
          <p:nvSpPr>
            <p:cNvPr id="70" name="Text Box 7">
              <a:extLst>
                <a:ext uri="{FF2B5EF4-FFF2-40B4-BE49-F238E27FC236}">
                  <a16:creationId xmlns:a16="http://schemas.microsoft.com/office/drawing/2014/main" id="{945F4924-25C1-42C0-AFF7-25394FFD42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3234" y="3405605"/>
              <a:ext cx="693858" cy="370800"/>
            </a:xfrm>
            <a:prstGeom prst="rect">
              <a:avLst/>
            </a:prstGeom>
            <a:solidFill>
              <a:srgbClr val="FAEDC7"/>
            </a:solidFill>
            <a:ln w="3175">
              <a:solidFill>
                <a:schemeClr val="accent4">
                  <a:lumMod val="50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 spc="-5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arrow" panose="020B0606020202030204" pitchFamily="34" charset="0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송장 출력 </a:t>
              </a:r>
              <a:endPara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endParaRPr>
            </a:p>
            <a:p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및</a:t>
              </a:r>
              <a:r>
                <a:rPr lang="en-US" altLang="ko-KR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 </a:t>
              </a:r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보관</a:t>
              </a:r>
              <a:endPara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endParaRPr>
            </a:p>
          </p:txBody>
        </p:sp>
        <p:sp>
          <p:nvSpPr>
            <p:cNvPr id="71" name="Text Box 7">
              <a:extLst>
                <a:ext uri="{FF2B5EF4-FFF2-40B4-BE49-F238E27FC236}">
                  <a16:creationId xmlns:a16="http://schemas.microsoft.com/office/drawing/2014/main" id="{F007C005-9253-45FC-9AAA-B3F31CAB5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3530" y="3405605"/>
              <a:ext cx="946544" cy="370800"/>
            </a:xfrm>
            <a:prstGeom prst="rect">
              <a:avLst/>
            </a:prstGeom>
            <a:solidFill>
              <a:srgbClr val="FAEDC7"/>
            </a:solidFill>
            <a:ln w="3175">
              <a:solidFill>
                <a:schemeClr val="accent4">
                  <a:lumMod val="50000"/>
                </a:schemeClr>
              </a:solidFill>
            </a:ln>
            <a:effectLst>
              <a:outerShdw dist="254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900" spc="-5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arrow" panose="020B0606020202030204" pitchFamily="34" charset="0"/>
                  <a:ea typeface="LG스마트체 SemiBold" panose="020B0600000101010101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pc="-40" dirty="0" err="1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하이파인애플</a:t>
              </a:r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 앱</a:t>
              </a:r>
              <a:endPara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endParaRPr>
            </a:p>
            <a:p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접수</a:t>
              </a:r>
              <a:r>
                <a:rPr lang="en-US" altLang="ko-KR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/</a:t>
              </a:r>
              <a:r>
                <a:rPr lang="ko-KR" altLang="en-US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0800000" scaled="1"/>
                  </a:gradFill>
                </a:rPr>
                <a:t>배송 알림</a:t>
              </a:r>
              <a:endPara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endParaRPr>
            </a:p>
          </p:txBody>
        </p:sp>
        <p:pic>
          <p:nvPicPr>
            <p:cNvPr id="72" name="Picture 3" descr="C:\Users\Administrator\AppData\Local\Microsoft\Windows\Temporary Internet Files\Content.IE5\E21L194P\MC900423575[1].wmf">
              <a:extLst>
                <a:ext uri="{FF2B5EF4-FFF2-40B4-BE49-F238E27FC236}">
                  <a16:creationId xmlns:a16="http://schemas.microsoft.com/office/drawing/2014/main" id="{9EA239D8-46EF-4F87-92B8-448B060B7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rgbClr val="FFC00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3847" y="3453716"/>
              <a:ext cx="198966" cy="254557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</p:pic>
        <p:pic>
          <p:nvPicPr>
            <p:cNvPr id="73" name="Picture 3" descr="C:\Users\Administrator\AppData\Local\Microsoft\Windows\Temporary Internet Files\Content.IE5\E21L194P\MC900423575[1].wmf">
              <a:extLst>
                <a:ext uri="{FF2B5EF4-FFF2-40B4-BE49-F238E27FC236}">
                  <a16:creationId xmlns:a16="http://schemas.microsoft.com/office/drawing/2014/main" id="{B61E101C-6D7A-4DE3-8682-F1B541EE2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rgbClr val="FFC00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8016" y="3453716"/>
              <a:ext cx="198966" cy="254557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</p:pic>
        <p:pic>
          <p:nvPicPr>
            <p:cNvPr id="74" name="Picture 3" descr="C:\Users\Administrator\AppData\Local\Microsoft\Windows\Temporary Internet Files\Content.IE5\E21L194P\MC900423575[1].wmf">
              <a:extLst>
                <a:ext uri="{FF2B5EF4-FFF2-40B4-BE49-F238E27FC236}">
                  <a16:creationId xmlns:a16="http://schemas.microsoft.com/office/drawing/2014/main" id="{811FAE44-2AB5-4502-B9E4-D7DC19FB70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rgbClr val="FFC00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5847" y="3453716"/>
              <a:ext cx="198966" cy="254557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</p:pic>
        <p:pic>
          <p:nvPicPr>
            <p:cNvPr id="75" name="Picture 3" descr="C:\Users\Administrator\AppData\Local\Microsoft\Windows\Temporary Internet Files\Content.IE5\E21L194P\MC900423575[1].wmf">
              <a:extLst>
                <a:ext uri="{FF2B5EF4-FFF2-40B4-BE49-F238E27FC236}">
                  <a16:creationId xmlns:a16="http://schemas.microsoft.com/office/drawing/2014/main" id="{4280A66B-CAF0-4B92-8E71-ECF0E2F420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rgbClr val="FFC00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4227" y="3441866"/>
              <a:ext cx="198966" cy="254557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1299ABA8-F6F3-4F4B-BF92-5604B4195392}"/>
              </a:ext>
            </a:extLst>
          </p:cNvPr>
          <p:cNvGrpSpPr/>
          <p:nvPr/>
        </p:nvGrpSpPr>
        <p:grpSpPr>
          <a:xfrm>
            <a:off x="335323" y="4764099"/>
            <a:ext cx="1102634" cy="527444"/>
            <a:chOff x="290539" y="3325695"/>
            <a:chExt cx="1102634" cy="527444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ED022534-7AC1-4F6B-B44C-980F33D64D0F}"/>
                </a:ext>
              </a:extLst>
            </p:cNvPr>
            <p:cNvGrpSpPr/>
            <p:nvPr/>
          </p:nvGrpSpPr>
          <p:grpSpPr>
            <a:xfrm>
              <a:off x="290539" y="3471717"/>
              <a:ext cx="617629" cy="224629"/>
              <a:chOff x="3191892" y="6444349"/>
              <a:chExt cx="699868" cy="268428"/>
            </a:xfrm>
          </p:grpSpPr>
          <p:sp>
            <p:nvSpPr>
              <p:cNvPr id="83" name="이등변 삼각형 82">
                <a:extLst>
                  <a:ext uri="{FF2B5EF4-FFF2-40B4-BE49-F238E27FC236}">
                    <a16:creationId xmlns:a16="http://schemas.microsoft.com/office/drawing/2014/main" id="{BBED8550-47E8-47A0-B232-0ADE7BBE20D5}"/>
                  </a:ext>
                </a:extLst>
              </p:cNvPr>
              <p:cNvSpPr/>
              <p:nvPr/>
            </p:nvSpPr>
            <p:spPr>
              <a:xfrm rot="16200000">
                <a:off x="3194045" y="6643178"/>
                <a:ext cx="67574" cy="71624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C76DE03C-0490-49B0-8338-896C70705B1B}"/>
                  </a:ext>
                </a:extLst>
              </p:cNvPr>
              <p:cNvSpPr/>
              <p:nvPr/>
            </p:nvSpPr>
            <p:spPr>
              <a:xfrm>
                <a:off x="3191892" y="6444349"/>
                <a:ext cx="699868" cy="234386"/>
              </a:xfrm>
              <a:prstGeom prst="rect">
                <a:avLst/>
              </a:prstGeom>
              <a:solidFill>
                <a:srgbClr val="0423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To-be</a:t>
                </a: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3F937E4F-E3AD-4C2D-98A7-531D6DFA2DAA}"/>
                </a:ext>
              </a:extLst>
            </p:cNvPr>
            <p:cNvGrpSpPr/>
            <p:nvPr/>
          </p:nvGrpSpPr>
          <p:grpSpPr>
            <a:xfrm>
              <a:off x="865729" y="3325695"/>
              <a:ext cx="527444" cy="527444"/>
              <a:chOff x="8951947" y="1068920"/>
              <a:chExt cx="759048" cy="759048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E6F2222-0F2C-4EE5-8AA7-5A0175D33922}"/>
                  </a:ext>
                </a:extLst>
              </p:cNvPr>
              <p:cNvGrpSpPr/>
              <p:nvPr/>
            </p:nvGrpSpPr>
            <p:grpSpPr>
              <a:xfrm>
                <a:off x="8951947" y="1068920"/>
                <a:ext cx="759048" cy="759048"/>
                <a:chOff x="7169179" y="1547603"/>
                <a:chExt cx="759048" cy="759048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17BF67C8-2BEE-405A-8376-34087469B7D5}"/>
                    </a:ext>
                  </a:extLst>
                </p:cNvPr>
                <p:cNvSpPr/>
                <p:nvPr/>
              </p:nvSpPr>
              <p:spPr>
                <a:xfrm>
                  <a:off x="7169179" y="1547603"/>
                  <a:ext cx="759048" cy="759048"/>
                </a:xfrm>
                <a:prstGeom prst="ellipse">
                  <a:avLst/>
                </a:prstGeom>
                <a:solidFill>
                  <a:srgbClr val="0423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9EC016F9-E041-4EF0-A92A-84B8237A85D2}"/>
                    </a:ext>
                  </a:extLst>
                </p:cNvPr>
                <p:cNvSpPr/>
                <p:nvPr/>
              </p:nvSpPr>
              <p:spPr>
                <a:xfrm>
                  <a:off x="7206587" y="1583249"/>
                  <a:ext cx="684000" cy="684000"/>
                </a:xfrm>
                <a:prstGeom prst="ellipse">
                  <a:avLst/>
                </a:prstGeom>
                <a:noFill/>
                <a:ln w="6350">
                  <a:solidFill>
                    <a:schemeClr val="bg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</p:grpSp>
          <p:sp>
            <p:nvSpPr>
              <p:cNvPr id="80" name="TextBox 17">
                <a:extLst>
                  <a:ext uri="{FF2B5EF4-FFF2-40B4-BE49-F238E27FC236}">
                    <a16:creationId xmlns:a16="http://schemas.microsoft.com/office/drawing/2014/main" id="{F8F8411D-AAA3-4FB2-9092-9118785106C4}"/>
                  </a:ext>
                </a:extLst>
              </p:cNvPr>
              <p:cNvSpPr txBox="1"/>
              <p:nvPr/>
            </p:nvSpPr>
            <p:spPr>
              <a:xfrm>
                <a:off x="9020436" y="1175375"/>
                <a:ext cx="602098" cy="499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20000"/>
                  </a:lnSpc>
                  <a:defRPr/>
                </a:pPr>
                <a:r>
                  <a: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약 </a:t>
                </a:r>
                <a:r>
                  <a:rPr lang="en-US" altLang="ko-KR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5</a:t>
                </a:r>
                <a:r>
                  <a: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분</a:t>
                </a:r>
                <a:endParaRPr lang="en-US" altLang="ko-KR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endParaRPr>
              </a:p>
              <a:p>
                <a:pPr lvl="0" algn="ctr">
                  <a:lnSpc>
                    <a:spcPct val="120000"/>
                  </a:lnSpc>
                  <a:defRPr/>
                </a:pPr>
                <a:r>
                  <a: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소요</a:t>
                </a:r>
              </a:p>
            </p:txBody>
          </p:sp>
        </p:grp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DA38BFE7-695B-44D7-BD2B-2F39AEF6CC8C}"/>
              </a:ext>
            </a:extLst>
          </p:cNvPr>
          <p:cNvGrpSpPr/>
          <p:nvPr/>
        </p:nvGrpSpPr>
        <p:grpSpPr>
          <a:xfrm>
            <a:off x="6927723" y="5226082"/>
            <a:ext cx="1970116" cy="443330"/>
            <a:chOff x="7101840" y="3794760"/>
            <a:chExt cx="792480" cy="826367"/>
          </a:xfrm>
        </p:grpSpPr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B7910BE7-EBEC-4B12-BD25-F8FE4DCD227F}"/>
                </a:ext>
              </a:extLst>
            </p:cNvPr>
            <p:cNvCxnSpPr>
              <a:cxnSpLocks/>
            </p:cNvCxnSpPr>
            <p:nvPr/>
          </p:nvCxnSpPr>
          <p:spPr>
            <a:xfrm>
              <a:off x="7480562" y="3794760"/>
              <a:ext cx="0" cy="826367"/>
            </a:xfrm>
            <a:prstGeom prst="straightConnector1">
              <a:avLst/>
            </a:prstGeom>
            <a:noFill/>
            <a:ln w="12700">
              <a:solidFill>
                <a:schemeClr val="accent4">
                  <a:lumMod val="50000"/>
                </a:schemeClr>
              </a:solidFill>
              <a:prstDash val="sysDash"/>
              <a:tailEnd type="triangle"/>
            </a:ln>
          </p:spPr>
        </p:cxnSp>
        <p:sp>
          <p:nvSpPr>
            <p:cNvPr id="114" name="자유형: 도형 33">
              <a:extLst>
                <a:ext uri="{FF2B5EF4-FFF2-40B4-BE49-F238E27FC236}">
                  <a16:creationId xmlns:a16="http://schemas.microsoft.com/office/drawing/2014/main" id="{AEE7AB7D-F01D-41FA-A466-99076E9F4AD7}"/>
                </a:ext>
              </a:extLst>
            </p:cNvPr>
            <p:cNvSpPr/>
            <p:nvPr/>
          </p:nvSpPr>
          <p:spPr>
            <a:xfrm>
              <a:off x="7101840" y="3794760"/>
              <a:ext cx="792480" cy="233655"/>
            </a:xfrm>
            <a:custGeom>
              <a:avLst/>
              <a:gdLst>
                <a:gd name="connsiteX0" fmla="*/ 0 w 792480"/>
                <a:gd name="connsiteY0" fmla="*/ 0 h 152400"/>
                <a:gd name="connsiteX1" fmla="*/ 0 w 792480"/>
                <a:gd name="connsiteY1" fmla="*/ 152400 h 152400"/>
                <a:gd name="connsiteX2" fmla="*/ 792480 w 792480"/>
                <a:gd name="connsiteY2" fmla="*/ 152400 h 152400"/>
                <a:gd name="connsiteX3" fmla="*/ 792480 w 792480"/>
                <a:gd name="connsiteY3" fmla="*/ 762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2480" h="152400">
                  <a:moveTo>
                    <a:pt x="0" y="0"/>
                  </a:moveTo>
                  <a:lnTo>
                    <a:pt x="0" y="152400"/>
                  </a:lnTo>
                  <a:lnTo>
                    <a:pt x="792480" y="152400"/>
                  </a:lnTo>
                  <a:lnTo>
                    <a:pt x="792480" y="7620"/>
                  </a:lnTo>
                </a:path>
              </a:pathLst>
            </a:custGeom>
            <a:noFill/>
            <a:ln w="12700">
              <a:solidFill>
                <a:schemeClr val="accent4">
                  <a:lumMod val="50000"/>
                </a:schemeClr>
              </a:solidFill>
              <a:prstDash val="sysDash"/>
              <a:tailEnd type="none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ECB4CF4-B83C-4F9F-8A31-245ECB5F44C9}"/>
              </a:ext>
            </a:extLst>
          </p:cNvPr>
          <p:cNvGrpSpPr/>
          <p:nvPr/>
        </p:nvGrpSpPr>
        <p:grpSpPr>
          <a:xfrm>
            <a:off x="4886505" y="1312251"/>
            <a:ext cx="4651786" cy="2103355"/>
            <a:chOff x="4953000" y="1151204"/>
            <a:chExt cx="4505184" cy="196461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FD78D45-2C3E-46B7-B741-15065B547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53000" y="1151204"/>
              <a:ext cx="4505184" cy="1964619"/>
            </a:xfrm>
            <a:prstGeom prst="rect">
              <a:avLst/>
            </a:prstGeom>
          </p:spPr>
        </p:pic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D0EAE0CE-A146-49B7-B130-D96C5F0752C3}"/>
                </a:ext>
              </a:extLst>
            </p:cNvPr>
            <p:cNvSpPr/>
            <p:nvPr/>
          </p:nvSpPr>
          <p:spPr>
            <a:xfrm>
              <a:off x="8103305" y="1504034"/>
              <a:ext cx="1251572" cy="133541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ko-KR" altLang="en-US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출처</a:t>
              </a:r>
              <a:r>
                <a:rPr lang="en-US" altLang="ko-KR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: </a:t>
              </a:r>
              <a:r>
                <a:rPr lang="ko-KR" altLang="en-US" sz="700" i="1" dirty="0" err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소방청</a:t>
              </a:r>
              <a:r>
                <a:rPr lang="ko-KR" altLang="en-US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 </a:t>
              </a:r>
              <a:r>
                <a:rPr lang="en-US" altLang="ko-KR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(2021</a:t>
              </a:r>
              <a:r>
                <a:rPr lang="ko-KR" altLang="en-US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년도</a:t>
              </a:r>
              <a:r>
                <a:rPr lang="en-US" altLang="ko-KR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)</a:t>
              </a:r>
              <a:endParaRPr lang="ko-KR" altLang="en-US" sz="700" i="1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FACD8354-55B4-46B7-909B-B48D120E0E10}"/>
              </a:ext>
            </a:extLst>
          </p:cNvPr>
          <p:cNvSpPr/>
          <p:nvPr/>
        </p:nvSpPr>
        <p:spPr>
          <a:xfrm>
            <a:off x="4342905" y="6070405"/>
            <a:ext cx="242179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조리기구 발화점 감시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3E344BF-8DBE-4B63-A1AB-A5FF51CC7D1E}"/>
              </a:ext>
            </a:extLst>
          </p:cNvPr>
          <p:cNvSpPr/>
          <p:nvPr/>
        </p:nvSpPr>
        <p:spPr>
          <a:xfrm>
            <a:off x="6349639" y="6070405"/>
            <a:ext cx="242179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1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차 </a:t>
            </a:r>
            <a:r>
              <a:rPr lang="ko-KR" altLang="en-US" sz="1100" dirty="0" err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경보음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방출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D24746B-4EDA-40D7-81E9-57AC4A709807}"/>
              </a:ext>
            </a:extLst>
          </p:cNvPr>
          <p:cNvSpPr/>
          <p:nvPr/>
        </p:nvSpPr>
        <p:spPr>
          <a:xfrm>
            <a:off x="8146499" y="5985767"/>
            <a:ext cx="205550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2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차 </a:t>
            </a:r>
            <a:r>
              <a:rPr lang="ko-KR" altLang="en-US" sz="1100" dirty="0" err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경보음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방출 및 </a:t>
            </a:r>
            <a:br>
              <a:rPr lang="en-US" altLang="ko-KR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</a:b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가스밸브차단</a:t>
            </a:r>
          </a:p>
        </p:txBody>
      </p:sp>
      <p:sp>
        <p:nvSpPr>
          <p:cNvPr id="89" name="화살표: 오각형 88">
            <a:extLst>
              <a:ext uri="{FF2B5EF4-FFF2-40B4-BE49-F238E27FC236}">
                <a16:creationId xmlns:a16="http://schemas.microsoft.com/office/drawing/2014/main" id="{1D69E3F1-E016-499C-A95F-0D7088098BA9}"/>
              </a:ext>
            </a:extLst>
          </p:cNvPr>
          <p:cNvSpPr/>
          <p:nvPr/>
        </p:nvSpPr>
        <p:spPr>
          <a:xfrm>
            <a:off x="4265421" y="5998034"/>
            <a:ext cx="1913726" cy="406352"/>
          </a:xfrm>
          <a:prstGeom prst="homePlat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90" name="화살표: 오각형 89">
            <a:extLst>
              <a:ext uri="{FF2B5EF4-FFF2-40B4-BE49-F238E27FC236}">
                <a16:creationId xmlns:a16="http://schemas.microsoft.com/office/drawing/2014/main" id="{8F677122-9A18-4269-BB32-4D602D7190CC}"/>
              </a:ext>
            </a:extLst>
          </p:cNvPr>
          <p:cNvSpPr/>
          <p:nvPr/>
        </p:nvSpPr>
        <p:spPr>
          <a:xfrm>
            <a:off x="6251156" y="5998034"/>
            <a:ext cx="1686674" cy="406352"/>
          </a:xfrm>
          <a:prstGeom prst="homePlat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91" name="화살표: 오각형 90">
            <a:extLst>
              <a:ext uri="{FF2B5EF4-FFF2-40B4-BE49-F238E27FC236}">
                <a16:creationId xmlns:a16="http://schemas.microsoft.com/office/drawing/2014/main" id="{0ADF6F1A-E0B0-4E27-AFBA-637107B6BA96}"/>
              </a:ext>
            </a:extLst>
          </p:cNvPr>
          <p:cNvSpPr/>
          <p:nvPr/>
        </p:nvSpPr>
        <p:spPr>
          <a:xfrm>
            <a:off x="8009837" y="5998034"/>
            <a:ext cx="1790612" cy="406352"/>
          </a:xfrm>
          <a:prstGeom prst="homePlat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2C7B5A3-5003-43AF-8EDF-6B449CC84B7E}"/>
              </a:ext>
            </a:extLst>
          </p:cNvPr>
          <p:cNvSpPr/>
          <p:nvPr/>
        </p:nvSpPr>
        <p:spPr>
          <a:xfrm>
            <a:off x="6300574" y="6644876"/>
            <a:ext cx="518123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지정 사용자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소방안전관리자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급식매니저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에게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SMS/Call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제공</a:t>
            </a:r>
            <a:endParaRPr lang="ko-KR" altLang="en-US" sz="1200" dirty="0"/>
          </a:p>
        </p:txBody>
      </p:sp>
      <p:sp>
        <p:nvSpPr>
          <p:cNvPr id="93" name="화살표: 오각형 92">
            <a:extLst>
              <a:ext uri="{FF2B5EF4-FFF2-40B4-BE49-F238E27FC236}">
                <a16:creationId xmlns:a16="http://schemas.microsoft.com/office/drawing/2014/main" id="{AF32D95C-0739-404B-87C8-D01207DA51D3}"/>
              </a:ext>
            </a:extLst>
          </p:cNvPr>
          <p:cNvSpPr/>
          <p:nvPr/>
        </p:nvSpPr>
        <p:spPr>
          <a:xfrm>
            <a:off x="6251155" y="6572505"/>
            <a:ext cx="5086092" cy="406352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94" name="화살표: 아래쪽 93">
            <a:extLst>
              <a:ext uri="{FF2B5EF4-FFF2-40B4-BE49-F238E27FC236}">
                <a16:creationId xmlns:a16="http://schemas.microsoft.com/office/drawing/2014/main" id="{FE142A5A-A14F-4E87-B526-15D405A6F2F4}"/>
              </a:ext>
            </a:extLst>
          </p:cNvPr>
          <p:cNvSpPr/>
          <p:nvPr/>
        </p:nvSpPr>
        <p:spPr>
          <a:xfrm>
            <a:off x="6783349" y="6332015"/>
            <a:ext cx="216024" cy="255879"/>
          </a:xfrm>
          <a:prstGeom prst="downArrow">
            <a:avLst/>
          </a:prstGeom>
          <a:solidFill>
            <a:srgbClr val="C00000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95" name="화살표: 아래쪽 94">
            <a:extLst>
              <a:ext uri="{FF2B5EF4-FFF2-40B4-BE49-F238E27FC236}">
                <a16:creationId xmlns:a16="http://schemas.microsoft.com/office/drawing/2014/main" id="{522CBA30-5F7F-4494-8D66-DD4B7AF82FC3}"/>
              </a:ext>
            </a:extLst>
          </p:cNvPr>
          <p:cNvSpPr/>
          <p:nvPr/>
        </p:nvSpPr>
        <p:spPr>
          <a:xfrm>
            <a:off x="8832452" y="6345961"/>
            <a:ext cx="216024" cy="255879"/>
          </a:xfrm>
          <a:prstGeom prst="downArrow">
            <a:avLst/>
          </a:prstGeom>
          <a:solidFill>
            <a:srgbClr val="C00000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AC8762E8-0893-49A8-8A0D-ADB7CCABD7C1}"/>
              </a:ext>
            </a:extLst>
          </p:cNvPr>
          <p:cNvSpPr/>
          <p:nvPr/>
        </p:nvSpPr>
        <p:spPr>
          <a:xfrm>
            <a:off x="9975425" y="5998035"/>
            <a:ext cx="205550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발생 원인 및 조치 내용</a:t>
            </a:r>
            <a:br>
              <a:rPr lang="en-US" altLang="ko-KR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</a:br>
            <a:r>
              <a:rPr lang="en-US" altLang="ko-KR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Database </a:t>
            </a:r>
            <a:r>
              <a:rPr lang="ko-KR" altLang="en-US" sz="11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화</a:t>
            </a:r>
          </a:p>
        </p:txBody>
      </p:sp>
      <p:sp>
        <p:nvSpPr>
          <p:cNvPr id="97" name="화살표: 오각형 96">
            <a:extLst>
              <a:ext uri="{FF2B5EF4-FFF2-40B4-BE49-F238E27FC236}">
                <a16:creationId xmlns:a16="http://schemas.microsoft.com/office/drawing/2014/main" id="{B0BB3930-588D-468C-9505-F675C916AD1B}"/>
              </a:ext>
            </a:extLst>
          </p:cNvPr>
          <p:cNvSpPr/>
          <p:nvPr/>
        </p:nvSpPr>
        <p:spPr>
          <a:xfrm>
            <a:off x="9838763" y="6010302"/>
            <a:ext cx="1790612" cy="406352"/>
          </a:xfrm>
          <a:prstGeom prst="homePlate">
            <a:avLst>
              <a:gd name="adj" fmla="val 42582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98" name="화살표: 아래쪽 97">
            <a:extLst>
              <a:ext uri="{FF2B5EF4-FFF2-40B4-BE49-F238E27FC236}">
                <a16:creationId xmlns:a16="http://schemas.microsoft.com/office/drawing/2014/main" id="{5B552F38-1FF2-46BE-A789-5B7E233450C3}"/>
              </a:ext>
            </a:extLst>
          </p:cNvPr>
          <p:cNvSpPr/>
          <p:nvPr/>
        </p:nvSpPr>
        <p:spPr>
          <a:xfrm rot="10800000">
            <a:off x="10563770" y="6341162"/>
            <a:ext cx="216024" cy="255879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47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97C7840-B4B3-4B30-980D-442CC1E80B36}"/>
              </a:ext>
            </a:extLst>
          </p:cNvPr>
          <p:cNvSpPr/>
          <p:nvPr/>
        </p:nvSpPr>
        <p:spPr>
          <a:xfrm>
            <a:off x="250910" y="1201220"/>
            <a:ext cx="4579336" cy="5189389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250910" y="803652"/>
            <a:ext cx="3759017" cy="312393"/>
            <a:chOff x="573784" y="2158310"/>
            <a:chExt cx="4615164" cy="383543"/>
          </a:xfrm>
        </p:grpSpPr>
        <p:sp>
          <p:nvSpPr>
            <p:cNvPr id="61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3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㈜그립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‘ALLSAFER’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제품 사양</a:t>
              </a:r>
            </a:p>
          </p:txBody>
        </p:sp>
        <p:grpSp>
          <p:nvGrpSpPr>
            <p:cNvPr id="62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63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4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5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F6BC731C-C2AA-4525-A74E-06E633259C3E}"/>
              </a:ext>
            </a:extLst>
          </p:cNvPr>
          <p:cNvCxnSpPr/>
          <p:nvPr/>
        </p:nvCxnSpPr>
        <p:spPr>
          <a:xfrm>
            <a:off x="4953000" y="1785303"/>
            <a:ext cx="0" cy="4525378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5280403" y="3092897"/>
            <a:ext cx="4510478" cy="839254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lnSpc>
                <a:spcPct val="130000"/>
              </a:lnSpc>
            </a:pP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서비스 이용 범위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우체국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우편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등기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택배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로젠택배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), DHL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해외배송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퀵</a:t>
            </a:r>
            <a:endParaRPr lang="en-US" altLang="ko-KR" sz="100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 특징 </a:t>
            </a:r>
            <a:endParaRPr lang="en-US" altLang="ko-KR" sz="100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현장 접수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+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간편한 온라인 예약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접수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하이파인애플 연동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endParaRPr lang="en-US" altLang="ko-KR" sz="100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QR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체크를 통한 신속한 예약 확인 </a:t>
            </a:r>
            <a:endParaRPr lang="en-US" altLang="ko-KR" sz="100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간편한 무게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부피측정을 통한 비용확인 및 결재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카드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</a:p>
          <a:p>
            <a:pPr defTabSz="914400" latinLnBrk="1">
              <a:lnSpc>
                <a:spcPct val="130000"/>
              </a:lnSpc>
            </a:pP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우편 및 택배 송장 자동 출력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</a:t>
            </a:r>
          </a:p>
          <a:p>
            <a:pPr defTabSz="914400" latinLnBrk="1">
              <a:lnSpc>
                <a:spcPct val="130000"/>
              </a:lnSpc>
            </a:pP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보관함을 통해 대기없이 발송 가능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단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수신 </a:t>
            </a:r>
            <a:r>
              <a:rPr lang="en-US" altLang="ko-KR" sz="10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X)</a:t>
            </a:r>
            <a:endParaRPr lang="ko-KR" altLang="en-US" sz="100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E68143CF-85F9-4359-9093-460BD31E1724}"/>
              </a:ext>
            </a:extLst>
          </p:cNvPr>
          <p:cNvGrpSpPr/>
          <p:nvPr/>
        </p:nvGrpSpPr>
        <p:grpSpPr>
          <a:xfrm>
            <a:off x="5370185" y="1545357"/>
            <a:ext cx="1258746" cy="502874"/>
            <a:chOff x="5223364" y="2198789"/>
            <a:chExt cx="1554523" cy="621039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1D294E-C124-4554-B37E-B4A6C332AE55}"/>
                </a:ext>
              </a:extLst>
            </p:cNvPr>
            <p:cNvSpPr txBox="1"/>
            <p:nvPr/>
          </p:nvSpPr>
          <p:spPr>
            <a:xfrm>
              <a:off x="5968199" y="2330218"/>
              <a:ext cx="809688" cy="456117"/>
            </a:xfrm>
            <a:prstGeom prst="rect">
              <a:avLst/>
            </a:prstGeom>
            <a:noFill/>
            <a:ln>
              <a:solidFill>
                <a:srgbClr val="FF0000">
                  <a:alpha val="0"/>
                </a:srgbClr>
              </a:solidFill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10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LG스마트체 Light" panose="020B0600000101010101" pitchFamily="50" charset="-127"/>
                  <a:ea typeface="LG스마트체 Light" panose="020B0600000101010101" pitchFamily="50" charset="-127"/>
                </a:rPr>
                <a:t>간편한</a:t>
              </a:r>
              <a:endParaRPr kumimoji="0" lang="en-US" altLang="ko-KR" sz="1200" b="0" i="0" u="none" strike="noStrike" kern="1200" cap="none" spc="-10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LG스마트체 Light" panose="020B0600000101010101" pitchFamily="50" charset="-127"/>
                <a:ea typeface="LG스마트체 Light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10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배송 서비스</a:t>
              </a:r>
            </a:p>
          </p:txBody>
        </p:sp>
        <p:sp>
          <p:nvSpPr>
            <p:cNvPr id="206" name="사각형: 둥근 모서리 59">
              <a:extLst>
                <a:ext uri="{FF2B5EF4-FFF2-40B4-BE49-F238E27FC236}">
                  <a16:creationId xmlns:a16="http://schemas.microsoft.com/office/drawing/2014/main" id="{DFB43D64-1074-44BC-8DCA-EE6E73B0E410}"/>
                </a:ext>
              </a:extLst>
            </p:cNvPr>
            <p:cNvSpPr/>
            <p:nvPr/>
          </p:nvSpPr>
          <p:spPr>
            <a:xfrm>
              <a:off x="5223364" y="2249559"/>
              <a:ext cx="570269" cy="570269"/>
            </a:xfrm>
            <a:prstGeom prst="roundRect">
              <a:avLst>
                <a:gd name="adj" fmla="val 20417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7" name="그림 206">
              <a:extLst>
                <a:ext uri="{FF2B5EF4-FFF2-40B4-BE49-F238E27FC236}">
                  <a16:creationId xmlns:a16="http://schemas.microsoft.com/office/drawing/2014/main" id="{AC896250-D90C-4267-969B-23CEDCA7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633" y="2198789"/>
              <a:ext cx="210060" cy="180051"/>
            </a:xfrm>
            <a:prstGeom prst="rect">
              <a:avLst/>
            </a:prstGeom>
          </p:spPr>
        </p:pic>
        <p:pic>
          <p:nvPicPr>
            <p:cNvPr id="208" name="그림 207">
              <a:extLst>
                <a:ext uri="{FF2B5EF4-FFF2-40B4-BE49-F238E27FC236}">
                  <a16:creationId xmlns:a16="http://schemas.microsoft.com/office/drawing/2014/main" id="{869D00AE-A3D2-422D-9E62-5362136855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E3E4E6"/>
                </a:clrFrom>
                <a:clrTo>
                  <a:srgbClr val="E3E4E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08" t="73482" r="56348" b="20420"/>
            <a:stretch/>
          </p:blipFill>
          <p:spPr>
            <a:xfrm>
              <a:off x="5290122" y="2331709"/>
              <a:ext cx="468162" cy="468696"/>
            </a:xfrm>
            <a:prstGeom prst="roundRect">
              <a:avLst>
                <a:gd name="adj" fmla="val 9544"/>
              </a:avLst>
            </a:prstGeom>
          </p:spPr>
        </p:pic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25055EB9-8778-45C2-8F5B-03E12E544615}"/>
                </a:ext>
              </a:extLst>
            </p:cNvPr>
            <p:cNvSpPr/>
            <p:nvPr/>
          </p:nvSpPr>
          <p:spPr>
            <a:xfrm>
              <a:off x="5389231" y="2508567"/>
              <a:ext cx="328330" cy="152301"/>
            </a:xfrm>
            <a:prstGeom prst="rect">
              <a:avLst/>
            </a:prstGeom>
            <a:solidFill>
              <a:srgbClr val="FDCE07">
                <a:alpha val="49804"/>
              </a:srgbClr>
            </a:solidFill>
            <a:ln>
              <a:noFill/>
            </a:ln>
          </p:spPr>
          <p:txBody>
            <a:bodyPr rot="0" spcFirstLastPara="0" vertOverflow="overflow" horzOverflow="overflow" vert="horz" wrap="non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5000"/>
                </a:lnSpc>
                <a:buClr>
                  <a:srgbClr val="C00C3F"/>
                </a:buClr>
              </a:pPr>
              <a:endPara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rgbClr val="282828"/>
                    </a:gs>
                    <a:gs pos="100000">
                      <a:srgbClr val="282828"/>
                    </a:gs>
                  </a:gsLst>
                  <a:lin ang="5400000" scaled="0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210" name="그룹 209"/>
          <p:cNvGrpSpPr/>
          <p:nvPr/>
        </p:nvGrpSpPr>
        <p:grpSpPr>
          <a:xfrm>
            <a:off x="5468507" y="2183904"/>
            <a:ext cx="4339777" cy="686254"/>
            <a:chOff x="5325813" y="1649440"/>
            <a:chExt cx="4075323" cy="686254"/>
          </a:xfrm>
        </p:grpSpPr>
        <p:sp>
          <p:nvSpPr>
            <p:cNvPr id="211" name="TextBox 17">
              <a:extLst>
                <a:ext uri="{FF2B5EF4-FFF2-40B4-BE49-F238E27FC236}">
                  <a16:creationId xmlns:a16="http://schemas.microsoft.com/office/drawing/2014/main" id="{E2F50FF7-4A3E-4BC8-BDEB-C0F19670AEBD}"/>
                </a:ext>
              </a:extLst>
            </p:cNvPr>
            <p:cNvSpPr txBox="1"/>
            <p:nvPr/>
          </p:nvSpPr>
          <p:spPr>
            <a:xfrm>
              <a:off x="5325813" y="1651000"/>
              <a:ext cx="4075323" cy="68469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57000">
                  <a:srgbClr val="EDEDED"/>
                </a:gs>
                <a:gs pos="85000">
                  <a:srgbClr val="E5E5E5"/>
                </a:gs>
                <a:gs pos="100000">
                  <a:srgbClr val="E5E5E5"/>
                </a:gs>
              </a:gsLst>
              <a:lin ang="10800000" scaled="1"/>
              <a:tileRect/>
            </a:gra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lvl="0">
                <a:lnSpc>
                  <a:spcPct val="150000"/>
                </a:lnSpc>
                <a:defRPr sz="1000" i="0" spc="-50">
                  <a:solidFill>
                    <a:prstClr val="black"/>
                  </a:solidFill>
                  <a:latin typeface="LG스마트체 Regular"/>
                  <a:ea typeface="LG스마트체 Regular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en-US" altLang="ko-KR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212" name="TextBox 17">
              <a:extLst>
                <a:ext uri="{FF2B5EF4-FFF2-40B4-BE49-F238E27FC236}">
                  <a16:creationId xmlns:a16="http://schemas.microsoft.com/office/drawing/2014/main" id="{70D96C7E-D116-451A-9B9F-31DAEE739075}"/>
                </a:ext>
              </a:extLst>
            </p:cNvPr>
            <p:cNvSpPr txBox="1"/>
            <p:nvPr/>
          </p:nvSpPr>
          <p:spPr>
            <a:xfrm>
              <a:off x="5414927" y="1649440"/>
              <a:ext cx="3986209" cy="675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편리성향상</a:t>
              </a: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 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 </a:t>
              </a:r>
              <a:r>
                <a:rPr lang="en-US" altLang="ko-KR" sz="9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24H</a:t>
              </a:r>
              <a:r>
                <a:rPr lang="ko-KR" altLang="en-US" sz="9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95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이용가능하고</a:t>
              </a:r>
              <a:r>
                <a:rPr lang="en-US" altLang="ko-KR" sz="9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9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약속하고 기다리고 </a:t>
              </a:r>
              <a:r>
                <a:rPr lang="ko-KR" altLang="en-US" sz="95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만나야하는</a:t>
              </a:r>
              <a:r>
                <a:rPr lang="ko-KR" altLang="en-US" sz="9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번거로움 개선</a:t>
              </a:r>
              <a:endParaRPr lang="en-US" altLang="ko-KR" sz="9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업무간소화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  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 </a:t>
              </a:r>
              <a:r>
                <a:rPr lang="ko-KR" altLang="en-US" sz="9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매일 우체국으로 가서 직접 접수해야 하는 불편한 배송 업무</a:t>
              </a:r>
              <a:r>
                <a:rPr lang="en-US" altLang="ko-KR" sz="9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9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개선</a:t>
              </a:r>
              <a:endParaRPr lang="en-US" altLang="ko-KR" sz="9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쾌적한환경</a:t>
              </a: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DC4D3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  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 </a:t>
              </a:r>
              <a:r>
                <a:rPr lang="ko-KR" altLang="en-US" sz="95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퀵</a:t>
              </a:r>
              <a:r>
                <a:rPr lang="en-US" altLang="ko-KR" sz="9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9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배달 기사님들의 대기로 인한 혼잡한 상태 환경개선 </a:t>
              </a:r>
              <a:endParaRPr lang="en-US" altLang="ko-KR" sz="9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7F8B39B8-291F-4AD4-BC1E-7302C7A8F480}"/>
              </a:ext>
            </a:extLst>
          </p:cNvPr>
          <p:cNvGrpSpPr/>
          <p:nvPr/>
        </p:nvGrpSpPr>
        <p:grpSpPr>
          <a:xfrm>
            <a:off x="6441595" y="1717706"/>
            <a:ext cx="3366689" cy="275980"/>
            <a:chOff x="12285405" y="3340438"/>
            <a:chExt cx="3507681" cy="370016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12285405" y="3370020"/>
              <a:ext cx="3507681" cy="34043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105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   우편</a:t>
              </a:r>
              <a:r>
                <a:rPr lang="en-US" altLang="ko-KR" sz="105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/</a:t>
              </a:r>
              <a:r>
                <a:rPr lang="ko-KR" altLang="en-US" sz="105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택배</a:t>
              </a:r>
              <a:r>
                <a:rPr lang="en-US" altLang="ko-KR" sz="105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(</a:t>
              </a:r>
              <a:r>
                <a:rPr lang="ko-KR" altLang="en-US" sz="105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해외배송</a:t>
              </a:r>
              <a:r>
                <a:rPr lang="en-US" altLang="ko-KR" sz="105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), </a:t>
              </a:r>
              <a:r>
                <a:rPr lang="ko-KR" altLang="en-US" sz="1050" dirty="0" err="1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퀵</a:t>
              </a:r>
              <a:r>
                <a:rPr lang="ko-KR" altLang="en-US" sz="105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 등 물품배송 </a:t>
              </a:r>
              <a:r>
                <a:rPr lang="ko-KR" altLang="en-US" sz="1050" dirty="0" err="1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올인원</a:t>
              </a:r>
              <a:r>
                <a:rPr lang="ko-KR" altLang="en-US" sz="105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 제공</a:t>
              </a:r>
              <a:endParaRPr lang="en-US" altLang="ko-KR" sz="105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pic>
          <p:nvPicPr>
            <p:cNvPr id="230" name="그래픽 657">
              <a:extLst>
                <a:ext uri="{FF2B5EF4-FFF2-40B4-BE49-F238E27FC236}">
                  <a16:creationId xmlns:a16="http://schemas.microsoft.com/office/drawing/2014/main" id="{F1CD6702-F81F-4DC3-AA7E-9E6EF9338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580303" y="3340438"/>
              <a:ext cx="108624" cy="96567"/>
            </a:xfrm>
            <a:prstGeom prst="rect">
              <a:avLst/>
            </a:prstGeom>
          </p:spPr>
        </p:pic>
        <p:pic>
          <p:nvPicPr>
            <p:cNvPr id="231" name="그래픽 658">
              <a:extLst>
                <a:ext uri="{FF2B5EF4-FFF2-40B4-BE49-F238E27FC236}">
                  <a16:creationId xmlns:a16="http://schemas.microsoft.com/office/drawing/2014/main" id="{36762E48-C6B8-40EF-8E7D-A2059824B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15539592" y="3352022"/>
              <a:ext cx="108624" cy="96567"/>
            </a:xfrm>
            <a:prstGeom prst="rect">
              <a:avLst/>
            </a:prstGeom>
          </p:spPr>
        </p:pic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4F7820FB-79D4-423C-86B6-729F1498276F}"/>
              </a:ext>
            </a:extLst>
          </p:cNvPr>
          <p:cNvGrpSpPr/>
          <p:nvPr/>
        </p:nvGrpSpPr>
        <p:grpSpPr>
          <a:xfrm>
            <a:off x="5186034" y="1129470"/>
            <a:ext cx="2494172" cy="261610"/>
            <a:chOff x="13078322" y="7024021"/>
            <a:chExt cx="1418166" cy="444332"/>
          </a:xfrm>
        </p:grpSpPr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B63A172F-C10D-421B-9298-3D54C0A65B20}"/>
                </a:ext>
              </a:extLst>
            </p:cNvPr>
            <p:cNvSpPr/>
            <p:nvPr/>
          </p:nvSpPr>
          <p:spPr>
            <a:xfrm>
              <a:off x="13078322" y="7024021"/>
              <a:ext cx="1418166" cy="444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fontAlgn="base">
                <a:spcBef>
                  <a:spcPts val="1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 주요 서비스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/</a:t>
              </a: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기능 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(</a:t>
              </a: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자동 가스 차단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)</a:t>
              </a:r>
              <a:endParaRPr kumimoji="1" lang="ko-KR" altLang="en-US" sz="1100" dirty="0">
                <a:ln>
                  <a:solidFill>
                    <a:srgbClr val="8E969E">
                      <a:alpha val="0"/>
                    </a:srgbClr>
                  </a:solidFill>
                </a:ln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9CE966BC-8CEE-425B-8E36-4B1D11645E0A}"/>
                </a:ext>
              </a:extLst>
            </p:cNvPr>
            <p:cNvCxnSpPr>
              <a:cxnSpLocks/>
            </p:cNvCxnSpPr>
            <p:nvPr/>
          </p:nvCxnSpPr>
          <p:spPr>
            <a:xfrm>
              <a:off x="13155084" y="7457969"/>
              <a:ext cx="1341404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F7820FB-79D4-423C-86B6-729F1498276F}"/>
              </a:ext>
            </a:extLst>
          </p:cNvPr>
          <p:cNvGrpSpPr/>
          <p:nvPr/>
        </p:nvGrpSpPr>
        <p:grpSpPr>
          <a:xfrm>
            <a:off x="5191245" y="4846011"/>
            <a:ext cx="1442900" cy="261610"/>
            <a:chOff x="13078322" y="7024021"/>
            <a:chExt cx="1418166" cy="444332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63A172F-C10D-421B-9298-3D54C0A65B20}"/>
                </a:ext>
              </a:extLst>
            </p:cNvPr>
            <p:cNvSpPr/>
            <p:nvPr/>
          </p:nvSpPr>
          <p:spPr>
            <a:xfrm>
              <a:off x="13078322" y="7024021"/>
              <a:ext cx="1418166" cy="444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fontAlgn="base">
                <a:spcBef>
                  <a:spcPts val="1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 추가 기능 반영사항 </a:t>
              </a: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9CE966BC-8CEE-425B-8E36-4B1D11645E0A}"/>
                </a:ext>
              </a:extLst>
            </p:cNvPr>
            <p:cNvCxnSpPr>
              <a:cxnSpLocks/>
            </p:cNvCxnSpPr>
            <p:nvPr/>
          </p:nvCxnSpPr>
          <p:spPr>
            <a:xfrm>
              <a:off x="13155084" y="7457969"/>
              <a:ext cx="1341404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직사각형 45"/>
          <p:cNvSpPr/>
          <p:nvPr/>
        </p:nvSpPr>
        <p:spPr>
          <a:xfrm>
            <a:off x="5285613" y="5153600"/>
            <a:ext cx="4510478" cy="839254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lnSpc>
                <a:spcPct val="130000"/>
              </a:lnSpc>
              <a:spcAft>
                <a:spcPts val="3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RMS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연동 개발 및 추가 아이템 제안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1)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경보 및 상태 변동 정보의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SMS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알림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(’23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2)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환경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온습도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CO2)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모니터링 기능 확장 가능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3)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방화취약구역 내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IoT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화재감지기 추가 설치 가능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101082"/>
              </p:ext>
            </p:extLst>
          </p:nvPr>
        </p:nvGraphicFramePr>
        <p:xfrm>
          <a:off x="6059610" y="61377"/>
          <a:ext cx="3783130" cy="510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3130">
                  <a:extLst>
                    <a:ext uri="{9D8B030D-6E8A-4147-A177-3AD203B41FA5}">
                      <a16:colId xmlns:a16="http://schemas.microsoft.com/office/drawing/2014/main" val="2806634083"/>
                    </a:ext>
                  </a:extLst>
                </a:gridCol>
              </a:tblGrid>
              <a:tr h="510762">
                <a:tc>
                  <a:txBody>
                    <a:bodyPr/>
                    <a:lstStyle/>
                    <a:p>
                      <a:pPr marL="0" indent="0" algn="l" fontAlgn="ctr"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[</a:t>
                      </a:r>
                      <a:r>
                        <a:rPr lang="ko-KR" altLang="en-US" sz="750" b="1" u="none" strike="noStrike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무인키오스크</a:t>
                      </a:r>
                      <a:r>
                        <a:rPr lang="ko-KR" altLang="en-US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 설치 의향이 있는 현장</a:t>
                      </a:r>
                      <a:r>
                        <a:rPr lang="en-US" altLang="ko-KR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]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 메일센터 有 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: CNS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부평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, LS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타워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, </a:t>
                      </a:r>
                      <a:r>
                        <a:rPr lang="ko-KR" altLang="en-US" sz="750" u="none" strike="noStrike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곤지암리조트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, 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트윈타워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, </a:t>
                      </a:r>
                      <a:r>
                        <a:rPr lang="ko-KR" altLang="en-US" sz="750" u="none" strike="noStrike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휴맥스빌리지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PFM, </a:t>
                      </a:r>
                      <a:r>
                        <a:rPr lang="ko-KR" altLang="en-US" sz="750" u="none" strike="noStrike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파르나스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FPM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 메일센터 無 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: </a:t>
                      </a:r>
                      <a:r>
                        <a:rPr 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BIFC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, U+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수원인계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, U+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안양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, </a:t>
                      </a:r>
                      <a:r>
                        <a:rPr lang="ko-KR" altLang="en-US" sz="750" u="none" strike="noStrike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엘지가산디지털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,</a:t>
                      </a:r>
                      <a:r>
                        <a:rPr lang="en-US" altLang="ko-KR" sz="750" u="none" strike="noStrike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 </a:t>
                      </a:r>
                      <a:r>
                        <a:rPr lang="ko-KR" altLang="en-US" sz="750" u="none" strike="noStrike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한국교직원공제회광주</a:t>
                      </a:r>
                      <a:endParaRPr lang="ko-KR" altLang="en-US" sz="7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144000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36326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0CBA5C79-4972-4360-900B-C3D6225DB574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6AD4C59-F597-400C-8E51-4D0B0856B0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910" y="4137072"/>
            <a:ext cx="2966104" cy="18966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99C48E6-F19F-48CC-90F5-A152EFF00B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7219" y="4137072"/>
            <a:ext cx="1613027" cy="163976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9E0607-CC2B-4E46-806A-6120459569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053" y="5040960"/>
            <a:ext cx="439554" cy="8392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820B945-FBC9-4EE2-9EBA-ED5E8D686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7447" y="4976816"/>
            <a:ext cx="719138" cy="5857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7D3963-ECDC-49A0-9C8B-962EE906A8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1506" y="5618344"/>
            <a:ext cx="719670" cy="6660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DA27CD-A271-4742-83A1-E875114250B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404" y="1413256"/>
            <a:ext cx="3702348" cy="236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37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1F19BC4-1F27-4B2A-B83B-A15F981C3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927"/>
            <a:ext cx="9906000" cy="3581693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1420F46-797D-415C-BDCC-E63D8E2A7876}"/>
              </a:ext>
            </a:extLst>
          </p:cNvPr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0D4A5F-86CC-4C11-BEA2-38B255E90CE1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6D8E306-F254-4778-B26F-12125EAF59B1}"/>
              </a:ext>
            </a:extLst>
          </p:cNvPr>
          <p:cNvGrpSpPr/>
          <p:nvPr/>
        </p:nvGrpSpPr>
        <p:grpSpPr>
          <a:xfrm>
            <a:off x="185546" y="919367"/>
            <a:ext cx="4291066" cy="311560"/>
            <a:chOff x="573784" y="2158310"/>
            <a:chExt cx="4615164" cy="382520"/>
          </a:xfrm>
        </p:grpSpPr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D9DAA5D6-49B0-4769-91C7-2A1E49626E83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2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설치 사례</a:t>
              </a:r>
            </a:p>
          </p:txBody>
        </p:sp>
        <p:grpSp>
          <p:nvGrpSpPr>
            <p:cNvPr id="22" name="Group 27">
              <a:extLst>
                <a:ext uri="{FF2B5EF4-FFF2-40B4-BE49-F238E27FC236}">
                  <a16:creationId xmlns:a16="http://schemas.microsoft.com/office/drawing/2014/main" id="{E6E37F1E-30B2-42CA-9BCE-308E84BF2B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23" name="Freeform 28">
                <a:extLst>
                  <a:ext uri="{FF2B5EF4-FFF2-40B4-BE49-F238E27FC236}">
                    <a16:creationId xmlns:a16="http://schemas.microsoft.com/office/drawing/2014/main" id="{84D6AD1A-11E2-4E26-94BD-EDCF369C6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4" name="Freeform 29">
                <a:extLst>
                  <a:ext uri="{FF2B5EF4-FFF2-40B4-BE49-F238E27FC236}">
                    <a16:creationId xmlns:a16="http://schemas.microsoft.com/office/drawing/2014/main" id="{C4BC08B0-DAD4-4F5E-B77B-4D5582E56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5" name="Freeform 30">
                <a:extLst>
                  <a:ext uri="{FF2B5EF4-FFF2-40B4-BE49-F238E27FC236}">
                    <a16:creationId xmlns:a16="http://schemas.microsoft.com/office/drawing/2014/main" id="{C12DADEC-C509-4356-A8CB-EA352BD1BB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057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그림 20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61" t="86627" r="27258" b="5684"/>
          <a:stretch/>
        </p:blipFill>
        <p:spPr>
          <a:xfrm>
            <a:off x="8818298" y="3267530"/>
            <a:ext cx="409741" cy="472882"/>
          </a:xfrm>
          <a:prstGeom prst="rect">
            <a:avLst/>
          </a:prstGeom>
        </p:spPr>
      </p:pic>
      <p:cxnSp>
        <p:nvCxnSpPr>
          <p:cNvPr id="3" name="직선 연결선 2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211923" y="673358"/>
            <a:ext cx="4291066" cy="311560"/>
            <a:chOff x="573784" y="2158310"/>
            <a:chExt cx="4615164" cy="382520"/>
          </a:xfrm>
        </p:grpSpPr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2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서비스 유형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예시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)</a:t>
              </a:r>
              <a:endPara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6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7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8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9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44" name="그룹 143"/>
          <p:cNvGrpSpPr/>
          <p:nvPr/>
        </p:nvGrpSpPr>
        <p:grpSpPr>
          <a:xfrm>
            <a:off x="281464" y="1130849"/>
            <a:ext cx="3029425" cy="5508490"/>
            <a:chOff x="416630" y="1144053"/>
            <a:chExt cx="3029425" cy="5404876"/>
          </a:xfrm>
        </p:grpSpPr>
        <p:sp>
          <p:nvSpPr>
            <p:cNvPr id="16" name="사각형: 둥근 모서리 161">
              <a:extLst>
                <a:ext uri="{FF2B5EF4-FFF2-40B4-BE49-F238E27FC236}">
                  <a16:creationId xmlns:a16="http://schemas.microsoft.com/office/drawing/2014/main" id="{6E19D037-B450-42E8-A1F9-3A425FC82A24}"/>
                </a:ext>
              </a:extLst>
            </p:cNvPr>
            <p:cNvSpPr/>
            <p:nvPr/>
          </p:nvSpPr>
          <p:spPr>
            <a:xfrm flipH="1">
              <a:off x="480561" y="1144053"/>
              <a:ext cx="2965494" cy="5404876"/>
            </a:xfrm>
            <a:prstGeom prst="roundRect">
              <a:avLst>
                <a:gd name="adj" fmla="val 3433"/>
              </a:avLst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152400" dist="88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45CB377-76BA-46F9-87DC-84E4F4B48D7F}"/>
                </a:ext>
              </a:extLst>
            </p:cNvPr>
            <p:cNvGrpSpPr/>
            <p:nvPr/>
          </p:nvGrpSpPr>
          <p:grpSpPr>
            <a:xfrm>
              <a:off x="416630" y="1206896"/>
              <a:ext cx="617635" cy="271798"/>
              <a:chOff x="3191893" y="6444349"/>
              <a:chExt cx="699876" cy="268425"/>
            </a:xfrm>
          </p:grpSpPr>
          <p:sp>
            <p:nvSpPr>
              <p:cNvPr id="20" name="이등변 삼각형 19">
                <a:extLst>
                  <a:ext uri="{FF2B5EF4-FFF2-40B4-BE49-F238E27FC236}">
                    <a16:creationId xmlns:a16="http://schemas.microsoft.com/office/drawing/2014/main" id="{E825E747-74E3-4BA7-8119-8416C62C9663}"/>
                  </a:ext>
                </a:extLst>
              </p:cNvPr>
              <p:cNvSpPr/>
              <p:nvPr/>
            </p:nvSpPr>
            <p:spPr>
              <a:xfrm rot="16200000">
                <a:off x="3194053" y="6643174"/>
                <a:ext cx="67574" cy="71625"/>
              </a:xfrm>
              <a:prstGeom prst="triangle">
                <a:avLst/>
              </a:prstGeom>
              <a:solidFill>
                <a:srgbClr val="333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29DDE03-B3A2-4D55-AAAB-E1BCE199E92F}"/>
                  </a:ext>
                </a:extLst>
              </p:cNvPr>
              <p:cNvSpPr/>
              <p:nvPr/>
            </p:nvSpPr>
            <p:spPr>
              <a:xfrm>
                <a:off x="3191893" y="6444349"/>
                <a:ext cx="699876" cy="23438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b="1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TYPE 1</a:t>
                </a:r>
              </a:p>
            </p:txBody>
          </p:sp>
        </p:grpSp>
      </p:grpSp>
      <p:grpSp>
        <p:nvGrpSpPr>
          <p:cNvPr id="145" name="그룹 144"/>
          <p:cNvGrpSpPr/>
          <p:nvPr/>
        </p:nvGrpSpPr>
        <p:grpSpPr>
          <a:xfrm>
            <a:off x="3439453" y="1130849"/>
            <a:ext cx="3021319" cy="5508490"/>
            <a:chOff x="3635385" y="1133944"/>
            <a:chExt cx="3021319" cy="5404876"/>
          </a:xfrm>
        </p:grpSpPr>
        <p:sp>
          <p:nvSpPr>
            <p:cNvPr id="17" name="사각형: 둥근 모서리 161">
              <a:extLst>
                <a:ext uri="{FF2B5EF4-FFF2-40B4-BE49-F238E27FC236}">
                  <a16:creationId xmlns:a16="http://schemas.microsoft.com/office/drawing/2014/main" id="{6E19D037-B450-42E8-A1F9-3A425FC82A24}"/>
                </a:ext>
              </a:extLst>
            </p:cNvPr>
            <p:cNvSpPr/>
            <p:nvPr/>
          </p:nvSpPr>
          <p:spPr>
            <a:xfrm flipH="1">
              <a:off x="3690304" y="1133944"/>
              <a:ext cx="2966400" cy="5404876"/>
            </a:xfrm>
            <a:prstGeom prst="roundRect">
              <a:avLst>
                <a:gd name="adj" fmla="val 3433"/>
              </a:avLst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152400" dist="88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45CB377-76BA-46F9-87DC-84E4F4B48D7F}"/>
                </a:ext>
              </a:extLst>
            </p:cNvPr>
            <p:cNvGrpSpPr/>
            <p:nvPr/>
          </p:nvGrpSpPr>
          <p:grpSpPr>
            <a:xfrm>
              <a:off x="3635385" y="1206896"/>
              <a:ext cx="617635" cy="271798"/>
              <a:chOff x="3191893" y="6444349"/>
              <a:chExt cx="699876" cy="268425"/>
            </a:xfrm>
          </p:grpSpPr>
          <p:sp>
            <p:nvSpPr>
              <p:cNvPr id="24" name="이등변 삼각형 23">
                <a:extLst>
                  <a:ext uri="{FF2B5EF4-FFF2-40B4-BE49-F238E27FC236}">
                    <a16:creationId xmlns:a16="http://schemas.microsoft.com/office/drawing/2014/main" id="{E825E747-74E3-4BA7-8119-8416C62C9663}"/>
                  </a:ext>
                </a:extLst>
              </p:cNvPr>
              <p:cNvSpPr/>
              <p:nvPr/>
            </p:nvSpPr>
            <p:spPr>
              <a:xfrm rot="16200000">
                <a:off x="3194053" y="6643174"/>
                <a:ext cx="67574" cy="71625"/>
              </a:xfrm>
              <a:prstGeom prst="triangle">
                <a:avLst/>
              </a:prstGeom>
              <a:solidFill>
                <a:srgbClr val="333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129DDE03-B3A2-4D55-AAAB-E1BCE199E92F}"/>
                  </a:ext>
                </a:extLst>
              </p:cNvPr>
              <p:cNvSpPr/>
              <p:nvPr/>
            </p:nvSpPr>
            <p:spPr>
              <a:xfrm>
                <a:off x="3191893" y="6444349"/>
                <a:ext cx="699876" cy="23438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b="1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TYPE 2</a:t>
                </a:r>
              </a:p>
            </p:txBody>
          </p:sp>
        </p:grpSp>
      </p:grpSp>
      <p:grpSp>
        <p:nvGrpSpPr>
          <p:cNvPr id="146" name="그룹 145"/>
          <p:cNvGrpSpPr/>
          <p:nvPr/>
        </p:nvGrpSpPr>
        <p:grpSpPr>
          <a:xfrm>
            <a:off x="6629093" y="1130849"/>
            <a:ext cx="3027025" cy="5508490"/>
            <a:chOff x="6724504" y="1133944"/>
            <a:chExt cx="3027025" cy="5404876"/>
          </a:xfrm>
        </p:grpSpPr>
        <p:sp>
          <p:nvSpPr>
            <p:cNvPr id="26" name="사각형: 둥근 모서리 161">
              <a:extLst>
                <a:ext uri="{FF2B5EF4-FFF2-40B4-BE49-F238E27FC236}">
                  <a16:creationId xmlns:a16="http://schemas.microsoft.com/office/drawing/2014/main" id="{6E19D037-B450-42E8-A1F9-3A425FC82A24}"/>
                </a:ext>
              </a:extLst>
            </p:cNvPr>
            <p:cNvSpPr/>
            <p:nvPr/>
          </p:nvSpPr>
          <p:spPr>
            <a:xfrm flipH="1">
              <a:off x="6785129" y="1133944"/>
              <a:ext cx="2966400" cy="5404876"/>
            </a:xfrm>
            <a:prstGeom prst="roundRect">
              <a:avLst>
                <a:gd name="adj" fmla="val 3433"/>
              </a:avLst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152400" dist="88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745CB377-76BA-46F9-87DC-84E4F4B48D7F}"/>
                </a:ext>
              </a:extLst>
            </p:cNvPr>
            <p:cNvGrpSpPr/>
            <p:nvPr/>
          </p:nvGrpSpPr>
          <p:grpSpPr>
            <a:xfrm>
              <a:off x="6724504" y="1206896"/>
              <a:ext cx="617635" cy="271798"/>
              <a:chOff x="3191893" y="6444349"/>
              <a:chExt cx="699876" cy="268425"/>
            </a:xfrm>
          </p:grpSpPr>
          <p:sp>
            <p:nvSpPr>
              <p:cNvPr id="28" name="이등변 삼각형 27">
                <a:extLst>
                  <a:ext uri="{FF2B5EF4-FFF2-40B4-BE49-F238E27FC236}">
                    <a16:creationId xmlns:a16="http://schemas.microsoft.com/office/drawing/2014/main" id="{E825E747-74E3-4BA7-8119-8416C62C9663}"/>
                  </a:ext>
                </a:extLst>
              </p:cNvPr>
              <p:cNvSpPr/>
              <p:nvPr/>
            </p:nvSpPr>
            <p:spPr>
              <a:xfrm rot="16200000">
                <a:off x="3194053" y="6643174"/>
                <a:ext cx="67574" cy="71625"/>
              </a:xfrm>
              <a:prstGeom prst="triangle">
                <a:avLst/>
              </a:prstGeom>
              <a:solidFill>
                <a:srgbClr val="333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129DDE03-B3A2-4D55-AAAB-E1BCE199E92F}"/>
                  </a:ext>
                </a:extLst>
              </p:cNvPr>
              <p:cNvSpPr/>
              <p:nvPr/>
            </p:nvSpPr>
            <p:spPr>
              <a:xfrm>
                <a:off x="3191893" y="6444349"/>
                <a:ext cx="699876" cy="23438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b="1" i="1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TYPE 3</a:t>
                </a: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406076" y="4823943"/>
            <a:ext cx="2865463" cy="464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별도 </a:t>
            </a:r>
            <a:r>
              <a:rPr lang="ko-KR" altLang="en-US" sz="1000" dirty="0" err="1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메일룸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공간 없이 우편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택배 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발신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가능</a:t>
            </a:r>
            <a:r>
              <a:rPr lang="en-US" altLang="ko-KR" sz="8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수신</a:t>
            </a:r>
            <a:r>
              <a:rPr lang="en-US" altLang="ko-KR" sz="8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X)</a:t>
            </a:r>
          </a:p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추가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인력 충원없이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발신 서비스 제공 가능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06923" y="2664145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4237630" y="1385216"/>
            <a:ext cx="14249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“Standard</a:t>
            </a:r>
            <a:r>
              <a:rPr lang="ko-KR" altLang="en-US"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1108709" y="1385216"/>
            <a:ext cx="129542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“Basic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7194292" y="1385216"/>
            <a:ext cx="189662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“Total Premium</a:t>
            </a:r>
            <a:r>
              <a:rPr lang="ko-KR" altLang="en-US"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형</a:t>
            </a:r>
            <a:r>
              <a:rPr lang="en-US" altLang="ko-KR"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  <a:endParaRPr lang="en-US" altLang="ko-KR" sz="1600" b="1" dirty="0">
              <a:ln w="3175">
                <a:solidFill>
                  <a:srgbClr val="1A2A56">
                    <a:alpha val="10000"/>
                  </a:srgbClr>
                </a:solidFill>
              </a:ln>
              <a:solidFill>
                <a:srgbClr val="1A2A56"/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3585584" y="4801047"/>
            <a:ext cx="2993714" cy="464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별도의 메일룸 공간에서 우편</a:t>
            </a:r>
            <a:r>
              <a:rPr lang="en-US" altLang="ko-KR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택배 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수신</a:t>
            </a:r>
            <a:r>
              <a:rPr lang="en-US" altLang="ko-KR" sz="100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&amp;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발신 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가능</a:t>
            </a:r>
            <a:r>
              <a:rPr lang="en-US" altLang="ko-KR" sz="9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9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최소한의 인력으로 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수신</a:t>
            </a:r>
            <a:r>
              <a:rPr lang="en-US" altLang="ko-KR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&amp;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발신 서비스 제공 가능 </a:t>
            </a:r>
            <a:endParaRPr lang="en-US" altLang="ko-KR" sz="100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6852954" y="4711735"/>
            <a:ext cx="2993714" cy="6181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전문 메일룸에서 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수신</a:t>
            </a:r>
            <a:r>
              <a:rPr lang="en-US" altLang="ko-KR" sz="100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발신</a:t>
            </a:r>
            <a:r>
              <a:rPr lang="en-US" altLang="ko-KR" sz="100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배송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까지 모두 가능</a:t>
            </a:r>
            <a:endParaRPr lang="en-US" altLang="ko-KR" sz="100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메일센터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운영 및 전담 인원의 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업무 효율화로</a:t>
            </a:r>
            <a:endParaRPr lang="en-US" altLang="ko-KR" sz="100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맞춤형 추가 서비스 적용</a:t>
            </a:r>
            <a:r>
              <a:rPr lang="en-US" altLang="ko-KR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가능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7AD251C9-1004-4C9F-833B-D25EA2C270B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"/>
          <a:stretch/>
        </p:blipFill>
        <p:spPr>
          <a:xfrm>
            <a:off x="1413486" y="3166717"/>
            <a:ext cx="685867" cy="711507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344494" y="3878125"/>
            <a:ext cx="2956532" cy="41549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>
            <a:defPPr>
              <a:defRPr lang="en-US"/>
            </a:defPPr>
            <a:lvl1pPr lvl="0" algn="ctr">
              <a:spcAft>
                <a:spcPts val="600"/>
              </a:spcAft>
              <a:defRPr sz="9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r>
              <a:rPr lang="ko-KR" altLang="en-US" sz="1050" b="0"/>
              <a:t>발신용 무인 </a:t>
            </a:r>
            <a:r>
              <a:rPr lang="ko-KR" altLang="en-US" sz="1050" b="0" dirty="0" err="1"/>
              <a:t>키오스크</a:t>
            </a:r>
            <a:r>
              <a:rPr lang="ko-KR" altLang="en-US" sz="1050" b="0" dirty="0"/>
              <a:t> 설치만으로 </a:t>
            </a:r>
            <a:br>
              <a:rPr lang="en-US" altLang="ko-KR" sz="1050" b="0" dirty="0"/>
            </a:br>
            <a:r>
              <a:rPr lang="ko-KR" altLang="en-US" sz="1050" b="0" dirty="0"/>
              <a:t>우편</a:t>
            </a:r>
            <a:r>
              <a:rPr lang="en-US" altLang="ko-KR" sz="1050" b="0" dirty="0"/>
              <a:t> </a:t>
            </a:r>
            <a:r>
              <a:rPr lang="ko-KR" altLang="en-US" sz="1050" b="0" dirty="0"/>
              <a:t>및 택배 발신을 간편하게</a:t>
            </a:r>
            <a:endParaRPr lang="en-US" altLang="ko-KR" sz="1050" b="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3570510" y="3878125"/>
            <a:ext cx="2723296" cy="41549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ko-KR" altLang="en-US" sz="105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발신용 무인 키오스크와 수신 전담 인원으로 </a:t>
            </a:r>
            <a:r>
              <a:rPr lang="en-US" altLang="ko-KR" sz="105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                        </a:t>
            </a:r>
            <a:r>
              <a:rPr lang="ko-KR" altLang="en-US" sz="105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우편</a:t>
            </a:r>
            <a:r>
              <a:rPr lang="en-US" altLang="ko-KR" sz="105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</a:t>
            </a:r>
            <a:r>
              <a:rPr lang="ko-KR" altLang="en-US" sz="105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및 택배 수</a:t>
            </a:r>
            <a:r>
              <a:rPr lang="en-US" altLang="ko-KR" sz="105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/</a:t>
            </a:r>
            <a:r>
              <a:rPr lang="ko-KR" altLang="en-US" sz="105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발신을 편리하게</a:t>
            </a:r>
            <a:endParaRPr lang="en-US" altLang="ko-KR" sz="1050" dirty="0">
              <a:ln w="3175">
                <a:solidFill>
                  <a:srgbClr val="1A2A56">
                    <a:alpha val="10000"/>
                  </a:srgbClr>
                </a:solidFill>
              </a:ln>
              <a:solidFill>
                <a:srgbClr val="1A2A56"/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grpSp>
        <p:nvGrpSpPr>
          <p:cNvPr id="131" name="그룹 130"/>
          <p:cNvGrpSpPr/>
          <p:nvPr/>
        </p:nvGrpSpPr>
        <p:grpSpPr>
          <a:xfrm>
            <a:off x="8284162" y="2182983"/>
            <a:ext cx="773059" cy="570433"/>
            <a:chOff x="5421609" y="2235556"/>
            <a:chExt cx="1245019" cy="835169"/>
          </a:xfrm>
        </p:grpSpPr>
        <p:pic>
          <p:nvPicPr>
            <p:cNvPr id="132" name="그림 131"/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961" t="86627" r="27258" b="5684"/>
            <a:stretch/>
          </p:blipFill>
          <p:spPr>
            <a:xfrm>
              <a:off x="5836212" y="2235556"/>
              <a:ext cx="448741" cy="470810"/>
            </a:xfrm>
            <a:prstGeom prst="rect">
              <a:avLst/>
            </a:prstGeom>
          </p:spPr>
        </p:pic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5421609" y="2462396"/>
              <a:ext cx="1245019" cy="6083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lvl="0" algn="ctr">
                <a:spcAft>
                  <a:spcPts val="600"/>
                </a:spcAft>
                <a:defRPr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defRPr>
              </a:lvl1pPr>
            </a:lstStyle>
            <a:p>
              <a:pPr lvl="0"/>
              <a:r>
                <a:rPr lang="ko-KR" altLang="en-US">
                  <a:solidFill>
                    <a:srgbClr val="697290"/>
                  </a:solidFill>
                </a:rPr>
                <a:t>맞춤형 추가 서비스</a:t>
              </a:r>
              <a:endParaRPr lang="en-US" altLang="ko-KR">
                <a:solidFill>
                  <a:srgbClr val="697290"/>
                </a:solidFill>
              </a:endParaRPr>
            </a:p>
          </p:txBody>
        </p:sp>
      </p:grpSp>
      <p:pic>
        <p:nvPicPr>
          <p:cNvPr id="120" name="그림 119">
            <a:extLst>
              <a:ext uri="{FF2B5EF4-FFF2-40B4-BE49-F238E27FC236}">
                <a16:creationId xmlns:a16="http://schemas.microsoft.com/office/drawing/2014/main" id="{7AD251C9-1004-4C9F-833B-D25EA2C270B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"/>
          <a:stretch/>
        </p:blipFill>
        <p:spPr>
          <a:xfrm>
            <a:off x="6948327" y="3181469"/>
            <a:ext cx="685867" cy="711507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7631565" y="3383334"/>
            <a:ext cx="361182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4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69729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+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7741281" y="3288417"/>
            <a:ext cx="850365" cy="574117"/>
            <a:chOff x="7768425" y="3957780"/>
            <a:chExt cx="850365" cy="574117"/>
          </a:xfrm>
        </p:grpSpPr>
        <p:pic>
          <p:nvPicPr>
            <p:cNvPr id="125" name="그림 124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125" t="46562" r="10097" b="46080"/>
            <a:stretch/>
          </p:blipFill>
          <p:spPr>
            <a:xfrm>
              <a:off x="8024018" y="3957780"/>
              <a:ext cx="356047" cy="402200"/>
            </a:xfrm>
            <a:prstGeom prst="rect">
              <a:avLst/>
            </a:prstGeom>
          </p:spPr>
        </p:pic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7768425" y="4316453"/>
              <a:ext cx="850365" cy="21544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8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전담 인원</a:t>
              </a:r>
              <a:endParaRPr lang="en-US" altLang="ko-KR" sz="800" spc="-8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69729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8082788" y="2245032"/>
            <a:ext cx="361182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40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+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4065502" y="3180141"/>
            <a:ext cx="1733312" cy="711507"/>
            <a:chOff x="4110096" y="3666631"/>
            <a:chExt cx="1733312" cy="711507"/>
          </a:xfrm>
        </p:grpSpPr>
        <p:pic>
          <p:nvPicPr>
            <p:cNvPr id="114" name="그림 113">
              <a:extLst>
                <a:ext uri="{FF2B5EF4-FFF2-40B4-BE49-F238E27FC236}">
                  <a16:creationId xmlns:a16="http://schemas.microsoft.com/office/drawing/2014/main" id="{7AD251C9-1004-4C9F-833B-D25EA2C270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78"/>
            <a:stretch/>
          </p:blipFill>
          <p:spPr>
            <a:xfrm>
              <a:off x="4110096" y="3666631"/>
              <a:ext cx="685867" cy="711507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4854878" y="3868496"/>
              <a:ext cx="361182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en-US" altLang="ko-KR" sz="1400" b="1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+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>
              <a:off x="4993043" y="3795165"/>
              <a:ext cx="850365" cy="574117"/>
              <a:chOff x="7768425" y="3957780"/>
              <a:chExt cx="850365" cy="574117"/>
            </a:xfrm>
          </p:grpSpPr>
          <p:pic>
            <p:nvPicPr>
              <p:cNvPr id="143" name="그림 14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125" t="46562" r="10097" b="46080"/>
              <a:stretch/>
            </p:blipFill>
            <p:spPr>
              <a:xfrm>
                <a:off x="8024018" y="3957780"/>
                <a:ext cx="356047" cy="402200"/>
              </a:xfrm>
              <a:prstGeom prst="rect">
                <a:avLst/>
              </a:prstGeom>
            </p:spPr>
          </p:pic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A6747C12-946A-41A1-BCF4-94158CC0115B}"/>
                  </a:ext>
                </a:extLst>
              </p:cNvPr>
              <p:cNvSpPr txBox="1"/>
              <p:nvPr/>
            </p:nvSpPr>
            <p:spPr>
              <a:xfrm>
                <a:off x="7768425" y="4316453"/>
                <a:ext cx="850365" cy="21544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spcAft>
                    <a:spcPts val="600"/>
                  </a:spcAft>
                </a:pPr>
                <a:r>
                  <a:rPr lang="ko-KR" altLang="en-US" sz="800" spc="-80" dirty="0">
                    <a:ln w="3175">
                      <a:solidFill>
                        <a:srgbClr val="1A2A56">
                          <a:alpha val="10000"/>
                        </a:srgbClr>
                      </a:solidFill>
                    </a:ln>
                    <a:solidFill>
                      <a:srgbClr val="697290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전담 인원</a:t>
                </a:r>
                <a:endParaRPr lang="en-US" altLang="ko-KR" sz="8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</p:grp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6619244" y="3878125"/>
            <a:ext cx="3162677" cy="41549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lvl="0" algn="ctr"/>
            <a:r>
              <a:rPr lang="ko-KR" altLang="en-US" sz="105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발신용 무인 키오스크</a:t>
            </a:r>
            <a:r>
              <a:rPr lang="en-US" altLang="ko-KR" sz="105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,</a:t>
            </a:r>
            <a:r>
              <a:rPr lang="ko-KR" altLang="en-US" sz="105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전담인원을 활용해 </a:t>
            </a:r>
            <a:endParaRPr lang="en-US" altLang="ko-KR" sz="1050">
              <a:ln w="3175">
                <a:solidFill>
                  <a:srgbClr val="1A2A56">
                    <a:alpha val="10000"/>
                  </a:srgbClr>
                </a:solidFill>
              </a:ln>
              <a:solidFill>
                <a:srgbClr val="1A2A56"/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  <a:p>
            <a:pPr lvl="0" algn="ctr"/>
            <a:r>
              <a:rPr lang="ko-KR" altLang="en-US" sz="105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고객 환경에 최적화된 맞춤형으로 </a:t>
            </a:r>
            <a:endParaRPr lang="en-US" altLang="ko-KR" sz="1050">
              <a:ln w="3175">
                <a:solidFill>
                  <a:srgbClr val="1A2A56">
                    <a:alpha val="10000"/>
                  </a:srgbClr>
                </a:solidFill>
              </a:ln>
              <a:solidFill>
                <a:srgbClr val="1A2A56"/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866370" y="1946575"/>
            <a:ext cx="1878075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lvl="0" algn="ctr">
              <a:spcAft>
                <a:spcPts val="600"/>
              </a:spcAft>
              <a:defRPr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r>
              <a:rPr lang="ko-KR" altLang="en-US" sz="1000" b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발신만 이용 가능한 서비스</a:t>
            </a:r>
          </a:p>
        </p:txBody>
      </p:sp>
      <p:cxnSp>
        <p:nvCxnSpPr>
          <p:cNvPr id="167" name="직선 연결선 166"/>
          <p:cNvCxnSpPr/>
          <p:nvPr/>
        </p:nvCxnSpPr>
        <p:spPr>
          <a:xfrm>
            <a:off x="502114" y="1912010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4027365" y="1946575"/>
            <a:ext cx="1878075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lvl="0" algn="ctr">
              <a:spcAft>
                <a:spcPts val="600"/>
              </a:spcAft>
              <a:defRPr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r>
              <a:rPr lang="ko-KR" altLang="en-US" sz="1000" b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</a:t>
            </a:r>
            <a:r>
              <a:rPr lang="en-US" altLang="ko-KR" sz="1000" b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00" b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발신 모두 이용 가능한 서비스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884652" y="1946575"/>
            <a:ext cx="2499718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lvl="0" algn="ctr">
              <a:spcAft>
                <a:spcPts val="600"/>
              </a:spcAft>
              <a:defRPr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r>
              <a:rPr lang="ko-KR" altLang="en-US" sz="1000" b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</a:t>
            </a:r>
            <a:r>
              <a:rPr lang="en-US" altLang="ko-KR" sz="1000" b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00" b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발신 </a:t>
            </a:r>
            <a:r>
              <a:rPr lang="en-US" altLang="ko-KR" sz="1000" b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 </a:t>
            </a:r>
            <a:r>
              <a:rPr lang="ko-KR" altLang="en-US" sz="1000" b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자리배송까지 이용 가능한 서비스</a:t>
            </a:r>
          </a:p>
        </p:txBody>
      </p:sp>
      <p:grpSp>
        <p:nvGrpSpPr>
          <p:cNvPr id="172" name="그룹 171"/>
          <p:cNvGrpSpPr/>
          <p:nvPr/>
        </p:nvGrpSpPr>
        <p:grpSpPr>
          <a:xfrm>
            <a:off x="1435467" y="2169649"/>
            <a:ext cx="641906" cy="471790"/>
            <a:chOff x="5405704" y="2140769"/>
            <a:chExt cx="1245017" cy="915066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5405704" y="2667816"/>
              <a:ext cx="1245017" cy="38801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수신 </a:t>
              </a:r>
              <a:r>
                <a:rPr lang="en-US" altLang="ko-KR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X   </a:t>
              </a:r>
              <a:r>
                <a:rPr lang="ko-KR" altLang="en-US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발신 </a:t>
              </a:r>
              <a:r>
                <a:rPr lang="en-US" altLang="ko-KR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</a:t>
              </a:r>
              <a:endParaRPr lang="en-US" altLang="ko-KR" sz="700" spc="-8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pic>
          <p:nvPicPr>
            <p:cNvPr id="174" name="그림 173"/>
            <p:cNvPicPr>
              <a:picLocks noChangeAspect="1"/>
            </p:cNvPicPr>
            <p:nvPr/>
          </p:nvPicPr>
          <p:blipFill rotWithShape="1"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6" t="68319" r="68299" b="13628"/>
            <a:stretch/>
          </p:blipFill>
          <p:spPr>
            <a:xfrm>
              <a:off x="5698586" y="2140769"/>
              <a:ext cx="611550" cy="577576"/>
            </a:xfrm>
            <a:prstGeom prst="rect">
              <a:avLst/>
            </a:prstGeom>
          </p:spPr>
        </p:pic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8429802" y="3383334"/>
            <a:ext cx="361182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4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69729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+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8510590" y="3647090"/>
            <a:ext cx="1028942" cy="2154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/>
            <a:r>
              <a:rPr lang="ko-KR" altLang="en-US" sz="800" spc="-8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69729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딜리버리</a:t>
            </a:r>
            <a:endParaRPr lang="en-US" altLang="ko-KR" sz="800" spc="-80" dirty="0">
              <a:ln w="3175">
                <a:solidFill>
                  <a:srgbClr val="1A2A56">
                    <a:alpha val="10000"/>
                  </a:srgbClr>
                </a:solidFill>
              </a:ln>
              <a:solidFill>
                <a:srgbClr val="697290"/>
              </a:soli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cxnSp>
        <p:nvCxnSpPr>
          <p:cNvPr id="190" name="직선 연결선 189"/>
          <p:cNvCxnSpPr/>
          <p:nvPr/>
        </p:nvCxnSpPr>
        <p:spPr>
          <a:xfrm>
            <a:off x="3724569" y="2664145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>
            <a:off x="3719760" y="1912010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그룹 191"/>
          <p:cNvGrpSpPr/>
          <p:nvPr/>
        </p:nvGrpSpPr>
        <p:grpSpPr>
          <a:xfrm>
            <a:off x="4621019" y="2169649"/>
            <a:ext cx="706097" cy="525651"/>
            <a:chOff x="5343454" y="2140769"/>
            <a:chExt cx="1369519" cy="1019533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5343454" y="2563349"/>
              <a:ext cx="1369519" cy="5969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수신 </a:t>
              </a:r>
              <a:r>
                <a:rPr lang="en-US" altLang="ko-KR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   </a:t>
              </a:r>
              <a:r>
                <a:rPr lang="ko-KR" altLang="en-US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발신 </a:t>
              </a:r>
              <a:r>
                <a:rPr lang="en-US" altLang="ko-KR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</a:t>
              </a:r>
              <a:endParaRPr lang="en-US" altLang="ko-KR" sz="700" spc="-8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pic>
          <p:nvPicPr>
            <p:cNvPr id="194" name="그림 19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6" t="68319" r="68299" b="13628"/>
            <a:stretch/>
          </p:blipFill>
          <p:spPr>
            <a:xfrm>
              <a:off x="5698586" y="2140769"/>
              <a:ext cx="611550" cy="577576"/>
            </a:xfrm>
            <a:prstGeom prst="rect">
              <a:avLst/>
            </a:prstGeom>
          </p:spPr>
        </p:pic>
      </p:grpSp>
      <p:cxnSp>
        <p:nvCxnSpPr>
          <p:cNvPr id="195" name="직선 연결선 194"/>
          <p:cNvCxnSpPr/>
          <p:nvPr/>
        </p:nvCxnSpPr>
        <p:spPr>
          <a:xfrm>
            <a:off x="6843748" y="2664145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>
            <a:off x="6838939" y="1912010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그룹 196"/>
          <p:cNvGrpSpPr/>
          <p:nvPr/>
        </p:nvGrpSpPr>
        <p:grpSpPr>
          <a:xfrm>
            <a:off x="7467635" y="2169649"/>
            <a:ext cx="706097" cy="525651"/>
            <a:chOff x="5343454" y="2140769"/>
            <a:chExt cx="1369519" cy="1019533"/>
          </a:xfrm>
        </p:grpSpPr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5343454" y="2563349"/>
              <a:ext cx="1369519" cy="5969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수신 </a:t>
              </a:r>
              <a:r>
                <a:rPr lang="en-US" altLang="ko-KR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   </a:t>
              </a:r>
              <a:r>
                <a:rPr lang="ko-KR" altLang="en-US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발신 </a:t>
              </a:r>
              <a:r>
                <a:rPr lang="en-US" altLang="ko-KR" sz="700" spc="-8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</a:t>
              </a:r>
              <a:endParaRPr lang="en-US" altLang="ko-KR" sz="700" spc="-8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pic>
          <p:nvPicPr>
            <p:cNvPr id="199" name="그림 198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6" t="68319" r="68299" b="13628"/>
            <a:stretch/>
          </p:blipFill>
          <p:spPr>
            <a:xfrm>
              <a:off x="5698586" y="2140769"/>
              <a:ext cx="611550" cy="577576"/>
            </a:xfrm>
            <a:prstGeom prst="rect">
              <a:avLst/>
            </a:prstGeom>
          </p:spPr>
        </p:pic>
      </p:grpSp>
      <p:sp>
        <p:nvSpPr>
          <p:cNvPr id="2" name="직사각형 1"/>
          <p:cNvSpPr/>
          <p:nvPr/>
        </p:nvSpPr>
        <p:spPr>
          <a:xfrm>
            <a:off x="3585584" y="5195113"/>
            <a:ext cx="25661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spc="-5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69729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※ </a:t>
            </a:r>
            <a:r>
              <a:rPr lang="ko-KR" altLang="en-US" sz="800" spc="-5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69729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기존의 수신 담당이 있는 현장은 인력추가 없이 서비스 가능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3819" y="6002395"/>
            <a:ext cx="2808000" cy="5040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noFill/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별도의 메일센터를 만들지 않고 전담인력 채용없이 </a:t>
            </a:r>
            <a:endParaRPr lang="en-US" altLang="ko-KR" sz="1050" b="1" spc="-70">
              <a:solidFill>
                <a:schemeClr val="tx2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발신 서비스를 이용하고 싶은 고객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88497" y="6002395"/>
            <a:ext cx="2808000" cy="5040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noFill/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별도의 공간에 메일센터를 만들고 최소의 인력으로 </a:t>
            </a:r>
            <a:endParaRPr lang="en-US" altLang="ko-KR" sz="1050" b="1" spc="-70">
              <a:solidFill>
                <a:schemeClr val="tx2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수신</a:t>
            </a:r>
            <a:r>
              <a:rPr lang="en-US" altLang="ko-KR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발신 서비스를 이용하고 싶은 고객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68993" y="6002395"/>
            <a:ext cx="2808000" cy="5040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noFill/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우편</a:t>
            </a:r>
            <a:r>
              <a:rPr lang="en-US" altLang="ko-KR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택배와 관련한 최적화된 전용 공간과 인력으로</a:t>
            </a:r>
            <a:endParaRPr lang="en-US" altLang="ko-KR" sz="1050" b="1" spc="-70">
              <a:solidFill>
                <a:schemeClr val="tx2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온</a:t>
            </a:r>
            <a:r>
              <a:rPr lang="en-US" altLang="ko-KR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50" b="1" spc="-7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오프라인 통합 서비스를 이용하고 싶은 고객 </a:t>
            </a:r>
          </a:p>
        </p:txBody>
      </p:sp>
      <p:cxnSp>
        <p:nvCxnSpPr>
          <p:cNvPr id="39" name="직선 연결선 38"/>
          <p:cNvCxnSpPr/>
          <p:nvPr/>
        </p:nvCxnSpPr>
        <p:spPr>
          <a:xfrm>
            <a:off x="502114" y="5891917"/>
            <a:ext cx="265455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3634492" y="5891917"/>
            <a:ext cx="265455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/>
          <p:nvPr/>
        </p:nvCxnSpPr>
        <p:spPr>
          <a:xfrm>
            <a:off x="6861125" y="5891917"/>
            <a:ext cx="265455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32A78CB-0E91-493F-A63C-E68CEC4F2C5C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4287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082146"/>
              </p:ext>
            </p:extLst>
          </p:nvPr>
        </p:nvGraphicFramePr>
        <p:xfrm>
          <a:off x="612775" y="4129088"/>
          <a:ext cx="8191500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8" name="워크시트" r:id="rId3" imgW="9677223" imgH="2676741" progId="Excel.Sheet.12">
                  <p:embed/>
                </p:oleObj>
              </mc:Choice>
              <mc:Fallback>
                <p:oleObj name="워크시트" r:id="rId3" imgW="9677223" imgH="267674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2775" y="4129088"/>
                        <a:ext cx="8191500" cy="2478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직사각형 3"/>
          <p:cNvSpPr/>
          <p:nvPr/>
        </p:nvSpPr>
        <p:spPr>
          <a:xfrm>
            <a:off x="3602549" y="3425641"/>
            <a:ext cx="211015" cy="2070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우편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택배 발송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무인키오스크</a:t>
            </a:r>
            <a:r>
              <a:rPr lang="en-US" altLang="ko-KR" sz="1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 수익 구조 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444773" y="872604"/>
            <a:ext cx="3759017" cy="312393"/>
            <a:chOff x="573784" y="2158310"/>
            <a:chExt cx="4615164" cy="359341"/>
          </a:xfrm>
        </p:grpSpPr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59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서비스 이용 원가</a:t>
              </a:r>
              <a:r>
                <a:rPr lang="en-US" altLang="ko-KR" sz="12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2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협의 중</a:t>
              </a:r>
              <a:r>
                <a:rPr lang="en-US" altLang="ko-KR" sz="12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)</a:t>
              </a:r>
              <a:r>
                <a:rPr lang="ko-KR" altLang="en-US" sz="12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endPara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10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444773" y="3093216"/>
            <a:ext cx="1038903" cy="312393"/>
            <a:chOff x="573784" y="2158310"/>
            <a:chExt cx="1275522" cy="359341"/>
          </a:xfrm>
        </p:grpSpPr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1108609" cy="359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1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예상 수익</a:t>
              </a:r>
              <a:endPara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15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16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9" name="TextBox 17">
            <a:extLst>
              <a:ext uri="{FF2B5EF4-FFF2-40B4-BE49-F238E27FC236}">
                <a16:creationId xmlns:a16="http://schemas.microsoft.com/office/drawing/2014/main" id="{70D96C7E-D116-451A-9B9F-31DAEE739075}"/>
              </a:ext>
            </a:extLst>
          </p:cNvPr>
          <p:cNvSpPr txBox="1"/>
          <p:nvPr/>
        </p:nvSpPr>
        <p:spPr>
          <a:xfrm>
            <a:off x="578073" y="3335265"/>
            <a:ext cx="3504429" cy="3724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  <a:buClr>
                <a:schemeClr val="tx1"/>
              </a:buClr>
              <a:buFontTx/>
              <a:buChar char="-"/>
              <a:defRPr/>
            </a:pPr>
            <a:r>
              <a:rPr lang="en-US" altLang="ko-KR" sz="11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1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당사 매출 </a:t>
            </a:r>
            <a:r>
              <a:rPr lang="en-US" altLang="ko-KR" sz="11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1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월서비스 비용 </a:t>
            </a:r>
            <a:r>
              <a:rPr lang="en-US" altLang="ko-KR" sz="11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11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원가</a:t>
            </a:r>
            <a:r>
              <a:rPr lang="en-US" altLang="ko-KR" sz="11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) + </a:t>
            </a:r>
            <a:r>
              <a:rPr lang="ko-KR" altLang="en-US" sz="11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당사 </a:t>
            </a:r>
            <a:r>
              <a:rPr lang="en-US" altLang="ko-KR" sz="11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Fee (</a:t>
            </a:r>
            <a:r>
              <a:rPr lang="ko-KR" altLang="en-US" sz="11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약 </a:t>
            </a:r>
            <a:r>
              <a:rPr lang="en-US" altLang="ko-KR" sz="11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7%) + </a:t>
            </a:r>
            <a:r>
              <a:rPr lang="ko-KR" altLang="en-US" sz="14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∝</a:t>
            </a:r>
            <a:endParaRPr lang="en-US" altLang="ko-KR" sz="1400" b="1" spc="-5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698100"/>
              </p:ext>
            </p:extLst>
          </p:nvPr>
        </p:nvGraphicFramePr>
        <p:xfrm>
          <a:off x="664369" y="1244485"/>
          <a:ext cx="8740888" cy="1569053"/>
        </p:xfrm>
        <a:graphic>
          <a:graphicData uri="http://schemas.openxmlformats.org/drawingml/2006/table">
            <a:tbl>
              <a:tblPr/>
              <a:tblGrid>
                <a:gridCol w="1425688">
                  <a:extLst>
                    <a:ext uri="{9D8B030D-6E8A-4147-A177-3AD203B41FA5}">
                      <a16:colId xmlns:a16="http://schemas.microsoft.com/office/drawing/2014/main" val="3023018175"/>
                    </a:ext>
                  </a:extLst>
                </a:gridCol>
                <a:gridCol w="1296238">
                  <a:extLst>
                    <a:ext uri="{9D8B030D-6E8A-4147-A177-3AD203B41FA5}">
                      <a16:colId xmlns:a16="http://schemas.microsoft.com/office/drawing/2014/main" val="3061567064"/>
                    </a:ext>
                  </a:extLst>
                </a:gridCol>
                <a:gridCol w="1668026">
                  <a:extLst>
                    <a:ext uri="{9D8B030D-6E8A-4147-A177-3AD203B41FA5}">
                      <a16:colId xmlns:a16="http://schemas.microsoft.com/office/drawing/2014/main" val="3321562600"/>
                    </a:ext>
                  </a:extLst>
                </a:gridCol>
                <a:gridCol w="4350936">
                  <a:extLst>
                    <a:ext uri="{9D8B030D-6E8A-4147-A177-3AD203B41FA5}">
                      <a16:colId xmlns:a16="http://schemas.microsoft.com/office/drawing/2014/main" val="3869887581"/>
                    </a:ext>
                  </a:extLst>
                </a:gridCol>
              </a:tblGrid>
              <a:tr h="3837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내용</a:t>
                      </a:r>
                      <a:endParaRPr lang="en-US" altLang="ko-KR" sz="1100" b="1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1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비고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594321"/>
                  </a:ext>
                </a:extLst>
              </a:tr>
              <a:tr h="30625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서비스 비용</a:t>
                      </a:r>
                      <a:endParaRPr lang="en-US" altLang="ko-KR" sz="1100" b="1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ko-KR" sz="900" b="1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B0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900" b="1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B0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위두십 지급 원가</a:t>
                      </a:r>
                      <a:r>
                        <a:rPr lang="en-US" altLang="ko-KR" sz="900" b="1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B0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b="1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B0F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약정 시</a:t>
                      </a:r>
                      <a:r>
                        <a:rPr lang="en-US" altLang="ko-KR" sz="8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(36</a:t>
                      </a:r>
                      <a:r>
                        <a:rPr lang="ko-KR" altLang="en-US" sz="8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개월</a:t>
                      </a:r>
                      <a:r>
                        <a:rPr lang="en-US" altLang="ko-KR" sz="8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800" b="0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600,000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원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기기 유지관리비</a:t>
                      </a: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우편 대행 접수 인건비 포함 금액 </a:t>
                      </a:r>
                      <a:endParaRPr lang="en-US" altLang="ko-KR" sz="1100" b="0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l" fontAlgn="ctr"/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- 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대수에 따른 요금은 조율 가능 </a:t>
                      </a: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설치 시 </a:t>
                      </a: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 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↓</a:t>
                      </a: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343579"/>
                  </a:ext>
                </a:extLst>
              </a:tr>
              <a:tr h="30625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약정 시</a:t>
                      </a:r>
                      <a:r>
                        <a:rPr lang="en-US" altLang="ko-KR" sz="8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(60</a:t>
                      </a:r>
                      <a:r>
                        <a:rPr lang="ko-KR" altLang="en-US" sz="8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개월</a:t>
                      </a:r>
                      <a:r>
                        <a:rPr lang="en-US" altLang="ko-KR" sz="8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800" b="0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500,000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원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408509"/>
                  </a:ext>
                </a:extLst>
              </a:tr>
              <a:tr h="5727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수수로 쉐어</a:t>
                      </a:r>
                      <a:endParaRPr lang="en-US" altLang="ko-KR" sz="1100" b="1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ko-KR" sz="9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9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(S&amp;I</a:t>
                      </a:r>
                      <a:r>
                        <a:rPr lang="en-US" altLang="ko-KR" sz="9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: </a:t>
                      </a:r>
                      <a:r>
                        <a:rPr lang="ko-KR" altLang="en-US" sz="9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위두십</a:t>
                      </a:r>
                      <a:r>
                        <a:rPr lang="en-US" altLang="ko-KR" sz="9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b="1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7  :  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택배</a:t>
                      </a: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퀵 이용요금의 </a:t>
                      </a: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  <a:p>
                      <a:pPr algn="ctr" fontAlgn="ctr"/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우편 수수료 </a:t>
                      </a: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990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원</a:t>
                      </a: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</a:t>
                      </a:r>
                      <a:r>
                        <a:rPr lang="en-US" altLang="ko-KR" sz="11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서비스 비용 적용 시 우편 수수료는 무료 </a:t>
                      </a:r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</a:p>
                    <a:p>
                      <a:pPr algn="l" fontAlgn="ctr"/>
                      <a:r>
                        <a:rPr lang="en-US" altLang="ko-KR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ko-KR" altLang="en-US" sz="1100" b="0" kern="1200" spc="-5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수수료를 쉐어하지 않는 경우 월</a:t>
                      </a:r>
                      <a:r>
                        <a:rPr lang="ko-KR" altLang="en-US" sz="11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서비스 요금 ↓ </a:t>
                      </a:r>
                      <a:r>
                        <a:rPr lang="en-US" altLang="ko-KR" sz="11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현재 금액 협의 중</a:t>
                      </a:r>
                      <a:r>
                        <a:rPr lang="en-US" altLang="ko-KR" sz="1100" b="0" kern="1200" spc="-5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100" b="0" kern="1200" spc="-5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42105"/>
                  </a:ext>
                </a:extLst>
              </a:tr>
            </a:tbl>
          </a:graphicData>
        </a:graphic>
      </p:graphicFrame>
      <p:grpSp>
        <p:nvGrpSpPr>
          <p:cNvPr id="21" name="그룹 20"/>
          <p:cNvGrpSpPr/>
          <p:nvPr/>
        </p:nvGrpSpPr>
        <p:grpSpPr>
          <a:xfrm>
            <a:off x="3765373" y="3375158"/>
            <a:ext cx="365320" cy="100966"/>
            <a:chOff x="3838470" y="3385812"/>
            <a:chExt cx="365320" cy="100966"/>
          </a:xfrm>
        </p:grpSpPr>
        <p:cxnSp>
          <p:nvCxnSpPr>
            <p:cNvPr id="22" name="직선 연결선 21"/>
            <p:cNvCxnSpPr/>
            <p:nvPr/>
          </p:nvCxnSpPr>
          <p:spPr>
            <a:xfrm flipV="1">
              <a:off x="3838470" y="3386503"/>
              <a:ext cx="261257" cy="100275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>
              <a:off x="4098572" y="3385812"/>
              <a:ext cx="105218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17">
            <a:extLst>
              <a:ext uri="{FF2B5EF4-FFF2-40B4-BE49-F238E27FC236}">
                <a16:creationId xmlns:a16="http://schemas.microsoft.com/office/drawing/2014/main" id="{70D96C7E-D116-451A-9B9F-31DAEE739075}"/>
              </a:ext>
            </a:extLst>
          </p:cNvPr>
          <p:cNvSpPr txBox="1"/>
          <p:nvPr/>
        </p:nvSpPr>
        <p:spPr>
          <a:xfrm>
            <a:off x="4052919" y="3236252"/>
            <a:ext cx="225540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chemeClr val="tx1"/>
              </a:buClr>
              <a:defRPr/>
            </a:pPr>
            <a:r>
              <a:rPr lang="ko-KR" altLang="en-US" sz="10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당사 서비스 비용 반영 시 추가 매출 가능 </a:t>
            </a:r>
            <a:endParaRPr lang="en-US" altLang="ko-KR" sz="1000" b="1" spc="-5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975986" y="4067447"/>
            <a:ext cx="243476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ko-KR" sz="10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Case1 ) </a:t>
            </a:r>
            <a:r>
              <a:rPr lang="ko-KR" altLang="en-US" sz="1000" b="1" u="sng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고정비 </a:t>
            </a:r>
            <a:r>
              <a:rPr lang="en-US" altLang="ko-KR" sz="1000" b="1" u="sng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Fee 7% / </a:t>
            </a:r>
            <a:r>
              <a:rPr lang="ko-KR" altLang="en-US" sz="1000" b="1" u="sng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수수료 쉐어 </a:t>
            </a:r>
            <a:r>
              <a:rPr lang="en-US" altLang="ko-KR" sz="1000" b="1" u="sng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713118" y="4064626"/>
            <a:ext cx="21034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예시</a:t>
            </a:r>
            <a:r>
              <a:rPr lang="en-US" altLang="ko-KR" sz="1100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100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서비스 요금</a:t>
            </a:r>
            <a:r>
              <a:rPr lang="en-US" altLang="ko-KR" sz="1100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3</a:t>
            </a:r>
            <a:r>
              <a:rPr lang="ko-KR" altLang="en-US" sz="1100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약정 시 </a:t>
            </a:r>
            <a:endParaRPr lang="ko-KR" altLang="en-US" sz="1100"/>
          </a:p>
        </p:txBody>
      </p:sp>
      <p:cxnSp>
        <p:nvCxnSpPr>
          <p:cNvPr id="27" name="직선 연결선 26"/>
          <p:cNvCxnSpPr/>
          <p:nvPr/>
        </p:nvCxnSpPr>
        <p:spPr>
          <a:xfrm>
            <a:off x="595298" y="3754380"/>
            <a:ext cx="844518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7">
            <a:extLst>
              <a:ext uri="{FF2B5EF4-FFF2-40B4-BE49-F238E27FC236}">
                <a16:creationId xmlns:a16="http://schemas.microsoft.com/office/drawing/2014/main" id="{70D96C7E-D116-451A-9B9F-31DAEE739075}"/>
              </a:ext>
            </a:extLst>
          </p:cNvPr>
          <p:cNvSpPr txBox="1"/>
          <p:nvPr/>
        </p:nvSpPr>
        <p:spPr>
          <a:xfrm>
            <a:off x="5870059" y="6115152"/>
            <a:ext cx="294601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chemeClr val="tx1"/>
              </a:buClr>
              <a:defRPr/>
            </a:pPr>
            <a:r>
              <a:rPr lang="ko-KR" altLang="en-US" sz="10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수수료 쉐어 시 택배</a:t>
            </a:r>
            <a:r>
              <a:rPr lang="en-US" altLang="ko-KR" sz="10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퀵 이용량 ↑ →  매출 </a:t>
            </a:r>
            <a:r>
              <a:rPr lang="en-US" altLang="ko-KR" sz="10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&amp; </a:t>
            </a:r>
            <a:r>
              <a:rPr lang="ko-KR" altLang="en-US" sz="10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이익 ↑ </a:t>
            </a:r>
            <a:endParaRPr lang="en-US" altLang="ko-KR" sz="1000" b="1" spc="-5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975986" y="5222924"/>
            <a:ext cx="272806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ko-KR" sz="1000" b="1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Case2 ) </a:t>
            </a:r>
            <a:r>
              <a:rPr lang="ko-KR" altLang="en-US" sz="1000" b="1" u="sng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고정비 </a:t>
            </a:r>
            <a:r>
              <a:rPr lang="en-US" altLang="ko-KR" sz="1000" b="1" u="sng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Fee 7% / </a:t>
            </a:r>
            <a:r>
              <a:rPr lang="ko-KR" altLang="en-US" sz="1000" b="1" u="sng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수수료 쉐어 </a:t>
            </a:r>
            <a:r>
              <a:rPr lang="en-US" altLang="ko-KR" sz="1000" b="1" u="sng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70%</a:t>
            </a:r>
          </a:p>
        </p:txBody>
      </p:sp>
      <p:cxnSp>
        <p:nvCxnSpPr>
          <p:cNvPr id="30" name="직선 화살표 연결선 29"/>
          <p:cNvCxnSpPr/>
          <p:nvPr/>
        </p:nvCxnSpPr>
        <p:spPr>
          <a:xfrm flipV="1">
            <a:off x="5285275" y="4219459"/>
            <a:ext cx="690711" cy="43648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5285275" y="4667776"/>
            <a:ext cx="690711" cy="64266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778842" y="5150418"/>
            <a:ext cx="2037737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700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700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우편료</a:t>
            </a:r>
            <a:r>
              <a:rPr lang="en-US" altLang="ko-KR" sz="700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택배비 </a:t>
            </a:r>
            <a:r>
              <a:rPr lang="en-US" altLang="ko-KR" sz="700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700">
                <a:solidFill>
                  <a:srgbClr val="40404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강서사옥 기준 최대사용 요금 기준</a:t>
            </a:r>
            <a:endParaRPr lang="ko-KR" altLang="en-US" sz="700"/>
          </a:p>
        </p:txBody>
      </p:sp>
    </p:spTree>
    <p:extLst>
      <p:ext uri="{BB962C8B-B14F-4D97-AF65-F5344CB8AC3E}">
        <p14:creationId xmlns:p14="http://schemas.microsoft.com/office/powerpoint/2010/main" val="4060171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참고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주방자동 소화장치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7F9BBDE5-ED80-45D9-A77F-E6DDACCB74D4}"/>
              </a:ext>
            </a:extLst>
          </p:cNvPr>
          <p:cNvSpPr txBox="1"/>
          <p:nvPr/>
        </p:nvSpPr>
        <p:spPr>
          <a:xfrm>
            <a:off x="391572" y="752925"/>
            <a:ext cx="8445185" cy="3115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  <a:buClr>
                <a:schemeClr val="tx1"/>
              </a:buClr>
              <a:defRPr/>
            </a:pP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기존 법규에서는 자진 설치 설비였던 ‘</a:t>
            </a:r>
            <a:r>
              <a:rPr lang="ko-KR" altLang="en-US" sz="1200" b="1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상업용</a:t>
            </a: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주방자동 </a:t>
            </a:r>
            <a:r>
              <a:rPr lang="ko-KR" altLang="en-US" sz="1200" b="1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소화장치’가</a:t>
            </a: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의무 설치 대상으로 변경 예정임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5FED771-E164-4A6D-97F1-0B002E29EF01}"/>
              </a:ext>
            </a:extLst>
          </p:cNvPr>
          <p:cNvSpPr/>
          <p:nvPr/>
        </p:nvSpPr>
        <p:spPr>
          <a:xfrm>
            <a:off x="546398" y="1470184"/>
            <a:ext cx="4061461" cy="35679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소방시설 설치 및 관리에 관한 법률 시행령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안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)</a:t>
            </a:r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시행예정일</a:t>
            </a:r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: ’24. 12. 01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242C74F-7A2F-4381-B0FC-72AC119143C9}"/>
              </a:ext>
            </a:extLst>
          </p:cNvPr>
          <p:cNvSpPr/>
          <p:nvPr/>
        </p:nvSpPr>
        <p:spPr>
          <a:xfrm>
            <a:off x="546398" y="1826983"/>
            <a:ext cx="6206473" cy="14927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별표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5]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소화설비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나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자동소화장치를 설치하여야 하는 특정소방대상물은 다음의 어느 하나에 해당하는 것으로 한다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2)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상업용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주방자동소화장치를 설치해야 하는 것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가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판매시설 중 「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유통산업발전법」제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호에 해당하는 </a:t>
            </a:r>
            <a:r>
              <a:rPr lang="ko-KR" altLang="en-US" sz="105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대규모점포에 입점해 있는 일반음식점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나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「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식품위생법」제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호에 따른 </a:t>
            </a:r>
            <a:r>
              <a:rPr lang="ko-KR" altLang="en-US" sz="105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집단급식소</a:t>
            </a:r>
            <a:endParaRPr lang="en-US" altLang="ko-KR" sz="1050" u="sng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E8DC9A-D5E2-4E1C-91BA-27DEA3E1998F}"/>
              </a:ext>
            </a:extLst>
          </p:cNvPr>
          <p:cNvSpPr/>
          <p:nvPr/>
        </p:nvSpPr>
        <p:spPr>
          <a:xfrm>
            <a:off x="529965" y="3709122"/>
            <a:ext cx="8813204" cy="87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화재예방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소방시설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설치ㆍ유지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안전관리에 관한 법률 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소방시설기준 적용의 특례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대통령령 또는 화재안전기준이 변경되어 그 기준이 강화되는 경우 기존의 특정소방대상물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건축물의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신축ㆍ개축ㆍ재축ㆍ이전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대수선 중인 특정소방대상물을 </a:t>
            </a:r>
            <a:b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포함한다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소방시설에 대하여는 변경 전의 대통령령 또는 화재안전기준을 적용한다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853878A-389C-425C-AC5A-B4958C5C3DBF}"/>
              </a:ext>
            </a:extLst>
          </p:cNvPr>
          <p:cNvGrpSpPr/>
          <p:nvPr/>
        </p:nvGrpSpPr>
        <p:grpSpPr>
          <a:xfrm>
            <a:off x="6854290" y="1455012"/>
            <a:ext cx="2740012" cy="2298114"/>
            <a:chOff x="2936776" y="2207491"/>
            <a:chExt cx="3928250" cy="2964080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96C6D54A-3254-4F0F-8361-86D6CD396F16}"/>
                </a:ext>
              </a:extLst>
            </p:cNvPr>
            <p:cNvGrpSpPr/>
            <p:nvPr/>
          </p:nvGrpSpPr>
          <p:grpSpPr>
            <a:xfrm>
              <a:off x="2936776" y="2348880"/>
              <a:ext cx="3506079" cy="2822691"/>
              <a:chOff x="2936776" y="2348880"/>
              <a:chExt cx="3506079" cy="2822691"/>
            </a:xfrm>
          </p:grpSpPr>
          <p:pic>
            <p:nvPicPr>
              <p:cNvPr id="43" name="그림 42">
                <a:extLst>
                  <a:ext uri="{FF2B5EF4-FFF2-40B4-BE49-F238E27FC236}">
                    <a16:creationId xmlns:a16="http://schemas.microsoft.com/office/drawing/2014/main" id="{1464613B-4B3C-4FE1-842A-A3EEACE3E4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36776" y="2348880"/>
                <a:ext cx="3506079" cy="2822691"/>
              </a:xfrm>
              <a:prstGeom prst="rect">
                <a:avLst/>
              </a:prstGeom>
            </p:spPr>
          </p:pic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5298BAB8-E877-44F2-B8FD-D72ED30AFAB7}"/>
                  </a:ext>
                </a:extLst>
              </p:cNvPr>
              <p:cNvSpPr/>
              <p:nvPr/>
            </p:nvSpPr>
            <p:spPr>
              <a:xfrm rot="16200000">
                <a:off x="5956171" y="4249688"/>
                <a:ext cx="720080" cy="2308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ko-KR" altLang="en-US" sz="900" dirty="0">
                    <a:solidFill>
                      <a:schemeClr val="bg1">
                        <a:lumMod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소화약제</a:t>
                </a:r>
              </a:p>
            </p:txBody>
          </p:sp>
        </p:grp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97A49FE3-167F-4989-9956-06E1702B8546}"/>
                </a:ext>
              </a:extLst>
            </p:cNvPr>
            <p:cNvSpPr/>
            <p:nvPr/>
          </p:nvSpPr>
          <p:spPr>
            <a:xfrm>
              <a:off x="3140364" y="2207491"/>
              <a:ext cx="3491345" cy="2678545"/>
            </a:xfrm>
            <a:custGeom>
              <a:avLst/>
              <a:gdLst>
                <a:gd name="connsiteX0" fmla="*/ 0 w 3491345"/>
                <a:gd name="connsiteY0" fmla="*/ 0 h 2678545"/>
                <a:gd name="connsiteX1" fmla="*/ 3491345 w 3491345"/>
                <a:gd name="connsiteY1" fmla="*/ 0 h 2678545"/>
                <a:gd name="connsiteX2" fmla="*/ 3491345 w 3491345"/>
                <a:gd name="connsiteY2" fmla="*/ 2678545 h 2678545"/>
                <a:gd name="connsiteX3" fmla="*/ 2623127 w 3491345"/>
                <a:gd name="connsiteY3" fmla="*/ 2678545 h 2678545"/>
                <a:gd name="connsiteX4" fmla="*/ 2623127 w 3491345"/>
                <a:gd name="connsiteY4" fmla="*/ 1847273 h 2678545"/>
                <a:gd name="connsiteX5" fmla="*/ 46181 w 3491345"/>
                <a:gd name="connsiteY5" fmla="*/ 1034473 h 2678545"/>
                <a:gd name="connsiteX6" fmla="*/ 46181 w 3491345"/>
                <a:gd name="connsiteY6" fmla="*/ 9236 h 2678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91345" h="2678545">
                  <a:moveTo>
                    <a:pt x="0" y="0"/>
                  </a:moveTo>
                  <a:lnTo>
                    <a:pt x="3491345" y="0"/>
                  </a:lnTo>
                  <a:lnTo>
                    <a:pt x="3491345" y="2678545"/>
                  </a:lnTo>
                  <a:lnTo>
                    <a:pt x="2623127" y="2678545"/>
                  </a:lnTo>
                  <a:lnTo>
                    <a:pt x="2623127" y="1847273"/>
                  </a:lnTo>
                  <a:lnTo>
                    <a:pt x="46181" y="1034473"/>
                  </a:lnTo>
                  <a:lnTo>
                    <a:pt x="46181" y="9236"/>
                  </a:lnTo>
                </a:path>
              </a:pathLst>
            </a:custGeom>
            <a:noFill/>
            <a:ln w="6350">
              <a:solidFill>
                <a:srgbClr val="FF66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850476E1-39FE-4A23-8F04-1E3E584E95E1}"/>
                </a:ext>
              </a:extLst>
            </p:cNvPr>
            <p:cNvSpPr/>
            <p:nvPr/>
          </p:nvSpPr>
          <p:spPr>
            <a:xfrm>
              <a:off x="6144946" y="2225414"/>
              <a:ext cx="72008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7609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6898</TotalTime>
  <Words>1089</Words>
  <Application>Microsoft Office PowerPoint</Application>
  <PresentationFormat>A4 용지(210x297mm)</PresentationFormat>
  <Paragraphs>156</Paragraphs>
  <Slides>6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9" baseType="lpstr">
      <vt:lpstr>LG스마트체 Light</vt:lpstr>
      <vt:lpstr>LG스마트체 Regular</vt:lpstr>
      <vt:lpstr>LG스마트체 SemiBold</vt:lpstr>
      <vt:lpstr>Malgun Gothic Semilight</vt:lpstr>
      <vt:lpstr>나눔바른고딕</vt:lpstr>
      <vt:lpstr>맑은 고딕</vt:lpstr>
      <vt:lpstr>Arial</vt:lpstr>
      <vt:lpstr>Arial Narrow</vt:lpstr>
      <vt:lpstr>Calibri</vt:lpstr>
      <vt:lpstr>Calibri Light</vt:lpstr>
      <vt:lpstr>Wingdings</vt:lpstr>
      <vt:lpstr>Office 테마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조미애 </dc:creator>
  <cp:lastModifiedBy>Ucjh</cp:lastModifiedBy>
  <cp:revision>330</cp:revision>
  <cp:lastPrinted>2022-11-22T00:37:03Z</cp:lastPrinted>
  <dcterms:created xsi:type="dcterms:W3CDTF">2022-06-15T23:56:35Z</dcterms:created>
  <dcterms:modified xsi:type="dcterms:W3CDTF">2022-12-06T07:24:44Z</dcterms:modified>
</cp:coreProperties>
</file>