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5"/>
  </p:notesMasterIdLst>
  <p:sldIdLst>
    <p:sldId id="608" r:id="rId2"/>
    <p:sldId id="609" r:id="rId3"/>
    <p:sldId id="618" r:id="rId4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>
          <p15:clr>
            <a:srgbClr val="A4A3A4"/>
          </p15:clr>
        </p15:guide>
        <p15:guide id="2" orient="horz" pos="4319">
          <p15:clr>
            <a:srgbClr val="A4A3A4"/>
          </p15:clr>
        </p15:guide>
        <p15:guide id="3" orient="horz" pos="1616" userDrawn="1">
          <p15:clr>
            <a:srgbClr val="A4A3A4"/>
          </p15:clr>
        </p15:guide>
        <p15:guide id="4" orient="horz" pos="3974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orient="horz" pos="935">
          <p15:clr>
            <a:srgbClr val="A4A3A4"/>
          </p15:clr>
        </p15:guide>
        <p15:guide id="8" orient="horz" pos="2614">
          <p15:clr>
            <a:srgbClr val="A4A3A4"/>
          </p15:clr>
        </p15:guide>
        <p15:guide id="9" pos="3120">
          <p15:clr>
            <a:srgbClr val="A4A3A4"/>
          </p15:clr>
        </p15:guide>
        <p15:guide id="10" pos="126">
          <p15:clr>
            <a:srgbClr val="A4A3A4"/>
          </p15:clr>
        </p15:guide>
        <p15:guide id="11" pos="6114">
          <p15:clr>
            <a:srgbClr val="A4A3A4"/>
          </p15:clr>
        </p15:guide>
        <p15:guide id="12" pos="1669">
          <p15:clr>
            <a:srgbClr val="A4A3A4"/>
          </p15:clr>
        </p15:guide>
        <p15:guide id="13" pos="308">
          <p15:clr>
            <a:srgbClr val="A4A3A4"/>
          </p15:clr>
        </p15:guide>
        <p15:guide id="14" pos="5932">
          <p15:clr>
            <a:srgbClr val="A4A3A4"/>
          </p15:clr>
        </p15:guide>
        <p15:guide id="15" pos="3029">
          <p15:clr>
            <a:srgbClr val="A4A3A4"/>
          </p15:clr>
        </p15:guide>
        <p15:guide id="16" pos="3211">
          <p15:clr>
            <a:srgbClr val="A4A3A4"/>
          </p15:clr>
        </p15:guide>
        <p15:guide id="17" pos="4572">
          <p15:clr>
            <a:srgbClr val="A4A3A4"/>
          </p15:clr>
        </p15:guide>
        <p15:guide id="18" pos="38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VEONE" initials="S" lastIdx="1" clrIdx="0">
    <p:extLst>
      <p:ext uri="{19B8F6BF-5375-455C-9EA6-DF929625EA0E}">
        <p15:presenceInfo xmlns:p15="http://schemas.microsoft.com/office/powerpoint/2012/main" userId="SERVEO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0099CC"/>
    <a:srgbClr val="3399FF"/>
    <a:srgbClr val="FF9999"/>
    <a:srgbClr val="FF9966"/>
    <a:srgbClr val="FF6600"/>
    <a:srgbClr val="CCCCCC"/>
    <a:srgbClr val="A50034"/>
    <a:srgbClr val="FFFFFF"/>
    <a:srgbClr val="C50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1" autoAdjust="0"/>
    <p:restoredTop sz="96582" autoAdjust="0"/>
  </p:normalViewPr>
  <p:slideViewPr>
    <p:cSldViewPr>
      <p:cViewPr varScale="1">
        <p:scale>
          <a:sx n="95" d="100"/>
          <a:sy n="95" d="100"/>
        </p:scale>
        <p:origin x="90" y="162"/>
      </p:cViewPr>
      <p:guideLst>
        <p:guide orient="horz" pos="1207"/>
        <p:guide orient="horz" pos="4319"/>
        <p:guide orient="horz" pos="1616"/>
        <p:guide orient="horz" pos="3974"/>
        <p:guide orient="horz" pos="2160"/>
        <p:guide orient="horz" pos="935"/>
        <p:guide orient="horz" pos="2614"/>
        <p:guide pos="3120"/>
        <p:guide pos="126"/>
        <p:guide pos="6114"/>
        <p:guide pos="1669"/>
        <p:guide pos="308"/>
        <p:guide pos="5932"/>
        <p:guide pos="3029"/>
        <p:guide pos="3211"/>
        <p:guide pos="4572"/>
        <p:guide pos="3846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2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863" y="0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383" y="4715832"/>
            <a:ext cx="5436909" cy="4466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 dirty="0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863" y="9428272"/>
            <a:ext cx="2946275" cy="496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4CAAA1D-F35D-4B17-84EE-4EE23C36AB51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283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비밀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[대외비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73018" y="1268760"/>
            <a:ext cx="8915400" cy="562075"/>
          </a:xfrm>
          <a:prstGeom prst="rect">
            <a:avLst/>
          </a:prstGeom>
        </p:spPr>
        <p:txBody>
          <a:bodyPr/>
          <a:lstStyle>
            <a:lvl1pPr algn="ctr">
              <a:defRPr sz="2400" b="1">
                <a:solidFill>
                  <a:schemeClr val="tx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1877577" y="1833461"/>
            <a:ext cx="61508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4"/>
          <p:cNvSpPr>
            <a:spLocks noChangeArrowheads="1"/>
          </p:cNvSpPr>
          <p:nvPr userDrawn="1"/>
        </p:nvSpPr>
        <p:spPr bwMode="auto">
          <a:xfrm>
            <a:off x="8841432" y="248643"/>
            <a:ext cx="808285" cy="300037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kern="0" dirty="0">
                <a:solidFill>
                  <a:srgbClr val="FF0000"/>
                </a:solidFill>
                <a:latin typeface="+mj-ea"/>
                <a:ea typeface="+mj-ea"/>
              </a:rPr>
              <a:t>대외비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584533"/>
            <a:ext cx="9906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528" lvl="1" indent="-457200" algn="ctr" defTabSz="1043056" fontAlgn="auto"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Copyright ©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서브원의 사전 승인 없이 본 내용의 전부 또는 일부에 대한 복사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배포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kumimoji="0"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등을 금합니다</a:t>
            </a:r>
            <a:r>
              <a:rPr kumimoji="0"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kumimoji="0" lang="ko-KR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67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자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3782870" y="6381331"/>
            <a:ext cx="2311400" cy="476251"/>
          </a:xfrm>
          <a:prstGeom prst="rect">
            <a:avLst/>
          </a:prstGeom>
        </p:spPr>
        <p:txBody>
          <a:bodyPr anchor="b"/>
          <a:lstStyle>
            <a:lvl1pPr algn="ctr">
              <a:defRPr sz="1000" b="1">
                <a:solidFill>
                  <a:schemeClr val="tx1"/>
                </a:solidFill>
                <a:latin typeface="Arial" pitchFamily="34" charset="0"/>
                <a:ea typeface="가는둥근제목체" pitchFamily="18" charset="-127"/>
                <a:cs typeface="Arial" pitchFamily="34" charset="0"/>
              </a:defRPr>
            </a:lvl1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0DDAB4-6EBD-4FE5-A400-982DB9D5976A}" type="slidenum">
              <a:rPr kumimoji="1" lang="en-US" altLang="ko-KR" sz="11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Arial" pitchFamily="34" charset="0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 pitchFamily="34" charset="0"/>
              </a:rPr>
              <a:t> / 14</a:t>
            </a:r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 수동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3793928" y="6381328"/>
            <a:ext cx="2311200" cy="4752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000" b="0" baseline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5 / 10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10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344488" y="807992"/>
            <a:ext cx="9072562" cy="604883"/>
          </a:xfrm>
          <a:prstGeom prst="rect">
            <a:avLst/>
          </a:prstGeom>
        </p:spPr>
        <p:txBody>
          <a:bodyPr/>
          <a:lstStyle>
            <a:lvl1pPr marL="0" indent="0" latinLnBrk="0">
              <a:buNone/>
              <a:defRPr kumimoji="1" lang="ko-KR" altLang="en-US" sz="1400" b="1" kern="1200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marL="342900" lvl="0" indent="-342900" algn="l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Governing Message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56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(without 페이지번호,Govering Mess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7096" y="79164"/>
            <a:ext cx="5749782" cy="490067"/>
          </a:xfrm>
          <a:prstGeom prst="rect">
            <a:avLst/>
          </a:prstGeom>
        </p:spPr>
        <p:txBody>
          <a:bodyPr anchor="ctr" anchorCtr="0"/>
          <a:lstStyle>
            <a:lvl1pPr algn="l">
              <a:defRPr sz="1600" b="1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4270" y="208869"/>
            <a:ext cx="3601098" cy="3603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kumimoji="1" lang="ko-KR" altLang="en-US" sz="1200" b="1" dirty="0" smtClean="0">
                <a:solidFill>
                  <a:schemeClr val="tx1"/>
                </a:solidFill>
                <a:latin typeface="+mj-ea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Sub-Title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20688"/>
            <a:ext cx="990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06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02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74415" y="1911399"/>
            <a:ext cx="4929222" cy="5814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7039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852936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 sz="6000" b="0">
                <a:solidFill>
                  <a:srgbClr val="424242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6513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8086-12F8-4877-8E96-24ADD8A710C0}" type="datetimeFigureOut">
              <a:rPr lang="ko-KR" altLang="en-US" smtClean="0"/>
              <a:t>22-11-01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8BED0-37E8-4202-B636-0493D91C1F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97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0" r:id="rId3"/>
    <p:sldLayoutId id="2147483661" r:id="rId4"/>
    <p:sldLayoutId id="2147483662" r:id="rId5"/>
    <p:sldLayoutId id="2147483666" r:id="rId6"/>
    <p:sldLayoutId id="2147483657" r:id="rId7"/>
    <p:sldLayoutId id="2147483663" r:id="rId8"/>
    <p:sldLayoutId id="2147483664" r:id="rId9"/>
    <p:sldLayoutId id="2147483667" r:id="rId10"/>
  </p:sldLayoutIdLst>
  <p:hf sldNum="0"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jonah-pm.com/entry/%EB%A6%B0-%EC%BA%94%EB%B2%84%EC%8A%A4Lean-Canvas-%EC%84%9C%EB%B9%84%EC%8A%A4-%EA%B8%B0%ED%9A%8D%EC%9D%98-%EC%B2%AB-%EA%B1%B8%EC%9D%8C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(RMS) </a:t>
            </a:r>
            <a:r>
              <a:rPr lang="ko-KR" altLang="en-US" dirty="0"/>
              <a:t>린 캔버스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68F5D6-18C1-49E6-BF3E-53E62B9D56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/>
              <a:t>작성자</a:t>
            </a:r>
            <a:r>
              <a:rPr lang="en-US" altLang="ko-KR" dirty="0"/>
              <a:t>: </a:t>
            </a:r>
            <a:r>
              <a:rPr lang="ko-KR" altLang="en-US" dirty="0"/>
              <a:t>장재호 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E8C406D-70B2-4A01-915E-783E260B4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695524"/>
              </p:ext>
            </p:extLst>
          </p:nvPr>
        </p:nvGraphicFramePr>
        <p:xfrm>
          <a:off x="272476" y="836712"/>
          <a:ext cx="9361044" cy="5616624"/>
        </p:xfrm>
        <a:graphic>
          <a:graphicData uri="http://schemas.openxmlformats.org/drawingml/2006/table">
            <a:tbl>
              <a:tblPr/>
              <a:tblGrid>
                <a:gridCol w="1800204">
                  <a:extLst>
                    <a:ext uri="{9D8B030D-6E8A-4147-A177-3AD203B41FA5}">
                      <a16:colId xmlns:a16="http://schemas.microsoft.com/office/drawing/2014/main" val="549860655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235663187"/>
                    </a:ext>
                  </a:extLst>
                </a:gridCol>
                <a:gridCol w="936102">
                  <a:extLst>
                    <a:ext uri="{9D8B030D-6E8A-4147-A177-3AD203B41FA5}">
                      <a16:colId xmlns:a16="http://schemas.microsoft.com/office/drawing/2014/main" val="1073697076"/>
                    </a:ext>
                  </a:extLst>
                </a:gridCol>
                <a:gridCol w="936106">
                  <a:extLst>
                    <a:ext uri="{9D8B030D-6E8A-4147-A177-3AD203B41FA5}">
                      <a16:colId xmlns:a16="http://schemas.microsoft.com/office/drawing/2014/main" val="3100038196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92849847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4244309635"/>
                    </a:ext>
                  </a:extLst>
                </a:gridCol>
              </a:tblGrid>
              <a:tr h="6072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 문제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솔루션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고유의 가치제안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경쟁우위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고객군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548839"/>
                  </a:ext>
                </a:extLst>
              </a:tr>
              <a:tr h="1825302">
                <a:tc rowSpan="3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자동제어시스템을 유지보수 하기 위해서는 많은 비용이 소요되는데 반하여 효용성을 모르겠음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소형빌딩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점포에서 휴무일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또는 심야시간대 등 시설관리인원이 없는 상황에서 중대사고 발생의 리스크가 상존함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비상상황 발생시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소수의 인원으로는 초동대처와 상황전파를 동시에 수행하기 어려움</a:t>
                      </a: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고객이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필요로하는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서비스만 선택 제공 가능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SOS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서비스 등 연관서비스 인프라 제공 가능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고객이 요청할 경우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IOC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에서 상황전파 및 관공서 신고 대행 제공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2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안전안심</a:t>
                      </a:r>
                      <a:r>
                        <a:rPr lang="en-US" altLang="ko-KR" sz="10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불의의 사고 시 초동대처를 통한 피해 확산 방지</a:t>
                      </a: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수년간 서비스를 제공하며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H/W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업그레이드를 통하여 검증된 시스템 안정성 및 숙련된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IOC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관제인력</a:t>
                      </a: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건축물 내에서 중대사고 발생 시 책임감을 갖는 고객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영업설비의 이상발생 시 피해가 큰 고객</a:t>
                      </a: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510875"/>
                  </a:ext>
                </a:extLst>
              </a:tr>
              <a:tr h="4758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핵심지표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620" marR="20620" marT="5701" marB="570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채널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620" marR="20620" marT="5701" marB="570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06148689"/>
                  </a:ext>
                </a:extLst>
              </a:tr>
              <a:tr h="1551593">
                <a:tc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계약건수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알림발생건수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기존 관리사업장에 추가서비스 제안 또는 신규 제안 시에 차별화서비스로 제안</a:t>
                      </a: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4708838"/>
                  </a:ext>
                </a:extLst>
              </a:tr>
              <a:tr h="415918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7. </a:t>
                      </a: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비용 구조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6. </a:t>
                      </a:r>
                      <a:r>
                        <a:rPr lang="ko-KR" altLang="en-US" sz="10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수익원</a:t>
                      </a:r>
                      <a:endParaRPr lang="en-US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264491"/>
                  </a:ext>
                </a:extLst>
              </a:tr>
              <a:tr h="740750">
                <a:tc gridSpan="3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협력사 서비스 구축공사비 및 수선비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변동비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통신비 및 </a:t>
                      </a:r>
                      <a:r>
                        <a:rPr lang="ko-KR" altLang="en-US" sz="100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클라우드이용료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고정비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20620" marR="20620" marT="5701" marB="570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장기약정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(3~5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분할 매출</a:t>
                      </a:r>
                      <a:endParaRPr lang="en-US" altLang="ko-KR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원가이익률 </a:t>
                      </a:r>
                      <a:r>
                        <a:rPr lang="en-US" altLang="ko-KR" sz="100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30%</a:t>
                      </a:r>
                      <a:endParaRPr lang="ko-KR" altLang="en-US" sz="100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620" marR="20620" marT="5701" marB="570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20993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C32AD1C-D04E-45F1-9820-D3E0B33882D2}"/>
              </a:ext>
            </a:extLst>
          </p:cNvPr>
          <p:cNvSpPr/>
          <p:nvPr/>
        </p:nvSpPr>
        <p:spPr>
          <a:xfrm>
            <a:off x="272476" y="6529495"/>
            <a:ext cx="936104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600" dirty="0">
                <a:hlinkClick r:id="rId2"/>
              </a:rPr>
              <a:t>참고 링크 </a:t>
            </a:r>
            <a:r>
              <a:rPr lang="en-US" altLang="ko-KR" sz="600" dirty="0">
                <a:hlinkClick r:id="rId2"/>
              </a:rPr>
              <a:t>: </a:t>
            </a:r>
            <a:r>
              <a:rPr lang="ko-KR" altLang="en-US" sz="600" dirty="0">
                <a:hlinkClick r:id="rId2"/>
              </a:rPr>
              <a:t>https://jonah-pm.com/entry/%EB%A6%B0-%EC%BA%94%EB%B2%84%EC%8A%A4Lean-Canvas-%EC%84%9C%EB%B9%84%EC%8A%A4-%EA%B8%B0%ED%9A%8D%EC%9D%98-%EC%B2%AB-%EA%B1%B8%EC%9D%8C</a:t>
            </a:r>
            <a:r>
              <a:rPr lang="ko-KR" altLang="en-US" sz="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487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B395D-ED40-4D8A-BF9A-296673394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(RMS)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To-Be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68F5D6-18C1-49E6-BF3E-53E62B9D56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B83C74-488E-4B87-9426-F413F07AE847}"/>
              </a:ext>
            </a:extLst>
          </p:cNvPr>
          <p:cNvSpPr/>
          <p:nvPr/>
        </p:nvSpPr>
        <p:spPr>
          <a:xfrm>
            <a:off x="5146121" y="1642958"/>
            <a:ext cx="4191874" cy="25289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8B83C6-7E0F-432E-B0CF-EF5D4F3D99E2}"/>
              </a:ext>
            </a:extLst>
          </p:cNvPr>
          <p:cNvSpPr/>
          <p:nvPr/>
        </p:nvSpPr>
        <p:spPr>
          <a:xfrm>
            <a:off x="511653" y="1642959"/>
            <a:ext cx="3911967" cy="25289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5971BBF-50EE-4B08-B11B-97D772BC1373}"/>
              </a:ext>
            </a:extLst>
          </p:cNvPr>
          <p:cNvSpPr/>
          <p:nvPr/>
        </p:nvSpPr>
        <p:spPr>
          <a:xfrm>
            <a:off x="615940" y="2918280"/>
            <a:ext cx="797123" cy="31059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E5744E6-7D0B-47C8-966F-DE9AABED1492}"/>
              </a:ext>
            </a:extLst>
          </p:cNvPr>
          <p:cNvSpPr/>
          <p:nvPr/>
        </p:nvSpPr>
        <p:spPr>
          <a:xfrm>
            <a:off x="1261468" y="2515791"/>
            <a:ext cx="797123" cy="31059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B189D1C-D041-4702-94EE-DC69A17FC269}"/>
              </a:ext>
            </a:extLst>
          </p:cNvPr>
          <p:cNvSpPr/>
          <p:nvPr/>
        </p:nvSpPr>
        <p:spPr>
          <a:xfrm>
            <a:off x="2234721" y="2967482"/>
            <a:ext cx="797123" cy="31059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E92BB8C-D158-43B7-A84C-BA91E9707C1C}"/>
              </a:ext>
            </a:extLst>
          </p:cNvPr>
          <p:cNvSpPr/>
          <p:nvPr/>
        </p:nvSpPr>
        <p:spPr>
          <a:xfrm>
            <a:off x="3375963" y="2596828"/>
            <a:ext cx="797123" cy="31059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3BB73B0-CB55-469D-A15C-4A3E47E61F4D}"/>
              </a:ext>
            </a:extLst>
          </p:cNvPr>
          <p:cNvSpPr/>
          <p:nvPr/>
        </p:nvSpPr>
        <p:spPr>
          <a:xfrm>
            <a:off x="3367393" y="3213224"/>
            <a:ext cx="797123" cy="31059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5FD0BFE-A2EE-4EA1-B750-6ACDE915E30D}"/>
              </a:ext>
            </a:extLst>
          </p:cNvPr>
          <p:cNvSpPr/>
          <p:nvPr/>
        </p:nvSpPr>
        <p:spPr>
          <a:xfrm>
            <a:off x="1183411" y="3385618"/>
            <a:ext cx="797123" cy="31059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6DEB175F-EE07-49A9-A784-CB884B355793}"/>
              </a:ext>
            </a:extLst>
          </p:cNvPr>
          <p:cNvSpPr/>
          <p:nvPr/>
        </p:nvSpPr>
        <p:spPr>
          <a:xfrm>
            <a:off x="2137735" y="3563023"/>
            <a:ext cx="797123" cy="31059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16CAD1-F29C-4A62-B47C-E2B18C45D721}"/>
              </a:ext>
            </a:extLst>
          </p:cNvPr>
          <p:cNvSpPr txBox="1"/>
          <p:nvPr/>
        </p:nvSpPr>
        <p:spPr>
          <a:xfrm>
            <a:off x="440629" y="726956"/>
            <a:ext cx="734932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슬로건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“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나만의 서비스를 모두가 함께 누리는 공간으로 연결합니다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C80A3CC-2430-4B35-81FE-E77E0B363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941" y="2471874"/>
            <a:ext cx="1226846" cy="86839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480F9C9-A6EF-4234-BD1D-FCEFE8E0C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46" y="2701117"/>
            <a:ext cx="442084" cy="41261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18C10E4-0FDE-4DD7-8401-7825DA51C97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274791" y="2451869"/>
            <a:ext cx="1044807" cy="98729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3E1FCF2-372A-40C8-A564-2DA3D8E4AB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1658" t="32554" r="21891" b="50000"/>
          <a:stretch/>
        </p:blipFill>
        <p:spPr>
          <a:xfrm>
            <a:off x="1463015" y="2359302"/>
            <a:ext cx="394028" cy="34648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D186620-1838-4826-8512-DB63E86B32E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1023" t="78199" r="21523"/>
          <a:stretch/>
        </p:blipFill>
        <p:spPr>
          <a:xfrm>
            <a:off x="3556925" y="2398829"/>
            <a:ext cx="418055" cy="43295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58D82C5-6FEE-45D9-88F4-86CC37E7870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532" t="81021" r="42421" b="1964"/>
          <a:stretch/>
        </p:blipFill>
        <p:spPr>
          <a:xfrm>
            <a:off x="3585758" y="3047714"/>
            <a:ext cx="360392" cy="33790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8827CC6-9F5F-481D-B535-EA8644B455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753" t="1998" r="80462" b="75401"/>
          <a:stretch/>
        </p:blipFill>
        <p:spPr>
          <a:xfrm>
            <a:off x="2457581" y="2741636"/>
            <a:ext cx="380464" cy="45169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32FE4FC6-34D5-4EB0-9D99-4084BC321B7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07" t="30976" r="62219" b="51577"/>
          <a:stretch/>
        </p:blipFill>
        <p:spPr>
          <a:xfrm>
            <a:off x="1398726" y="3265022"/>
            <a:ext cx="334678" cy="34648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0F27C69-2BC9-496B-A0D3-94686851A47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597" t="82417" r="82646" b="1322"/>
          <a:stretch/>
        </p:blipFill>
        <p:spPr>
          <a:xfrm>
            <a:off x="2406139" y="3415668"/>
            <a:ext cx="281589" cy="32293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4946FDD-34C9-4834-B63E-49F71B61A5D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2461" t="70656" r="3875" b="14659"/>
          <a:stretch/>
        </p:blipFill>
        <p:spPr>
          <a:xfrm>
            <a:off x="7929685" y="2022407"/>
            <a:ext cx="494573" cy="35406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C766C626-BAD4-44EB-A32F-B52620F9E65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49" t="67792" r="84013" b="11006"/>
          <a:stretch/>
        </p:blipFill>
        <p:spPr>
          <a:xfrm>
            <a:off x="8501637" y="2436453"/>
            <a:ext cx="359689" cy="51118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E939FF5-DB8C-49AB-BE6B-D9F2C8393B9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917" t="1377" r="82342" b="83905"/>
          <a:stretch/>
        </p:blipFill>
        <p:spPr>
          <a:xfrm>
            <a:off x="8381394" y="3123243"/>
            <a:ext cx="684820" cy="48862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27E8C0E-68E8-48B9-8F6E-5DDD91C5A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364" y="2464912"/>
            <a:ext cx="442084" cy="41261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04FF27E0-3BB7-4E4F-8CB3-0F33FD8AC2E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1658" t="32554" r="21891" b="50000"/>
          <a:stretch/>
        </p:blipFill>
        <p:spPr>
          <a:xfrm>
            <a:off x="5450864" y="3044163"/>
            <a:ext cx="394028" cy="34648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5881A085-5CF3-45ED-970D-8BA09BB45F6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1023" t="78199" r="21523"/>
          <a:stretch/>
        </p:blipFill>
        <p:spPr>
          <a:xfrm>
            <a:off x="7004538" y="3630147"/>
            <a:ext cx="418055" cy="43295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EBED1B16-E1C1-448B-80D6-23ED4E7219B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2532" t="81021" r="42421" b="1964"/>
          <a:stretch/>
        </p:blipFill>
        <p:spPr>
          <a:xfrm>
            <a:off x="6323001" y="1928928"/>
            <a:ext cx="360392" cy="33790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0C093DF-72FC-4EDA-8718-EF8E1B32114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753" t="1998" r="80462" b="75401"/>
          <a:stretch/>
        </p:blipFill>
        <p:spPr>
          <a:xfrm>
            <a:off x="6377045" y="3627264"/>
            <a:ext cx="380464" cy="45169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2816974-7910-4310-9921-5098CCD1C4C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07" t="30976" r="62219" b="51577"/>
          <a:stretch/>
        </p:blipFill>
        <p:spPr>
          <a:xfrm>
            <a:off x="5769828" y="3537848"/>
            <a:ext cx="334678" cy="34648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B9C790AD-8B5A-4F55-9AD4-ED9F366507B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597" t="82417" r="82646" b="1322"/>
          <a:stretch/>
        </p:blipFill>
        <p:spPr>
          <a:xfrm>
            <a:off x="5868187" y="2093518"/>
            <a:ext cx="281589" cy="322935"/>
          </a:xfrm>
          <a:prstGeom prst="rect">
            <a:avLst/>
          </a:prstGeom>
        </p:spPr>
      </p:pic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968128B5-6CFF-4FCB-A5CA-33EAAD3AB7D1}"/>
              </a:ext>
            </a:extLst>
          </p:cNvPr>
          <p:cNvCxnSpPr>
            <a:stCxn id="33" idx="2"/>
            <a:endCxn id="18" idx="0"/>
          </p:cNvCxnSpPr>
          <p:nvPr/>
        </p:nvCxnSpPr>
        <p:spPr>
          <a:xfrm rot="16200000" flipH="1">
            <a:off x="6783760" y="1986269"/>
            <a:ext cx="205042" cy="766167"/>
          </a:xfrm>
          <a:prstGeom prst="bentConnector3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460B9267-B228-44C0-AB9E-18DE26D174B3}"/>
              </a:ext>
            </a:extLst>
          </p:cNvPr>
          <p:cNvCxnSpPr>
            <a:cxnSpLocks/>
          </p:cNvCxnSpPr>
          <p:nvPr/>
        </p:nvCxnSpPr>
        <p:spPr>
          <a:xfrm>
            <a:off x="6130644" y="2416453"/>
            <a:ext cx="542305" cy="248107"/>
          </a:xfrm>
          <a:prstGeom prst="bentConnector3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5D2CAD1D-0298-41AF-A6B4-654E4BC1AE2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5981784" y="2721326"/>
            <a:ext cx="674158" cy="184745"/>
          </a:xfrm>
          <a:prstGeom prst="bentConnector3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DDC8E7E6-D25A-4E88-9C09-CE4CA1E3BF33}"/>
              </a:ext>
            </a:extLst>
          </p:cNvPr>
          <p:cNvCxnSpPr>
            <a:cxnSpLocks/>
          </p:cNvCxnSpPr>
          <p:nvPr/>
        </p:nvCxnSpPr>
        <p:spPr>
          <a:xfrm flipV="1">
            <a:off x="5862121" y="3086727"/>
            <a:ext cx="793821" cy="124219"/>
          </a:xfrm>
          <a:prstGeom prst="bentConnector3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EEF74A52-0672-4A1C-BBA7-8B1F85FA02D6}"/>
              </a:ext>
            </a:extLst>
          </p:cNvPr>
          <p:cNvCxnSpPr>
            <a:cxnSpLocks/>
          </p:cNvCxnSpPr>
          <p:nvPr/>
        </p:nvCxnSpPr>
        <p:spPr>
          <a:xfrm flipV="1">
            <a:off x="6104505" y="3305900"/>
            <a:ext cx="556863" cy="231948"/>
          </a:xfrm>
          <a:prstGeom prst="bentConnector3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00E0ABAC-239B-4F3C-84F5-1B030ACB1299}"/>
              </a:ext>
            </a:extLst>
          </p:cNvPr>
          <p:cNvCxnSpPr>
            <a:cxnSpLocks/>
          </p:cNvCxnSpPr>
          <p:nvPr/>
        </p:nvCxnSpPr>
        <p:spPr>
          <a:xfrm rot="16200000" flipV="1">
            <a:off x="7011709" y="3441316"/>
            <a:ext cx="258443" cy="96357"/>
          </a:xfrm>
          <a:prstGeom prst="bentConnector3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302FA433-A152-4105-BCC4-0602B474DC0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593026" y="3521850"/>
            <a:ext cx="496936" cy="133774"/>
          </a:xfrm>
          <a:prstGeom prst="bentConnector3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AF84F09F-FE34-4066-B857-C7BEE591EF0B}"/>
              </a:ext>
            </a:extLst>
          </p:cNvPr>
          <p:cNvCxnSpPr>
            <a:cxnSpLocks/>
            <a:stCxn id="20" idx="0"/>
            <a:endCxn id="27" idx="1"/>
          </p:cNvCxnSpPr>
          <p:nvPr/>
        </p:nvCxnSpPr>
        <p:spPr>
          <a:xfrm rot="5400000" flipH="1" flipV="1">
            <a:off x="7737225" y="2259411"/>
            <a:ext cx="252428" cy="132490"/>
          </a:xfrm>
          <a:prstGeom prst="bentConnector2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519F7972-B3D3-4679-A1AA-2213832C3183}"/>
              </a:ext>
            </a:extLst>
          </p:cNvPr>
          <p:cNvCxnSpPr>
            <a:cxnSpLocks/>
          </p:cNvCxnSpPr>
          <p:nvPr/>
        </p:nvCxnSpPr>
        <p:spPr>
          <a:xfrm flipV="1">
            <a:off x="7919242" y="2664560"/>
            <a:ext cx="560301" cy="124529"/>
          </a:xfrm>
          <a:prstGeom prst="bentConnector3">
            <a:avLst>
              <a:gd name="adj1" fmla="val 50000"/>
            </a:avLst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1F3EB38E-8345-453C-A137-510E8AEF4B02}"/>
              </a:ext>
            </a:extLst>
          </p:cNvPr>
          <p:cNvCxnSpPr>
            <a:cxnSpLocks/>
          </p:cNvCxnSpPr>
          <p:nvPr/>
        </p:nvCxnSpPr>
        <p:spPr>
          <a:xfrm>
            <a:off x="7919242" y="3377594"/>
            <a:ext cx="413196" cy="120596"/>
          </a:xfrm>
          <a:prstGeom prst="bentConnector3">
            <a:avLst>
              <a:gd name="adj1" fmla="val 50000"/>
            </a:avLst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3264693-B2F7-4F6A-82AB-97A501D9EDC6}"/>
              </a:ext>
            </a:extLst>
          </p:cNvPr>
          <p:cNvSpPr/>
          <p:nvPr/>
        </p:nvSpPr>
        <p:spPr>
          <a:xfrm>
            <a:off x="485807" y="4357688"/>
            <a:ext cx="8850277" cy="1536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1E0D7C-115E-4D64-89F3-F5FABB1453ED}"/>
              </a:ext>
            </a:extLst>
          </p:cNvPr>
          <p:cNvSpPr txBox="1"/>
          <p:nvPr/>
        </p:nvSpPr>
        <p:spPr>
          <a:xfrm>
            <a:off x="485808" y="4484150"/>
            <a:ext cx="34811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후 모습</a:t>
            </a:r>
            <a:endParaRPr lang="ko-KR" altLang="en-US" sz="1138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743BB2-CF08-4C78-9368-01A559AA1439}"/>
              </a:ext>
            </a:extLst>
          </p:cNvPr>
          <p:cNvSpPr txBox="1"/>
          <p:nvPr/>
        </p:nvSpPr>
        <p:spPr>
          <a:xfrm>
            <a:off x="569916" y="4784232"/>
            <a:ext cx="849629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집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빌딩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설비만을 위한 서비스에서 </a:t>
            </a:r>
            <a:r>
              <a:rPr lang="ko-KR" altLang="en-US" sz="13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클라우드기반의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초연결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서비스를 제공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※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초연결서비스란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표준관리 기준제시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동급건축물대비 효율분석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설비운용전문가를 위한 기술지원 등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정보통신표준화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자동제어설비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API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오픈 등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기술발전에 따른 연결 아이템 무한 확장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3) </a:t>
            </a:r>
            <a:r>
              <a:rPr lang="ko-KR" altLang="en-US" sz="13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프로텍트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및 신기술을 바로 적용할 수 있는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H/W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플랫폼으로 발전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4) AI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건물 운용 </a:t>
            </a:r>
            <a:r>
              <a:rPr lang="en-US" altLang="ko-KR" sz="13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PoC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에 필요한 데이터와 전문컨설팅을 위하여 신생업체가 먼저 찾는 </a:t>
            </a:r>
            <a:r>
              <a:rPr lang="en-US" altLang="ko-KR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S&amp;I</a:t>
            </a:r>
            <a:r>
              <a: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B4EC5D-7194-4DAC-823C-C36AB4F5276B}"/>
              </a:ext>
            </a:extLst>
          </p:cNvPr>
          <p:cNvSpPr txBox="1"/>
          <p:nvPr/>
        </p:nvSpPr>
        <p:spPr>
          <a:xfrm>
            <a:off x="3440018" y="1612165"/>
            <a:ext cx="1018227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50" dirty="0">
                <a:latin typeface="Arial Black" panose="020B0A04020102020204" pitchFamily="34" charset="0"/>
              </a:rPr>
              <a:t>Island</a:t>
            </a:r>
            <a:endParaRPr lang="ko-KR" altLang="en-US" sz="1950" dirty="0">
              <a:latin typeface="Arial Black" panose="020B0A040201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E0EE14-3545-4E76-8675-92A8D0BF396C}"/>
              </a:ext>
            </a:extLst>
          </p:cNvPr>
          <p:cNvSpPr txBox="1"/>
          <p:nvPr/>
        </p:nvSpPr>
        <p:spPr>
          <a:xfrm>
            <a:off x="6749701" y="1611234"/>
            <a:ext cx="2686441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50" dirty="0" err="1">
                <a:latin typeface="Arial Black" panose="020B0A04020102020204" pitchFamily="34" charset="0"/>
              </a:rPr>
              <a:t>Hyperconnectivity</a:t>
            </a:r>
            <a:endParaRPr lang="ko-KR" altLang="en-US" sz="195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02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70CAA2B0-4C96-4BB1-BA14-4FBC8AFDDBE3}"/>
              </a:ext>
            </a:extLst>
          </p:cNvPr>
          <p:cNvCxnSpPr/>
          <p:nvPr/>
        </p:nvCxnSpPr>
        <p:spPr>
          <a:xfrm>
            <a:off x="200472" y="542208"/>
            <a:ext cx="33123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C9254E6-9D2B-4FB1-8150-183A607D1D97}"/>
              </a:ext>
            </a:extLst>
          </p:cNvPr>
          <p:cNvSpPr txBox="1"/>
          <p:nvPr/>
        </p:nvSpPr>
        <p:spPr bwMode="auto">
          <a:xfrm>
            <a:off x="2201818" y="891782"/>
            <a:ext cx="2248006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0" dirty="0" err="1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음성봇</a:t>
            </a:r>
            <a:r>
              <a:rPr kumimoji="1" lang="ko-KR" altLang="en-US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예약</a:t>
            </a:r>
            <a:r>
              <a:rPr kumimoji="1" lang="en-US" altLang="ko-KR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/</a:t>
            </a:r>
            <a:r>
              <a:rPr kumimoji="1" lang="ko-KR" altLang="en-US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배달주문접수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E0FC707-2F17-4553-831E-EAD92DDB480D}"/>
              </a:ext>
            </a:extLst>
          </p:cNvPr>
          <p:cNvSpPr/>
          <p:nvPr/>
        </p:nvSpPr>
        <p:spPr>
          <a:xfrm>
            <a:off x="2018832" y="804969"/>
            <a:ext cx="3431488" cy="331236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24DA44-CE1E-4A49-A164-A5101607A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033" y="321825"/>
            <a:ext cx="1954190" cy="202353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D2CF02E-6937-470F-9459-BDBAFDB3A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59" y="4278102"/>
            <a:ext cx="2227797" cy="18803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E073059-9EF6-49CC-B4C0-C19DD2C5E5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351" y="4276019"/>
            <a:ext cx="1954190" cy="18969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41FF150-BFD1-40E1-9B91-06CD97687A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033" y="2634631"/>
            <a:ext cx="1954190" cy="1770986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6EB19F03-B0A8-4F24-A5AF-E00F5B36E0A4}"/>
              </a:ext>
            </a:extLst>
          </p:cNvPr>
          <p:cNvSpPr/>
          <p:nvPr/>
        </p:nvSpPr>
        <p:spPr>
          <a:xfrm>
            <a:off x="5450320" y="804969"/>
            <a:ext cx="1725806" cy="331236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518FA8D-0207-490C-AC77-5FA201E0CAF8}"/>
              </a:ext>
            </a:extLst>
          </p:cNvPr>
          <p:cNvSpPr/>
          <p:nvPr/>
        </p:nvSpPr>
        <p:spPr>
          <a:xfrm>
            <a:off x="2033873" y="804969"/>
            <a:ext cx="3416445" cy="114537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F796B6-4993-4C26-8950-936623602934}"/>
              </a:ext>
            </a:extLst>
          </p:cNvPr>
          <p:cNvSpPr txBox="1"/>
          <p:nvPr/>
        </p:nvSpPr>
        <p:spPr bwMode="auto">
          <a:xfrm>
            <a:off x="5804910" y="2206857"/>
            <a:ext cx="1016625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0" dirty="0" err="1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주방봇</a:t>
            </a:r>
            <a:endParaRPr kumimoji="1" lang="ko-KR" altLang="en-US" sz="1200" b="0" dirty="0">
              <a:solidFill>
                <a:schemeClr val="tx1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252EF5-69E7-4E18-B097-B44875D4C72C}"/>
              </a:ext>
            </a:extLst>
          </p:cNvPr>
          <p:cNvSpPr txBox="1"/>
          <p:nvPr/>
        </p:nvSpPr>
        <p:spPr bwMode="auto">
          <a:xfrm>
            <a:off x="3243048" y="2756836"/>
            <a:ext cx="917639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ko-KR" altLang="en-US" sz="1200" b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서빙봇</a:t>
            </a:r>
            <a:endParaRPr kumimoji="1" lang="ko-KR" altLang="en-US" sz="1200" b="0" dirty="0">
              <a:solidFill>
                <a:schemeClr val="tx1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221C1A-D86D-4EC9-AE06-12C712C4F0CC}"/>
              </a:ext>
            </a:extLst>
          </p:cNvPr>
          <p:cNvSpPr txBox="1"/>
          <p:nvPr/>
        </p:nvSpPr>
        <p:spPr bwMode="auto">
          <a:xfrm>
            <a:off x="673059" y="2496131"/>
            <a:ext cx="1168478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출입신분증명</a:t>
            </a:r>
            <a:endParaRPr kumimoji="1" lang="ko-KR" altLang="en-US" sz="1200" b="0" dirty="0">
              <a:solidFill>
                <a:schemeClr val="tx1"/>
              </a:solidFill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11" name="1/2 액자 10">
            <a:extLst>
              <a:ext uri="{FF2B5EF4-FFF2-40B4-BE49-F238E27FC236}">
                <a16:creationId xmlns:a16="http://schemas.microsoft.com/office/drawing/2014/main" id="{4B0DEA37-D610-437E-A7C6-343EB45E2BD7}"/>
              </a:ext>
            </a:extLst>
          </p:cNvPr>
          <p:cNvSpPr/>
          <p:nvPr/>
        </p:nvSpPr>
        <p:spPr>
          <a:xfrm rot="7917609">
            <a:off x="1737533" y="2442646"/>
            <a:ext cx="419279" cy="383973"/>
          </a:xfrm>
          <a:prstGeom prst="halfFram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F8E721-DD62-4D4E-A308-EB6FFFFD68DD}"/>
              </a:ext>
            </a:extLst>
          </p:cNvPr>
          <p:cNvSpPr txBox="1"/>
          <p:nvPr/>
        </p:nvSpPr>
        <p:spPr bwMode="auto">
          <a:xfrm>
            <a:off x="2201818" y="1187585"/>
            <a:ext cx="2248006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QR</a:t>
            </a:r>
            <a:r>
              <a:rPr kumimoji="1" lang="ko-KR" altLang="en-US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앱 주문</a:t>
            </a:r>
            <a:r>
              <a:rPr kumimoji="1" lang="en-US" altLang="ko-KR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/</a:t>
            </a:r>
            <a:r>
              <a:rPr kumimoji="1" lang="ko-KR" altLang="en-US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결제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F4B250-EFBE-423A-895D-648D9DDD8D0D}"/>
              </a:ext>
            </a:extLst>
          </p:cNvPr>
          <p:cNvSpPr txBox="1"/>
          <p:nvPr/>
        </p:nvSpPr>
        <p:spPr bwMode="auto">
          <a:xfrm>
            <a:off x="2201818" y="1483388"/>
            <a:ext cx="2248006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키오스크 주문</a:t>
            </a:r>
            <a:r>
              <a:rPr kumimoji="1" lang="en-US" altLang="ko-KR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/</a:t>
            </a:r>
            <a:r>
              <a:rPr kumimoji="1" lang="ko-KR" altLang="en-US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결제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F43CAD-F05E-4892-BB21-1B6AD89252BD}"/>
              </a:ext>
            </a:extLst>
          </p:cNvPr>
          <p:cNvSpPr txBox="1"/>
          <p:nvPr/>
        </p:nvSpPr>
        <p:spPr bwMode="auto">
          <a:xfrm>
            <a:off x="5103345" y="455222"/>
            <a:ext cx="2058143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매출</a:t>
            </a:r>
            <a:r>
              <a:rPr kumimoji="1" lang="en-US" altLang="ko-KR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, </a:t>
            </a:r>
            <a:r>
              <a:rPr kumimoji="1" lang="ko-KR" altLang="en-US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세금</a:t>
            </a:r>
            <a:r>
              <a:rPr kumimoji="1" lang="en-US" altLang="ko-KR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, </a:t>
            </a:r>
            <a:r>
              <a:rPr kumimoji="1" lang="ko-KR" altLang="en-US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고객</a:t>
            </a:r>
            <a:r>
              <a:rPr kumimoji="1" lang="en-US" altLang="ko-KR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, </a:t>
            </a:r>
            <a:r>
              <a:rPr kumimoji="1" lang="ko-KR" altLang="en-US" sz="1200" b="0" dirty="0">
                <a:solidFill>
                  <a:schemeClr val="tx1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상권 분석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C542FF2-B6E8-4C44-ACFC-245DC175C63F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4759134" y="593722"/>
            <a:ext cx="344211" cy="722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원호 13">
            <a:extLst>
              <a:ext uri="{FF2B5EF4-FFF2-40B4-BE49-F238E27FC236}">
                <a16:creationId xmlns:a16="http://schemas.microsoft.com/office/drawing/2014/main" id="{8E63A56C-3652-453E-85C2-08FD90C7BEC6}"/>
              </a:ext>
            </a:extLst>
          </p:cNvPr>
          <p:cNvSpPr/>
          <p:nvPr/>
        </p:nvSpPr>
        <p:spPr>
          <a:xfrm>
            <a:off x="4183070" y="963656"/>
            <a:ext cx="576064" cy="704569"/>
          </a:xfrm>
          <a:prstGeom prst="arc">
            <a:avLst>
              <a:gd name="adj1" fmla="val 16200000"/>
              <a:gd name="adj2" fmla="val 549852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448988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서비스개발팀">
      <a:majorFont>
        <a:latin typeface="LG스마트체 Regular"/>
        <a:ea typeface="LG스마트체 Regular"/>
        <a:cs typeface=""/>
      </a:majorFont>
      <a:minorFont>
        <a:latin typeface="LG스마트체 Regular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>
          <a:lnSpc>
            <a:spcPct val="120000"/>
          </a:lnSpc>
          <a:spcBef>
            <a:spcPts val="600"/>
          </a:spcBef>
          <a:defRPr sz="1100" dirty="0" smtClean="0">
            <a:solidFill>
              <a:schemeClr val="tx1"/>
            </a:solidFill>
            <a:latin typeface="+mn-ea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latinLnBrk="0">
          <a:lnSpc>
            <a:spcPct val="120000"/>
          </a:lnSpc>
          <a:spcBef>
            <a:spcPts val="600"/>
          </a:spcBef>
          <a:defRPr sz="1200" dirty="0" smtClean="0">
            <a:latin typeface="+mn-lt"/>
            <a:ea typeface="+mn-ea"/>
            <a:cs typeface="Arial" pitchFamily="34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29235</TotalTime>
  <Words>400</Words>
  <Application>Microsoft Office PowerPoint</Application>
  <PresentationFormat>A4 용지(210x297mm)</PresentationFormat>
  <Paragraphs>50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LG스마트체 Regular</vt:lpstr>
      <vt:lpstr>LG스마트체 SemiBold</vt:lpstr>
      <vt:lpstr>Malgun Gothic Semilight</vt:lpstr>
      <vt:lpstr>굴림</vt:lpstr>
      <vt:lpstr>맑은 고딕</vt:lpstr>
      <vt:lpstr>Arial</vt:lpstr>
      <vt:lpstr>Arial Black</vt:lpstr>
      <vt:lpstr>기본 디자인</vt:lpstr>
      <vt:lpstr>(RMS) 린 캔버스</vt:lpstr>
      <vt:lpstr>(RMS) 서비스 To-Be모델</vt:lpstr>
      <vt:lpstr>PowerPoint 프레젠테이션</vt:lpstr>
    </vt:vector>
  </TitlesOfParts>
  <Manager>류창우</Manager>
  <Company>SERVEONE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 - 기본</dc:title>
  <dc:creator>외부사업담당</dc:creator>
  <cp:lastModifiedBy>Ucjh</cp:lastModifiedBy>
  <cp:revision>2607</cp:revision>
  <cp:lastPrinted>2017-07-06T08:43:05Z</cp:lastPrinted>
  <dcterms:created xsi:type="dcterms:W3CDTF">2010-05-06T04:51:51Z</dcterms:created>
  <dcterms:modified xsi:type="dcterms:W3CDTF">2022-11-01T06:42:41Z</dcterms:modified>
</cp:coreProperties>
</file>