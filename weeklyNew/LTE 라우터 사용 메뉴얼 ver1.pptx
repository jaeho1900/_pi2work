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692" r:id="rId2"/>
    <p:sldId id="280" r:id="rId3"/>
    <p:sldId id="749" r:id="rId4"/>
    <p:sldId id="750" r:id="rId5"/>
    <p:sldId id="731" r:id="rId6"/>
    <p:sldId id="734" r:id="rId7"/>
    <p:sldId id="735" r:id="rId8"/>
    <p:sldId id="752" r:id="rId9"/>
    <p:sldId id="732" r:id="rId10"/>
    <p:sldId id="717" r:id="rId11"/>
    <p:sldId id="720" r:id="rId12"/>
    <p:sldId id="721" r:id="rId13"/>
    <p:sldId id="723" r:id="rId14"/>
    <p:sldId id="725" r:id="rId15"/>
    <p:sldId id="728" r:id="rId16"/>
    <p:sldId id="747" r:id="rId17"/>
    <p:sldId id="748" r:id="rId18"/>
    <p:sldId id="741" r:id="rId19"/>
    <p:sldId id="737" r:id="rId20"/>
    <p:sldId id="742" r:id="rId21"/>
    <p:sldId id="738" r:id="rId22"/>
    <p:sldId id="739" r:id="rId23"/>
    <p:sldId id="740" r:id="rId24"/>
    <p:sldId id="744" r:id="rId25"/>
    <p:sldId id="746" r:id="rId26"/>
    <p:sldId id="745" r:id="rId27"/>
    <p:sldId id="743" r:id="rId28"/>
  </p:sldIdLst>
  <p:sldSz cx="9906000" cy="6858000" type="A4"/>
  <p:notesSz cx="6797675" cy="9926638"/>
  <p:embeddedFontLst>
    <p:embeddedFont>
      <p:font typeface="LG Smart UI Regular" panose="020B0500000101010101" pitchFamily="50" charset="-127"/>
      <p:regular r:id="rId31"/>
    </p:embeddedFont>
    <p:embeddedFont>
      <p:font typeface="LG스마트체2.0 Bold" panose="020B0600000101010101" pitchFamily="50" charset="-127"/>
      <p:bold r:id="rId32"/>
    </p:embeddedFont>
    <p:embeddedFont>
      <p:font typeface="LG스마트체2.0 Regular" panose="020B0600000101010101" pitchFamily="50" charset="-127"/>
      <p:regular r:id="rId33"/>
    </p:embeddedFont>
    <p:embeddedFont>
      <p:font typeface="LG스마트체2.0 SemiBold" panose="020B0600000101010101" pitchFamily="50" charset="-127"/>
      <p:bold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3" pos="352" userDrawn="1">
          <p15:clr>
            <a:srgbClr val="A4A3A4"/>
          </p15:clr>
        </p15:guide>
        <p15:guide id="14" pos="2622" userDrawn="1">
          <p15:clr>
            <a:srgbClr val="A4A3A4"/>
          </p15:clr>
        </p15:guide>
        <p15:guide id="23" orient="horz" pos="1389" userDrawn="1">
          <p15:clr>
            <a:srgbClr val="A4A3A4"/>
          </p15:clr>
        </p15:guide>
        <p15:guide id="25" pos="6250" userDrawn="1">
          <p15:clr>
            <a:srgbClr val="A4A3A4"/>
          </p15:clr>
        </p15:guide>
        <p15:guide id="26" orient="horz" pos="1434" userDrawn="1">
          <p15:clr>
            <a:srgbClr val="A4A3A4"/>
          </p15:clr>
        </p15:guide>
        <p15:guide id="27" orient="horz" pos="3974" userDrawn="1">
          <p15:clr>
            <a:srgbClr val="A4A3A4"/>
          </p15:clr>
        </p15:guide>
        <p15:guide id="28" pos="3120" userDrawn="1">
          <p15:clr>
            <a:srgbClr val="A4A3A4"/>
          </p15:clr>
        </p15:guide>
        <p15:guide id="29" pos="5888" userDrawn="1">
          <p15:clr>
            <a:srgbClr val="A4A3A4"/>
          </p15:clr>
        </p15:guide>
        <p15:guide id="30" orient="horz" pos="663" userDrawn="1">
          <p15:clr>
            <a:srgbClr val="A4A3A4"/>
          </p15:clr>
        </p15:guide>
        <p15:guide id="31" pos="5388" userDrawn="1">
          <p15:clr>
            <a:srgbClr val="A4A3A4"/>
          </p15:clr>
        </p15:guide>
        <p15:guide id="32" orient="horz" pos="1706" userDrawn="1">
          <p15:clr>
            <a:srgbClr val="A4A3A4"/>
          </p15:clr>
        </p15:guide>
        <p15:guide id="33" orient="horz" pos="22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BFBFBF"/>
    <a:srgbClr val="FF7F7F"/>
    <a:srgbClr val="70AD47"/>
    <a:srgbClr val="0099FF"/>
    <a:srgbClr val="CD0F45"/>
    <a:srgbClr val="D9D9D9"/>
    <a:srgbClr val="FFFFCC"/>
    <a:srgbClr val="D1D2D4"/>
    <a:srgbClr val="818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2" autoAdjust="0"/>
    <p:restoredTop sz="96370" autoAdjust="0"/>
  </p:normalViewPr>
  <p:slideViewPr>
    <p:cSldViewPr>
      <p:cViewPr varScale="1">
        <p:scale>
          <a:sx n="114" d="100"/>
          <a:sy n="114" d="100"/>
        </p:scale>
        <p:origin x="1200" y="108"/>
      </p:cViewPr>
      <p:guideLst>
        <p:guide pos="352"/>
        <p:guide pos="2622"/>
        <p:guide orient="horz" pos="1389"/>
        <p:guide pos="6250"/>
        <p:guide orient="horz" pos="1434"/>
        <p:guide orient="horz" pos="3974"/>
        <p:guide pos="3120"/>
        <p:guide pos="5888"/>
        <p:guide orient="horz" pos="663"/>
        <p:guide pos="5388"/>
        <p:guide orient="horz" pos="1706"/>
        <p:guide orient="horz" pos="22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2" d="100"/>
          <a:sy n="82" d="100"/>
        </p:scale>
        <p:origin x="397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4EB0B-829A-464D-90E7-F931C1E8F8B5}" type="datetimeFigureOut">
              <a:rPr lang="ko-KR" altLang="en-US" smtClean="0"/>
              <a:t>2022-10-26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9D859-0418-401D-B796-5044CC31E7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167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8565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14936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316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57585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7835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73095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78684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45153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99588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6074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9790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17258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0361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31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90044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92096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022956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19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69101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55113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3362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842011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1283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565442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624421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91503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498773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1" b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2" name="그림 11" descr="\\psf\Home\Desktop\2016\엣스퍼트 BI 매뉴얼 최종본2\ppt자료\의무실 회색.png"/>
          <p:cNvPicPr>
            <a:picLocks noChangeAspect="1" noChangeArrowheads="1"/>
          </p:cNvPicPr>
          <p:nvPr userDrawn="1"/>
        </p:nvPicPr>
        <p:blipFill rotWithShape="1">
          <a:blip r:embed="rId2"/>
          <a:srcRect l="17865" t="4787" b="81606"/>
          <a:stretch/>
        </p:blipFill>
        <p:spPr bwMode="auto">
          <a:xfrm rot="10800000">
            <a:off x="8011442" y="5877274"/>
            <a:ext cx="1894556" cy="979141"/>
          </a:xfrm>
          <a:custGeom>
            <a:avLst/>
            <a:gdLst>
              <a:gd name="connsiteX0" fmla="*/ 1894557 w 1894557"/>
              <a:gd name="connsiteY0" fmla="*/ 6851651 h 6851651"/>
              <a:gd name="connsiteX1" fmla="*/ 0 w 1894557"/>
              <a:gd name="connsiteY1" fmla="*/ 6851651 h 6851651"/>
              <a:gd name="connsiteX2" fmla="*/ 0 w 1894557"/>
              <a:gd name="connsiteY2" fmla="*/ 0 h 6851651"/>
              <a:gd name="connsiteX3" fmla="*/ 1894557 w 1894557"/>
              <a:gd name="connsiteY3" fmla="*/ 0 h 6851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4557" h="6851651">
                <a:moveTo>
                  <a:pt x="1894557" y="6851651"/>
                </a:moveTo>
                <a:lnTo>
                  <a:pt x="0" y="6851651"/>
                </a:lnTo>
                <a:lnTo>
                  <a:pt x="0" y="0"/>
                </a:lnTo>
                <a:lnTo>
                  <a:pt x="1894557" y="0"/>
                </a:lnTo>
                <a:close/>
              </a:path>
            </a:pathLst>
          </a:custGeom>
          <a:noFill/>
        </p:spPr>
      </p:pic>
      <p:pic>
        <p:nvPicPr>
          <p:cNvPr id="13" name="그림 12" descr="\\psf\Home\Desktop\2016\엣스퍼트 BI 매뉴얼 최종본2\ppt자료\의무실 .png"/>
          <p:cNvPicPr>
            <a:picLocks noChangeAspect="1" noChangeArrowheads="1"/>
          </p:cNvPicPr>
          <p:nvPr userDrawn="1"/>
        </p:nvPicPr>
        <p:blipFill rotWithShape="1">
          <a:blip r:embed="rId3"/>
          <a:srcRect l="26030" t="4522" b="81850"/>
          <a:stretch/>
        </p:blipFill>
        <p:spPr bwMode="auto">
          <a:xfrm rot="10800000">
            <a:off x="8199782" y="5877272"/>
            <a:ext cx="1706218" cy="980728"/>
          </a:xfrm>
          <a:custGeom>
            <a:avLst/>
            <a:gdLst>
              <a:gd name="connsiteX0" fmla="*/ 1706218 w 1706218"/>
              <a:gd name="connsiteY0" fmla="*/ 6870700 h 6870700"/>
              <a:gd name="connsiteX1" fmla="*/ 0 w 1706218"/>
              <a:gd name="connsiteY1" fmla="*/ 6870700 h 6870700"/>
              <a:gd name="connsiteX2" fmla="*/ 0 w 1706218"/>
              <a:gd name="connsiteY2" fmla="*/ 0 h 6870700"/>
              <a:gd name="connsiteX3" fmla="*/ 1706218 w 1706218"/>
              <a:gd name="connsiteY3" fmla="*/ 0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218" h="6870700">
                <a:moveTo>
                  <a:pt x="1706218" y="6870700"/>
                </a:moveTo>
                <a:lnTo>
                  <a:pt x="0" y="6870700"/>
                </a:lnTo>
                <a:lnTo>
                  <a:pt x="0" y="0"/>
                </a:lnTo>
                <a:lnTo>
                  <a:pt x="1706218" y="0"/>
                </a:lnTo>
                <a:close/>
              </a:path>
            </a:pathLst>
          </a:custGeom>
          <a:noFill/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70"/>
            <a:ext cx="3152800" cy="2314606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1629810" y="6468970"/>
            <a:ext cx="6646380" cy="219913"/>
          </a:xfrm>
          <a:prstGeom prst="rect">
            <a:avLst/>
          </a:prstGeom>
          <a:noFill/>
        </p:spPr>
        <p:txBody>
          <a:bodyPr wrap="square" lIns="80165" tIns="40083" rIns="80165" bIns="40083" rtlCol="0">
            <a:spAutoFit/>
          </a:bodyPr>
          <a:lstStyle/>
          <a:p>
            <a:pPr marL="0" marR="0" lvl="0" indent="0" algn="ctr" defTabSz="914285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40404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Copyright ©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S&amp;I corp.</a:t>
            </a:r>
            <a:r>
              <a:rPr lang="ko-KR" altLang="en-US" sz="900" dirty="0">
                <a:solidFill>
                  <a:srgbClr val="40404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 </a:t>
            </a:r>
            <a:r>
              <a:rPr lang="en-US" altLang="ko-KR" sz="8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sz="800" baseline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에스앤아이</a:t>
            </a:r>
            <a:r>
              <a:rPr lang="ko-KR" altLang="en-US" sz="800" dirty="0" err="1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등을 금합니다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rgbClr val="6D6E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185" y="5980526"/>
            <a:ext cx="828093" cy="438913"/>
          </a:xfrm>
          <a:prstGeom prst="rect">
            <a:avLst/>
          </a:prstGeom>
        </p:spPr>
      </p:pic>
      <p:cxnSp>
        <p:nvCxnSpPr>
          <p:cNvPr id="17" name="직선 연결선 16"/>
          <p:cNvCxnSpPr/>
          <p:nvPr userDrawn="1"/>
        </p:nvCxnSpPr>
        <p:spPr>
          <a:xfrm>
            <a:off x="1887249" y="2066807"/>
            <a:ext cx="613150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5" y="79167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70"/>
            <a:ext cx="3601098" cy="360362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200" y="6309323"/>
            <a:ext cx="828093" cy="4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6"/>
          <p:cNvSpPr>
            <a:spLocks noGrp="1"/>
          </p:cNvSpPr>
          <p:nvPr>
            <p:ph type="title"/>
          </p:nvPr>
        </p:nvSpPr>
        <p:spPr>
          <a:xfrm>
            <a:off x="473018" y="1498773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1" b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4" name="그림 13" descr="\\psf\Home\Desktop\2016\엣스퍼트 BI 매뉴얼 최종본2\ppt자료\의무실 회색.png"/>
          <p:cNvPicPr>
            <a:picLocks noChangeAspect="1" noChangeArrowheads="1"/>
          </p:cNvPicPr>
          <p:nvPr userDrawn="1"/>
        </p:nvPicPr>
        <p:blipFill rotWithShape="1">
          <a:blip r:embed="rId2"/>
          <a:srcRect l="17865" t="4787" b="81606"/>
          <a:stretch/>
        </p:blipFill>
        <p:spPr bwMode="auto">
          <a:xfrm rot="10800000">
            <a:off x="8011442" y="5877274"/>
            <a:ext cx="1894556" cy="979141"/>
          </a:xfrm>
          <a:custGeom>
            <a:avLst/>
            <a:gdLst>
              <a:gd name="connsiteX0" fmla="*/ 1894557 w 1894557"/>
              <a:gd name="connsiteY0" fmla="*/ 6851651 h 6851651"/>
              <a:gd name="connsiteX1" fmla="*/ 0 w 1894557"/>
              <a:gd name="connsiteY1" fmla="*/ 6851651 h 6851651"/>
              <a:gd name="connsiteX2" fmla="*/ 0 w 1894557"/>
              <a:gd name="connsiteY2" fmla="*/ 0 h 6851651"/>
              <a:gd name="connsiteX3" fmla="*/ 1894557 w 1894557"/>
              <a:gd name="connsiteY3" fmla="*/ 0 h 6851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4557" h="6851651">
                <a:moveTo>
                  <a:pt x="1894557" y="6851651"/>
                </a:moveTo>
                <a:lnTo>
                  <a:pt x="0" y="6851651"/>
                </a:lnTo>
                <a:lnTo>
                  <a:pt x="0" y="0"/>
                </a:lnTo>
                <a:lnTo>
                  <a:pt x="1894557" y="0"/>
                </a:lnTo>
                <a:close/>
              </a:path>
            </a:pathLst>
          </a:custGeom>
          <a:noFill/>
        </p:spPr>
      </p:pic>
      <p:pic>
        <p:nvPicPr>
          <p:cNvPr id="15" name="그림 14" descr="\\psf\Home\Desktop\2016\엣스퍼트 BI 매뉴얼 최종본2\ppt자료\의무실 .png"/>
          <p:cNvPicPr>
            <a:picLocks noChangeAspect="1" noChangeArrowheads="1"/>
          </p:cNvPicPr>
          <p:nvPr userDrawn="1"/>
        </p:nvPicPr>
        <p:blipFill rotWithShape="1">
          <a:blip r:embed="rId3"/>
          <a:srcRect l="26030" t="4522" b="81850"/>
          <a:stretch/>
        </p:blipFill>
        <p:spPr bwMode="auto">
          <a:xfrm rot="10800000">
            <a:off x="8199782" y="5877272"/>
            <a:ext cx="1706218" cy="980728"/>
          </a:xfrm>
          <a:custGeom>
            <a:avLst/>
            <a:gdLst>
              <a:gd name="connsiteX0" fmla="*/ 1706218 w 1706218"/>
              <a:gd name="connsiteY0" fmla="*/ 6870700 h 6870700"/>
              <a:gd name="connsiteX1" fmla="*/ 0 w 1706218"/>
              <a:gd name="connsiteY1" fmla="*/ 6870700 h 6870700"/>
              <a:gd name="connsiteX2" fmla="*/ 0 w 1706218"/>
              <a:gd name="connsiteY2" fmla="*/ 0 h 6870700"/>
              <a:gd name="connsiteX3" fmla="*/ 1706218 w 1706218"/>
              <a:gd name="connsiteY3" fmla="*/ 0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218" h="6870700">
                <a:moveTo>
                  <a:pt x="1706218" y="6870700"/>
                </a:moveTo>
                <a:lnTo>
                  <a:pt x="0" y="6870700"/>
                </a:lnTo>
                <a:lnTo>
                  <a:pt x="0" y="0"/>
                </a:lnTo>
                <a:lnTo>
                  <a:pt x="1706218" y="0"/>
                </a:lnTo>
                <a:close/>
              </a:path>
            </a:pathLst>
          </a:custGeom>
          <a:noFill/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70"/>
            <a:ext cx="3152800" cy="231460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1629810" y="6468970"/>
            <a:ext cx="6646380" cy="219913"/>
          </a:xfrm>
          <a:prstGeom prst="rect">
            <a:avLst/>
          </a:prstGeom>
          <a:noFill/>
        </p:spPr>
        <p:txBody>
          <a:bodyPr wrap="square" lIns="80165" tIns="40083" rIns="80165" bIns="40083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40404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Copyright © </a:t>
            </a:r>
            <a:r>
              <a:rPr lang="ko-KR" altLang="en-US" sz="900" dirty="0" err="1">
                <a:solidFill>
                  <a:srgbClr val="40404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서브원</a:t>
            </a:r>
            <a:r>
              <a:rPr lang="ko-KR" altLang="en-US" sz="900" dirty="0">
                <a:solidFill>
                  <a:srgbClr val="40404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    </a:t>
            </a:r>
            <a:r>
              <a:rPr lang="ko-KR" altLang="en-US" sz="800" dirty="0" err="1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서브원의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등을 금합니다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rgbClr val="6D6E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185" y="5980526"/>
            <a:ext cx="828093" cy="438913"/>
          </a:xfrm>
          <a:prstGeom prst="rect">
            <a:avLst/>
          </a:prstGeom>
        </p:spPr>
      </p:pic>
      <p:cxnSp>
        <p:nvCxnSpPr>
          <p:cNvPr id="19" name="직선 연결선 18"/>
          <p:cNvCxnSpPr/>
          <p:nvPr userDrawn="1"/>
        </p:nvCxnSpPr>
        <p:spPr>
          <a:xfrm>
            <a:off x="1887249" y="2066807"/>
            <a:ext cx="613150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 userDrawn="1"/>
        </p:nvSpPr>
        <p:spPr>
          <a:xfrm>
            <a:off x="8625408" y="419944"/>
            <a:ext cx="791644" cy="290153"/>
          </a:xfrm>
          <a:prstGeom prst="roundRect">
            <a:avLst>
              <a:gd name="adj" fmla="val 15938"/>
            </a:avLst>
          </a:prstGeom>
          <a:noFill/>
          <a:ln w="12700">
            <a:solidFill>
              <a:srgbClr val="CD3C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CD3C0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[흰배경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6"/>
          <p:cNvSpPr>
            <a:spLocks noGrp="1"/>
          </p:cNvSpPr>
          <p:nvPr>
            <p:ph type="title"/>
          </p:nvPr>
        </p:nvSpPr>
        <p:spPr>
          <a:xfrm>
            <a:off x="473018" y="1498773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1" b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629810" y="6468970"/>
            <a:ext cx="6646380" cy="219913"/>
          </a:xfrm>
          <a:prstGeom prst="rect">
            <a:avLst/>
          </a:prstGeom>
          <a:noFill/>
        </p:spPr>
        <p:txBody>
          <a:bodyPr wrap="square" lIns="80165" tIns="40083" rIns="80165" bIns="40083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40404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Copyright © </a:t>
            </a:r>
            <a:r>
              <a:rPr lang="ko-KR" altLang="en-US" sz="900" dirty="0" err="1">
                <a:solidFill>
                  <a:srgbClr val="40404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서브원</a:t>
            </a:r>
            <a:r>
              <a:rPr lang="ko-KR" altLang="en-US" sz="900" dirty="0">
                <a:solidFill>
                  <a:srgbClr val="404041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    </a:t>
            </a:r>
            <a:r>
              <a:rPr lang="ko-KR" altLang="en-US" sz="800" dirty="0" err="1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서브원의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등을 금합니다</a:t>
            </a:r>
            <a:r>
              <a:rPr lang="en-US" altLang="ko-KR" sz="800" dirty="0">
                <a:solidFill>
                  <a:srgbClr val="6D6E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rgbClr val="6D6E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 18"/>
          <p:cNvCxnSpPr/>
          <p:nvPr userDrawn="1"/>
        </p:nvCxnSpPr>
        <p:spPr>
          <a:xfrm>
            <a:off x="1887249" y="2066807"/>
            <a:ext cx="613150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490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5" y="79167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490743" y="807992"/>
            <a:ext cx="8924517" cy="604883"/>
          </a:xfrm>
          <a:prstGeom prst="rect">
            <a:avLst/>
          </a:prstGeom>
        </p:spPr>
        <p:txBody>
          <a:bodyPr lIns="0" rIns="0"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857" lvl="0" indent="-342857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70"/>
            <a:ext cx="3601098" cy="360362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200" y="6309323"/>
            <a:ext cx="828093" cy="4389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5" y="79167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70"/>
            <a:ext cx="3601098" cy="360362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7" y="6381328"/>
            <a:ext cx="2311201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490743" y="807992"/>
            <a:ext cx="8924517" cy="604883"/>
          </a:xfrm>
          <a:prstGeom prst="rect">
            <a:avLst/>
          </a:prstGeom>
        </p:spPr>
        <p:txBody>
          <a:bodyPr lIns="0" rIns="0"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857" lvl="0" indent="-342857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200" y="6309323"/>
            <a:ext cx="828093" cy="4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5" y="79167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70"/>
            <a:ext cx="3601098" cy="360362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490743" y="807992"/>
            <a:ext cx="8924517" cy="604883"/>
          </a:xfrm>
          <a:prstGeom prst="rect">
            <a:avLst/>
          </a:prstGeom>
        </p:spPr>
        <p:txBody>
          <a:bodyPr lIns="0" rIns="0"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857" lvl="0" indent="-342857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200" y="6309323"/>
            <a:ext cx="828093" cy="4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200" y="6309323"/>
            <a:ext cx="828093" cy="4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1769439"/>
            <a:ext cx="990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778785" y="1478692"/>
            <a:ext cx="2348430" cy="581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2799" b="0">
                <a:latin typeface="+mj-ea"/>
                <a:ea typeface="+mj-ea"/>
              </a:defRPr>
            </a:lvl1pPr>
          </a:lstStyle>
          <a:p>
            <a:r>
              <a:rPr lang="ko-KR" altLang="en-US"/>
              <a:t>내용 </a:t>
            </a:r>
            <a:r>
              <a:rPr lang="ko-KR" altLang="en-US" dirty="0"/>
              <a:t>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 anchor="ctr" anchorCtr="0"/>
          <a:lstStyle>
            <a:lvl1pPr>
              <a:defRPr sz="4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200" y="6309323"/>
            <a:ext cx="828093" cy="4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0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67" r:id="rId4"/>
    <p:sldLayoutId id="2147483650" r:id="rId5"/>
    <p:sldLayoutId id="2147483661" r:id="rId6"/>
    <p:sldLayoutId id="2147483662" r:id="rId7"/>
    <p:sldLayoutId id="2147483657" r:id="rId8"/>
    <p:sldLayoutId id="2147483663" r:id="rId9"/>
    <p:sldLayoutId id="2147483664" r:id="rId10"/>
    <p:sldLayoutId id="2147483668" r:id="rId1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8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29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57" indent="-342857" algn="l" rtl="0" fontAlgn="base" latinLnBrk="1">
        <a:spcBef>
          <a:spcPct val="20000"/>
        </a:spcBef>
        <a:spcAft>
          <a:spcPct val="0"/>
        </a:spcAft>
        <a:buChar char="•"/>
        <a:defRPr kumimoji="1" sz="3199">
          <a:solidFill>
            <a:schemeClr val="tx1"/>
          </a:solidFill>
          <a:latin typeface="+mn-lt"/>
          <a:ea typeface="+mn-ea"/>
          <a:cs typeface="+mn-cs"/>
        </a:defRPr>
      </a:lvl1pPr>
      <a:lvl2pPr marL="742856" indent="-285714" algn="l" rtl="0" fontAlgn="base" latinLnBrk="1">
        <a:spcBef>
          <a:spcPct val="20000"/>
        </a:spcBef>
        <a:spcAft>
          <a:spcPct val="0"/>
        </a:spcAft>
        <a:buChar char="–"/>
        <a:defRPr kumimoji="1" sz="2799">
          <a:solidFill>
            <a:schemeClr val="tx1"/>
          </a:solidFill>
          <a:latin typeface="+mn-lt"/>
          <a:ea typeface="+mn-ea"/>
        </a:defRPr>
      </a:lvl2pPr>
      <a:lvl3pPr marL="1142856" indent="-228572" algn="l" rtl="0" fontAlgn="base" latinLnBrk="1">
        <a:spcBef>
          <a:spcPct val="20000"/>
        </a:spcBef>
        <a:spcAft>
          <a:spcPct val="0"/>
        </a:spcAft>
        <a:buChar char="•"/>
        <a:defRPr kumimoji="1" sz="2401">
          <a:solidFill>
            <a:schemeClr val="tx1"/>
          </a:solidFill>
          <a:latin typeface="+mn-lt"/>
          <a:ea typeface="+mn-ea"/>
        </a:defRPr>
      </a:lvl3pPr>
      <a:lvl4pPr marL="1599998" indent="-228572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142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25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6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12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8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2" algn="l" defTabSz="91428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9" algn="l" defTabSz="91428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0" algn="l" defTabSz="91428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4" algn="l" defTabSz="91428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5" algn="l" defTabSz="91428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97" algn="l" defTabSz="91428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0" algn="l" defTabSz="91428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990532" y="1412779"/>
            <a:ext cx="5929517" cy="5620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799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LTE</a:t>
            </a:r>
            <a:r>
              <a:rPr lang="ko-KR" altLang="en-US" sz="2799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라우터 사용 메뉴얼</a:t>
            </a:r>
            <a:endParaRPr lang="en-US" altLang="ko-KR" sz="2799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24464" y="5086603"/>
            <a:ext cx="2457074" cy="360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lnSpc>
                <a:spcPct val="120000"/>
              </a:lnSpc>
              <a:spcBef>
                <a:spcPts val="599"/>
              </a:spcBef>
            </a:pPr>
            <a:r>
              <a:rPr lang="en-US" altLang="ko-KR" sz="1600" dirty="0">
                <a:latin typeface="LG Smart UI Regular" panose="020B0500000101010101" pitchFamily="50" charset="-127"/>
                <a:ea typeface="LG Smart UI Regular" panose="020B0500000101010101" pitchFamily="50" charset="-127"/>
                <a:cs typeface="Arial" pitchFamily="34" charset="0"/>
              </a:rPr>
              <a:t>2022.10.20</a:t>
            </a:r>
          </a:p>
        </p:txBody>
      </p:sp>
    </p:spTree>
    <p:extLst>
      <p:ext uri="{BB962C8B-B14F-4D97-AF65-F5344CB8AC3E}">
        <p14:creationId xmlns:p14="http://schemas.microsoft.com/office/powerpoint/2010/main" val="353211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576737" y="1866980"/>
            <a:ext cx="4752527" cy="342315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554"/>
              </a:spcBef>
            </a:pPr>
            <a:endParaRPr lang="ko-KR" altLang="en-US" sz="10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022023" y="1618505"/>
            <a:ext cx="1595254" cy="4652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554"/>
              </a:spcBef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목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1022" y="2052982"/>
            <a:ext cx="2103955" cy="3186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2041" indent="-422041" latinLnBrk="0">
              <a:lnSpc>
                <a:spcPct val="150000"/>
              </a:lnSpc>
              <a:spcBef>
                <a:spcPts val="277"/>
              </a:spcBef>
              <a:buAutoNum type="arabicPeriod"/>
            </a:pPr>
            <a:r>
              <a:rPr lang="ko-KR" altLang="en-US" b="1" spc="-138" dirty="0">
                <a:latin typeface="+mn-ea"/>
                <a:ea typeface="+mn-ea"/>
                <a:cs typeface="Arial" pitchFamily="34" charset="0"/>
              </a:rPr>
              <a:t>구형 라우터 </a:t>
            </a:r>
            <a:endParaRPr lang="en-US" altLang="ko-KR" b="1" spc="-138" dirty="0">
              <a:latin typeface="+mn-ea"/>
              <a:ea typeface="+mn-ea"/>
              <a:cs typeface="Arial" pitchFamily="34" charset="0"/>
            </a:endParaRPr>
          </a:p>
          <a:p>
            <a:pPr marL="285750" indent="-285750" latinLnBrk="0">
              <a:lnSpc>
                <a:spcPct val="150000"/>
              </a:lnSpc>
              <a:spcBef>
                <a:spcPts val="277"/>
              </a:spcBef>
              <a:buFontTx/>
              <a:buChar char="-"/>
            </a:pPr>
            <a:r>
              <a:rPr lang="ko-KR" altLang="en-US" b="1" spc="-138" dirty="0">
                <a:latin typeface="+mn-ea"/>
                <a:ea typeface="+mn-ea"/>
                <a:cs typeface="Arial" pitchFamily="34" charset="0"/>
              </a:rPr>
              <a:t>제품정보</a:t>
            </a:r>
            <a:endParaRPr lang="en-US" altLang="ko-KR" b="1" spc="-138" dirty="0">
              <a:latin typeface="+mn-ea"/>
              <a:ea typeface="+mn-ea"/>
              <a:cs typeface="Arial" pitchFamily="34" charset="0"/>
            </a:endParaRPr>
          </a:p>
          <a:p>
            <a:pPr marL="285750" indent="-285750" latinLnBrk="0">
              <a:lnSpc>
                <a:spcPct val="150000"/>
              </a:lnSpc>
              <a:spcBef>
                <a:spcPts val="277"/>
              </a:spcBef>
              <a:buFontTx/>
              <a:buChar char="-"/>
            </a:pPr>
            <a:r>
              <a:rPr lang="ko-KR" altLang="en-US" b="1" spc="-138" dirty="0">
                <a:latin typeface="+mn-ea"/>
                <a:ea typeface="+mn-ea"/>
                <a:cs typeface="Arial" pitchFamily="34" charset="0"/>
              </a:rPr>
              <a:t>카테고리 </a:t>
            </a:r>
            <a:endParaRPr lang="en-US" altLang="ko-KR" b="1" spc="-138" dirty="0">
              <a:latin typeface="+mn-ea"/>
              <a:ea typeface="+mn-ea"/>
              <a:cs typeface="Arial" pitchFamily="34" charset="0"/>
            </a:endParaRPr>
          </a:p>
          <a:p>
            <a:pPr marL="342900" indent="-342900" latinLnBrk="0">
              <a:lnSpc>
                <a:spcPct val="150000"/>
              </a:lnSpc>
              <a:spcBef>
                <a:spcPts val="277"/>
              </a:spcBef>
              <a:buAutoNum type="arabicPeriod" startAt="2"/>
            </a:pPr>
            <a:r>
              <a:rPr lang="ko-KR" altLang="en-US" b="1" spc="-138" dirty="0">
                <a:latin typeface="+mn-ea"/>
                <a:ea typeface="+mn-ea"/>
                <a:cs typeface="Arial" pitchFamily="34" charset="0"/>
              </a:rPr>
              <a:t>신형 라우터</a:t>
            </a:r>
            <a:endParaRPr lang="en-US" altLang="ko-KR" b="1" spc="-138" dirty="0">
              <a:latin typeface="+mn-ea"/>
              <a:ea typeface="+mn-ea"/>
              <a:cs typeface="Arial" pitchFamily="34" charset="0"/>
            </a:endParaRPr>
          </a:p>
          <a:p>
            <a:pPr marL="285750" indent="-285750" latinLnBrk="0">
              <a:lnSpc>
                <a:spcPct val="150000"/>
              </a:lnSpc>
              <a:spcBef>
                <a:spcPts val="277"/>
              </a:spcBef>
              <a:buFontTx/>
              <a:buChar char="-"/>
            </a:pPr>
            <a:r>
              <a:rPr lang="ko-KR" altLang="en-US" b="1" spc="-138" dirty="0">
                <a:latin typeface="+mn-ea"/>
                <a:ea typeface="+mn-ea"/>
                <a:cs typeface="Arial" pitchFamily="34" charset="0"/>
              </a:rPr>
              <a:t>제품정보</a:t>
            </a:r>
            <a:endParaRPr lang="en-US" altLang="ko-KR" b="1" spc="-138" dirty="0">
              <a:latin typeface="+mn-ea"/>
              <a:ea typeface="+mn-ea"/>
              <a:cs typeface="Arial" pitchFamily="34" charset="0"/>
            </a:endParaRPr>
          </a:p>
          <a:p>
            <a:pPr marL="285750" indent="-285750" latinLnBrk="0">
              <a:lnSpc>
                <a:spcPct val="150000"/>
              </a:lnSpc>
              <a:spcBef>
                <a:spcPts val="277"/>
              </a:spcBef>
              <a:buFontTx/>
              <a:buChar char="-"/>
            </a:pPr>
            <a:r>
              <a:rPr lang="ko-KR" altLang="en-US" b="1" spc="-138" dirty="0">
                <a:latin typeface="+mn-ea"/>
                <a:ea typeface="+mn-ea"/>
                <a:cs typeface="Arial" pitchFamily="34" charset="0"/>
              </a:rPr>
              <a:t>카테고리</a:t>
            </a:r>
            <a:endParaRPr lang="en-US" altLang="ko-KR" b="1" spc="-138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50000"/>
              </a:lnSpc>
              <a:spcBef>
                <a:spcPts val="277"/>
              </a:spcBef>
            </a:pPr>
            <a:endParaRPr lang="en-US" altLang="ko-KR" b="1" spc="-138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66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43F6187-4356-404E-AB7C-472D38CB1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147" y="1496436"/>
            <a:ext cx="6029705" cy="3045933"/>
          </a:xfrm>
          <a:prstGeom prst="rect">
            <a:avLst/>
          </a:prstGeom>
        </p:spPr>
      </p:pic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제품정보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외관 설명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F6DF952-8404-4573-853B-CC5BF5C92732}"/>
              </a:ext>
            </a:extLst>
          </p:cNvPr>
          <p:cNvSpPr/>
          <p:nvPr/>
        </p:nvSpPr>
        <p:spPr>
          <a:xfrm>
            <a:off x="3440832" y="2751638"/>
            <a:ext cx="1008112" cy="31732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CCAF16-0B4E-47DA-AC76-6FEE65CAF02E}"/>
              </a:ext>
            </a:extLst>
          </p:cNvPr>
          <p:cNvSpPr txBox="1"/>
          <p:nvPr/>
        </p:nvSpPr>
        <p:spPr>
          <a:xfrm>
            <a:off x="7210760" y="2850507"/>
            <a:ext cx="2268520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*LTE ANT Port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전용 외장형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LTE Antenna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를 사용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A9469C9-8865-4504-A4D4-3560E55D18D7}"/>
              </a:ext>
            </a:extLst>
          </p:cNvPr>
          <p:cNvCxnSpPr>
            <a:cxnSpLocks/>
          </p:cNvCxnSpPr>
          <p:nvPr/>
        </p:nvCxnSpPr>
        <p:spPr>
          <a:xfrm flipH="1">
            <a:off x="2288705" y="3573016"/>
            <a:ext cx="1576863" cy="15121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9880CB8-EF54-46B8-B445-58AAB76AF770}"/>
              </a:ext>
            </a:extLst>
          </p:cNvPr>
          <p:cNvCxnSpPr>
            <a:cxnSpLocks/>
          </p:cNvCxnSpPr>
          <p:nvPr/>
        </p:nvCxnSpPr>
        <p:spPr>
          <a:xfrm flipH="1">
            <a:off x="3836878" y="3916884"/>
            <a:ext cx="609563" cy="184602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F079325-2F1F-4457-BDDF-4C3055CF122E}"/>
              </a:ext>
            </a:extLst>
          </p:cNvPr>
          <p:cNvCxnSpPr>
            <a:cxnSpLocks/>
          </p:cNvCxnSpPr>
          <p:nvPr/>
        </p:nvCxnSpPr>
        <p:spPr>
          <a:xfrm>
            <a:off x="4586329" y="3645024"/>
            <a:ext cx="300687" cy="12682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4053017-3AE8-4036-8778-D0FF176103DF}"/>
              </a:ext>
            </a:extLst>
          </p:cNvPr>
          <p:cNvCxnSpPr>
            <a:cxnSpLocks/>
            <a:stCxn id="60" idx="1"/>
            <a:endCxn id="66" idx="1"/>
          </p:cNvCxnSpPr>
          <p:nvPr/>
        </p:nvCxnSpPr>
        <p:spPr>
          <a:xfrm>
            <a:off x="5589050" y="4065405"/>
            <a:ext cx="1407385" cy="7202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D0870DF-BFD9-4116-9998-955928AC4FBA}"/>
              </a:ext>
            </a:extLst>
          </p:cNvPr>
          <p:cNvSpPr txBox="1"/>
          <p:nvPr/>
        </p:nvSpPr>
        <p:spPr>
          <a:xfrm>
            <a:off x="0" y="5094325"/>
            <a:ext cx="2736303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*DC JACK</a:t>
            </a:r>
          </a:p>
          <a:p>
            <a:pPr algn="r"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함께 제공되는 전용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DC Adapter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사용</a:t>
            </a:r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EB1231A3-5B40-4805-B773-1B909BB5E669}"/>
              </a:ext>
            </a:extLst>
          </p:cNvPr>
          <p:cNvSpPr/>
          <p:nvPr/>
        </p:nvSpPr>
        <p:spPr>
          <a:xfrm>
            <a:off x="5185190" y="3768225"/>
            <a:ext cx="731520" cy="297318"/>
          </a:xfrm>
          <a:custGeom>
            <a:avLst/>
            <a:gdLst>
              <a:gd name="connsiteX0" fmla="*/ 0 w 731520"/>
              <a:gd name="connsiteY0" fmla="*/ 30480 h 297318"/>
              <a:gd name="connsiteX1" fmla="*/ 403860 w 731520"/>
              <a:gd name="connsiteY1" fmla="*/ 297180 h 297318"/>
              <a:gd name="connsiteX2" fmla="*/ 731520 w 731520"/>
              <a:gd name="connsiteY2" fmla="*/ 0 h 2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1520" h="297318">
                <a:moveTo>
                  <a:pt x="0" y="30480"/>
                </a:moveTo>
                <a:cubicBezTo>
                  <a:pt x="140970" y="166370"/>
                  <a:pt x="281940" y="302260"/>
                  <a:pt x="403860" y="297180"/>
                </a:cubicBezTo>
                <a:cubicBezTo>
                  <a:pt x="525780" y="292100"/>
                  <a:pt x="640080" y="105410"/>
                  <a:pt x="731520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57126A-C27D-4FFE-B5E3-868FDD96AC81}"/>
              </a:ext>
            </a:extLst>
          </p:cNvPr>
          <p:cNvSpPr txBox="1"/>
          <p:nvPr/>
        </p:nvSpPr>
        <p:spPr>
          <a:xfrm>
            <a:off x="3218178" y="5712170"/>
            <a:ext cx="2736303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*Reset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단말기를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재부팅하는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스위치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1ED5E4-F7C8-4756-9DDD-A7B354A1AA1F}"/>
              </a:ext>
            </a:extLst>
          </p:cNvPr>
          <p:cNvSpPr txBox="1"/>
          <p:nvPr/>
        </p:nvSpPr>
        <p:spPr>
          <a:xfrm>
            <a:off x="4586330" y="5028977"/>
            <a:ext cx="3496856" cy="709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*RS232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-Serial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통신을 지원하며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,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전용 통신을 케이블을 사용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.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그렇지 않을 경우 오동작의 원인이 될 수 있다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.</a:t>
            </a:r>
            <a:endParaRPr lang="ko-KR" altLang="en-US" sz="1000" dirty="0"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71860B-C4E1-4088-B3AA-940EBEAEEB17}"/>
              </a:ext>
            </a:extLst>
          </p:cNvPr>
          <p:cNvSpPr txBox="1"/>
          <p:nvPr/>
        </p:nvSpPr>
        <p:spPr>
          <a:xfrm>
            <a:off x="6996435" y="4542369"/>
            <a:ext cx="2482844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*Ethernet LAN Port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함께 제공되는 전용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LAN Cable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을 사용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162E60D9-03B3-450A-A770-D6D6EE84AEAC}"/>
              </a:ext>
            </a:extLst>
          </p:cNvPr>
          <p:cNvCxnSpPr>
            <a:cxnSpLocks/>
            <a:stCxn id="6" idx="2"/>
          </p:cNvCxnSpPr>
          <p:nvPr/>
        </p:nvCxnSpPr>
        <p:spPr>
          <a:xfrm flipH="1" flipV="1">
            <a:off x="2600130" y="2790715"/>
            <a:ext cx="840702" cy="1195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EA2E36F-0910-40EB-8921-FB1EAD4206BF}"/>
              </a:ext>
            </a:extLst>
          </p:cNvPr>
          <p:cNvSpPr txBox="1"/>
          <p:nvPr/>
        </p:nvSpPr>
        <p:spPr>
          <a:xfrm>
            <a:off x="120951" y="1593735"/>
            <a:ext cx="2644043" cy="2941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*LED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Indicator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CPU (BLUE)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꺼짐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(OFF) /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점멸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(Operating)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LAN1, LAN2 (BLUE) 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미접속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(OFF) /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접속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(ON) /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점멸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통신 중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LTE (RED, BLUE)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 꺼짐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(Error,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전원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OFF)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RED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켜짐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망 접속 실패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RED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점멸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(USIM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에러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BLUE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점멸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(USIM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개통 중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RED, BLUE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켜짐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약전계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BLUE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켜짐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강전계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en-US" altLang="ko-KR" sz="10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(BLUE)</a:t>
            </a: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DF0FD526-3C62-4D26-8226-61CDB9245A46}"/>
              </a:ext>
            </a:extLst>
          </p:cNvPr>
          <p:cNvSpPr/>
          <p:nvPr/>
        </p:nvSpPr>
        <p:spPr>
          <a:xfrm>
            <a:off x="3429000" y="3068960"/>
            <a:ext cx="3108960" cy="472475"/>
          </a:xfrm>
          <a:custGeom>
            <a:avLst/>
            <a:gdLst>
              <a:gd name="connsiteX0" fmla="*/ 0 w 3108960"/>
              <a:gd name="connsiteY0" fmla="*/ 472475 h 472475"/>
              <a:gd name="connsiteX1" fmla="*/ 1470660 w 3108960"/>
              <a:gd name="connsiteY1" fmla="*/ 35 h 472475"/>
              <a:gd name="connsiteX2" fmla="*/ 3108960 w 3108960"/>
              <a:gd name="connsiteY2" fmla="*/ 449615 h 47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8960" h="472475">
                <a:moveTo>
                  <a:pt x="0" y="472475"/>
                </a:moveTo>
                <a:cubicBezTo>
                  <a:pt x="476250" y="238160"/>
                  <a:pt x="952500" y="3845"/>
                  <a:pt x="1470660" y="35"/>
                </a:cubicBezTo>
                <a:cubicBezTo>
                  <a:pt x="1988820" y="-3775"/>
                  <a:pt x="2913380" y="302295"/>
                  <a:pt x="3108960" y="449615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28BAAF7-0090-4CD8-A041-433D2F8E1EDE}"/>
              </a:ext>
            </a:extLst>
          </p:cNvPr>
          <p:cNvCxnSpPr>
            <a:cxnSpLocks/>
            <a:stCxn id="35" idx="1"/>
          </p:cNvCxnSpPr>
          <p:nvPr/>
        </p:nvCxnSpPr>
        <p:spPr>
          <a:xfrm>
            <a:off x="4899660" y="3068995"/>
            <a:ext cx="224134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542BF7C-C478-4562-8613-F619A9C83153}"/>
              </a:ext>
            </a:extLst>
          </p:cNvPr>
          <p:cNvSpPr txBox="1"/>
          <p:nvPr/>
        </p:nvSpPr>
        <p:spPr>
          <a:xfrm>
            <a:off x="7210759" y="1305240"/>
            <a:ext cx="2402509" cy="709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*USIM Card Cover</a:t>
            </a: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카드를 삽입 후 전원을 인가</a:t>
            </a:r>
            <a:endParaRPr lang="en-US" altLang="ko-KR" sz="1000" dirty="0">
              <a:latin typeface="+mn-ea"/>
              <a:ea typeface="+mn-ea"/>
              <a:cs typeface="Arial" pitchFamily="34" charset="0"/>
            </a:endParaRP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그렇지 않을 경우 오 동작의 원인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7A4ABEC-66BE-4E93-ACCD-F247FC7734EF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6537960" y="1660113"/>
            <a:ext cx="672799" cy="72697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19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제품정보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모델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CNR-L500W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스펙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73B4342-38E9-4831-A737-8114A9426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664" y="1340768"/>
            <a:ext cx="5904656" cy="503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07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B356D1-C32E-4E9A-9228-CB853E6FD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1340768"/>
            <a:ext cx="5079484" cy="5113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E4D0B8-4DB9-4597-B889-0A23544D3210}"/>
              </a:ext>
            </a:extLst>
          </p:cNvPr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시스템 정보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952C70D-14E6-47AE-8676-3D1CC4DC4BC3}"/>
              </a:ext>
            </a:extLst>
          </p:cNvPr>
          <p:cNvGrpSpPr/>
          <p:nvPr/>
        </p:nvGrpSpPr>
        <p:grpSpPr>
          <a:xfrm>
            <a:off x="5833010" y="1126981"/>
            <a:ext cx="3217540" cy="2770552"/>
            <a:chOff x="6465168" y="1609169"/>
            <a:chExt cx="3217540" cy="277055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81D3AD-535E-4AFC-852B-C3ED268609DD}"/>
                </a:ext>
              </a:extLst>
            </p:cNvPr>
            <p:cNvSpPr txBox="1"/>
            <p:nvPr/>
          </p:nvSpPr>
          <p:spPr>
            <a:xfrm>
              <a:off x="6564287" y="1609169"/>
              <a:ext cx="3014111" cy="1261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RSSI (</a:t>
              </a:r>
              <a:r>
                <a:rPr lang="en-US" altLang="ko-KR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R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eceived </a:t>
              </a:r>
              <a:r>
                <a:rPr lang="en-US" altLang="ko-KR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S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ignal </a:t>
              </a:r>
              <a:r>
                <a:rPr lang="en-US" altLang="ko-KR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S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trength </a:t>
              </a:r>
              <a:r>
                <a:rPr lang="en-US" altLang="ko-KR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I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ndicator)</a:t>
              </a:r>
            </a:p>
            <a:p>
              <a:pPr marL="171450" indent="-171450" latinLnBrk="0">
                <a:lnSpc>
                  <a:spcPct val="120000"/>
                </a:lnSpc>
                <a:spcBef>
                  <a:spcPts val="300"/>
                </a:spcBef>
                <a:buFontTx/>
                <a:buChar char="-"/>
              </a:pP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간단하게 측정하고 확인할 수 있는 수신 전파 신호의 세기</a:t>
              </a:r>
              <a:endParaRPr lang="en-US" altLang="ko-KR" sz="1200" dirty="0">
                <a:latin typeface="+mn-ea"/>
                <a:ea typeface="+mn-ea"/>
                <a:cs typeface="Arial" pitchFamily="34" charset="0"/>
              </a:endParaRPr>
            </a:p>
            <a:p>
              <a:pPr marL="171450" indent="-171450" latinLnBrk="0">
                <a:lnSpc>
                  <a:spcPct val="120000"/>
                </a:lnSpc>
                <a:spcBef>
                  <a:spcPts val="300"/>
                </a:spcBef>
                <a:buFontTx/>
                <a:buChar char="-"/>
              </a:pP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송신기와 수신기 장치 사이의 거리를 추정하는 데 사용할 수 있다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.</a:t>
              </a:r>
            </a:p>
          </p:txBody>
        </p:sp>
        <p:pic>
          <p:nvPicPr>
            <p:cNvPr id="12" name="Picture 2" descr="https://k.kakaocdn.net/dn/cq5kMA/btrAoIcmM47/gmOZc6jK7mJLtEjJJTVqvK/img.png">
              <a:extLst>
                <a:ext uri="{FF2B5EF4-FFF2-40B4-BE49-F238E27FC236}">
                  <a16:creationId xmlns:a16="http://schemas.microsoft.com/office/drawing/2014/main" id="{5101B2D1-2F45-477C-9721-4A048AEAAD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5168" y="3140968"/>
              <a:ext cx="3217540" cy="1238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D4B9435B-1C04-444B-9E1D-BA5C08F94C82}"/>
              </a:ext>
            </a:extLst>
          </p:cNvPr>
          <p:cNvSpPr/>
          <p:nvPr/>
        </p:nvSpPr>
        <p:spPr>
          <a:xfrm>
            <a:off x="1568624" y="4725144"/>
            <a:ext cx="2232248" cy="504056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56F55F3-EBA7-4B64-A5EF-8A49D6A7EE7C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3473967" y="2453035"/>
            <a:ext cx="2232248" cy="234592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49A0DB52-8D23-400F-8BC9-EA0B6BAF23C9}"/>
              </a:ext>
            </a:extLst>
          </p:cNvPr>
          <p:cNvSpPr/>
          <p:nvPr/>
        </p:nvSpPr>
        <p:spPr>
          <a:xfrm>
            <a:off x="1568623" y="5277234"/>
            <a:ext cx="2387641" cy="504056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9E14AB0-C83B-44F8-9CEA-4CD48056246E}"/>
              </a:ext>
            </a:extLst>
          </p:cNvPr>
          <p:cNvCxnSpPr>
            <a:cxnSpLocks/>
            <a:stCxn id="11" idx="6"/>
            <a:endCxn id="16" idx="1"/>
          </p:cNvCxnSpPr>
          <p:nvPr/>
        </p:nvCxnSpPr>
        <p:spPr>
          <a:xfrm>
            <a:off x="3956264" y="5529262"/>
            <a:ext cx="190534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E709E6-ED3C-4877-9CA5-0AD121E4FE8B}"/>
              </a:ext>
            </a:extLst>
          </p:cNvPr>
          <p:cNvSpPr txBox="1"/>
          <p:nvPr/>
        </p:nvSpPr>
        <p:spPr>
          <a:xfrm>
            <a:off x="5861608" y="5250371"/>
            <a:ext cx="3014111" cy="557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nternational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M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obile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E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quipment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dentity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국제 휴대전화 식별번호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23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MAC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등록을 통한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IP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고정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75A657-3742-492A-A217-8BE33ED54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23" y="1292735"/>
            <a:ext cx="5450606" cy="516060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C8326BA9-1B1C-4084-8E5C-5B5C76E23387}"/>
              </a:ext>
            </a:extLst>
          </p:cNvPr>
          <p:cNvSpPr/>
          <p:nvPr/>
        </p:nvSpPr>
        <p:spPr>
          <a:xfrm>
            <a:off x="1640633" y="3717032"/>
            <a:ext cx="3627628" cy="720080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438ADD8-5321-4FA0-9C77-F001A418432B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4737007" y="3140968"/>
            <a:ext cx="1152097" cy="68151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4D92D1C-DCBC-4552-A675-B37016252483}"/>
              </a:ext>
            </a:extLst>
          </p:cNvPr>
          <p:cNvSpPr txBox="1"/>
          <p:nvPr/>
        </p:nvSpPr>
        <p:spPr>
          <a:xfrm>
            <a:off x="5906661" y="2139572"/>
            <a:ext cx="3572618" cy="1742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*MAC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등록을 통한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*IP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고정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사용 중인 단말의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IP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를 다른 단말이 사용하려고 하는 것을 방지하기 위한 기능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설정된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IP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를 다른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MAC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이 사용하려 할 경우 해당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MAC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는 차단된다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.</a:t>
            </a: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이 정책은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IP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고정 정책과 달리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IP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충돌로 부터 호스트를 보호하려고 할 경우에 쓰인다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2BD78F-B359-47DE-8981-2F95FCBCDC4D}"/>
              </a:ext>
            </a:extLst>
          </p:cNvPr>
          <p:cNvSpPr txBox="1"/>
          <p:nvPr/>
        </p:nvSpPr>
        <p:spPr>
          <a:xfrm>
            <a:off x="5839666" y="4627507"/>
            <a:ext cx="3706607" cy="932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*MAC :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M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edia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A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ccess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C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ontrol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여러 단말이 접속할 때 충돌을 방지하기 위한 제어를 담당</a:t>
            </a:r>
            <a:endParaRPr lang="en-US" altLang="ko-KR" sz="10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*IP :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I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nternet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P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rotocol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인터넷에 연결되어 있는 각 컴퓨터의 숫자로 이루어진 고유 주소</a:t>
            </a:r>
            <a:endParaRPr lang="en-US" altLang="ko-KR" sz="10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70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DHCP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 목록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FFC77D-80F5-4DC0-8E1E-BCF184F4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6" y="1292734"/>
            <a:ext cx="7135220" cy="4991796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D02CCE9-2A1C-4C9A-BCF9-E5D3253B4B91}"/>
              </a:ext>
            </a:extLst>
          </p:cNvPr>
          <p:cNvSpPr/>
          <p:nvPr/>
        </p:nvSpPr>
        <p:spPr>
          <a:xfrm>
            <a:off x="2288704" y="1465622"/>
            <a:ext cx="5623052" cy="2107393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687AC45-F38D-4E82-A760-6A23C042645D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100230" y="3573015"/>
            <a:ext cx="0" cy="43204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B17D07-1A6F-42BD-9B2D-887ED91C500E}"/>
              </a:ext>
            </a:extLst>
          </p:cNvPr>
          <p:cNvSpPr txBox="1"/>
          <p:nvPr/>
        </p:nvSpPr>
        <p:spPr>
          <a:xfrm>
            <a:off x="3800871" y="4117037"/>
            <a:ext cx="3672405" cy="126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*DHCP :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D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ynamic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H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ost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C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onfiguration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P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rotocol</a:t>
            </a: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IP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를 필요로 하는 컴퓨터에게 자동으로 할당해서 사용할 수 있도록 해주고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,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사용하지 않으면 </a:t>
            </a:r>
            <a:r>
              <a:rPr lang="ko-KR" altLang="en-US" sz="1200" dirty="0" err="1">
                <a:latin typeface="+mn-ea"/>
                <a:ea typeface="+mn-ea"/>
                <a:cs typeface="Arial" pitchFamily="34" charset="0"/>
              </a:rPr>
              <a:t>반환받아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다른 컴퓨터가 사용할 수 있도록 해주는 것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자동으로 할당된 유무선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IP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목록 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1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무선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LAN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기본 설정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D3C8DE4-E1C6-4567-9B24-5920FF7F5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72" y="1340768"/>
            <a:ext cx="6012587" cy="4801736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F12B04DE-5D71-4776-9106-B5DDDA335595}"/>
              </a:ext>
            </a:extLst>
          </p:cNvPr>
          <p:cNvSpPr/>
          <p:nvPr/>
        </p:nvSpPr>
        <p:spPr>
          <a:xfrm>
            <a:off x="3416972" y="2492896"/>
            <a:ext cx="1103980" cy="504056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7225DF3-F8D6-4E8B-89D4-CD01C6136F0A}"/>
              </a:ext>
            </a:extLst>
          </p:cNvPr>
          <p:cNvCxnSpPr>
            <a:cxnSpLocks/>
            <a:stCxn id="8" idx="6"/>
            <a:endCxn id="10" idx="1"/>
          </p:cNvCxnSpPr>
          <p:nvPr/>
        </p:nvCxnSpPr>
        <p:spPr>
          <a:xfrm>
            <a:off x="4520952" y="2744924"/>
            <a:ext cx="181243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7EB33C-5B7E-411C-8787-79847806E425}"/>
              </a:ext>
            </a:extLst>
          </p:cNvPr>
          <p:cNvSpPr txBox="1"/>
          <p:nvPr/>
        </p:nvSpPr>
        <p:spPr>
          <a:xfrm>
            <a:off x="6333382" y="2596069"/>
            <a:ext cx="3572618" cy="29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사용 여부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: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사용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/ </a:t>
            </a:r>
            <a:r>
              <a:rPr lang="ko-KR" altLang="en-US" sz="1200" dirty="0" err="1">
                <a:latin typeface="+mn-ea"/>
                <a:ea typeface="+mn-ea"/>
                <a:cs typeface="Arial" pitchFamily="34" charset="0"/>
              </a:rPr>
              <a:t>미사용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2418AE9-2E71-4375-8B47-DF9EB570F1DE}"/>
              </a:ext>
            </a:extLst>
          </p:cNvPr>
          <p:cNvSpPr/>
          <p:nvPr/>
        </p:nvSpPr>
        <p:spPr>
          <a:xfrm>
            <a:off x="3296816" y="3128606"/>
            <a:ext cx="2088231" cy="504056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7945FD0-A976-4650-B96C-3D23BE10ACE0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5385047" y="3380634"/>
            <a:ext cx="96281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84D147-9C62-47CE-9C7F-A1E2E54A49B3}"/>
              </a:ext>
            </a:extLst>
          </p:cNvPr>
          <p:cNvSpPr txBox="1"/>
          <p:nvPr/>
        </p:nvSpPr>
        <p:spPr>
          <a:xfrm>
            <a:off x="6393159" y="3101743"/>
            <a:ext cx="2664296" cy="557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SSID :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S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ervice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S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et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Id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entifier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      - </a:t>
            </a: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네트워크 이름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0E6674B-AEA7-4C70-B39A-109C02807DCE}"/>
              </a:ext>
            </a:extLst>
          </p:cNvPr>
          <p:cNvSpPr/>
          <p:nvPr/>
        </p:nvSpPr>
        <p:spPr>
          <a:xfrm>
            <a:off x="3152800" y="3764316"/>
            <a:ext cx="2232247" cy="2527043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157492E-C94C-4B30-ABD5-5B4B5F9EF525}"/>
              </a:ext>
            </a:extLst>
          </p:cNvPr>
          <p:cNvCxnSpPr>
            <a:cxnSpLocks/>
            <a:stCxn id="19" idx="6"/>
            <a:endCxn id="26" idx="1"/>
          </p:cNvCxnSpPr>
          <p:nvPr/>
        </p:nvCxnSpPr>
        <p:spPr>
          <a:xfrm flipV="1">
            <a:off x="5385047" y="5027837"/>
            <a:ext cx="948335" cy="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7B066F0-327C-4BA2-8C6F-7CBDF2078073}"/>
              </a:ext>
            </a:extLst>
          </p:cNvPr>
          <p:cNvSpPr txBox="1"/>
          <p:nvPr/>
        </p:nvSpPr>
        <p:spPr>
          <a:xfrm>
            <a:off x="6333382" y="4878982"/>
            <a:ext cx="2664296" cy="29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채널 설정</a:t>
            </a:r>
          </a:p>
        </p:txBody>
      </p:sp>
    </p:spTree>
    <p:extLst>
      <p:ext uri="{BB962C8B-B14F-4D97-AF65-F5344CB8AC3E}">
        <p14:creationId xmlns:p14="http://schemas.microsoft.com/office/powerpoint/2010/main" val="1343934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현재 진행사항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2CDEF5-3D63-4A9B-BE73-9EF81D093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23" y="1313684"/>
            <a:ext cx="6110978" cy="4959294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3054F059-3B8F-4DF5-B087-F0CEE77E1060}"/>
              </a:ext>
            </a:extLst>
          </p:cNvPr>
          <p:cNvSpPr/>
          <p:nvPr/>
        </p:nvSpPr>
        <p:spPr>
          <a:xfrm>
            <a:off x="3248714" y="3212976"/>
            <a:ext cx="2352358" cy="720080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28B7FF2-FA74-4813-916A-7E06BDD53E81}"/>
              </a:ext>
            </a:extLst>
          </p:cNvPr>
          <p:cNvCxnSpPr>
            <a:cxnSpLocks/>
            <a:stCxn id="8" idx="6"/>
            <a:endCxn id="10" idx="1"/>
          </p:cNvCxnSpPr>
          <p:nvPr/>
        </p:nvCxnSpPr>
        <p:spPr>
          <a:xfrm>
            <a:off x="5601072" y="3573016"/>
            <a:ext cx="92262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4C0517D-DBAC-4A56-BDB8-857B256D0497}"/>
              </a:ext>
            </a:extLst>
          </p:cNvPr>
          <p:cNvSpPr txBox="1"/>
          <p:nvPr/>
        </p:nvSpPr>
        <p:spPr>
          <a:xfrm>
            <a:off x="6523701" y="3034054"/>
            <a:ext cx="2664296" cy="1077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WPA : </a:t>
            </a:r>
            <a:r>
              <a:rPr lang="en-US" altLang="ko-KR" sz="1200" dirty="0" err="1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W</a:t>
            </a: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P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rotected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A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ccess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네트워크 비밀번호를 설정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네트워크 접속 시 인증 절차를 요구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초기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PW : #234567!</a:t>
            </a:r>
            <a:endParaRPr lang="ko-KR" altLang="en-US" sz="12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19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무선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LAN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단말기 목록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F680C6-5F81-4F94-AE5E-EEBE36513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82" y="1465622"/>
            <a:ext cx="6561349" cy="4866194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7137A30-7EEF-4F8F-8CD7-7F9DB392D70C}"/>
              </a:ext>
            </a:extLst>
          </p:cNvPr>
          <p:cNvSpPr/>
          <p:nvPr/>
        </p:nvSpPr>
        <p:spPr>
          <a:xfrm>
            <a:off x="1712640" y="1649861"/>
            <a:ext cx="5184576" cy="1815939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1007BEA-9387-4AA8-B191-009026AFA79D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4302401" y="3465800"/>
            <a:ext cx="2527" cy="8696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F163EE-2E29-4837-8D76-249B0B8E4918}"/>
              </a:ext>
            </a:extLst>
          </p:cNvPr>
          <p:cNvSpPr txBox="1"/>
          <p:nvPr/>
        </p:nvSpPr>
        <p:spPr>
          <a:xfrm>
            <a:off x="3132271" y="4335466"/>
            <a:ext cx="2340260" cy="557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AP*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에 연결된 단말기 목록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무선으로 연결된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MAC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주소 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2A22EB-DE70-49D4-9F8A-78421FE88E6E}"/>
              </a:ext>
            </a:extLst>
          </p:cNvPr>
          <p:cNvSpPr txBox="1"/>
          <p:nvPr/>
        </p:nvSpPr>
        <p:spPr>
          <a:xfrm>
            <a:off x="2545942" y="5309000"/>
            <a:ext cx="5853178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*AP :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A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ccess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P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oint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사무실이나 가정에서 인터넷을 사용하는 데 필요한 기기로 무선으로 사용할 수 있게 도와준다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.</a:t>
            </a:r>
            <a:endParaRPr lang="ko-KR" altLang="en-US" sz="10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998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보안 설정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FD935C-B04A-4269-BF64-1BB2EC03A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24" y="1340768"/>
            <a:ext cx="6134678" cy="50222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4F9E2E-C3B1-4E83-94BA-23D568B8D3E5}"/>
              </a:ext>
            </a:extLst>
          </p:cNvPr>
          <p:cNvSpPr txBox="1"/>
          <p:nvPr/>
        </p:nvSpPr>
        <p:spPr>
          <a:xfrm>
            <a:off x="6547401" y="1976178"/>
            <a:ext cx="3014111" cy="557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방화벽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: Enable Web Access from WAN*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외부접속 차단 설정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(ON/OFF)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71A7544-2049-42AD-8BC8-C537881CD508}"/>
              </a:ext>
            </a:extLst>
          </p:cNvPr>
          <p:cNvSpPr/>
          <p:nvPr/>
        </p:nvSpPr>
        <p:spPr>
          <a:xfrm>
            <a:off x="1784648" y="1895029"/>
            <a:ext cx="2352358" cy="720080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D6347CD-95A6-4423-88C4-3686252AEB30}"/>
              </a:ext>
            </a:extLst>
          </p:cNvPr>
          <p:cNvCxnSpPr>
            <a:cxnSpLocks/>
            <a:stCxn id="8" idx="6"/>
            <a:endCxn id="6" idx="1"/>
          </p:cNvCxnSpPr>
          <p:nvPr/>
        </p:nvCxnSpPr>
        <p:spPr>
          <a:xfrm>
            <a:off x="4137006" y="2255069"/>
            <a:ext cx="241039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9A98AD0-A527-452D-A2B3-5A3E6237496C}"/>
              </a:ext>
            </a:extLst>
          </p:cNvPr>
          <p:cNvGrpSpPr/>
          <p:nvPr/>
        </p:nvGrpSpPr>
        <p:grpSpPr>
          <a:xfrm>
            <a:off x="6321152" y="3055107"/>
            <a:ext cx="3407457" cy="2966181"/>
            <a:chOff x="5884056" y="2882689"/>
            <a:chExt cx="3407457" cy="296618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79AD65-8CD1-42D2-9AFA-F60A19C48A30}"/>
                </a:ext>
              </a:extLst>
            </p:cNvPr>
            <p:cNvSpPr txBox="1"/>
            <p:nvPr/>
          </p:nvSpPr>
          <p:spPr>
            <a:xfrm>
              <a:off x="6192119" y="2882689"/>
              <a:ext cx="3014111" cy="932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WAN :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W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ide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A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rea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N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etwork</a:t>
              </a:r>
            </a:p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- </a:t>
              </a:r>
              <a:r>
                <a:rPr lang="ko-KR" altLang="en-US" sz="1000" dirty="0">
                  <a:latin typeface="+mn-ea"/>
                  <a:ea typeface="+mn-ea"/>
                  <a:cs typeface="Arial" pitchFamily="34" charset="0"/>
                </a:rPr>
                <a:t>광범위한 지역 단위로 구성하는 네트워크</a:t>
              </a:r>
              <a:endParaRPr lang="en-US" altLang="ko-KR" sz="1000" dirty="0">
                <a:latin typeface="+mn-ea"/>
                <a:ea typeface="+mn-ea"/>
                <a:cs typeface="Arial" pitchFamily="34" charset="0"/>
              </a:endParaRPr>
            </a:p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LAN :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L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ocal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A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rea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N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etwork</a:t>
              </a:r>
            </a:p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- </a:t>
              </a:r>
              <a:r>
                <a:rPr lang="ko-KR" altLang="en-US" sz="1000" dirty="0">
                  <a:latin typeface="+mn-ea"/>
                  <a:ea typeface="+mn-ea"/>
                  <a:cs typeface="Arial" pitchFamily="34" charset="0"/>
                </a:rPr>
                <a:t>사용자가 포함된 지역 네트워크</a:t>
              </a:r>
              <a:endParaRPr lang="en-US" altLang="ko-KR" sz="1000" dirty="0">
                <a:latin typeface="+mn-ea"/>
                <a:ea typeface="+mn-ea"/>
                <a:cs typeface="Arial" pitchFamily="34" charset="0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7F9679F-6C4B-4E48-A866-635D3A349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4056" y="4048196"/>
              <a:ext cx="1628323" cy="142590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C926D34-E615-4940-8889-52B7B456F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99175" y="4048196"/>
              <a:ext cx="1592338" cy="142590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36E92DA-07A0-4E84-93D9-B65278EBD912}"/>
                </a:ext>
              </a:extLst>
            </p:cNvPr>
            <p:cNvSpPr txBox="1"/>
            <p:nvPr/>
          </p:nvSpPr>
          <p:spPr>
            <a:xfrm>
              <a:off x="6432598" y="5585400"/>
              <a:ext cx="532408" cy="263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LAN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4C904F-445D-4BE4-AE95-60312ADCD3EC}"/>
                </a:ext>
              </a:extLst>
            </p:cNvPr>
            <p:cNvSpPr txBox="1"/>
            <p:nvPr/>
          </p:nvSpPr>
          <p:spPr>
            <a:xfrm>
              <a:off x="8189198" y="5585400"/>
              <a:ext cx="612292" cy="263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WAN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0078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포트 포워딩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710BDF-218C-4195-BA74-E669DA761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2" y="1271739"/>
            <a:ext cx="4599468" cy="523053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885575BC-4CBF-4E9F-B274-A023FAFAC4FD}"/>
              </a:ext>
            </a:extLst>
          </p:cNvPr>
          <p:cNvGrpSpPr/>
          <p:nvPr/>
        </p:nvGrpSpPr>
        <p:grpSpPr>
          <a:xfrm>
            <a:off x="5730440" y="1292734"/>
            <a:ext cx="3312368" cy="4914374"/>
            <a:chOff x="6138313" y="1161527"/>
            <a:chExt cx="3312368" cy="491437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92FDAE-BB26-4597-B305-84C2B89C08BD}"/>
                </a:ext>
              </a:extLst>
            </p:cNvPr>
            <p:cNvSpPr txBox="1"/>
            <p:nvPr/>
          </p:nvSpPr>
          <p:spPr>
            <a:xfrm>
              <a:off x="6138313" y="1161527"/>
              <a:ext cx="3312368" cy="1222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ko-KR" altLang="en-US" sz="1200" dirty="0" err="1">
                  <a:latin typeface="+mn-ea"/>
                  <a:ea typeface="+mn-ea"/>
                  <a:cs typeface="Arial" pitchFamily="34" charset="0"/>
                </a:rPr>
                <a:t>포트포워딩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(Port Forwarding)</a:t>
              </a:r>
            </a:p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패킷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*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이 라우터나 방화벽과 같은 네트워크 게이트웨이를 가로지르는 동안 하나의 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IP 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주소와 포트 번호 결합의 통신 요청을 다른 곳으로 넘겨주는 </a:t>
              </a:r>
              <a:r>
                <a:rPr lang="ko-KR" altLang="en-US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네트워크 주소 변환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(NAT*)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의 응용</a:t>
              </a:r>
              <a:endParaRPr lang="en-US" altLang="ko-KR" sz="1200" dirty="0">
                <a:latin typeface="+mn-ea"/>
                <a:ea typeface="+mn-ea"/>
                <a:cs typeface="Arial" pitchFamily="34" charset="0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3903A39-3414-4A96-AC5E-2A25A6EE7E45}"/>
                </a:ext>
              </a:extLst>
            </p:cNvPr>
            <p:cNvGrpSpPr/>
            <p:nvPr/>
          </p:nvGrpSpPr>
          <p:grpSpPr>
            <a:xfrm>
              <a:off x="6138313" y="2979879"/>
              <a:ext cx="3312368" cy="3096022"/>
              <a:chOff x="6138313" y="2979879"/>
              <a:chExt cx="3312368" cy="309602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84A9B0-8E70-4E95-A9A9-DC3C2D269768}"/>
                  </a:ext>
                </a:extLst>
              </p:cNvPr>
              <p:cNvSpPr txBox="1"/>
              <p:nvPr/>
            </p:nvSpPr>
            <p:spPr>
              <a:xfrm>
                <a:off x="6138313" y="2979879"/>
                <a:ext cx="3312368" cy="1710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*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패킷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(Packet) :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컴퓨터 네트워크가 전달하는 데이터의 형식화된 블록</a:t>
                </a:r>
                <a:endParaRPr lang="en-US" altLang="ko-KR" sz="1000" dirty="0">
                  <a:latin typeface="+mn-ea"/>
                  <a:ea typeface="+mn-ea"/>
                  <a:cs typeface="Arial" pitchFamily="34" charset="0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-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데이터가 패킷으로 형식이 바뀔 때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,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네트워크는 장문 메시지를 더 </a:t>
                </a:r>
                <a:r>
                  <a:rPr lang="ko-KR" altLang="en-US" sz="1000" dirty="0">
                    <a:solidFill>
                      <a:srgbClr val="FF0000"/>
                    </a:solidFill>
                    <a:latin typeface="+mn-ea"/>
                    <a:ea typeface="+mn-ea"/>
                    <a:cs typeface="Arial" pitchFamily="34" charset="0"/>
                  </a:rPr>
                  <a:t>효과적이고 신뢰성 있게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보낼 수 있다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.</a:t>
                </a:r>
              </a:p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endParaRPr lang="en-US" altLang="ko-KR" sz="1000" dirty="0">
                  <a:latin typeface="+mn-ea"/>
                  <a:ea typeface="+mn-ea"/>
                  <a:cs typeface="Arial" pitchFamily="34" charset="0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*NAT(</a:t>
                </a:r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  <a:ea typeface="+mn-ea"/>
                    <a:cs typeface="Arial" pitchFamily="34" charset="0"/>
                  </a:rPr>
                  <a:t>N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etwork </a:t>
                </a:r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  <a:ea typeface="+mn-ea"/>
                    <a:cs typeface="Arial" pitchFamily="34" charset="0"/>
                  </a:rPr>
                  <a:t>A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ddress </a:t>
                </a:r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  <a:ea typeface="+mn-ea"/>
                    <a:cs typeface="Arial" pitchFamily="34" charset="0"/>
                  </a:rPr>
                  <a:t>T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ranslation)</a:t>
                </a:r>
              </a:p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-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라우터는 대상 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IP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주소를 기반으로 하는 공용 네트워크와 개인 네트워크 간에 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IP </a:t>
                </a:r>
                <a:r>
                  <a:rPr lang="ko-KR" altLang="en-US" sz="1000" dirty="0" err="1">
                    <a:latin typeface="+mn-ea"/>
                    <a:ea typeface="+mn-ea"/>
                    <a:cs typeface="Arial" pitchFamily="34" charset="0"/>
                  </a:rPr>
                  <a:t>데이터그램을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 라우팅하는 역할</a:t>
                </a:r>
                <a:endParaRPr lang="en-US" altLang="ko-KR" sz="1000" dirty="0">
                  <a:latin typeface="+mn-ea"/>
                  <a:ea typeface="+mn-ea"/>
                  <a:cs typeface="Arial" pitchFamily="34" charset="0"/>
                </a:endParaRPr>
              </a:p>
            </p:txBody>
          </p:sp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A82E1456-E9BD-4267-A3E0-DB6CF4AF44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7303" y="4814547"/>
                <a:ext cx="2607185" cy="1261354"/>
              </a:xfrm>
              <a:prstGeom prst="rect">
                <a:avLst/>
              </a:prstGeom>
            </p:spPr>
          </p:pic>
        </p:grpSp>
      </p:grpSp>
      <p:sp>
        <p:nvSpPr>
          <p:cNvPr id="14" name="타원 13">
            <a:extLst>
              <a:ext uri="{FF2B5EF4-FFF2-40B4-BE49-F238E27FC236}">
                <a16:creationId xmlns:a16="http://schemas.microsoft.com/office/drawing/2014/main" id="{D6B7469A-E20F-43FA-869A-3976C0748836}"/>
              </a:ext>
            </a:extLst>
          </p:cNvPr>
          <p:cNvSpPr/>
          <p:nvPr/>
        </p:nvSpPr>
        <p:spPr>
          <a:xfrm>
            <a:off x="1280592" y="3612974"/>
            <a:ext cx="3168352" cy="2889295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FBE9592-F544-47EF-A03F-453F43018FA5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3984950" y="2204864"/>
            <a:ext cx="1544114" cy="183123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927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사용자 관리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0CC0F3-09B7-486C-9AF2-551A1BDC6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79" y="1340768"/>
            <a:ext cx="7230484" cy="5134692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D7D21FE7-1DCE-4B9A-A039-5027C146103A}"/>
              </a:ext>
            </a:extLst>
          </p:cNvPr>
          <p:cNvSpPr/>
          <p:nvPr/>
        </p:nvSpPr>
        <p:spPr>
          <a:xfrm>
            <a:off x="4050515" y="2060849"/>
            <a:ext cx="1944216" cy="1224136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35146-8B7F-4A78-AF89-EB849A0E88F7}"/>
              </a:ext>
            </a:extLst>
          </p:cNvPr>
          <p:cNvSpPr txBox="1"/>
          <p:nvPr/>
        </p:nvSpPr>
        <p:spPr>
          <a:xfrm>
            <a:off x="6015279" y="4341368"/>
            <a:ext cx="2538121" cy="81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LTE Router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상태 확인 접속을 위한 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ID / Password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설정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초기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ID : </a:t>
            </a:r>
            <a:r>
              <a:rPr lang="en-US" altLang="ko-KR" sz="1200" u="sng" dirty="0">
                <a:latin typeface="+mn-ea"/>
                <a:ea typeface="+mn-ea"/>
                <a:cs typeface="Arial" pitchFamily="34" charset="0"/>
              </a:rPr>
              <a:t>admin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, PW : </a:t>
            </a:r>
            <a:r>
              <a:rPr lang="en-US" altLang="ko-KR" sz="1200" u="sng" dirty="0">
                <a:latin typeface="+mn-ea"/>
                <a:ea typeface="+mn-ea"/>
                <a:cs typeface="Arial" pitchFamily="34" charset="0"/>
              </a:rPr>
              <a:t>1234admin#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AAC3E9DE-E448-4BCE-A2DC-9D1C14B44514}"/>
              </a:ext>
            </a:extLst>
          </p:cNvPr>
          <p:cNvCxnSpPr>
            <a:cxnSpLocks/>
            <a:stCxn id="6" idx="4"/>
            <a:endCxn id="9" idx="1"/>
          </p:cNvCxnSpPr>
          <p:nvPr/>
        </p:nvCxnSpPr>
        <p:spPr>
          <a:xfrm rot="16200000" flipH="1">
            <a:off x="4786296" y="3521312"/>
            <a:ext cx="1465310" cy="992656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086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시스템 설정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8632C1-3EDA-47B7-8DDB-F316EB224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032" y="1465622"/>
            <a:ext cx="4184173" cy="37635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7C45713-8E62-4126-95D3-D2A0B85A7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26" y="1292734"/>
            <a:ext cx="4170544" cy="4032447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E6D3008-FBA6-4075-9BA5-90FB7C223AD4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6321152" y="4035740"/>
            <a:ext cx="0" cy="149248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6915D1E1-7FE2-4BD5-97C0-D11EFDDC9E33}"/>
              </a:ext>
            </a:extLst>
          </p:cNvPr>
          <p:cNvSpPr/>
          <p:nvPr/>
        </p:nvSpPr>
        <p:spPr>
          <a:xfrm>
            <a:off x="4953000" y="3181070"/>
            <a:ext cx="2736304" cy="854670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D02749-846F-4FF7-AA15-00B99B59A5B9}"/>
              </a:ext>
            </a:extLst>
          </p:cNvPr>
          <p:cNvSpPr txBox="1"/>
          <p:nvPr/>
        </p:nvSpPr>
        <p:spPr>
          <a:xfrm>
            <a:off x="5349044" y="5528221"/>
            <a:ext cx="1944216" cy="29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새벽 시간 재부팅 사용 여부 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636A51E-27E5-47C7-9EBF-3CEE2C87FE29}"/>
              </a:ext>
            </a:extLst>
          </p:cNvPr>
          <p:cNvSpPr/>
          <p:nvPr/>
        </p:nvSpPr>
        <p:spPr>
          <a:xfrm>
            <a:off x="1280592" y="1700808"/>
            <a:ext cx="3478410" cy="854670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3195FA-1A87-4073-8F1D-2E4AF5A45D38}"/>
              </a:ext>
            </a:extLst>
          </p:cNvPr>
          <p:cNvSpPr txBox="1"/>
          <p:nvPr/>
        </p:nvSpPr>
        <p:spPr>
          <a:xfrm>
            <a:off x="1518639" y="4703040"/>
            <a:ext cx="3337362" cy="1337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LTE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모뎀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, APN(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A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ccess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P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oint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N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ame)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설정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어떤 타입의 네트워크로 연결로 만들지를 결정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1)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어떤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IP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주소를 무선 장치에 할당해야 하는 지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,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2)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어떤 보안 방법을 사용해야 하는 지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3)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어떻게 사설 고객 네트워크에 연결해야 하는 지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ECCD554-0082-4C4F-B9EF-ED67AB19C9BF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3019797" y="2555478"/>
            <a:ext cx="0" cy="21475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4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DDNS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설정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2D19F1-BCD4-4149-833A-8325E8F04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23" y="1301251"/>
            <a:ext cx="6005353" cy="4504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823E94-1587-49D8-A50F-71BA3A5A60D8}"/>
              </a:ext>
            </a:extLst>
          </p:cNvPr>
          <p:cNvSpPr txBox="1"/>
          <p:nvPr/>
        </p:nvSpPr>
        <p:spPr>
          <a:xfrm>
            <a:off x="6587305" y="2103205"/>
            <a:ext cx="3014111" cy="1039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DDNS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: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D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ynamic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D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omain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N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ame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S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ystem</a:t>
            </a: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외부에서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라우터 내부의 네트워크로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  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접속하기 위한 도메인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*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주소 설정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 err="1">
                <a:latin typeface="+mn-ea"/>
                <a:ea typeface="+mn-ea"/>
                <a:cs typeface="Arial" pitchFamily="34" charset="0"/>
              </a:rPr>
              <a:t>빌더를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사용 할 때 필요하다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.</a:t>
            </a:r>
            <a:endParaRPr lang="ko-KR" altLang="en-US" sz="1200" dirty="0"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CA26A-CEB4-41ED-8143-35ED51D25BC4}"/>
              </a:ext>
            </a:extLst>
          </p:cNvPr>
          <p:cNvSpPr txBox="1"/>
          <p:nvPr/>
        </p:nvSpPr>
        <p:spPr>
          <a:xfrm>
            <a:off x="5745365" y="5556749"/>
            <a:ext cx="3888431" cy="263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도메인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: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지정된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IP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주소를 알기 쉬운 문자로 변환한 인터넷 상의 주소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AE2FA13-F8B8-4E1D-9684-BCE93323572E}"/>
              </a:ext>
            </a:extLst>
          </p:cNvPr>
          <p:cNvSpPr/>
          <p:nvPr/>
        </p:nvSpPr>
        <p:spPr>
          <a:xfrm>
            <a:off x="3154676" y="1700808"/>
            <a:ext cx="2734427" cy="1584176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BF30402-0119-4C90-8DAA-CFB5C0277342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5889103" y="2492896"/>
            <a:ext cx="698202" cy="13003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947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제품정보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외관 설명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537E73-8ADF-4848-AEB1-15D647CA3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728" y="1417109"/>
            <a:ext cx="3960749" cy="3117752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CF6DF952-8404-4573-853B-CC5BF5C92732}"/>
              </a:ext>
            </a:extLst>
          </p:cNvPr>
          <p:cNvSpPr/>
          <p:nvPr/>
        </p:nvSpPr>
        <p:spPr>
          <a:xfrm>
            <a:off x="3296816" y="2276872"/>
            <a:ext cx="1296144" cy="100811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E06BC0F-5DD3-4956-B208-DE23468002CB}"/>
              </a:ext>
            </a:extLst>
          </p:cNvPr>
          <p:cNvGrpSpPr/>
          <p:nvPr/>
        </p:nvGrpSpPr>
        <p:grpSpPr>
          <a:xfrm>
            <a:off x="3080792" y="3590687"/>
            <a:ext cx="3744416" cy="432048"/>
            <a:chOff x="3584848" y="4077072"/>
            <a:chExt cx="3744416" cy="432048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8560B77-8D74-4E50-8EF5-D30A90F15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4848" y="4077072"/>
              <a:ext cx="0" cy="43204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42BDDB8-489D-46C1-A184-A885242F5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3160" y="4077072"/>
              <a:ext cx="0" cy="43204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32527BB-9DC3-4304-B570-064410C96FAC}"/>
                </a:ext>
              </a:extLst>
            </p:cNvPr>
            <p:cNvCxnSpPr>
              <a:cxnSpLocks/>
            </p:cNvCxnSpPr>
            <p:nvPr/>
          </p:nvCxnSpPr>
          <p:spPr>
            <a:xfrm>
              <a:off x="3584848" y="4077072"/>
              <a:ext cx="374441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ACCAF16-0B4E-47DA-AC76-6FEE65CAF02E}"/>
              </a:ext>
            </a:extLst>
          </p:cNvPr>
          <p:cNvSpPr txBox="1"/>
          <p:nvPr/>
        </p:nvSpPr>
        <p:spPr>
          <a:xfrm>
            <a:off x="6897369" y="3278165"/>
            <a:ext cx="2581909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*LTE ANT Port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전용 외장형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LTE Antenna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를 사용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A9469C9-8865-4504-A4D4-3560E55D18D7}"/>
              </a:ext>
            </a:extLst>
          </p:cNvPr>
          <p:cNvCxnSpPr>
            <a:cxnSpLocks/>
          </p:cNvCxnSpPr>
          <p:nvPr/>
        </p:nvCxnSpPr>
        <p:spPr>
          <a:xfrm flipH="1">
            <a:off x="2288704" y="4189269"/>
            <a:ext cx="1169331" cy="8959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9880CB8-EF54-46B8-B445-58AAB76AF770}"/>
              </a:ext>
            </a:extLst>
          </p:cNvPr>
          <p:cNvCxnSpPr>
            <a:cxnSpLocks/>
          </p:cNvCxnSpPr>
          <p:nvPr/>
        </p:nvCxnSpPr>
        <p:spPr>
          <a:xfrm flipH="1">
            <a:off x="3836877" y="4365104"/>
            <a:ext cx="180019" cy="13978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F079325-2F1F-4457-BDDF-4C3055CF122E}"/>
              </a:ext>
            </a:extLst>
          </p:cNvPr>
          <p:cNvCxnSpPr>
            <a:cxnSpLocks/>
          </p:cNvCxnSpPr>
          <p:nvPr/>
        </p:nvCxnSpPr>
        <p:spPr>
          <a:xfrm>
            <a:off x="4232920" y="4282833"/>
            <a:ext cx="252182" cy="8023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4053017-3AE8-4036-8778-D0FF176103DF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5025007" y="4563757"/>
            <a:ext cx="1554752" cy="9540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D0870DF-BFD9-4116-9998-955928AC4FBA}"/>
              </a:ext>
            </a:extLst>
          </p:cNvPr>
          <p:cNvSpPr txBox="1"/>
          <p:nvPr/>
        </p:nvSpPr>
        <p:spPr>
          <a:xfrm>
            <a:off x="0" y="5094325"/>
            <a:ext cx="2736303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*DC JACK</a:t>
            </a:r>
          </a:p>
          <a:p>
            <a:pPr algn="r"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함께 제공되는 전용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DC Adapter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사용</a:t>
            </a:r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EB1231A3-5B40-4805-B773-1B909BB5E669}"/>
              </a:ext>
            </a:extLst>
          </p:cNvPr>
          <p:cNvSpPr/>
          <p:nvPr/>
        </p:nvSpPr>
        <p:spPr>
          <a:xfrm>
            <a:off x="4625340" y="4267200"/>
            <a:ext cx="731520" cy="297318"/>
          </a:xfrm>
          <a:custGeom>
            <a:avLst/>
            <a:gdLst>
              <a:gd name="connsiteX0" fmla="*/ 0 w 731520"/>
              <a:gd name="connsiteY0" fmla="*/ 30480 h 297318"/>
              <a:gd name="connsiteX1" fmla="*/ 403860 w 731520"/>
              <a:gd name="connsiteY1" fmla="*/ 297180 h 297318"/>
              <a:gd name="connsiteX2" fmla="*/ 731520 w 731520"/>
              <a:gd name="connsiteY2" fmla="*/ 0 h 2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1520" h="297318">
                <a:moveTo>
                  <a:pt x="0" y="30480"/>
                </a:moveTo>
                <a:cubicBezTo>
                  <a:pt x="140970" y="166370"/>
                  <a:pt x="281940" y="302260"/>
                  <a:pt x="403860" y="297180"/>
                </a:cubicBezTo>
                <a:cubicBezTo>
                  <a:pt x="525780" y="292100"/>
                  <a:pt x="640080" y="105410"/>
                  <a:pt x="731520" y="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57126A-C27D-4FFE-B5E3-868FDD96AC81}"/>
              </a:ext>
            </a:extLst>
          </p:cNvPr>
          <p:cNvSpPr txBox="1"/>
          <p:nvPr/>
        </p:nvSpPr>
        <p:spPr>
          <a:xfrm>
            <a:off x="3113885" y="5805682"/>
            <a:ext cx="2736303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*Reset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단말기를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재부팅하는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스위치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1ED5E4-F7C8-4756-9DDD-A7B354A1AA1F}"/>
              </a:ext>
            </a:extLst>
          </p:cNvPr>
          <p:cNvSpPr txBox="1"/>
          <p:nvPr/>
        </p:nvSpPr>
        <p:spPr>
          <a:xfrm>
            <a:off x="4336465" y="5157192"/>
            <a:ext cx="3496856" cy="709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*RS232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-Serial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통신을 지원하며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,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전용 통신을 케이블을 사용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.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그렇지 않을 경우 오동작의 원인이 될 수 있다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.</a:t>
            </a:r>
            <a:endParaRPr lang="ko-KR" altLang="en-US" sz="1000" dirty="0"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71860B-C4E1-4088-B3AA-940EBEAEEB17}"/>
              </a:ext>
            </a:extLst>
          </p:cNvPr>
          <p:cNvSpPr txBox="1"/>
          <p:nvPr/>
        </p:nvSpPr>
        <p:spPr>
          <a:xfrm>
            <a:off x="6579759" y="4415859"/>
            <a:ext cx="2776776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*Ethernet LAN Port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함께 제공되는 전용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LAN Cable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을 사용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162E60D9-03B3-450A-A770-D6D6EE84AEA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617331" y="2780928"/>
            <a:ext cx="67948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EA2E36F-0910-40EB-8921-FB1EAD4206BF}"/>
              </a:ext>
            </a:extLst>
          </p:cNvPr>
          <p:cNvSpPr txBox="1"/>
          <p:nvPr/>
        </p:nvSpPr>
        <p:spPr>
          <a:xfrm>
            <a:off x="120951" y="1593735"/>
            <a:ext cx="2644043" cy="2941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*LED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Indicator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CPU (BLUE)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꺼짐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(OFF) /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점멸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(Operating)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LAN1, LAN2 (BLUE) 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미접속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(OFF) /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접속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(ON) /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점멸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통신 중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LTE (RED, BLUE)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 꺼짐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(Error,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전원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OFF)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RED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켜짐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망 접속 실패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RED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점멸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(USIM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에러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BLUE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점멸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(USIM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개통 중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RED, BLUE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켜짐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약전계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 BLUE 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켜짐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000" dirty="0" err="1">
                <a:latin typeface="+mn-ea"/>
                <a:ea typeface="+mn-ea"/>
                <a:cs typeface="Arial" pitchFamily="34" charset="0"/>
              </a:rPr>
              <a:t>강전계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en-US" altLang="ko-KR" sz="10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 (BLUE)</a:t>
            </a:r>
          </a:p>
        </p:txBody>
      </p:sp>
    </p:spTree>
    <p:extLst>
      <p:ext uri="{BB962C8B-B14F-4D97-AF65-F5344CB8AC3E}">
        <p14:creationId xmlns:p14="http://schemas.microsoft.com/office/powerpoint/2010/main" val="2571579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모델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CNR-L580W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스펙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7F6688-8663-4CCC-AA0D-51F53DC9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486" y="1340072"/>
            <a:ext cx="6696744" cy="468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28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b="1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Wifi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정보</a:t>
            </a:r>
            <a:endParaRPr lang="en-US" altLang="ko-KR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9F18A9-6D1E-4556-A01F-35044132F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97" y="1412778"/>
            <a:ext cx="4990031" cy="4784823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17E582AC-07E5-4CFE-903E-90B45C40DE25}"/>
              </a:ext>
            </a:extLst>
          </p:cNvPr>
          <p:cNvSpPr/>
          <p:nvPr/>
        </p:nvSpPr>
        <p:spPr>
          <a:xfrm>
            <a:off x="3080792" y="2564906"/>
            <a:ext cx="1512169" cy="410190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62E2CA4-99EB-4BA3-943B-9FEDCC4C26D0}"/>
              </a:ext>
            </a:extLst>
          </p:cNvPr>
          <p:cNvSpPr/>
          <p:nvPr/>
        </p:nvSpPr>
        <p:spPr>
          <a:xfrm>
            <a:off x="3080792" y="4602986"/>
            <a:ext cx="1512169" cy="410190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2C05C2F-C028-4601-901A-3D3D6A5098BE}"/>
              </a:ext>
            </a:extLst>
          </p:cNvPr>
          <p:cNvCxnSpPr>
            <a:cxnSpLocks/>
            <a:stCxn id="8" idx="6"/>
            <a:endCxn id="17" idx="1"/>
          </p:cNvCxnSpPr>
          <p:nvPr/>
        </p:nvCxnSpPr>
        <p:spPr>
          <a:xfrm>
            <a:off x="4592961" y="2770001"/>
            <a:ext cx="158417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5D6E79E-3309-4CD5-BADC-B3E51EA273C4}"/>
              </a:ext>
            </a:extLst>
          </p:cNvPr>
          <p:cNvCxnSpPr>
            <a:cxnSpLocks/>
            <a:stCxn id="10" idx="6"/>
            <a:endCxn id="19" idx="1"/>
          </p:cNvCxnSpPr>
          <p:nvPr/>
        </p:nvCxnSpPr>
        <p:spPr>
          <a:xfrm>
            <a:off x="4592961" y="4808081"/>
            <a:ext cx="1584175" cy="13003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4B93A5-E17B-4044-A48F-C707FE1E1A59}"/>
              </a:ext>
            </a:extLst>
          </p:cNvPr>
          <p:cNvSpPr txBox="1"/>
          <p:nvPr/>
        </p:nvSpPr>
        <p:spPr>
          <a:xfrm>
            <a:off x="6177136" y="2491110"/>
            <a:ext cx="2664296" cy="557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SSID :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S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ervice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S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et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Id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entifier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      - </a:t>
            </a: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네트워크 이름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C95AB1-0A9A-450B-9AD8-6B9A195C42C1}"/>
              </a:ext>
            </a:extLst>
          </p:cNvPr>
          <p:cNvSpPr txBox="1"/>
          <p:nvPr/>
        </p:nvSpPr>
        <p:spPr>
          <a:xfrm>
            <a:off x="6177136" y="4399154"/>
            <a:ext cx="2664296" cy="1077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WPA : </a:t>
            </a:r>
            <a:r>
              <a:rPr lang="en-US" altLang="ko-KR" sz="1200" dirty="0" err="1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W</a:t>
            </a: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P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rotected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A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ccess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네트워크 비밀번호를 설정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네트워크 접속 시 인증 절차를 요구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초기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PW : #234567!</a:t>
            </a:r>
            <a:endParaRPr lang="ko-KR" altLang="en-US" sz="1200" dirty="0"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29361BB-C8D7-40FA-B203-C51BC11BF904}"/>
              </a:ext>
            </a:extLst>
          </p:cNvPr>
          <p:cNvSpPr/>
          <p:nvPr/>
        </p:nvSpPr>
        <p:spPr>
          <a:xfrm>
            <a:off x="3080792" y="4098930"/>
            <a:ext cx="1512169" cy="410190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9D7222C-E3BE-46B6-94B7-66D29823E72F}"/>
              </a:ext>
            </a:extLst>
          </p:cNvPr>
          <p:cNvCxnSpPr>
            <a:cxnSpLocks/>
            <a:stCxn id="22" idx="6"/>
            <a:endCxn id="26" idx="1"/>
          </p:cNvCxnSpPr>
          <p:nvPr/>
        </p:nvCxnSpPr>
        <p:spPr>
          <a:xfrm flipV="1">
            <a:off x="4592961" y="3726980"/>
            <a:ext cx="1584175" cy="57704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D0AE6F9-D359-41CC-A27C-15FD9073FB31}"/>
              </a:ext>
            </a:extLst>
          </p:cNvPr>
          <p:cNvSpPr txBox="1"/>
          <p:nvPr/>
        </p:nvSpPr>
        <p:spPr>
          <a:xfrm>
            <a:off x="6177136" y="3448089"/>
            <a:ext cx="3230116" cy="557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암호화 방법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: </a:t>
            </a: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네트워크의 암호화 방법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비밀번호가 있다면 일반적으로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WPA2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를 사용</a:t>
            </a:r>
          </a:p>
        </p:txBody>
      </p:sp>
    </p:spTree>
    <p:extLst>
      <p:ext uri="{BB962C8B-B14F-4D97-AF65-F5344CB8AC3E}">
        <p14:creationId xmlns:p14="http://schemas.microsoft.com/office/powerpoint/2010/main" val="1717964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AD8E79-5294-49DA-9377-1019C68B2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36" y="1772816"/>
            <a:ext cx="5707451" cy="3744416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C9EC3DD-04A3-4E81-8846-14A319B0D7F7}"/>
              </a:ext>
            </a:extLst>
          </p:cNvPr>
          <p:cNvSpPr/>
          <p:nvPr/>
        </p:nvSpPr>
        <p:spPr>
          <a:xfrm>
            <a:off x="2648744" y="3738892"/>
            <a:ext cx="2304256" cy="1058262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4EB7A-5BE5-4769-B1C2-2F3515954980}"/>
              </a:ext>
            </a:extLst>
          </p:cNvPr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DDNS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5FAF844-036A-4D23-BDE4-E5D6A288DBF2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4615550" y="3119108"/>
            <a:ext cx="1777610" cy="77476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D031F9-2006-47F8-B3C1-8223E5A905A4}"/>
              </a:ext>
            </a:extLst>
          </p:cNvPr>
          <p:cNvSpPr txBox="1"/>
          <p:nvPr/>
        </p:nvSpPr>
        <p:spPr>
          <a:xfrm>
            <a:off x="6465167" y="2564904"/>
            <a:ext cx="3014111" cy="77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DDNS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: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D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ynamic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D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omain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N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ame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S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ystem</a:t>
            </a:r>
          </a:p>
          <a:p>
            <a:pPr marL="171450" indent="-171450" latinLnBrk="0">
              <a:lnSpc>
                <a:spcPct val="120000"/>
              </a:lnSpc>
              <a:spcBef>
                <a:spcPts val="300"/>
              </a:spcBef>
              <a:buFontTx/>
              <a:buChar char="-"/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외부에서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라우터 내부의 네트워크로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  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접속하기 위한 도메인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*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주소 설정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54084-A28A-4051-9E7E-F566CF39D843}"/>
              </a:ext>
            </a:extLst>
          </p:cNvPr>
          <p:cNvSpPr txBox="1"/>
          <p:nvPr/>
        </p:nvSpPr>
        <p:spPr>
          <a:xfrm>
            <a:off x="6028006" y="4505763"/>
            <a:ext cx="3888431" cy="263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*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도메인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: 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지정된 </a:t>
            </a:r>
            <a:r>
              <a:rPr lang="en-US" altLang="ko-KR" sz="1000" dirty="0">
                <a:latin typeface="+mn-ea"/>
                <a:ea typeface="+mn-ea"/>
                <a:cs typeface="Arial" pitchFamily="34" charset="0"/>
              </a:rPr>
              <a:t>IP</a:t>
            </a:r>
            <a:r>
              <a:rPr lang="ko-KR" altLang="en-US" sz="1000" dirty="0">
                <a:latin typeface="+mn-ea"/>
                <a:ea typeface="+mn-ea"/>
                <a:cs typeface="Arial" pitchFamily="34" charset="0"/>
              </a:rPr>
              <a:t>주소를 알기 쉬운 문자로 변환한 인터넷 상의 주소</a:t>
            </a:r>
          </a:p>
        </p:txBody>
      </p:sp>
    </p:spTree>
    <p:extLst>
      <p:ext uri="{BB962C8B-B14F-4D97-AF65-F5344CB8AC3E}">
        <p14:creationId xmlns:p14="http://schemas.microsoft.com/office/powerpoint/2010/main" val="791846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en-US" b="1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포트포워딩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59D53B-10E8-49CE-8992-8A9D62D69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34" y="1355646"/>
            <a:ext cx="5448885" cy="4665644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9A3B1A0-11CB-4AFE-8557-641C8BFBC4FF}"/>
              </a:ext>
            </a:extLst>
          </p:cNvPr>
          <p:cNvSpPr/>
          <p:nvPr/>
        </p:nvSpPr>
        <p:spPr>
          <a:xfrm>
            <a:off x="1496617" y="4077072"/>
            <a:ext cx="4464496" cy="1368152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0B5F6B9-25BC-4F8A-968C-67565D8964F0}"/>
              </a:ext>
            </a:extLst>
          </p:cNvPr>
          <p:cNvCxnSpPr>
            <a:cxnSpLocks/>
            <a:stCxn id="6" idx="7"/>
            <a:endCxn id="9" idx="1"/>
          </p:cNvCxnSpPr>
          <p:nvPr/>
        </p:nvCxnSpPr>
        <p:spPr>
          <a:xfrm flipV="1">
            <a:off x="5307303" y="1772817"/>
            <a:ext cx="831010" cy="250461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526253-7815-49F0-9D26-7B91D67E2240}"/>
              </a:ext>
            </a:extLst>
          </p:cNvPr>
          <p:cNvGrpSpPr/>
          <p:nvPr/>
        </p:nvGrpSpPr>
        <p:grpSpPr>
          <a:xfrm>
            <a:off x="6138313" y="1161527"/>
            <a:ext cx="3312368" cy="4914374"/>
            <a:chOff x="6138313" y="1161527"/>
            <a:chExt cx="3312368" cy="491437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C85DD0-A815-4218-9EAC-938AF8737580}"/>
                </a:ext>
              </a:extLst>
            </p:cNvPr>
            <p:cNvSpPr txBox="1"/>
            <p:nvPr/>
          </p:nvSpPr>
          <p:spPr>
            <a:xfrm>
              <a:off x="6138313" y="1161527"/>
              <a:ext cx="3312368" cy="1222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ko-KR" altLang="en-US" sz="1200" dirty="0" err="1">
                  <a:latin typeface="+mn-ea"/>
                  <a:ea typeface="+mn-ea"/>
                  <a:cs typeface="Arial" pitchFamily="34" charset="0"/>
                </a:rPr>
                <a:t>포트포워딩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(Port Forwarding)</a:t>
              </a:r>
            </a:p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패킷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*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이 라우터나 방화벽과 같은 네트워크 게이트웨이를 가로지르는 동안 하나의 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IP 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주소와 포트 번호 결합의 통신 요청을 다른 곳으로 넘겨주는 </a:t>
              </a:r>
              <a:r>
                <a:rPr lang="ko-KR" altLang="en-US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네트워크 주소 변환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(NAT*)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의 응용</a:t>
              </a:r>
              <a:endParaRPr lang="en-US" altLang="ko-KR" sz="1200" dirty="0">
                <a:latin typeface="+mn-ea"/>
                <a:ea typeface="+mn-ea"/>
                <a:cs typeface="Arial" pitchFamily="34" charset="0"/>
              </a:endParaRP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A43664E1-7299-4224-8142-DF386E799942}"/>
                </a:ext>
              </a:extLst>
            </p:cNvPr>
            <p:cNvGrpSpPr/>
            <p:nvPr/>
          </p:nvGrpSpPr>
          <p:grpSpPr>
            <a:xfrm>
              <a:off x="6138313" y="2979879"/>
              <a:ext cx="3312368" cy="3096022"/>
              <a:chOff x="6138313" y="2979879"/>
              <a:chExt cx="3312368" cy="309602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534B56-37F0-485D-B3B3-1E4F05FD149F}"/>
                  </a:ext>
                </a:extLst>
              </p:cNvPr>
              <p:cNvSpPr txBox="1"/>
              <p:nvPr/>
            </p:nvSpPr>
            <p:spPr>
              <a:xfrm>
                <a:off x="6138313" y="2979879"/>
                <a:ext cx="3312368" cy="1710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*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패킷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(Packet) :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컴퓨터 네트워크가 전달하는 데이터의 형식화된 블록</a:t>
                </a:r>
                <a:endParaRPr lang="en-US" altLang="ko-KR" sz="1000" dirty="0">
                  <a:latin typeface="+mn-ea"/>
                  <a:ea typeface="+mn-ea"/>
                  <a:cs typeface="Arial" pitchFamily="34" charset="0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-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데이터가 패킷으로 형식이 바뀔 때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,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네트워크는 장문 메시지를 더 </a:t>
                </a:r>
                <a:r>
                  <a:rPr lang="ko-KR" altLang="en-US" sz="1000" dirty="0">
                    <a:solidFill>
                      <a:srgbClr val="FF0000"/>
                    </a:solidFill>
                    <a:latin typeface="+mn-ea"/>
                    <a:ea typeface="+mn-ea"/>
                    <a:cs typeface="Arial" pitchFamily="34" charset="0"/>
                  </a:rPr>
                  <a:t>효과적이고 신뢰성 있게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보낼 수 있다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.</a:t>
                </a:r>
              </a:p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endParaRPr lang="en-US" altLang="ko-KR" sz="1000" dirty="0">
                  <a:latin typeface="+mn-ea"/>
                  <a:ea typeface="+mn-ea"/>
                  <a:cs typeface="Arial" pitchFamily="34" charset="0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*NAT(</a:t>
                </a:r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  <a:ea typeface="+mn-ea"/>
                    <a:cs typeface="Arial" pitchFamily="34" charset="0"/>
                  </a:rPr>
                  <a:t>N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etwork </a:t>
                </a:r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  <a:ea typeface="+mn-ea"/>
                    <a:cs typeface="Arial" pitchFamily="34" charset="0"/>
                  </a:rPr>
                  <a:t>A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ddress </a:t>
                </a:r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  <a:ea typeface="+mn-ea"/>
                    <a:cs typeface="Arial" pitchFamily="34" charset="0"/>
                  </a:rPr>
                  <a:t>T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ranslation)</a:t>
                </a:r>
              </a:p>
              <a:p>
                <a:pPr latinLnBrk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-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라우터는 대상 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IP 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주소를 기반으로 하는 공용 네트워크와 개인 네트워크 간에 </a:t>
                </a:r>
                <a:r>
                  <a:rPr lang="en-US" altLang="ko-KR" sz="1000" dirty="0">
                    <a:latin typeface="+mn-ea"/>
                    <a:ea typeface="+mn-ea"/>
                    <a:cs typeface="Arial" pitchFamily="34" charset="0"/>
                  </a:rPr>
                  <a:t>IP </a:t>
                </a:r>
                <a:r>
                  <a:rPr lang="ko-KR" altLang="en-US" sz="1000" dirty="0" err="1">
                    <a:latin typeface="+mn-ea"/>
                    <a:ea typeface="+mn-ea"/>
                    <a:cs typeface="Arial" pitchFamily="34" charset="0"/>
                  </a:rPr>
                  <a:t>데이터그램을</a:t>
                </a:r>
                <a:r>
                  <a:rPr lang="ko-KR" altLang="en-US" sz="1000" dirty="0">
                    <a:latin typeface="+mn-ea"/>
                    <a:ea typeface="+mn-ea"/>
                    <a:cs typeface="Arial" pitchFamily="34" charset="0"/>
                  </a:rPr>
                  <a:t> 라우팅하는 역할</a:t>
                </a:r>
                <a:endParaRPr lang="en-US" altLang="ko-KR" sz="1000" dirty="0">
                  <a:latin typeface="+mn-ea"/>
                  <a:ea typeface="+mn-ea"/>
                  <a:cs typeface="Arial" pitchFamily="34" charset="0"/>
                </a:endParaRPr>
              </a:p>
            </p:txBody>
          </p:sp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EB9D0DB1-89B7-4BC5-979A-B3EED389B0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7303" y="4814547"/>
                <a:ext cx="2607185" cy="126135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6261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76470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방화벽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87324F-CB7F-4C79-A812-60358CA95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36" y="1344543"/>
            <a:ext cx="5293344" cy="4604737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BA223FF7-88F9-43A5-86A6-7AD16619AFD3}"/>
              </a:ext>
            </a:extLst>
          </p:cNvPr>
          <p:cNvSpPr/>
          <p:nvPr/>
        </p:nvSpPr>
        <p:spPr>
          <a:xfrm>
            <a:off x="3238672" y="4437114"/>
            <a:ext cx="1800200" cy="648072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B8BAD3A-F9DB-4B99-A3DE-E2492697B4B8}"/>
              </a:ext>
            </a:extLst>
          </p:cNvPr>
          <p:cNvCxnSpPr>
            <a:cxnSpLocks/>
            <a:stCxn id="8" idx="7"/>
            <a:endCxn id="10" idx="1"/>
          </p:cNvCxnSpPr>
          <p:nvPr/>
        </p:nvCxnSpPr>
        <p:spPr>
          <a:xfrm flipV="1">
            <a:off x="4775239" y="2051707"/>
            <a:ext cx="1445553" cy="248031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82AE020-B7DF-40CC-BAA0-A4F2D3EF7C4C}"/>
              </a:ext>
            </a:extLst>
          </p:cNvPr>
          <p:cNvSpPr txBox="1"/>
          <p:nvPr/>
        </p:nvSpPr>
        <p:spPr>
          <a:xfrm>
            <a:off x="6220792" y="1772816"/>
            <a:ext cx="3014111" cy="557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방화벽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: Enable Web Access from WAN*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외부접속 차단 설정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(ON/OFF)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839682D-D493-4B6A-AF3A-3FD57561DB7D}"/>
              </a:ext>
            </a:extLst>
          </p:cNvPr>
          <p:cNvGrpSpPr/>
          <p:nvPr/>
        </p:nvGrpSpPr>
        <p:grpSpPr>
          <a:xfrm>
            <a:off x="5884056" y="2882689"/>
            <a:ext cx="3407457" cy="2966181"/>
            <a:chOff x="5884056" y="2882689"/>
            <a:chExt cx="3407457" cy="29661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851152-4250-4EA6-93D7-3791E8105061}"/>
                </a:ext>
              </a:extLst>
            </p:cNvPr>
            <p:cNvSpPr txBox="1"/>
            <p:nvPr/>
          </p:nvSpPr>
          <p:spPr>
            <a:xfrm>
              <a:off x="6192119" y="2882689"/>
              <a:ext cx="3014111" cy="932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WAN :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W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ide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A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rea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N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etwork</a:t>
              </a:r>
            </a:p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- </a:t>
              </a:r>
              <a:r>
                <a:rPr lang="ko-KR" altLang="en-US" sz="1000" dirty="0">
                  <a:latin typeface="+mn-ea"/>
                  <a:ea typeface="+mn-ea"/>
                  <a:cs typeface="Arial" pitchFamily="34" charset="0"/>
                </a:rPr>
                <a:t>광범위한 지역 단위로 구성하는 네트워크</a:t>
              </a:r>
              <a:endParaRPr lang="en-US" altLang="ko-KR" sz="1000" dirty="0">
                <a:latin typeface="+mn-ea"/>
                <a:ea typeface="+mn-ea"/>
                <a:cs typeface="Arial" pitchFamily="34" charset="0"/>
              </a:endParaRPr>
            </a:p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LAN :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L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ocal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A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rea </a:t>
              </a:r>
              <a:r>
                <a:rPr lang="en-US" altLang="ko-KR" sz="10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N</a:t>
              </a: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etwork</a:t>
              </a:r>
            </a:p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- </a:t>
              </a:r>
              <a:r>
                <a:rPr lang="ko-KR" altLang="en-US" sz="1000" dirty="0">
                  <a:latin typeface="+mn-ea"/>
                  <a:ea typeface="+mn-ea"/>
                  <a:cs typeface="Arial" pitchFamily="34" charset="0"/>
                </a:rPr>
                <a:t>사용자가 포함된 지역 네트워크</a:t>
              </a:r>
              <a:endParaRPr lang="en-US" altLang="ko-KR" sz="1000" dirty="0">
                <a:latin typeface="+mn-ea"/>
                <a:ea typeface="+mn-ea"/>
                <a:cs typeface="Arial" pitchFamily="34" charset="0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7F0AE6E2-C36A-465E-A6CF-8BD6918BE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4056" y="4048196"/>
              <a:ext cx="1628323" cy="142590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E0CD6B1-B1CC-4C2D-A2D1-6A1D7487F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99175" y="4048196"/>
              <a:ext cx="1592338" cy="142590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1D0896-427C-41FE-8AC3-573EB440DC96}"/>
                </a:ext>
              </a:extLst>
            </p:cNvPr>
            <p:cNvSpPr txBox="1"/>
            <p:nvPr/>
          </p:nvSpPr>
          <p:spPr>
            <a:xfrm>
              <a:off x="6432598" y="5585400"/>
              <a:ext cx="532408" cy="263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LAN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799729-24B5-42A2-83D3-60D9CB2CB4F5}"/>
                </a:ext>
              </a:extLst>
            </p:cNvPr>
            <p:cNvSpPr txBox="1"/>
            <p:nvPr/>
          </p:nvSpPr>
          <p:spPr>
            <a:xfrm>
              <a:off x="8189198" y="5585400"/>
              <a:ext cx="612292" cy="263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000" dirty="0">
                  <a:latin typeface="+mn-ea"/>
                  <a:ea typeface="+mn-ea"/>
                  <a:cs typeface="Arial" pitchFamily="34" charset="0"/>
                </a:rPr>
                <a:t>WAN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7267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LTE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모뎀 설정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8570F7-9BDB-43B4-B332-201E121A1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2" y="1844826"/>
            <a:ext cx="5843865" cy="3600401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D695CCA0-68E6-422D-ADDB-9C02238E64D9}"/>
              </a:ext>
            </a:extLst>
          </p:cNvPr>
          <p:cNvSpPr/>
          <p:nvPr/>
        </p:nvSpPr>
        <p:spPr>
          <a:xfrm>
            <a:off x="2576738" y="3645024"/>
            <a:ext cx="1728193" cy="648072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EA76679-8ABB-4CB1-AFAC-CBBCC4BF0EB1}"/>
              </a:ext>
            </a:extLst>
          </p:cNvPr>
          <p:cNvCxnSpPr>
            <a:cxnSpLocks/>
            <a:stCxn id="6" idx="6"/>
            <a:endCxn id="9" idx="1"/>
          </p:cNvCxnSpPr>
          <p:nvPr/>
        </p:nvCxnSpPr>
        <p:spPr>
          <a:xfrm flipV="1">
            <a:off x="4304931" y="3449926"/>
            <a:ext cx="2088229" cy="5191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EEFC9BD-7390-4B37-8F01-C4C496F059DB}"/>
              </a:ext>
            </a:extLst>
          </p:cNvPr>
          <p:cNvSpPr txBox="1"/>
          <p:nvPr/>
        </p:nvSpPr>
        <p:spPr>
          <a:xfrm>
            <a:off x="6393160" y="2780928"/>
            <a:ext cx="3384376" cy="133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LTE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모뎀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, APN(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A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ccess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P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oint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N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ame)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설정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어떤 타입의 네트워크로 연결로 만들지를 결정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1)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어떤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IP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주소를 무선 장치에 할당해야 하는 지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,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2)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어떤 보안 방법을 사용해야 하는 지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3)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어떻게 사설 고객 네트워크에 연결해야 하는 지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746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관리자 설정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71E3AF-B3D3-4576-966A-D6E86DE0B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91" y="1517432"/>
            <a:ext cx="5930671" cy="4248472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7D7B212-4FA5-400B-9878-7B0778238271}"/>
              </a:ext>
            </a:extLst>
          </p:cNvPr>
          <p:cNvSpPr/>
          <p:nvPr/>
        </p:nvSpPr>
        <p:spPr>
          <a:xfrm>
            <a:off x="3152801" y="3284985"/>
            <a:ext cx="1944216" cy="1224136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36594C3-2CE9-485E-8785-7E4B715902A4}"/>
              </a:ext>
            </a:extLst>
          </p:cNvPr>
          <p:cNvCxnSpPr>
            <a:cxnSpLocks/>
            <a:stCxn id="6" idx="6"/>
            <a:endCxn id="12" idx="1"/>
          </p:cNvCxnSpPr>
          <p:nvPr/>
        </p:nvCxnSpPr>
        <p:spPr>
          <a:xfrm flipV="1">
            <a:off x="5097017" y="3333871"/>
            <a:ext cx="1478549" cy="56318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1E8788-09A9-439D-A814-3E61DE92CF8C}"/>
              </a:ext>
            </a:extLst>
          </p:cNvPr>
          <p:cNvSpPr txBox="1"/>
          <p:nvPr/>
        </p:nvSpPr>
        <p:spPr>
          <a:xfrm>
            <a:off x="6575566" y="2924944"/>
            <a:ext cx="3014111" cy="81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LTE Router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상태 확인 접속을 위한 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ID / Password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설정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초기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ID : </a:t>
            </a:r>
            <a:r>
              <a:rPr lang="en-US" altLang="ko-KR" sz="1200" u="sng" dirty="0">
                <a:latin typeface="+mn-ea"/>
                <a:ea typeface="+mn-ea"/>
                <a:cs typeface="Arial" pitchFamily="34" charset="0"/>
              </a:rPr>
              <a:t>admin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, PW : </a:t>
            </a:r>
            <a:r>
              <a:rPr lang="en-US" altLang="ko-KR" sz="1200" u="sng" dirty="0">
                <a:latin typeface="+mn-ea"/>
                <a:ea typeface="+mn-ea"/>
                <a:cs typeface="Arial" pitchFamily="34" charset="0"/>
              </a:rPr>
              <a:t>1234admin#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 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826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라우터 상태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09B33F-CF57-4C44-BD19-5FD0C73B3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33" y="1344544"/>
            <a:ext cx="5940234" cy="5160580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4E438B17-89FA-499F-B6DF-AC3D50C6EE82}"/>
              </a:ext>
            </a:extLst>
          </p:cNvPr>
          <p:cNvSpPr/>
          <p:nvPr/>
        </p:nvSpPr>
        <p:spPr>
          <a:xfrm>
            <a:off x="4160912" y="5157192"/>
            <a:ext cx="648072" cy="456022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C86E539-80E3-4CA0-8DCE-4998D33A5E40}"/>
              </a:ext>
            </a:extLst>
          </p:cNvPr>
          <p:cNvSpPr/>
          <p:nvPr/>
        </p:nvSpPr>
        <p:spPr>
          <a:xfrm>
            <a:off x="4160912" y="5709282"/>
            <a:ext cx="1008112" cy="456022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84DF6D6-6C12-48CD-A0B3-3557868E21E7}"/>
              </a:ext>
            </a:extLst>
          </p:cNvPr>
          <p:cNvCxnSpPr>
            <a:cxnSpLocks/>
            <a:stCxn id="9" idx="7"/>
            <a:endCxn id="18" idx="1"/>
          </p:cNvCxnSpPr>
          <p:nvPr/>
        </p:nvCxnSpPr>
        <p:spPr>
          <a:xfrm flipV="1">
            <a:off x="4714076" y="2239695"/>
            <a:ext cx="1850211" cy="298428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32C9913-57F6-4D9E-9616-5AC3307B2D23}"/>
              </a:ext>
            </a:extLst>
          </p:cNvPr>
          <p:cNvCxnSpPr>
            <a:cxnSpLocks/>
            <a:stCxn id="10" idx="7"/>
            <a:endCxn id="19" idx="1"/>
          </p:cNvCxnSpPr>
          <p:nvPr/>
        </p:nvCxnSpPr>
        <p:spPr>
          <a:xfrm flipV="1">
            <a:off x="5021389" y="4993534"/>
            <a:ext cx="1542897" cy="7825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85AAB6F-E58A-4E62-9F98-4EF1C9666EBF}"/>
              </a:ext>
            </a:extLst>
          </p:cNvPr>
          <p:cNvGrpSpPr/>
          <p:nvPr/>
        </p:nvGrpSpPr>
        <p:grpSpPr>
          <a:xfrm>
            <a:off x="6465168" y="1609169"/>
            <a:ext cx="3217540" cy="3793291"/>
            <a:chOff x="6465168" y="1609169"/>
            <a:chExt cx="3217540" cy="379329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7639843-5D9E-482C-AB01-14429185E80E}"/>
                </a:ext>
              </a:extLst>
            </p:cNvPr>
            <p:cNvSpPr txBox="1"/>
            <p:nvPr/>
          </p:nvSpPr>
          <p:spPr>
            <a:xfrm>
              <a:off x="6564287" y="1609169"/>
              <a:ext cx="3014111" cy="1261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RSSI (</a:t>
              </a:r>
              <a:r>
                <a:rPr lang="en-US" altLang="ko-KR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R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eceived </a:t>
              </a:r>
              <a:r>
                <a:rPr lang="en-US" altLang="ko-KR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S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ignal </a:t>
              </a:r>
              <a:r>
                <a:rPr lang="en-US" altLang="ko-KR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S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trength </a:t>
              </a:r>
              <a:r>
                <a:rPr lang="en-US" altLang="ko-KR" sz="1200" dirty="0">
                  <a:solidFill>
                    <a:srgbClr val="FF0000"/>
                  </a:solidFill>
                  <a:latin typeface="+mn-ea"/>
                  <a:ea typeface="+mn-ea"/>
                  <a:cs typeface="Arial" pitchFamily="34" charset="0"/>
                </a:rPr>
                <a:t>I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ndicator)</a:t>
              </a:r>
            </a:p>
            <a:p>
              <a:pPr marL="171450" indent="-171450" latinLnBrk="0">
                <a:lnSpc>
                  <a:spcPct val="120000"/>
                </a:lnSpc>
                <a:spcBef>
                  <a:spcPts val="300"/>
                </a:spcBef>
                <a:buFontTx/>
                <a:buChar char="-"/>
              </a:pP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간단하게 측정하고 확인할 수 있는 수신 전파 신호의 세기</a:t>
              </a:r>
              <a:endParaRPr lang="en-US" altLang="ko-KR" sz="1200" dirty="0">
                <a:latin typeface="+mn-ea"/>
                <a:ea typeface="+mn-ea"/>
                <a:cs typeface="Arial" pitchFamily="34" charset="0"/>
              </a:endParaRPr>
            </a:p>
            <a:p>
              <a:pPr marL="171450" indent="-171450" latinLnBrk="0">
                <a:lnSpc>
                  <a:spcPct val="120000"/>
                </a:lnSpc>
                <a:spcBef>
                  <a:spcPts val="300"/>
                </a:spcBef>
                <a:buFontTx/>
                <a:buChar char="-"/>
              </a:pP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송신기와 수신기 장치 사이의 거리를 추정하는 데 사용할 수 있다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04E26D-BE9C-445D-A9CD-61C77B68822F}"/>
                </a:ext>
              </a:extLst>
            </p:cNvPr>
            <p:cNvSpPr txBox="1"/>
            <p:nvPr/>
          </p:nvSpPr>
          <p:spPr>
            <a:xfrm>
              <a:off x="6564286" y="4584607"/>
              <a:ext cx="3014111" cy="817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LAN 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포트 연결 확인</a:t>
              </a:r>
              <a:endParaRPr lang="en-US" altLang="ko-KR" sz="1200" dirty="0">
                <a:latin typeface="+mn-ea"/>
                <a:ea typeface="+mn-ea"/>
                <a:cs typeface="Arial" pitchFamily="34" charset="0"/>
              </a:endParaRPr>
            </a:p>
            <a:p>
              <a:pPr marL="171450" indent="-171450" latinLnBrk="0">
                <a:lnSpc>
                  <a:spcPct val="120000"/>
                </a:lnSpc>
                <a:spcBef>
                  <a:spcPts val="300"/>
                </a:spcBef>
                <a:buFontTx/>
                <a:buChar char="-"/>
              </a:pPr>
              <a:r>
                <a:rPr lang="en-US" altLang="ko-KR" sz="1200" dirty="0" err="1">
                  <a:latin typeface="+mn-ea"/>
                  <a:ea typeface="+mn-ea"/>
                  <a:cs typeface="Arial" pitchFamily="34" charset="0"/>
                </a:rPr>
                <a:t>Connetcted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 : 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연결됨</a:t>
              </a:r>
              <a:endParaRPr lang="en-US" altLang="ko-KR" sz="1200" dirty="0">
                <a:latin typeface="+mn-ea"/>
                <a:ea typeface="+mn-ea"/>
                <a:cs typeface="Arial" pitchFamily="34" charset="0"/>
              </a:endParaRPr>
            </a:p>
            <a:p>
              <a:pPr marL="171450" indent="-171450" latinLnBrk="0">
                <a:lnSpc>
                  <a:spcPct val="120000"/>
                </a:lnSpc>
                <a:spcBef>
                  <a:spcPts val="300"/>
                </a:spcBef>
                <a:buFontTx/>
                <a:buChar char="-"/>
              </a:pP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Not </a:t>
              </a:r>
              <a:r>
                <a:rPr lang="en-US" altLang="ko-KR" sz="1200" dirty="0" err="1">
                  <a:latin typeface="+mn-ea"/>
                  <a:ea typeface="+mn-ea"/>
                  <a:cs typeface="Arial" pitchFamily="34" charset="0"/>
                </a:rPr>
                <a:t>connetced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 : </a:t>
              </a:r>
              <a:r>
                <a:rPr lang="ko-KR" altLang="en-US" sz="1200" dirty="0" err="1">
                  <a:latin typeface="+mn-ea"/>
                  <a:ea typeface="+mn-ea"/>
                  <a:cs typeface="Arial" pitchFamily="34" charset="0"/>
                </a:rPr>
                <a:t>연결안됨</a:t>
              </a:r>
              <a:endParaRPr lang="en-US" altLang="ko-KR" sz="1200" dirty="0">
                <a:latin typeface="+mn-ea"/>
                <a:ea typeface="+mn-ea"/>
                <a:cs typeface="Arial" pitchFamily="34" charset="0"/>
              </a:endParaRPr>
            </a:p>
          </p:txBody>
        </p:sp>
        <p:pic>
          <p:nvPicPr>
            <p:cNvPr id="1026" name="Picture 2" descr="https://k.kakaocdn.net/dn/cq5kMA/btrAoIcmM47/gmOZc6jK7mJLtEjJJTVqvK/img.png">
              <a:extLst>
                <a:ext uri="{FF2B5EF4-FFF2-40B4-BE49-F238E27FC236}">
                  <a16:creationId xmlns:a16="http://schemas.microsoft.com/office/drawing/2014/main" id="{6CD23670-752D-4ADC-A3A3-15A909F6D5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5168" y="3140968"/>
              <a:ext cx="3217540" cy="1238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40558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b="1" dirty="0" err="1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WiFi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상태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4DD59B-55B2-46BB-AD63-62595C969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0" y="1357913"/>
            <a:ext cx="5760640" cy="5016755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EB54B5DB-6326-45BE-B47A-B15164BE34E1}"/>
              </a:ext>
            </a:extLst>
          </p:cNvPr>
          <p:cNvSpPr/>
          <p:nvPr/>
        </p:nvSpPr>
        <p:spPr>
          <a:xfrm>
            <a:off x="3872880" y="2564904"/>
            <a:ext cx="1152128" cy="648072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393CAC4-4E90-4A27-AAA2-EAB533EF144F}"/>
              </a:ext>
            </a:extLst>
          </p:cNvPr>
          <p:cNvCxnSpPr>
            <a:cxnSpLocks/>
            <a:stCxn id="8" idx="6"/>
            <a:endCxn id="12" idx="1"/>
          </p:cNvCxnSpPr>
          <p:nvPr/>
        </p:nvCxnSpPr>
        <p:spPr>
          <a:xfrm>
            <a:off x="5025008" y="2888940"/>
            <a:ext cx="1236797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6D69BB-DBF3-4826-AA0D-7B6D9F134108}"/>
              </a:ext>
            </a:extLst>
          </p:cNvPr>
          <p:cNvSpPr txBox="1"/>
          <p:nvPr/>
        </p:nvSpPr>
        <p:spPr>
          <a:xfrm>
            <a:off x="6261805" y="2740085"/>
            <a:ext cx="3014111" cy="29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 err="1">
                <a:latin typeface="+mn-ea"/>
                <a:ea typeface="+mn-ea"/>
                <a:cs typeface="Arial" pitchFamily="34" charset="0"/>
              </a:rPr>
              <a:t>WiFi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사용여부 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: ON/OFF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제어 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253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접속 단말 상태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843B5F-01FB-4645-B98D-9FA6093C3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23" y="1308732"/>
            <a:ext cx="5546097" cy="4888867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F022B2F-C703-4658-AA64-72F695277C66}"/>
              </a:ext>
            </a:extLst>
          </p:cNvPr>
          <p:cNvSpPr/>
          <p:nvPr/>
        </p:nvSpPr>
        <p:spPr>
          <a:xfrm>
            <a:off x="2288704" y="2348880"/>
            <a:ext cx="3528392" cy="1080120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F58B55D-B42D-4A22-ADCE-FFF176542059}"/>
              </a:ext>
            </a:extLst>
          </p:cNvPr>
          <p:cNvCxnSpPr>
            <a:cxnSpLocks/>
            <a:stCxn id="6" idx="6"/>
            <a:endCxn id="9" idx="1"/>
          </p:cNvCxnSpPr>
          <p:nvPr/>
        </p:nvCxnSpPr>
        <p:spPr>
          <a:xfrm>
            <a:off x="5817096" y="2888940"/>
            <a:ext cx="44470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4BC127-FA2F-4545-BD06-F68B4943C997}"/>
              </a:ext>
            </a:extLst>
          </p:cNvPr>
          <p:cNvSpPr txBox="1"/>
          <p:nvPr/>
        </p:nvSpPr>
        <p:spPr>
          <a:xfrm>
            <a:off x="6261805" y="2740085"/>
            <a:ext cx="3014111" cy="29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현재 라우터와 연결된 장치들 목록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566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직선 연결선 30"/>
          <p:cNvCxnSpPr/>
          <p:nvPr/>
        </p:nvCxnSpPr>
        <p:spPr>
          <a:xfrm>
            <a:off x="452437" y="660400"/>
            <a:ext cx="902684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2723" y="213508"/>
            <a:ext cx="5448885" cy="450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신형 라우터 카테고리 설명</a:t>
            </a:r>
            <a:endParaRPr lang="en-US" altLang="ko-KR" sz="2000" b="1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476" y="836712"/>
            <a:ext cx="9148792" cy="456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29" indent="-171429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LTE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모뎀 상태</a:t>
            </a:r>
            <a:endParaRPr lang="en-US" altLang="ko-KR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F9A84F-FF0E-4912-A9E2-4DA48EE3A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24" y="1328474"/>
            <a:ext cx="5731985" cy="511741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733BE9E-B01B-4702-AD6C-63ED6A20C61A}"/>
              </a:ext>
            </a:extLst>
          </p:cNvPr>
          <p:cNvSpPr/>
          <p:nvPr/>
        </p:nvSpPr>
        <p:spPr>
          <a:xfrm>
            <a:off x="4088904" y="3140968"/>
            <a:ext cx="1080120" cy="504056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56698B6-4C15-43D5-B47A-D59D18875DA0}"/>
              </a:ext>
            </a:extLst>
          </p:cNvPr>
          <p:cNvCxnSpPr>
            <a:cxnSpLocks/>
            <a:stCxn id="6" idx="6"/>
            <a:endCxn id="12" idx="1"/>
          </p:cNvCxnSpPr>
          <p:nvPr/>
        </p:nvCxnSpPr>
        <p:spPr>
          <a:xfrm>
            <a:off x="5169024" y="3392996"/>
            <a:ext cx="1224136" cy="3600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F097105-8917-44E2-B62B-E03B251C92F8}"/>
              </a:ext>
            </a:extLst>
          </p:cNvPr>
          <p:cNvSpPr txBox="1"/>
          <p:nvPr/>
        </p:nvSpPr>
        <p:spPr>
          <a:xfrm>
            <a:off x="6393160" y="3150109"/>
            <a:ext cx="3014111" cy="557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nternational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M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obile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E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quipment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  <a:ea typeface="+mn-ea"/>
                <a:cs typeface="Arial" pitchFamily="34" charset="0"/>
              </a:rPr>
              <a:t>I</a:t>
            </a: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dentity</a:t>
            </a:r>
          </a:p>
          <a:p>
            <a:pPr latinLnBrk="0">
              <a:lnSpc>
                <a:spcPct val="120000"/>
              </a:lnSpc>
              <a:spcBef>
                <a:spcPts val="300"/>
              </a:spcBef>
            </a:pPr>
            <a:r>
              <a:rPr lang="en-US" altLang="ko-KR" sz="1200" dirty="0">
                <a:latin typeface="+mn-ea"/>
                <a:ea typeface="+mn-ea"/>
                <a:cs typeface="Arial" pitchFamily="34" charset="0"/>
              </a:rPr>
              <a:t>- </a:t>
            </a:r>
            <a:r>
              <a:rPr lang="ko-KR" altLang="en-US" sz="1200" dirty="0">
                <a:latin typeface="+mn-ea"/>
                <a:ea typeface="+mn-ea"/>
                <a:cs typeface="Arial" pitchFamily="34" charset="0"/>
              </a:rPr>
              <a:t>국제 휴대전화 식별번호</a:t>
            </a:r>
            <a:endParaRPr lang="en-US" altLang="ko-KR" sz="1200" dirty="0"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213882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1">
      <a:majorFont>
        <a:latin typeface="LG스마트체2.0 Bold"/>
        <a:ea typeface="LG스마트체2.0 Bold"/>
        <a:cs typeface=""/>
      </a:majorFont>
      <a:minorFont>
        <a:latin typeface="LG스마트체2.0 Regular"/>
        <a:ea typeface="LG스마트체2.0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1"/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300"/>
          </a:spcBef>
          <a:defRPr sz="1200" smtClean="0">
            <a:latin typeface="+mn-ea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70819</TotalTime>
  <Words>1328</Words>
  <Application>Microsoft Office PowerPoint</Application>
  <PresentationFormat>A4 용지(210x297mm)</PresentationFormat>
  <Paragraphs>235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LG Smart UI Regular</vt:lpstr>
      <vt:lpstr>굴림</vt:lpstr>
      <vt:lpstr>Arial</vt:lpstr>
      <vt:lpstr>맑은 고딕</vt:lpstr>
      <vt:lpstr>LG스마트체2.0 Regular</vt:lpstr>
      <vt:lpstr>LG스마트체2.0 Bold</vt:lpstr>
      <vt:lpstr>Wingdings</vt:lpstr>
      <vt:lpstr>LG스마트체2.0 SemiBold</vt:lpstr>
      <vt:lpstr>기본 디자인</vt:lpstr>
      <vt:lpstr>LTE 라우터 사용 메뉴얼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FM)기획팀</dc:creator>
  <cp:lastModifiedBy>문민성</cp:lastModifiedBy>
  <cp:revision>5447</cp:revision>
  <cp:lastPrinted>2018-06-08T00:59:30Z</cp:lastPrinted>
  <dcterms:created xsi:type="dcterms:W3CDTF">2010-05-06T04:51:51Z</dcterms:created>
  <dcterms:modified xsi:type="dcterms:W3CDTF">2022-10-26T00:02:16Z</dcterms:modified>
</cp:coreProperties>
</file>