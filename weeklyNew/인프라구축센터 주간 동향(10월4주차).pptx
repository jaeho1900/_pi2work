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5256F5-263F-4B9B-9CD8-31FDF2C97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99D5206-8D4F-4A5D-AFA9-7203A79E6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0B985C-16FB-4D7D-9CFE-9FE3D4281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D9B3D-287D-44D4-BE6F-F27BAD7B3D40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003C4A-D30E-40C8-AD26-51524556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0A5AE2-05D5-496A-9265-0587F92A7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983D-DAAF-4266-A25A-78C6B9AB7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480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55CC53-5F55-4A75-9550-6AC3D7156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15659A-1BD6-4BBD-9D49-5000CCEF4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8524B2-863F-42E5-B1A7-CAECA7A1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D9B3D-287D-44D4-BE6F-F27BAD7B3D40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32FD70-5B57-4004-B637-816D526C3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548822-02A5-43A7-81F9-D586A84FA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983D-DAAF-4266-A25A-78C6B9AB7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977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B0210-9E0D-41AD-9792-0A28BBBC7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3BD64A-45F5-437D-982F-30A748DE9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A6718-B991-4EF2-8925-69ACD013E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D9B3D-287D-44D4-BE6F-F27BAD7B3D40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9F936B-C4CE-4980-B656-837CD8FBB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1FB38A-207F-4C15-A5E8-241AD4CC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983D-DAAF-4266-A25A-78C6B9AB7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918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8FCA71-A6FD-43EA-B6A1-12EEE136E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4300B1-2909-4E44-8201-6143C45055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D10ECF-1FF1-42B2-B018-C30B152C0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DCCF38-8E77-46C1-8757-6341B3A5E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D9B3D-287D-44D4-BE6F-F27BAD7B3D40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D59D9D-34A2-43C4-A797-90479E4A7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B59BC4-151D-4D85-BC20-495E1676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983D-DAAF-4266-A25A-78C6B9AB7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699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C11F60-1834-4F62-9BE5-89E2CE59C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F97E6D-5538-44B7-B90C-FC81F5B17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2A8A7C-17C2-4C8A-9210-3F2B16F64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3F0E6D-CC38-4ACC-9DD8-0D0A9FA42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0C318C0-73C6-46CC-95F8-C19B150756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E23B686-DC44-4055-A903-0E238595D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D9B3D-287D-44D4-BE6F-F27BAD7B3D40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31D1E9-97E2-48B8-A069-CA8641EC6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FFA44F5-6020-48EB-83B2-358B05A66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983D-DAAF-4266-A25A-78C6B9AB7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417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AA109-4496-458B-BFB1-833071449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A10464-39B7-4F05-9D10-3C41F8C46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D9B3D-287D-44D4-BE6F-F27BAD7B3D40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FE572E-B5E5-4ED8-A399-4A7D717D6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B7E490-1797-47EE-B7ED-13C8DF16C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983D-DAAF-4266-A25A-78C6B9AB7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102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1AC87DA-8DFF-41C3-A90D-215A7B3B0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D9B3D-287D-44D4-BE6F-F27BAD7B3D40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9218043-2954-432E-9D81-14E2F4E0D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F318A3-8526-4514-A429-F0F8F1EF5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983D-DAAF-4266-A25A-78C6B9AB7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914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CC368D-D7B1-489E-8AF7-2100F9088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17D527-0D32-4084-9DA0-D05C84F7B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B97B94-E5BF-4E8F-A6FF-2EC3DFA14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FDB0C0-E06B-46CA-8D01-CA6491D53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D9B3D-287D-44D4-BE6F-F27BAD7B3D40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DEF4F6-DC87-419A-B672-AD38C6336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287DF0-6437-477B-ABB4-72B48AD13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983D-DAAF-4266-A25A-78C6B9AB7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963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C0D349-B404-4455-AD7F-1730710B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226054D-880B-4853-AD1E-CBE155BAB1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C0A81C-1FA2-4082-B042-F697CBEA5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02E52A-27B6-4112-89B9-12280058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D9B3D-287D-44D4-BE6F-F27BAD7B3D40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AB210E-0F4A-472C-8E22-4E1677236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C11790-2E77-4BD9-94BF-22CBB0B0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983D-DAAF-4266-A25A-78C6B9AB7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761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284CD-7A03-4F8F-8BF7-74F39A403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338F40-705D-4B7B-A571-A0B6B4AE0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C28D50-A009-4AF4-8ED9-034282AE5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D9B3D-287D-44D4-BE6F-F27BAD7B3D40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3ACB2D-1F3D-4A09-8156-EC1709709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26CC34-F14E-425A-96D4-F39A19A5F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983D-DAAF-4266-A25A-78C6B9AB7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258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1EAB39-7F12-47C7-B23C-8438FC4A6F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836126-0CB8-4486-9A57-B49B0A5A1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317CA4-3AA4-484B-B4C2-74B96E530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D9B3D-287D-44D4-BE6F-F27BAD7B3D40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B18346-8585-4B9A-9F82-817057476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2D5B0A-07C5-420F-9C20-08190AFEC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983D-DAAF-4266-A25A-78C6B9AB7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219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EFEFFF7-372A-4468-A372-6B546198B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018605-A40D-45E5-82F0-BCCAB4427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248380-DE8C-4C7B-8417-C8A7972095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9B3D-287D-44D4-BE6F-F27BAD7B3D40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1AB062-93AC-4CE2-952D-56F025F237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8A3380-EBE6-458A-A3E4-57839286C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1983D-DAAF-4266-A25A-78C6B9AB7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6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CE7A871-C07D-4024-B178-220A0C6A7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706751"/>
              </p:ext>
            </p:extLst>
          </p:nvPr>
        </p:nvGraphicFramePr>
        <p:xfrm>
          <a:off x="695585" y="717388"/>
          <a:ext cx="11141281" cy="45577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5967">
                  <a:extLst>
                    <a:ext uri="{9D8B030D-6E8A-4147-A177-3AD203B41FA5}">
                      <a16:colId xmlns:a16="http://schemas.microsoft.com/office/drawing/2014/main" val="1359777914"/>
                    </a:ext>
                  </a:extLst>
                </a:gridCol>
                <a:gridCol w="1024366">
                  <a:extLst>
                    <a:ext uri="{9D8B030D-6E8A-4147-A177-3AD203B41FA5}">
                      <a16:colId xmlns:a16="http://schemas.microsoft.com/office/drawing/2014/main" val="3658186606"/>
                    </a:ext>
                  </a:extLst>
                </a:gridCol>
                <a:gridCol w="3665032">
                  <a:extLst>
                    <a:ext uri="{9D8B030D-6E8A-4147-A177-3AD203B41FA5}">
                      <a16:colId xmlns:a16="http://schemas.microsoft.com/office/drawing/2014/main" val="1768300239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3296678039"/>
                    </a:ext>
                  </a:extLst>
                </a:gridCol>
                <a:gridCol w="2140416">
                  <a:extLst>
                    <a:ext uri="{9D8B030D-6E8A-4147-A177-3AD203B41FA5}">
                      <a16:colId xmlns:a16="http://schemas.microsoft.com/office/drawing/2014/main" val="2046462633"/>
                    </a:ext>
                  </a:extLst>
                </a:gridCol>
              </a:tblGrid>
              <a:tr h="4429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(7/18~ 7/22)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(7/25~ 7/29)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243847"/>
                  </a:ext>
                </a:extLst>
              </a:tr>
              <a:tr h="38489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차별화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en-US" altLang="ko-KR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확대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절감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148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sng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100" b="0" u="sng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100" b="0" u="sng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sng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10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ko-KR" altLang="en-US" sz="11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 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LF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스퀘어 인천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(7/21)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112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 ’22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년도 화재수신반 조작감시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사업장 구축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입찰 진행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 ~7/22)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EMS (</a:t>
                      </a:r>
                      <a:r>
                        <a:rPr lang="ko-KR" altLang="en-US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</a:t>
                      </a:r>
                      <a:r>
                        <a:rPr lang="ko-KR" altLang="en-US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</a:t>
                      </a:r>
                      <a:r>
                        <a:rPr lang="ko-KR" altLang="en-US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신규견적</a:t>
                      </a: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100" b="0" u="none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 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 (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주차서비스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보안알림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서비스 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28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356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예정  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리뉴얼철거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수도권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하안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영남권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해운대센터점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en-US" altLang="ko-KR" sz="1100" dirty="0">
                          <a:solidFill>
                            <a:srgbClr val="00B05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</a:t>
                      </a:r>
                      <a:r>
                        <a:rPr lang="ko-KR" altLang="en-US" sz="1100" dirty="0">
                          <a:solidFill>
                            <a:srgbClr val="00B05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해운대센터점 </a:t>
                      </a:r>
                      <a:r>
                        <a:rPr lang="en-US" altLang="ko-KR" sz="1100" dirty="0">
                          <a:solidFill>
                            <a:srgbClr val="00B05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RMS </a:t>
                      </a:r>
                      <a:r>
                        <a:rPr lang="ko-KR" altLang="en-US" sz="1100" dirty="0">
                          <a:solidFill>
                            <a:srgbClr val="00B05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 후 </a:t>
                      </a:r>
                      <a:r>
                        <a:rPr lang="en-US" altLang="ko-KR" sz="1100" dirty="0">
                          <a:solidFill>
                            <a:srgbClr val="00B05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SEMS </a:t>
                      </a:r>
                      <a:r>
                        <a:rPr lang="ko-KR" altLang="en-US" sz="1100" dirty="0">
                          <a:solidFill>
                            <a:srgbClr val="00B05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endParaRPr lang="en-US" altLang="ko-KR" sz="1100" dirty="0">
                        <a:solidFill>
                          <a:srgbClr val="00B05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12,222)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.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예상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(37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메를로랩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솔루션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자율형 분산에너지 시스템 기술검토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(~8/12)</a:t>
                      </a:r>
                    </a:p>
                  </a:txBody>
                  <a:tcPr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148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예상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100" b="0" u="non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altLang="en-US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 </a:t>
                      </a:r>
                      <a:r>
                        <a:rPr lang="en-US" altLang="ko-KR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LF </a:t>
                      </a:r>
                      <a:r>
                        <a:rPr lang="ko-KR" altLang="en-US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광양 </a:t>
                      </a:r>
                      <a:r>
                        <a:rPr lang="en-US" altLang="ko-KR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(7/26), LF </a:t>
                      </a:r>
                      <a:r>
                        <a:rPr lang="ko-KR" altLang="en-US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양주</a:t>
                      </a:r>
                      <a:r>
                        <a:rPr lang="en-US" altLang="ko-KR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(7/28)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명동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티마크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그랜드호텔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(7/25) –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내구연한 초과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112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  ’22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년도 화재수신반 조작감시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사업장 구축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(8/1~19)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예상누적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358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예정 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신규구축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구의점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(7/25),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해운대센터점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(7/28)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44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예상누적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12,267)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.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예상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(45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매를로랩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미팅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(8/1, with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담당님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자율형 분산에너지 관리 시스템 기술검토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 ~8/12)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기타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백상무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파트너 퇴사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(7/25)</a:t>
                      </a: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</a:t>
                      </a:r>
                      <a:r>
                        <a:rPr lang="ko-KR" altLang="en-US" sz="1000" b="0" u="none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펄어비스</a:t>
                      </a:r>
                      <a:r>
                        <a:rPr lang="ko-KR" altLang="en-US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이동형화재감지</a:t>
                      </a:r>
                      <a:r>
                        <a:rPr lang="ko-KR" altLang="en-US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모니터링 </a:t>
                      </a:r>
                      <a:endParaRPr lang="en-US" altLang="ko-KR" sz="100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</a:t>
                      </a:r>
                      <a:r>
                        <a:rPr lang="ko-KR" altLang="en-US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대여 </a:t>
                      </a:r>
                      <a:r>
                        <a:rPr lang="en-US" altLang="ko-KR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대 </a:t>
                      </a:r>
                      <a:r>
                        <a:rPr lang="en-US" altLang="ko-KR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 6/25~7/25)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</a:t>
                      </a:r>
                      <a:r>
                        <a:rPr lang="ko-KR" altLang="en-US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특이사항</a:t>
                      </a:r>
                      <a:endParaRPr lang="en-US" altLang="ko-KR" sz="1000" b="1" u="sng" baseline="0" dirty="0">
                        <a:solidFill>
                          <a:srgbClr val="C0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sng" baseline="0" dirty="0">
                        <a:solidFill>
                          <a:srgbClr val="C0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en-US" altLang="ko-KR" sz="1000" b="0" u="none" baseline="0" dirty="0">
                          <a:solidFill>
                            <a:srgbClr val="0070C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 A2U </a:t>
                      </a:r>
                      <a:r>
                        <a:rPr lang="ko-KR" altLang="en-US" sz="1000" b="0" u="none" baseline="0" dirty="0">
                          <a:solidFill>
                            <a:srgbClr val="0070C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금형</a:t>
                      </a:r>
                      <a:r>
                        <a:rPr lang="en-US" altLang="ko-KR" sz="1000" b="0" u="none" baseline="0" dirty="0">
                          <a:solidFill>
                            <a:srgbClr val="0070C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000" b="0" u="none" baseline="0" dirty="0">
                          <a:solidFill>
                            <a:srgbClr val="0070C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종 보수 및 단가 인상 요청</a:t>
                      </a:r>
                      <a:endParaRPr lang="en-US" altLang="ko-KR" sz="1000" b="0" u="none" baseline="0" dirty="0">
                        <a:solidFill>
                          <a:srgbClr val="0070C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 </a:t>
                      </a:r>
                      <a:r>
                        <a:rPr lang="ko-KR" altLang="en-US" sz="1000" b="0" u="none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금형비용</a:t>
                      </a:r>
                      <a:r>
                        <a:rPr lang="ko-KR" altLang="en-US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10,153,800 (VAT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별도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000" b="0" i="0" u="none" kern="1200" baseline="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단가안성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42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만원 →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59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만원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(40%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▲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i="0" u="sng" kern="1200" baseline="0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-&gt; </a:t>
                      </a:r>
                      <a:r>
                        <a:rPr lang="ko-KR" altLang="en-US" sz="1000" b="1" i="0" u="sng" kern="1200" baseline="0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제안 금액 협의중</a:t>
                      </a:r>
                      <a:endParaRPr lang="en-US" altLang="ko-KR" sz="1000" b="1" i="0" u="sng" kern="1200" baseline="0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2. </a:t>
                      </a: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REMS</a:t>
                      </a:r>
                      <a:r>
                        <a:rPr lang="ko-KR" altLang="en-US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kern="1200" baseline="0" dirty="0" err="1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이동형화재감지</a:t>
                      </a:r>
                      <a:r>
                        <a:rPr lang="ko-KR" altLang="en-US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신규개발</a:t>
                      </a: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endParaRPr lang="en-US" altLang="ko-KR" sz="1000" b="0" i="0" u="none" kern="1200" baseline="0" dirty="0">
                        <a:solidFill>
                          <a:srgbClr val="0070C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ko-KR" altLang="en-US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Holding (7/12~ 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Rems :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H/W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통합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(REMS+AI)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구현  및 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플랫폼 구성 검토 중 으로 잠시보류 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 화재감지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  AIOT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융합 개발 재 검토 및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 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안전운영팀 협업 이슈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팀장 부재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                           </a:t>
                      </a: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172749"/>
                  </a:ext>
                </a:extLst>
              </a:tr>
            </a:tbl>
          </a:graphicData>
        </a:graphic>
      </p:graphicFrame>
      <p:sp>
        <p:nvSpPr>
          <p:cNvPr id="5" name="Text Box 52">
            <a:extLst>
              <a:ext uri="{FF2B5EF4-FFF2-40B4-BE49-F238E27FC236}">
                <a16:creationId xmlns:a16="http://schemas.microsoft.com/office/drawing/2014/main" id="{43B51F8F-E6E0-4A63-A05B-0D340F3E9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6045" y="351474"/>
            <a:ext cx="356021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633039">
              <a:defRPr/>
            </a:pP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인프라구축센터 주간 동향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(7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주차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E66C603-DCB9-4E10-8D65-BFC73160E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651352"/>
              </p:ext>
            </p:extLst>
          </p:nvPr>
        </p:nvGraphicFramePr>
        <p:xfrm>
          <a:off x="695585" y="5510650"/>
          <a:ext cx="11141284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7022">
                  <a:extLst>
                    <a:ext uri="{9D8B030D-6E8A-4147-A177-3AD203B41FA5}">
                      <a16:colId xmlns:a16="http://schemas.microsoft.com/office/drawing/2014/main" val="17914556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4132086725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726335271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28251607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1083169963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72534020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2727203442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479455419"/>
                    </a:ext>
                  </a:extLst>
                </a:gridCol>
                <a:gridCol w="1482863">
                  <a:extLst>
                    <a:ext uri="{9D8B030D-6E8A-4147-A177-3AD203B41FA5}">
                      <a16:colId xmlns:a16="http://schemas.microsoft.com/office/drawing/2014/main" val="1897296865"/>
                    </a:ext>
                  </a:extLst>
                </a:gridCol>
                <a:gridCol w="947576">
                  <a:extLst>
                    <a:ext uri="{9D8B030D-6E8A-4147-A177-3AD203B41FA5}">
                      <a16:colId xmlns:a16="http://schemas.microsoft.com/office/drawing/2014/main" val="3170612963"/>
                    </a:ext>
                  </a:extLst>
                </a:gridCol>
                <a:gridCol w="1854669">
                  <a:extLst>
                    <a:ext uri="{9D8B030D-6E8A-4147-A177-3AD203B41FA5}">
                      <a16:colId xmlns:a16="http://schemas.microsoft.com/office/drawing/2014/main" val="528732712"/>
                    </a:ext>
                  </a:extLst>
                </a:gridCol>
              </a:tblGrid>
              <a:tr h="1333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</a:t>
                      </a:r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EMS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영상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</a:t>
                      </a:r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보안알림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267374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사업장 수량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356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(RMS :307, SEMS :49)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12,222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852540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사멉장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287844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포인트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516237"/>
                  </a:ext>
                </a:extLst>
              </a:tr>
            </a:tbl>
          </a:graphicData>
        </a:graphic>
      </p:graphicFrame>
      <p:sp>
        <p:nvSpPr>
          <p:cNvPr id="7" name="Text Box 52">
            <a:extLst>
              <a:ext uri="{FF2B5EF4-FFF2-40B4-BE49-F238E27FC236}">
                <a16:creationId xmlns:a16="http://schemas.microsoft.com/office/drawing/2014/main" id="{A6985EA2-2353-4672-AE1C-1F838A235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585" y="5256734"/>
            <a:ext cx="2055303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33039"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서비스 제공현황 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운영센터 기준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00376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CE7A871-C07D-4024-B178-220A0C6A7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352265"/>
              </p:ext>
            </p:extLst>
          </p:nvPr>
        </p:nvGraphicFramePr>
        <p:xfrm>
          <a:off x="695585" y="717388"/>
          <a:ext cx="11141281" cy="47253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5967">
                  <a:extLst>
                    <a:ext uri="{9D8B030D-6E8A-4147-A177-3AD203B41FA5}">
                      <a16:colId xmlns:a16="http://schemas.microsoft.com/office/drawing/2014/main" val="1359777914"/>
                    </a:ext>
                  </a:extLst>
                </a:gridCol>
                <a:gridCol w="1024366">
                  <a:extLst>
                    <a:ext uri="{9D8B030D-6E8A-4147-A177-3AD203B41FA5}">
                      <a16:colId xmlns:a16="http://schemas.microsoft.com/office/drawing/2014/main" val="3658186606"/>
                    </a:ext>
                  </a:extLst>
                </a:gridCol>
                <a:gridCol w="3665032">
                  <a:extLst>
                    <a:ext uri="{9D8B030D-6E8A-4147-A177-3AD203B41FA5}">
                      <a16:colId xmlns:a16="http://schemas.microsoft.com/office/drawing/2014/main" val="1768300239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3296678039"/>
                    </a:ext>
                  </a:extLst>
                </a:gridCol>
                <a:gridCol w="2140416">
                  <a:extLst>
                    <a:ext uri="{9D8B030D-6E8A-4147-A177-3AD203B41FA5}">
                      <a16:colId xmlns:a16="http://schemas.microsoft.com/office/drawing/2014/main" val="2046462633"/>
                    </a:ext>
                  </a:extLst>
                </a:gridCol>
              </a:tblGrid>
              <a:tr h="4429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(7/25~ 7/29)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(8/1~ 8/5)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243847"/>
                  </a:ext>
                </a:extLst>
              </a:tr>
              <a:tr h="38489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차별화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en-US" altLang="ko-KR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확대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절감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148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100" b="0" u="non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altLang="en-US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 </a:t>
                      </a:r>
                      <a:r>
                        <a:rPr lang="en-US" altLang="ko-KR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LF </a:t>
                      </a:r>
                      <a:r>
                        <a:rPr lang="ko-KR" altLang="en-US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광양 </a:t>
                      </a:r>
                      <a:r>
                        <a:rPr lang="en-US" altLang="ko-KR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(7/26), LF </a:t>
                      </a:r>
                      <a:r>
                        <a:rPr lang="ko-KR" altLang="en-US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양주</a:t>
                      </a:r>
                      <a:r>
                        <a:rPr lang="en-US" altLang="ko-KR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(7/28)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altLang="en-US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 </a:t>
                      </a:r>
                      <a:r>
                        <a:rPr lang="en-US" altLang="ko-KR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LF </a:t>
                      </a:r>
                      <a:r>
                        <a:rPr lang="ko-KR" altLang="en-US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스퀘어 인천</a:t>
                      </a:r>
                      <a:endParaRPr lang="en-US" altLang="ko-KR" sz="110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명동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티마크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그랜드호텔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(7/25) –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내구연한 초과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112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 ’22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년도 화재수신반 조작감시 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 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사업장 구축</a:t>
                      </a: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(8/1~19)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358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(2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신규구축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구의점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(7/25),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해운대센터점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(7/28)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18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포함 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5,502point)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12,254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32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288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신규포함 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101,294 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매를로랩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솔루션 기술검토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자율형 분산에너지 관리 시스템 기술검토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논문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특허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기술등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기타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148</a:t>
                      </a:r>
                      <a:r>
                        <a:rPr lang="ko-KR" altLang="en-US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예상</a:t>
                      </a: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</a:t>
                      </a:r>
                      <a:r>
                        <a:rPr lang="ko-KR" altLang="en-US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1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100" b="0" u="none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u="none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u="none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112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 ’22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년도 화재수신반 조작감시 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 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사업장 구축</a:t>
                      </a: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(8/1~19)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예상누적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359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예정 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신규구축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북위례점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(8/2)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9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5,511point)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예상누적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12,284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신규적용 예상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30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200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101,494 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매를로랩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미팅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(8/1, with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담당님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자율형 분산에너지 관리 시스템 기술검토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 ~8/12)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서비스별 프로세스 재정립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(A/S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및 유지보수 포함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~9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기타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</a:t>
                      </a:r>
                      <a:r>
                        <a:rPr lang="ko-KR" altLang="en-US" sz="1000" b="0" u="none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펄어비스</a:t>
                      </a:r>
                      <a:r>
                        <a:rPr lang="ko-KR" altLang="en-US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none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이동형화재감지</a:t>
                      </a:r>
                      <a:r>
                        <a:rPr lang="ko-KR" altLang="en-US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모니터링 </a:t>
                      </a:r>
                      <a:endParaRPr lang="en-US" altLang="ko-KR" sz="100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</a:t>
                      </a:r>
                      <a:r>
                        <a:rPr lang="ko-KR" altLang="en-US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회수 </a:t>
                      </a:r>
                      <a:r>
                        <a:rPr lang="en-US" altLang="ko-KR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대 </a:t>
                      </a:r>
                      <a:r>
                        <a:rPr lang="en-US" altLang="ko-KR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 7/25)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</a:t>
                      </a:r>
                      <a:r>
                        <a:rPr lang="ko-KR" altLang="en-US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이슈 및 </a:t>
                      </a:r>
                      <a:r>
                        <a:rPr lang="ko-KR" altLang="en-US" sz="1000" b="1" u="sng" baseline="0" dirty="0" err="1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특이사황</a:t>
                      </a:r>
                      <a:endParaRPr lang="en-US" altLang="ko-KR" sz="1000" b="1" u="sng" baseline="0" dirty="0">
                        <a:solidFill>
                          <a:srgbClr val="C0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sng" baseline="0" dirty="0">
                        <a:solidFill>
                          <a:srgbClr val="C0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en-US" altLang="ko-KR" sz="1000" b="0" u="none" baseline="0" dirty="0">
                          <a:solidFill>
                            <a:srgbClr val="0070C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 A2U </a:t>
                      </a:r>
                      <a:r>
                        <a:rPr lang="ko-KR" altLang="en-US" sz="1000" b="0" u="none" baseline="0" dirty="0">
                          <a:solidFill>
                            <a:srgbClr val="0070C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금형</a:t>
                      </a:r>
                      <a:r>
                        <a:rPr lang="en-US" altLang="ko-KR" sz="1000" b="0" u="none" baseline="0" dirty="0">
                          <a:solidFill>
                            <a:srgbClr val="0070C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000" b="0" u="none" baseline="0" dirty="0">
                          <a:solidFill>
                            <a:srgbClr val="0070C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종 보수 및 단가 인상 요청</a:t>
                      </a:r>
                      <a:endParaRPr lang="en-US" altLang="ko-KR" sz="1000" b="0" u="none" baseline="0" dirty="0">
                        <a:solidFill>
                          <a:srgbClr val="0070C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 </a:t>
                      </a:r>
                      <a:r>
                        <a:rPr lang="ko-KR" altLang="en-US" sz="1000" b="0" u="none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금형비용</a:t>
                      </a:r>
                      <a:r>
                        <a:rPr lang="ko-KR" altLang="en-US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10,153,800 (VAT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별도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900" b="1" i="0" u="none" kern="1200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-&gt; A2U </a:t>
                      </a:r>
                      <a:r>
                        <a:rPr lang="ko-KR" altLang="en-US" sz="900" b="1" i="0" u="none" kern="1200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자사 부담</a:t>
                      </a:r>
                      <a:endParaRPr lang="en-US" altLang="ko-KR" sz="900" b="1" i="0" u="none" kern="1200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단가인상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42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만원 →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59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만원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(40%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▲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900" b="1" i="0" u="none" kern="1200" baseline="0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-&gt;</a:t>
                      </a:r>
                      <a:r>
                        <a:rPr lang="ko-KR" altLang="en-US" sz="900" b="1" i="0" u="none" kern="1200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반도체 인상분을 감안한 </a:t>
                      </a:r>
                      <a:r>
                        <a:rPr lang="ko-KR" altLang="en-US" sz="900" b="1" i="0" u="none" kern="1200" baseline="0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보조금 지원 </a:t>
                      </a:r>
                      <a:endParaRPr lang="en-US" altLang="ko-KR" sz="900" b="1" i="0" u="none" kern="1200" baseline="0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kern="1200" baseline="0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  (</a:t>
                      </a:r>
                      <a:r>
                        <a:rPr lang="ko-KR" altLang="en-US" sz="900" b="1" i="0" u="none" kern="1200" baseline="0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공사비용으로 충당</a:t>
                      </a:r>
                      <a:r>
                        <a:rPr lang="en-US" altLang="ko-KR" sz="900" b="1" i="0" u="none" kern="1200" baseline="0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G/W1</a:t>
                      </a:r>
                      <a:r>
                        <a:rPr lang="ko-KR" altLang="en-US" sz="900" b="1" i="0" u="none" kern="1200" baseline="0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대당 </a:t>
                      </a:r>
                      <a:r>
                        <a:rPr lang="en-US" altLang="ko-KR" sz="900" b="1" i="0" u="none" kern="1200" baseline="0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  <a:r>
                        <a:rPr lang="ko-KR" altLang="en-US" sz="900" b="1" i="0" u="none" kern="1200" baseline="0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만원</a:t>
                      </a:r>
                      <a:r>
                        <a:rPr lang="en-US" altLang="ko-KR" sz="900" b="1" i="0" u="none" kern="1200" baseline="0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kern="1200" baseline="0" dirty="0">
                          <a:solidFill>
                            <a:srgbClr val="00B05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※ </a:t>
                      </a:r>
                      <a:r>
                        <a:rPr lang="ko-KR" altLang="en-US" sz="800" b="1" i="0" u="none" kern="1200" baseline="0" dirty="0">
                          <a:solidFill>
                            <a:srgbClr val="00B05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단</a:t>
                      </a:r>
                      <a:r>
                        <a:rPr lang="en-US" altLang="ko-KR" sz="800" b="1" i="0" u="none" kern="1200" baseline="0" dirty="0">
                          <a:solidFill>
                            <a:srgbClr val="00B05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‘22</a:t>
                      </a:r>
                      <a:r>
                        <a:rPr lang="ko-KR" altLang="en-US" sz="800" b="1" i="0" u="none" kern="1200" baseline="0" dirty="0">
                          <a:solidFill>
                            <a:srgbClr val="00B05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년도 신규 물건에 한하며</a:t>
                      </a:r>
                      <a:r>
                        <a:rPr lang="en-US" altLang="ko-KR" sz="800" b="1" i="0" u="none" kern="1200" baseline="0" dirty="0">
                          <a:solidFill>
                            <a:srgbClr val="00B05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kern="1200" baseline="0" dirty="0">
                          <a:solidFill>
                            <a:srgbClr val="00B05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 ‘23</a:t>
                      </a:r>
                      <a:r>
                        <a:rPr lang="ko-KR" altLang="en-US" sz="800" b="1" i="0" u="none" kern="1200" baseline="0" dirty="0">
                          <a:solidFill>
                            <a:srgbClr val="00B05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년도</a:t>
                      </a:r>
                      <a:r>
                        <a:rPr lang="en-US" altLang="ko-KR" sz="800" b="1" i="0" u="none" kern="1200" baseline="0" dirty="0">
                          <a:solidFill>
                            <a:srgbClr val="00B05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i="0" u="none" kern="1200" baseline="0" dirty="0">
                          <a:solidFill>
                            <a:srgbClr val="00B05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800" b="1" i="0" u="none" kern="1200" baseline="0" dirty="0">
                          <a:solidFill>
                            <a:srgbClr val="00B05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1" i="0" u="none" kern="1200" baseline="0" dirty="0">
                          <a:solidFill>
                            <a:srgbClr val="00B05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단가</a:t>
                      </a:r>
                      <a:r>
                        <a:rPr lang="en-US" altLang="ko-KR" sz="800" b="1" i="0" u="none" kern="1200" baseline="0" dirty="0">
                          <a:solidFill>
                            <a:srgbClr val="00B05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1" i="0" u="none" kern="1200" baseline="0" dirty="0">
                          <a:solidFill>
                            <a:srgbClr val="00B05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인상분은 재협의 예정임 </a:t>
                      </a:r>
                      <a:endParaRPr lang="en-US" altLang="ko-KR" sz="800" b="1" i="0" u="none" kern="1200" baseline="0" dirty="0">
                        <a:solidFill>
                          <a:srgbClr val="00B05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2. </a:t>
                      </a: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REMS</a:t>
                      </a:r>
                      <a:r>
                        <a:rPr lang="ko-KR" altLang="en-US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kern="1200" baseline="0" dirty="0" err="1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이동형화재감지</a:t>
                      </a:r>
                      <a:r>
                        <a:rPr lang="ko-KR" altLang="en-US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신규개발</a:t>
                      </a: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endParaRPr lang="en-US" altLang="ko-KR" sz="1000" b="0" i="0" u="none" kern="1200" baseline="0" dirty="0">
                        <a:solidFill>
                          <a:srgbClr val="0070C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ko-KR" altLang="en-US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Holding (7/12~ 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Rems :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H/W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통합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(REMS+AI)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구현  및 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플랫폼 구성 검토 중 으로 잠시보류 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 화재감지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AIOT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융합 개발 재 검토 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                           </a:t>
                      </a: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172749"/>
                  </a:ext>
                </a:extLst>
              </a:tr>
            </a:tbl>
          </a:graphicData>
        </a:graphic>
      </p:graphicFrame>
      <p:sp>
        <p:nvSpPr>
          <p:cNvPr id="5" name="Text Box 52">
            <a:extLst>
              <a:ext uri="{FF2B5EF4-FFF2-40B4-BE49-F238E27FC236}">
                <a16:creationId xmlns:a16="http://schemas.microsoft.com/office/drawing/2014/main" id="{43B51F8F-E6E0-4A63-A05B-0D340F3E9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6045" y="351474"/>
            <a:ext cx="356021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633039">
              <a:defRPr/>
            </a:pP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인프라구축센터 주간 동향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(8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주차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E66C603-DCB9-4E10-8D65-BFC73160E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166277"/>
              </p:ext>
            </p:extLst>
          </p:nvPr>
        </p:nvGraphicFramePr>
        <p:xfrm>
          <a:off x="695585" y="5510650"/>
          <a:ext cx="11141284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7022">
                  <a:extLst>
                    <a:ext uri="{9D8B030D-6E8A-4147-A177-3AD203B41FA5}">
                      <a16:colId xmlns:a16="http://schemas.microsoft.com/office/drawing/2014/main" val="17914556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4132086725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726335271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28251607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1083169963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72534020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2727203442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479455419"/>
                    </a:ext>
                  </a:extLst>
                </a:gridCol>
                <a:gridCol w="1482863">
                  <a:extLst>
                    <a:ext uri="{9D8B030D-6E8A-4147-A177-3AD203B41FA5}">
                      <a16:colId xmlns:a16="http://schemas.microsoft.com/office/drawing/2014/main" val="1897296865"/>
                    </a:ext>
                  </a:extLst>
                </a:gridCol>
                <a:gridCol w="1191416">
                  <a:extLst>
                    <a:ext uri="{9D8B030D-6E8A-4147-A177-3AD203B41FA5}">
                      <a16:colId xmlns:a16="http://schemas.microsoft.com/office/drawing/2014/main" val="3170612963"/>
                    </a:ext>
                  </a:extLst>
                </a:gridCol>
                <a:gridCol w="1610829">
                  <a:extLst>
                    <a:ext uri="{9D8B030D-6E8A-4147-A177-3AD203B41FA5}">
                      <a16:colId xmlns:a16="http://schemas.microsoft.com/office/drawing/2014/main" val="528732712"/>
                    </a:ext>
                  </a:extLst>
                </a:gridCol>
              </a:tblGrid>
              <a:tr h="1333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</a:t>
                      </a:r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EMS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영상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</a:t>
                      </a:r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보안알림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267374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사업장 수량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358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(RMS :307, SEMS :51)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12,254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852540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금주  신규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287844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포인트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3,446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157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3,094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18/5,502 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288/101,294 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516237"/>
                  </a:ext>
                </a:extLst>
              </a:tr>
            </a:tbl>
          </a:graphicData>
        </a:graphic>
      </p:graphicFrame>
      <p:sp>
        <p:nvSpPr>
          <p:cNvPr id="7" name="Text Box 52">
            <a:extLst>
              <a:ext uri="{FF2B5EF4-FFF2-40B4-BE49-F238E27FC236}">
                <a16:creationId xmlns:a16="http://schemas.microsoft.com/office/drawing/2014/main" id="{A6985EA2-2353-4672-AE1C-1F838A235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585" y="5256734"/>
            <a:ext cx="2055303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33039"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서비스 제공현황 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운영센터 기준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18133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CE7A871-C07D-4024-B178-220A0C6A7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873815"/>
              </p:ext>
            </p:extLst>
          </p:nvPr>
        </p:nvGraphicFramePr>
        <p:xfrm>
          <a:off x="695585" y="717388"/>
          <a:ext cx="11141281" cy="43813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5967">
                  <a:extLst>
                    <a:ext uri="{9D8B030D-6E8A-4147-A177-3AD203B41FA5}">
                      <a16:colId xmlns:a16="http://schemas.microsoft.com/office/drawing/2014/main" val="1359777914"/>
                    </a:ext>
                  </a:extLst>
                </a:gridCol>
                <a:gridCol w="1024366">
                  <a:extLst>
                    <a:ext uri="{9D8B030D-6E8A-4147-A177-3AD203B41FA5}">
                      <a16:colId xmlns:a16="http://schemas.microsoft.com/office/drawing/2014/main" val="3658186606"/>
                    </a:ext>
                  </a:extLst>
                </a:gridCol>
                <a:gridCol w="3588832">
                  <a:extLst>
                    <a:ext uri="{9D8B030D-6E8A-4147-A177-3AD203B41FA5}">
                      <a16:colId xmlns:a16="http://schemas.microsoft.com/office/drawing/2014/main" val="1768300239"/>
                    </a:ext>
                  </a:extLst>
                </a:gridCol>
                <a:gridCol w="3441700">
                  <a:extLst>
                    <a:ext uri="{9D8B030D-6E8A-4147-A177-3AD203B41FA5}">
                      <a16:colId xmlns:a16="http://schemas.microsoft.com/office/drawing/2014/main" val="3296678039"/>
                    </a:ext>
                  </a:extLst>
                </a:gridCol>
                <a:gridCol w="2140416">
                  <a:extLst>
                    <a:ext uri="{9D8B030D-6E8A-4147-A177-3AD203B41FA5}">
                      <a16:colId xmlns:a16="http://schemas.microsoft.com/office/drawing/2014/main" val="2046462633"/>
                    </a:ext>
                  </a:extLst>
                </a:gridCol>
              </a:tblGrid>
              <a:tr h="43414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(8/1~ 8/5)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(8/8~ 8/12)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243847"/>
                  </a:ext>
                </a:extLst>
              </a:tr>
              <a:tr h="38690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차별화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en-US" altLang="ko-KR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확대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절감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148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100" b="0" u="non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보수 </a:t>
                      </a:r>
                      <a:r>
                        <a:rPr lang="en-US" altLang="ko-KR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재구축 </a:t>
                      </a:r>
                      <a:r>
                        <a:rPr lang="en-US" altLang="ko-KR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현장점검 </a:t>
                      </a:r>
                      <a:r>
                        <a:rPr lang="en-US" altLang="ko-KR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100" b="0" u="non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endParaRPr lang="en-US" altLang="ko-KR" sz="110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112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 ’22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년도 화재수신반 조작감시 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 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구축 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(8/1~19)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359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예정 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신규구축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북위례점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(8/2)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15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5,517point)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GS25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12,261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52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45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56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106,702 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매를로랩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미팅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(8/1, with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담당님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자율형 분산에너지 관리 시스템 기술검토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 ~8/12)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서비스별 프로세스 재정립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(A/S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및 유지보수 포함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~9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CU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편의점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추가 제안 관련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TNM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미팅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(8/4, w/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강종훈팀장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</a:p>
                  </a:txBody>
                  <a:tcPr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148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예상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10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현장점검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 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예상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6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운영센터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(11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건물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신규 구축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(8/9~12)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11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152point)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예상누적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360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예정 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신규구축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군포산본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(8/12)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재구축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하안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(8/15)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20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5,537point)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예상누적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12,312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신규적용 예상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51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408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107,110 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매를로랩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추가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검토분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자료요청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(8/11)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자율형 분산에너지 관리 시스템 기술검토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 ~8/12)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서비스별 프로세스 재정립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(A/S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및 유지보수 포함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~9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운영비 산출 업무미팅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( 8/8, IOC)</a:t>
                      </a: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</a:t>
                      </a:r>
                      <a:r>
                        <a:rPr lang="ko-KR" altLang="en-US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이슈 및 </a:t>
                      </a:r>
                      <a:r>
                        <a:rPr lang="ko-KR" altLang="en-US" sz="1000" b="1" u="sng" baseline="0" dirty="0" err="1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특이사황</a:t>
                      </a:r>
                      <a:endParaRPr lang="en-US" altLang="ko-KR" sz="1000" b="1" u="sng" baseline="0" dirty="0">
                        <a:solidFill>
                          <a:srgbClr val="C0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1. </a:t>
                      </a: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REMS</a:t>
                      </a:r>
                      <a:r>
                        <a:rPr lang="ko-KR" altLang="en-US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kern="1200" baseline="0" dirty="0" err="1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이동형화재감지</a:t>
                      </a:r>
                      <a:r>
                        <a:rPr lang="ko-KR" altLang="en-US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신규개발</a:t>
                      </a: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endParaRPr lang="en-US" altLang="ko-KR" sz="1000" b="0" i="0" u="none" kern="1200" baseline="0" dirty="0">
                        <a:solidFill>
                          <a:srgbClr val="0070C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ko-KR" altLang="en-US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Holding (7/12~ 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Rems :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H/W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통합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(REMS+AI)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구현  및 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플랫폼 구성 검토 중 으로 잠시보류 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 화재감지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AIOT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융합 개발 재 검토 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                           </a:t>
                      </a: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172749"/>
                  </a:ext>
                </a:extLst>
              </a:tr>
            </a:tbl>
          </a:graphicData>
        </a:graphic>
      </p:graphicFrame>
      <p:sp>
        <p:nvSpPr>
          <p:cNvPr id="5" name="Text Box 52">
            <a:extLst>
              <a:ext uri="{FF2B5EF4-FFF2-40B4-BE49-F238E27FC236}">
                <a16:creationId xmlns:a16="http://schemas.microsoft.com/office/drawing/2014/main" id="{43B51F8F-E6E0-4A63-A05B-0D340F3E9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6045" y="351474"/>
            <a:ext cx="356021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633039">
              <a:defRPr/>
            </a:pP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인프라구축센터 주간 동향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(8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주차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E66C603-DCB9-4E10-8D65-BFC73160E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940699"/>
              </p:ext>
            </p:extLst>
          </p:nvPr>
        </p:nvGraphicFramePr>
        <p:xfrm>
          <a:off x="695582" y="5363526"/>
          <a:ext cx="11141284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7022">
                  <a:extLst>
                    <a:ext uri="{9D8B030D-6E8A-4147-A177-3AD203B41FA5}">
                      <a16:colId xmlns:a16="http://schemas.microsoft.com/office/drawing/2014/main" val="17914556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4132086725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726335271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28251607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1083169963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72534020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2727203442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479455419"/>
                    </a:ext>
                  </a:extLst>
                </a:gridCol>
                <a:gridCol w="1482863">
                  <a:extLst>
                    <a:ext uri="{9D8B030D-6E8A-4147-A177-3AD203B41FA5}">
                      <a16:colId xmlns:a16="http://schemas.microsoft.com/office/drawing/2014/main" val="1897296865"/>
                    </a:ext>
                  </a:extLst>
                </a:gridCol>
                <a:gridCol w="1191416">
                  <a:extLst>
                    <a:ext uri="{9D8B030D-6E8A-4147-A177-3AD203B41FA5}">
                      <a16:colId xmlns:a16="http://schemas.microsoft.com/office/drawing/2014/main" val="3170612963"/>
                    </a:ext>
                  </a:extLst>
                </a:gridCol>
                <a:gridCol w="1610829">
                  <a:extLst>
                    <a:ext uri="{9D8B030D-6E8A-4147-A177-3AD203B41FA5}">
                      <a16:colId xmlns:a16="http://schemas.microsoft.com/office/drawing/2014/main" val="528732712"/>
                    </a:ext>
                  </a:extLst>
                </a:gridCol>
              </a:tblGrid>
              <a:tr h="1333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</a:t>
                      </a:r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EMS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영상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</a:t>
                      </a:r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보안알림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267374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사업장 수량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359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(RMS :307, SEMS :52)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12,254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852540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금주  신규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287844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포인트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0/3,446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0/141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0/157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0/3,094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15/5,517 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56/106,702 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516237"/>
                  </a:ext>
                </a:extLst>
              </a:tr>
            </a:tbl>
          </a:graphicData>
        </a:graphic>
      </p:graphicFrame>
      <p:sp>
        <p:nvSpPr>
          <p:cNvPr id="7" name="Text Box 52">
            <a:extLst>
              <a:ext uri="{FF2B5EF4-FFF2-40B4-BE49-F238E27FC236}">
                <a16:creationId xmlns:a16="http://schemas.microsoft.com/office/drawing/2014/main" id="{A6985EA2-2353-4672-AE1C-1F838A235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585" y="5141008"/>
            <a:ext cx="2055303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33039"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서비스 제공현황 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운영센터 기준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D7178A-1A91-4B59-ABD9-DC1F7FE2DF1B}"/>
              </a:ext>
            </a:extLst>
          </p:cNvPr>
          <p:cNvSpPr txBox="1"/>
          <p:nvPr/>
        </p:nvSpPr>
        <p:spPr>
          <a:xfrm>
            <a:off x="2552433" y="6584380"/>
            <a:ext cx="92844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6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 운영센터 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 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수도권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신한은행 의정부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en-US" altLang="ko-KR" sz="800" dirty="0" err="1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gs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강서타워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800" dirty="0" err="1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오토닉스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R&amp;D, 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분당퍼스트 타워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GS</a:t>
            </a:r>
            <a:r>
              <a:rPr lang="ko-KR" altLang="en-US" sz="800" dirty="0" err="1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칼텍스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인재개발원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/ </a:t>
            </a:r>
            <a:r>
              <a:rPr lang="ko-KR" altLang="en-US" sz="800" dirty="0" err="1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지방권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U+(</a:t>
            </a:r>
            <a:r>
              <a:rPr lang="ko-KR" altLang="en-US" sz="800" dirty="0" err="1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대구신천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800" dirty="0" err="1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진주충무공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광주 </a:t>
            </a:r>
            <a:r>
              <a:rPr lang="ko-KR" altLang="en-US" sz="800" dirty="0" err="1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중훙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한국타이어 </a:t>
            </a:r>
            <a:r>
              <a:rPr lang="ko-KR" altLang="en-US" sz="800" dirty="0" err="1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칠골물류센터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신한은행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부산역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800" dirty="0" err="1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동대신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 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lang="ko-KR" altLang="en-US" sz="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937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CE7A871-C07D-4024-B178-220A0C6A7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062261"/>
              </p:ext>
            </p:extLst>
          </p:nvPr>
        </p:nvGraphicFramePr>
        <p:xfrm>
          <a:off x="695585" y="717388"/>
          <a:ext cx="11141281" cy="45489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5967">
                  <a:extLst>
                    <a:ext uri="{9D8B030D-6E8A-4147-A177-3AD203B41FA5}">
                      <a16:colId xmlns:a16="http://schemas.microsoft.com/office/drawing/2014/main" val="1359777914"/>
                    </a:ext>
                  </a:extLst>
                </a:gridCol>
                <a:gridCol w="1024366">
                  <a:extLst>
                    <a:ext uri="{9D8B030D-6E8A-4147-A177-3AD203B41FA5}">
                      <a16:colId xmlns:a16="http://schemas.microsoft.com/office/drawing/2014/main" val="3658186606"/>
                    </a:ext>
                  </a:extLst>
                </a:gridCol>
                <a:gridCol w="3588832">
                  <a:extLst>
                    <a:ext uri="{9D8B030D-6E8A-4147-A177-3AD203B41FA5}">
                      <a16:colId xmlns:a16="http://schemas.microsoft.com/office/drawing/2014/main" val="1768300239"/>
                    </a:ext>
                  </a:extLst>
                </a:gridCol>
                <a:gridCol w="3441700">
                  <a:extLst>
                    <a:ext uri="{9D8B030D-6E8A-4147-A177-3AD203B41FA5}">
                      <a16:colId xmlns:a16="http://schemas.microsoft.com/office/drawing/2014/main" val="3296678039"/>
                    </a:ext>
                  </a:extLst>
                </a:gridCol>
                <a:gridCol w="2140416">
                  <a:extLst>
                    <a:ext uri="{9D8B030D-6E8A-4147-A177-3AD203B41FA5}">
                      <a16:colId xmlns:a16="http://schemas.microsoft.com/office/drawing/2014/main" val="2046462633"/>
                    </a:ext>
                  </a:extLst>
                </a:gridCol>
              </a:tblGrid>
              <a:tr h="43414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(8/8~ 8/12)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(8/16~ 8/19)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243847"/>
                  </a:ext>
                </a:extLst>
              </a:tr>
              <a:tr h="38690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차별화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en-US" altLang="ko-KR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확대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절감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148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en-US" altLang="ko-KR" sz="110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현장점검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2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업무지원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2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9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운영센터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(10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건물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신규 구축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(8/9~12)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151point)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361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(2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예정 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신규구축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산본역점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(8/12),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청주가경아이파크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(8/15)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 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35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5,552point)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12,282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신규적용 예상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26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106,802 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매를로랩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추가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검토분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자료요청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(~8/19)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자율형 분산에너지 관리 시스템 기술검토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 ~8/4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주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서비스별 프로세스 재정립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(A/S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및 유지보수 포함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~9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REMS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 화재감지 신규개발 미팅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(8/11, TNM)</a:t>
                      </a:r>
                    </a:p>
                  </a:txBody>
                  <a:tcPr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148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예상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10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현장점검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업무지원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2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119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예상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2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운영센터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건물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신규 구축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(~8/19)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2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153point)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보안알림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서비스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신한은행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개점 중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개점 신규구축 예정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(~ 8/19)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12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323point)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예상누적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361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예정 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 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5,552point)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예상누적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12,308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신규적용 예상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26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106,902 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매를로랩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추가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검토분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자료요청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(~8/19)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자율형 분산에너지 관리 시스템 기술검토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 ~8/4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주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서비스별 프로세스 재정립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(A/S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및 유지보수 포함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~9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</a:t>
                      </a:r>
                      <a:r>
                        <a:rPr lang="ko-KR" altLang="en-US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이슈 및 </a:t>
                      </a:r>
                      <a:r>
                        <a:rPr lang="ko-KR" altLang="en-US" sz="1000" b="1" u="sng" baseline="0" dirty="0" err="1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특이사황</a:t>
                      </a:r>
                      <a:endParaRPr lang="en-US" altLang="ko-KR" sz="1000" b="1" u="sng" baseline="0" dirty="0">
                        <a:solidFill>
                          <a:srgbClr val="C0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1. </a:t>
                      </a: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REMS</a:t>
                      </a:r>
                      <a:r>
                        <a:rPr lang="ko-KR" altLang="en-US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kern="1200" baseline="0" dirty="0" err="1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이동형화재감지</a:t>
                      </a:r>
                      <a:r>
                        <a:rPr lang="ko-KR" altLang="en-US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신규개발</a:t>
                      </a: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endParaRPr lang="en-US" altLang="ko-KR" sz="1000" b="0" i="0" u="none" kern="1200" baseline="0" dirty="0">
                        <a:solidFill>
                          <a:srgbClr val="0070C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ko-KR" altLang="en-US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Holding (7/12~ 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Rems :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H/W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통합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(REMS+AI)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구현  및 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플랫폼 구성 검토 중 으로 잠시보류 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 화재감지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AIOT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융합 개발 재 검토 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2. RMS - DDOS </a:t>
                      </a:r>
                      <a:r>
                        <a:rPr lang="ko-KR" altLang="en-US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통신장애 발생</a:t>
                      </a: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복구</a:t>
                      </a:r>
                      <a:endParaRPr lang="en-US" altLang="ko-KR" sz="1000" b="0" i="0" u="none" kern="1200" baseline="0" dirty="0">
                        <a:solidFill>
                          <a:srgbClr val="0070C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. 8/8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오전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LTE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라우터가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DDOS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공격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통로로 이용됨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라우터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대랑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트래픽 발생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-&gt;1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차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(8/8)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11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 사업장중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6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 복구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-&gt;2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차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(8/10) : 3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개사업장 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000" b="0" i="0" u="none" kern="1200" baseline="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개복구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kern="1200" baseline="0" dirty="0" err="1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미복구</a:t>
                      </a:r>
                      <a:r>
                        <a:rPr lang="ko-KR" altLang="en-US" sz="10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7</a:t>
                      </a:r>
                      <a:r>
                        <a:rPr lang="ko-KR" altLang="en-US" sz="10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 사업장은 금주중 방문하여</a:t>
                      </a:r>
                      <a:endParaRPr lang="en-US" altLang="ko-KR" sz="1000" b="0" i="0" u="none" kern="1200" baseline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ko-KR" altLang="en-US" sz="10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조치 완료 예정임</a:t>
                      </a:r>
                      <a:endParaRPr lang="en-US" altLang="ko-KR" sz="1000" b="0" i="0" u="none" kern="1200" baseline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※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추가발생여부는 모니터링 중임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172749"/>
                  </a:ext>
                </a:extLst>
              </a:tr>
            </a:tbl>
          </a:graphicData>
        </a:graphic>
      </p:graphicFrame>
      <p:sp>
        <p:nvSpPr>
          <p:cNvPr id="5" name="Text Box 52">
            <a:extLst>
              <a:ext uri="{FF2B5EF4-FFF2-40B4-BE49-F238E27FC236}">
                <a16:creationId xmlns:a16="http://schemas.microsoft.com/office/drawing/2014/main" id="{43B51F8F-E6E0-4A63-A05B-0D340F3E9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6045" y="351474"/>
            <a:ext cx="356021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633039">
              <a:defRPr/>
            </a:pP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인프라구축센터 주간 동향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(8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주차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E66C603-DCB9-4E10-8D65-BFC73160E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723174"/>
              </p:ext>
            </p:extLst>
          </p:nvPr>
        </p:nvGraphicFramePr>
        <p:xfrm>
          <a:off x="695582" y="5363526"/>
          <a:ext cx="11141284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7022">
                  <a:extLst>
                    <a:ext uri="{9D8B030D-6E8A-4147-A177-3AD203B41FA5}">
                      <a16:colId xmlns:a16="http://schemas.microsoft.com/office/drawing/2014/main" val="17914556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4132086725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726335271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28251607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1083169963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72534020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2727203442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479455419"/>
                    </a:ext>
                  </a:extLst>
                </a:gridCol>
                <a:gridCol w="1482863">
                  <a:extLst>
                    <a:ext uri="{9D8B030D-6E8A-4147-A177-3AD203B41FA5}">
                      <a16:colId xmlns:a16="http://schemas.microsoft.com/office/drawing/2014/main" val="1897296865"/>
                    </a:ext>
                  </a:extLst>
                </a:gridCol>
                <a:gridCol w="1191416">
                  <a:extLst>
                    <a:ext uri="{9D8B030D-6E8A-4147-A177-3AD203B41FA5}">
                      <a16:colId xmlns:a16="http://schemas.microsoft.com/office/drawing/2014/main" val="3170612963"/>
                    </a:ext>
                  </a:extLst>
                </a:gridCol>
                <a:gridCol w="1610829">
                  <a:extLst>
                    <a:ext uri="{9D8B030D-6E8A-4147-A177-3AD203B41FA5}">
                      <a16:colId xmlns:a16="http://schemas.microsoft.com/office/drawing/2014/main" val="528732712"/>
                    </a:ext>
                  </a:extLst>
                </a:gridCol>
              </a:tblGrid>
              <a:tr h="1333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</a:t>
                      </a:r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EMS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영상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</a:t>
                      </a:r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보안알림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267374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사업장 수량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361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(RMS :307, SEMS :54)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12,282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852540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금주  신규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287844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포인트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0/3,446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0/151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0/157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0/3,094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35/5,552p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100/106,802 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516237"/>
                  </a:ext>
                </a:extLst>
              </a:tr>
            </a:tbl>
          </a:graphicData>
        </a:graphic>
      </p:graphicFrame>
      <p:sp>
        <p:nvSpPr>
          <p:cNvPr id="7" name="Text Box 52">
            <a:extLst>
              <a:ext uri="{FF2B5EF4-FFF2-40B4-BE49-F238E27FC236}">
                <a16:creationId xmlns:a16="http://schemas.microsoft.com/office/drawing/2014/main" id="{A6985EA2-2353-4672-AE1C-1F838A235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585" y="5141008"/>
            <a:ext cx="2055303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33039"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서비스 제공현황 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운영센터 기준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D7178A-1A91-4B59-ABD9-DC1F7FE2DF1B}"/>
              </a:ext>
            </a:extLst>
          </p:cNvPr>
          <p:cNvSpPr txBox="1"/>
          <p:nvPr/>
        </p:nvSpPr>
        <p:spPr>
          <a:xfrm>
            <a:off x="2552433" y="6584380"/>
            <a:ext cx="92844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6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 운영센터 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 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수도권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신한은행 의정부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en-US" altLang="ko-KR" sz="800" dirty="0" err="1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gs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강서타워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800" dirty="0" err="1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오토닉스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R&amp;D, 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분당퍼스트 타워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GS</a:t>
            </a:r>
            <a:r>
              <a:rPr lang="ko-KR" altLang="en-US" sz="800" dirty="0" err="1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칼텍스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인재개발원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/ </a:t>
            </a:r>
            <a:r>
              <a:rPr lang="ko-KR" altLang="en-US" sz="800" dirty="0" err="1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지방권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U+(</a:t>
            </a:r>
            <a:r>
              <a:rPr lang="ko-KR" altLang="en-US" sz="800" dirty="0" err="1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대구신천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800" dirty="0" err="1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진주충무공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광주 </a:t>
            </a:r>
            <a:r>
              <a:rPr lang="ko-KR" altLang="en-US" sz="800" dirty="0" err="1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중훙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한국타이어 </a:t>
            </a:r>
            <a:r>
              <a:rPr lang="ko-KR" altLang="en-US" sz="800" dirty="0" err="1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칠골물류센터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신한은행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부산역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800" dirty="0" err="1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동대신</a:t>
            </a:r>
            <a:r>
              <a:rPr lang="en-US" altLang="ko-KR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 </a:t>
            </a:r>
            <a:r>
              <a:rPr lang="ko-KR" altLang="en-US" sz="80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lang="ko-KR" altLang="en-US" sz="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270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CE7A871-C07D-4024-B178-220A0C6A7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800377"/>
              </p:ext>
            </p:extLst>
          </p:nvPr>
        </p:nvGraphicFramePr>
        <p:xfrm>
          <a:off x="695585" y="717388"/>
          <a:ext cx="11141281" cy="45489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5967">
                  <a:extLst>
                    <a:ext uri="{9D8B030D-6E8A-4147-A177-3AD203B41FA5}">
                      <a16:colId xmlns:a16="http://schemas.microsoft.com/office/drawing/2014/main" val="1359777914"/>
                    </a:ext>
                  </a:extLst>
                </a:gridCol>
                <a:gridCol w="1024366">
                  <a:extLst>
                    <a:ext uri="{9D8B030D-6E8A-4147-A177-3AD203B41FA5}">
                      <a16:colId xmlns:a16="http://schemas.microsoft.com/office/drawing/2014/main" val="3658186606"/>
                    </a:ext>
                  </a:extLst>
                </a:gridCol>
                <a:gridCol w="3588832">
                  <a:extLst>
                    <a:ext uri="{9D8B030D-6E8A-4147-A177-3AD203B41FA5}">
                      <a16:colId xmlns:a16="http://schemas.microsoft.com/office/drawing/2014/main" val="1768300239"/>
                    </a:ext>
                  </a:extLst>
                </a:gridCol>
                <a:gridCol w="3441700">
                  <a:extLst>
                    <a:ext uri="{9D8B030D-6E8A-4147-A177-3AD203B41FA5}">
                      <a16:colId xmlns:a16="http://schemas.microsoft.com/office/drawing/2014/main" val="3296678039"/>
                    </a:ext>
                  </a:extLst>
                </a:gridCol>
                <a:gridCol w="2140416">
                  <a:extLst>
                    <a:ext uri="{9D8B030D-6E8A-4147-A177-3AD203B41FA5}">
                      <a16:colId xmlns:a16="http://schemas.microsoft.com/office/drawing/2014/main" val="2046462633"/>
                    </a:ext>
                  </a:extLst>
                </a:gridCol>
              </a:tblGrid>
              <a:tr h="43414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(8/16~ 8/19)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(8/22~ 8/26)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243847"/>
                  </a:ext>
                </a:extLst>
              </a:tr>
              <a:tr h="38690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차별화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en-US" altLang="ko-KR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확대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절감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148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10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현장점검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업무지원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3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119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신한은행 의정부점 신규구축 완료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(8/16)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152point)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보안알림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서비스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31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신한은행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개점 중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개점 신규구축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(8/18~19)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13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335point)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361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예정 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유지보수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9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 점검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예상누적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12,310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신규적용 예상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28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494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107,296point)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매를로랩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추가 자료검토 보고 완료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(~8/18)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서비스별 프로세스 재정립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(A/S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및 유지보수 포함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~9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I8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온습도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센서 폐기처리 작업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(8/12~30)</a:t>
                      </a:r>
                    </a:p>
                  </a:txBody>
                  <a:tcPr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148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예상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10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현장점검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업무지원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2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119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보안알림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서비스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신한은행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개점 신규구축 예정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(~ 8/26)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 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통영금융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상무지점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둔산중앙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프리미어산본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고잔지점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20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355point)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예상누적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365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.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(4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예정 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신규구축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경성부경대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대구월성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검단신도시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무악현대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(~8/28)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35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5,587point)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예상누적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12,340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신규적용 예상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30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150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107,446point)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단체주방 화재예방 솔루션 기술검토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 ~8/26)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서비스별 프로세스 재정립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(A/S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및 유지보수 포함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~9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I8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온습도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센서 폐기처리 작업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(8/12~30)</a:t>
                      </a: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</a:t>
                      </a:r>
                      <a:r>
                        <a:rPr lang="ko-KR" altLang="en-US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이슈 및 </a:t>
                      </a:r>
                      <a:r>
                        <a:rPr lang="ko-KR" altLang="en-US" sz="1000" b="1" u="sng" baseline="0" dirty="0" err="1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특이사황</a:t>
                      </a:r>
                      <a:endParaRPr lang="en-US" altLang="ko-KR" sz="1000" b="1" u="sng" baseline="0" dirty="0">
                        <a:solidFill>
                          <a:srgbClr val="C0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1. REMS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kern="1200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이동형화재감지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신규개발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Holding (7/12~ 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Rems :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H/W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통합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(REMS+AI)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구현  및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플랫폼 구성 검토 중 으로 잠시보류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 화재감지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AIOT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융합 개발 재 검토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2. RMS - DDOS </a:t>
                      </a:r>
                      <a:r>
                        <a:rPr lang="ko-KR" altLang="en-US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통신장애 발생</a:t>
                      </a:r>
                      <a:r>
                        <a:rPr lang="en-US" altLang="ko-KR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복구</a:t>
                      </a:r>
                      <a:endParaRPr lang="en-US" altLang="ko-KR" sz="1000" b="0" i="0" u="none" kern="1200" baseline="0" dirty="0">
                        <a:solidFill>
                          <a:srgbClr val="0070C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. 8/8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오전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LTE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라우터가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DDOS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공격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통로로 이용됨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라우터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대랑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트래픽 발생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-&gt;</a:t>
                      </a:r>
                      <a:r>
                        <a:rPr lang="ko-KR" altLang="en-US" sz="1000" b="1" i="0" u="sng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총</a:t>
                      </a:r>
                      <a:r>
                        <a:rPr lang="en-US" altLang="ko-KR" sz="1000" b="1" i="0" u="sng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14</a:t>
                      </a:r>
                      <a:r>
                        <a:rPr lang="ko-KR" altLang="en-US" sz="1000" b="1" i="0" u="sng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 현장발생 이중 </a:t>
                      </a:r>
                      <a:r>
                        <a:rPr lang="en-US" altLang="ko-KR" sz="1000" b="1" i="0" u="sng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8</a:t>
                      </a:r>
                      <a:r>
                        <a:rPr lang="ko-KR" altLang="en-US" sz="1000" b="1" i="0" u="sng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 복구완료   </a:t>
                      </a:r>
                      <a:endParaRPr lang="en-US" altLang="ko-KR" sz="1000" b="1" i="0" u="sng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lang="ko-KR" altLang="en-US" sz="1000" b="1" i="0" u="sng" kern="1200" baseline="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미복구</a:t>
                      </a:r>
                      <a:r>
                        <a:rPr lang="ko-KR" altLang="en-US" sz="1000" b="1" i="0" u="sng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i="0" u="sng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6</a:t>
                      </a:r>
                      <a:r>
                        <a:rPr lang="ko-KR" altLang="en-US" sz="1000" b="1" i="0" u="sng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개소임</a:t>
                      </a:r>
                      <a:r>
                        <a:rPr lang="en-US" altLang="ko-KR" sz="1000" b="1" i="0" u="sng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en-US" altLang="ko-KR" sz="800" b="0" i="0" u="none" kern="1200" baseline="0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baseline="0" dirty="0" err="1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미복구</a:t>
                      </a:r>
                      <a:r>
                        <a:rPr lang="ko-KR" altLang="en-US" sz="800" b="0" i="0" u="none" kern="1200" baseline="0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현장은 라우터 노후로 인한 재 </a:t>
                      </a:r>
                      <a:r>
                        <a:rPr lang="ko-KR" altLang="en-US" sz="800" b="0" i="0" u="none" kern="1200" baseline="0" dirty="0" err="1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개통후</a:t>
                      </a:r>
                      <a:r>
                        <a:rPr lang="ko-KR" altLang="en-US" sz="800" b="0" i="0" u="none" kern="1200" baseline="0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lang="en-US" altLang="ko-KR" sz="800" b="0" i="0" u="none" kern="1200" baseline="0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kern="1200" baseline="0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  </a:t>
                      </a:r>
                      <a:r>
                        <a:rPr lang="ko-KR" altLang="en-US" sz="800" b="0" i="0" u="none" kern="1200" baseline="0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복구예정임</a:t>
                      </a:r>
                      <a:r>
                        <a:rPr lang="en-US" altLang="ko-KR" sz="800" b="0" i="0" u="none" kern="1200" baseline="0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~8/26)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※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추가발생여부는 모니터링 중임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172749"/>
                  </a:ext>
                </a:extLst>
              </a:tr>
            </a:tbl>
          </a:graphicData>
        </a:graphic>
      </p:graphicFrame>
      <p:sp>
        <p:nvSpPr>
          <p:cNvPr id="5" name="Text Box 52">
            <a:extLst>
              <a:ext uri="{FF2B5EF4-FFF2-40B4-BE49-F238E27FC236}">
                <a16:creationId xmlns:a16="http://schemas.microsoft.com/office/drawing/2014/main" id="{43B51F8F-E6E0-4A63-A05B-0D340F3E9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6045" y="351474"/>
            <a:ext cx="356021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633039">
              <a:defRPr/>
            </a:pP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인프라구축센터 주간 동향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(8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주차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E66C603-DCB9-4E10-8D65-BFC73160E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465260"/>
              </p:ext>
            </p:extLst>
          </p:nvPr>
        </p:nvGraphicFramePr>
        <p:xfrm>
          <a:off x="695582" y="5569112"/>
          <a:ext cx="11141284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7022">
                  <a:extLst>
                    <a:ext uri="{9D8B030D-6E8A-4147-A177-3AD203B41FA5}">
                      <a16:colId xmlns:a16="http://schemas.microsoft.com/office/drawing/2014/main" val="17914556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4132086725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726335271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28251607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1083169963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72534020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2727203442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479455419"/>
                    </a:ext>
                  </a:extLst>
                </a:gridCol>
                <a:gridCol w="1482863">
                  <a:extLst>
                    <a:ext uri="{9D8B030D-6E8A-4147-A177-3AD203B41FA5}">
                      <a16:colId xmlns:a16="http://schemas.microsoft.com/office/drawing/2014/main" val="1897296865"/>
                    </a:ext>
                  </a:extLst>
                </a:gridCol>
                <a:gridCol w="1191416">
                  <a:extLst>
                    <a:ext uri="{9D8B030D-6E8A-4147-A177-3AD203B41FA5}">
                      <a16:colId xmlns:a16="http://schemas.microsoft.com/office/drawing/2014/main" val="3170612963"/>
                    </a:ext>
                  </a:extLst>
                </a:gridCol>
                <a:gridCol w="1610829">
                  <a:extLst>
                    <a:ext uri="{9D8B030D-6E8A-4147-A177-3AD203B41FA5}">
                      <a16:colId xmlns:a16="http://schemas.microsoft.com/office/drawing/2014/main" val="528732712"/>
                    </a:ext>
                  </a:extLst>
                </a:gridCol>
              </a:tblGrid>
              <a:tr h="1333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</a:t>
                      </a:r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EMS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영상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</a:t>
                      </a:r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보안알림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267374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사업장 수량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361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(RMS :307, SEMS :54)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12,310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852540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금주  신규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287844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포인트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0/3,446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1/152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0/157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0/3,094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13/335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0/5,552p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494/107,296 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516237"/>
                  </a:ext>
                </a:extLst>
              </a:tr>
            </a:tbl>
          </a:graphicData>
        </a:graphic>
      </p:graphicFrame>
      <p:sp>
        <p:nvSpPr>
          <p:cNvPr id="7" name="Text Box 52">
            <a:extLst>
              <a:ext uri="{FF2B5EF4-FFF2-40B4-BE49-F238E27FC236}">
                <a16:creationId xmlns:a16="http://schemas.microsoft.com/office/drawing/2014/main" id="{A6985EA2-2353-4672-AE1C-1F838A235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582" y="5290762"/>
            <a:ext cx="2055303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33039"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서비스 제공현황 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운영센터 기준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81462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CE7A871-C07D-4024-B178-220A0C6A7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852745"/>
              </p:ext>
            </p:extLst>
          </p:nvPr>
        </p:nvGraphicFramePr>
        <p:xfrm>
          <a:off x="695585" y="546889"/>
          <a:ext cx="11141281" cy="47927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5967">
                  <a:extLst>
                    <a:ext uri="{9D8B030D-6E8A-4147-A177-3AD203B41FA5}">
                      <a16:colId xmlns:a16="http://schemas.microsoft.com/office/drawing/2014/main" val="1359777914"/>
                    </a:ext>
                  </a:extLst>
                </a:gridCol>
                <a:gridCol w="1024366">
                  <a:extLst>
                    <a:ext uri="{9D8B030D-6E8A-4147-A177-3AD203B41FA5}">
                      <a16:colId xmlns:a16="http://schemas.microsoft.com/office/drawing/2014/main" val="3658186606"/>
                    </a:ext>
                  </a:extLst>
                </a:gridCol>
                <a:gridCol w="3588832">
                  <a:extLst>
                    <a:ext uri="{9D8B030D-6E8A-4147-A177-3AD203B41FA5}">
                      <a16:colId xmlns:a16="http://schemas.microsoft.com/office/drawing/2014/main" val="1768300239"/>
                    </a:ext>
                  </a:extLst>
                </a:gridCol>
                <a:gridCol w="3441700">
                  <a:extLst>
                    <a:ext uri="{9D8B030D-6E8A-4147-A177-3AD203B41FA5}">
                      <a16:colId xmlns:a16="http://schemas.microsoft.com/office/drawing/2014/main" val="3296678039"/>
                    </a:ext>
                  </a:extLst>
                </a:gridCol>
                <a:gridCol w="2140416">
                  <a:extLst>
                    <a:ext uri="{9D8B030D-6E8A-4147-A177-3AD203B41FA5}">
                      <a16:colId xmlns:a16="http://schemas.microsoft.com/office/drawing/2014/main" val="2046462633"/>
                    </a:ext>
                  </a:extLst>
                </a:gridCol>
              </a:tblGrid>
              <a:tr h="43414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(8/22~ 8/26)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(8/29~ 9/2)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243847"/>
                  </a:ext>
                </a:extLst>
              </a:tr>
              <a:tr h="38690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차별화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en-US" altLang="ko-KR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확대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절감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148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05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현장점검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업무지원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2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보수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2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endParaRPr lang="en-US" altLang="ko-KR" sz="10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r>
                        <a:rPr lang="ko-KR" altLang="en-US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1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보안알림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서비스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 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신한은행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개점 신규구축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(~ 8/26)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 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통영금융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상무지점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둔산중앙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프리미어산본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고잔지점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22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346point)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365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10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.</a:t>
                      </a:r>
                      <a:r>
                        <a:rPr kumimoji="0" lang="ko-KR" altLang="en-US" sz="10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0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(5</a:t>
                      </a:r>
                      <a:r>
                        <a:rPr kumimoji="0" lang="ko-KR" altLang="en-US" sz="10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0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신규구축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경성부경대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대구월성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검단신도시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무악현대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(~8/28)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인천왕길점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(8/26)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56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5,723point)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12,339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신규적용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30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388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107,684point)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단체주방 화재예방 솔루션 기술검토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 ~9/2)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서비스별 프로세스 재정립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(A/S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및 유지보수 포함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~9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I8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온습도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센서 폐기처리 작업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(8/12~30)</a:t>
                      </a:r>
                    </a:p>
                  </a:txBody>
                  <a:tcPr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149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예상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05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LF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스퀘어 광야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(8/30~31)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MQ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그룹 물류센터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(8/30, 9/1)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05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LF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명동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해지스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신규구축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(8/31)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 서비스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24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0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LG</a:t>
                      </a:r>
                      <a:r>
                        <a:rPr lang="ko-KR" altLang="en-US" sz="105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이노텍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(8/29~30), </a:t>
                      </a:r>
                      <a:r>
                        <a:rPr lang="ko-KR" altLang="en-US" sz="105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화성태안주공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(8/29~30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예상누적 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368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105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.</a:t>
                      </a:r>
                      <a:r>
                        <a:rPr kumimoji="0" lang="ko-KR" altLang="en-US" sz="105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05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(3</a:t>
                      </a:r>
                      <a:r>
                        <a:rPr kumimoji="0" lang="ko-KR" altLang="en-US" sz="105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05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예정 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신규구축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선유도역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부평열우울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용산이촌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(~9/3)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30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5,7537point)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예상누적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12,380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신규적용 예상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41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100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107,4784point)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단체주방 화재예방 솔루션 기술검토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 ~9/2)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서비스별 프로세스 재정립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(A/S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및 유지보수 포함 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~9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I8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온습도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센서 폐기처리 작업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(8/12~30)</a:t>
                      </a: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</a:t>
                      </a:r>
                      <a:r>
                        <a:rPr lang="ko-KR" altLang="en-US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이슈 및 </a:t>
                      </a:r>
                      <a:r>
                        <a:rPr lang="ko-KR" altLang="en-US" sz="1000" b="1" u="sng" baseline="0" dirty="0" err="1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특이사황</a:t>
                      </a:r>
                      <a:endParaRPr lang="en-US" altLang="ko-KR" sz="1000" b="1" u="sng" baseline="0" dirty="0">
                        <a:solidFill>
                          <a:srgbClr val="C0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1. REMS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kern="1200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이동형화재감지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신규개발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Holding (7/12~ 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Rems :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H/W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통합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(REMS+AI)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구현  및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플랫폼 구성 검토 중 으로 잠시보류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 화재감지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AIOT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융합 개발 재 검토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2. CU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편의점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추가제안 중간리뷰 미팅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(8/30)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참석자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BGF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리테일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시설팀장 외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명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S&amp;I :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강종훈 팀장 외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명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TNM : </a:t>
                      </a:r>
                      <a:r>
                        <a:rPr lang="ko-KR" altLang="en-US" sz="1000" b="0" i="0" u="none" kern="1200" baseline="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황의석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kern="1200" baseline="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대표외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명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172749"/>
                  </a:ext>
                </a:extLst>
              </a:tr>
            </a:tbl>
          </a:graphicData>
        </a:graphic>
      </p:graphicFrame>
      <p:sp>
        <p:nvSpPr>
          <p:cNvPr id="5" name="Text Box 52">
            <a:extLst>
              <a:ext uri="{FF2B5EF4-FFF2-40B4-BE49-F238E27FC236}">
                <a16:creationId xmlns:a16="http://schemas.microsoft.com/office/drawing/2014/main" id="{43B51F8F-E6E0-4A63-A05B-0D340F3E9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6045" y="180975"/>
            <a:ext cx="356021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633039">
              <a:defRPr/>
            </a:pP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인프라구축센터 주간 동향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(8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주차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E66C603-DCB9-4E10-8D65-BFC73160E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810290"/>
              </p:ext>
            </p:extLst>
          </p:nvPr>
        </p:nvGraphicFramePr>
        <p:xfrm>
          <a:off x="695582" y="5586656"/>
          <a:ext cx="11141284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7022">
                  <a:extLst>
                    <a:ext uri="{9D8B030D-6E8A-4147-A177-3AD203B41FA5}">
                      <a16:colId xmlns:a16="http://schemas.microsoft.com/office/drawing/2014/main" val="17914556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4132086725"/>
                    </a:ext>
                  </a:extLst>
                </a:gridCol>
                <a:gridCol w="833954">
                  <a:extLst>
                    <a:ext uri="{9D8B030D-6E8A-4147-A177-3AD203B41FA5}">
                      <a16:colId xmlns:a16="http://schemas.microsoft.com/office/drawing/2014/main" val="3726335271"/>
                    </a:ext>
                  </a:extLst>
                </a:gridCol>
                <a:gridCol w="880090">
                  <a:extLst>
                    <a:ext uri="{9D8B030D-6E8A-4147-A177-3AD203B41FA5}">
                      <a16:colId xmlns:a16="http://schemas.microsoft.com/office/drawing/2014/main" val="28251607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1083169963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72534020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2727203442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479455419"/>
                    </a:ext>
                  </a:extLst>
                </a:gridCol>
                <a:gridCol w="1482863">
                  <a:extLst>
                    <a:ext uri="{9D8B030D-6E8A-4147-A177-3AD203B41FA5}">
                      <a16:colId xmlns:a16="http://schemas.microsoft.com/office/drawing/2014/main" val="1897296865"/>
                    </a:ext>
                  </a:extLst>
                </a:gridCol>
                <a:gridCol w="1191416">
                  <a:extLst>
                    <a:ext uri="{9D8B030D-6E8A-4147-A177-3AD203B41FA5}">
                      <a16:colId xmlns:a16="http://schemas.microsoft.com/office/drawing/2014/main" val="3170612963"/>
                    </a:ext>
                  </a:extLst>
                </a:gridCol>
                <a:gridCol w="1610829">
                  <a:extLst>
                    <a:ext uri="{9D8B030D-6E8A-4147-A177-3AD203B41FA5}">
                      <a16:colId xmlns:a16="http://schemas.microsoft.com/office/drawing/2014/main" val="528732712"/>
                    </a:ext>
                  </a:extLst>
                </a:gridCol>
              </a:tblGrid>
              <a:tr h="1410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</a:t>
                      </a:r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EMS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영상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</a:t>
                      </a:r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보안알림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267374"/>
                  </a:ext>
                </a:extLst>
              </a:tr>
              <a:tr h="2156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사업장 수량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365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(RMS :306, SEMS :59)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12,339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852540"/>
                  </a:ext>
                </a:extLst>
              </a:tr>
              <a:tr h="1327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금주  신규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287844"/>
                  </a:ext>
                </a:extLst>
              </a:tr>
              <a:tr h="1327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포인트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0/3,446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1/152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0/157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0/3,094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22/346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0/22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56/5,723p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388/107,684p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516237"/>
                  </a:ext>
                </a:extLst>
              </a:tr>
            </a:tbl>
          </a:graphicData>
        </a:graphic>
      </p:graphicFrame>
      <p:sp>
        <p:nvSpPr>
          <p:cNvPr id="7" name="Text Box 52">
            <a:extLst>
              <a:ext uri="{FF2B5EF4-FFF2-40B4-BE49-F238E27FC236}">
                <a16:creationId xmlns:a16="http://schemas.microsoft.com/office/drawing/2014/main" id="{A6985EA2-2353-4672-AE1C-1F838A235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57" y="5332740"/>
            <a:ext cx="2055303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33039"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서비스 제공현황 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운영센터 기준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4661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CE7A871-C07D-4024-B178-220A0C6A7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3996"/>
              </p:ext>
            </p:extLst>
          </p:nvPr>
        </p:nvGraphicFramePr>
        <p:xfrm>
          <a:off x="695585" y="546889"/>
          <a:ext cx="11141281" cy="52957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5967">
                  <a:extLst>
                    <a:ext uri="{9D8B030D-6E8A-4147-A177-3AD203B41FA5}">
                      <a16:colId xmlns:a16="http://schemas.microsoft.com/office/drawing/2014/main" val="1359777914"/>
                    </a:ext>
                  </a:extLst>
                </a:gridCol>
                <a:gridCol w="1024366">
                  <a:extLst>
                    <a:ext uri="{9D8B030D-6E8A-4147-A177-3AD203B41FA5}">
                      <a16:colId xmlns:a16="http://schemas.microsoft.com/office/drawing/2014/main" val="3658186606"/>
                    </a:ext>
                  </a:extLst>
                </a:gridCol>
                <a:gridCol w="3588832">
                  <a:extLst>
                    <a:ext uri="{9D8B030D-6E8A-4147-A177-3AD203B41FA5}">
                      <a16:colId xmlns:a16="http://schemas.microsoft.com/office/drawing/2014/main" val="1768300239"/>
                    </a:ext>
                  </a:extLst>
                </a:gridCol>
                <a:gridCol w="3441700">
                  <a:extLst>
                    <a:ext uri="{9D8B030D-6E8A-4147-A177-3AD203B41FA5}">
                      <a16:colId xmlns:a16="http://schemas.microsoft.com/office/drawing/2014/main" val="3296678039"/>
                    </a:ext>
                  </a:extLst>
                </a:gridCol>
                <a:gridCol w="2140416">
                  <a:extLst>
                    <a:ext uri="{9D8B030D-6E8A-4147-A177-3AD203B41FA5}">
                      <a16:colId xmlns:a16="http://schemas.microsoft.com/office/drawing/2014/main" val="2046462633"/>
                    </a:ext>
                  </a:extLst>
                </a:gridCol>
              </a:tblGrid>
              <a:tr h="43414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(8/29~ 9/2)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(9/5~ 9/8)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243847"/>
                  </a:ext>
                </a:extLst>
              </a:tr>
              <a:tr h="38690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차별화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en-US" altLang="ko-KR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확대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절감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149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05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LF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스퀘어 광야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(8/30~31)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MQ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그룹 물류센터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(8/30, 9/1)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05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LF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명동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해지스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신규구축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(8/31)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 서비스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0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LG</a:t>
                      </a:r>
                      <a:r>
                        <a:rPr lang="ko-KR" altLang="en-US" sz="105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이노텍파주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(8/29~30), </a:t>
                      </a:r>
                      <a:r>
                        <a:rPr lang="ko-KR" altLang="en-US" sz="105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화성태안주공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(8/29~30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 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견적산출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LG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전자 서초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R&amp;D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캠퍼스 비상벨 견적제출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(9/2)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368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105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.</a:t>
                      </a:r>
                      <a:r>
                        <a:rPr kumimoji="0" lang="ko-KR" altLang="en-US" sz="105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05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(3</a:t>
                      </a:r>
                      <a:r>
                        <a:rPr kumimoji="0" lang="ko-KR" altLang="en-US" sz="105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05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예정 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신규구축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선유도역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부평열우울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용산이촌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(~9/3)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49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5,716point)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12,375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신규적용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36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478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108,162point)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단체주방 화재예방 솔루션 기술검토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 ~9/2)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서비스별 프로세스 재정립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(A/S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및 유지보수 포함 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~9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I8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온습도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센서 폐기처리 작업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(8/12~30)</a:t>
                      </a:r>
                    </a:p>
                  </a:txBody>
                  <a:tcPr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149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예상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05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GS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강서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타워 재구축 실사</a:t>
                      </a:r>
                      <a:endParaRPr lang="en-US" altLang="ko-KR" sz="10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 서비스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24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예상누적 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368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예정 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endParaRPr lang="en-US" altLang="ko-KR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예상누적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12,405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신규적용 예상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30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100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108,262point)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단체주방 화재예방 솔루션 기술검토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 ~9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서비스별 프로세스 재정립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(A/S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및 유지보수 포함 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~9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CU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편의점</a:t>
                      </a: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CU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추가제안서 송부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(~9/8)</a:t>
                      </a: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</a:t>
                      </a:r>
                      <a:r>
                        <a:rPr lang="ko-KR" altLang="en-US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이슈 및 </a:t>
                      </a:r>
                      <a:r>
                        <a:rPr lang="ko-KR" altLang="en-US" sz="1000" b="1" u="sng" baseline="0" dirty="0" err="1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특이사황</a:t>
                      </a:r>
                      <a:endParaRPr lang="en-US" altLang="ko-KR" sz="1000" b="1" u="sng" baseline="0" dirty="0">
                        <a:solidFill>
                          <a:srgbClr val="C0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1. REMS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kern="1200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이동형화재감지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신규개발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Holding (7/12~ 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Rems :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H/W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통합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(REMS+AI)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구현  및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플랫폼 구성 검토 중 으로 잠시보류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 화재감지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AIOT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융합 개발 재 검토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2. CU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편의점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추가제안 중간리뷰 미팅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(8/30)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참석자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BGF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리테일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시설팀장 외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명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S&amp;I : 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강종훈 팀장 외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명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TNM : </a:t>
                      </a:r>
                      <a:r>
                        <a:rPr lang="ko-KR" altLang="en-US" sz="1000" b="0" i="0" u="none" kern="1200" baseline="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황의석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kern="1200" baseline="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대표외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명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172749"/>
                  </a:ext>
                </a:extLst>
              </a:tr>
            </a:tbl>
          </a:graphicData>
        </a:graphic>
      </p:graphicFrame>
      <p:sp>
        <p:nvSpPr>
          <p:cNvPr id="5" name="Text Box 52">
            <a:extLst>
              <a:ext uri="{FF2B5EF4-FFF2-40B4-BE49-F238E27FC236}">
                <a16:creationId xmlns:a16="http://schemas.microsoft.com/office/drawing/2014/main" id="{43B51F8F-E6E0-4A63-A05B-0D340F3E9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6045" y="180975"/>
            <a:ext cx="356021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633039">
              <a:defRPr/>
            </a:pP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인프라구축센터 주간 동향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(9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주차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E66C603-DCB9-4E10-8D65-BFC73160E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314983"/>
              </p:ext>
            </p:extLst>
          </p:nvPr>
        </p:nvGraphicFramePr>
        <p:xfrm>
          <a:off x="695582" y="5869950"/>
          <a:ext cx="11141284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7022">
                  <a:extLst>
                    <a:ext uri="{9D8B030D-6E8A-4147-A177-3AD203B41FA5}">
                      <a16:colId xmlns:a16="http://schemas.microsoft.com/office/drawing/2014/main" val="17914556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4132086725"/>
                    </a:ext>
                  </a:extLst>
                </a:gridCol>
                <a:gridCol w="833954">
                  <a:extLst>
                    <a:ext uri="{9D8B030D-6E8A-4147-A177-3AD203B41FA5}">
                      <a16:colId xmlns:a16="http://schemas.microsoft.com/office/drawing/2014/main" val="3726335271"/>
                    </a:ext>
                  </a:extLst>
                </a:gridCol>
                <a:gridCol w="880090">
                  <a:extLst>
                    <a:ext uri="{9D8B030D-6E8A-4147-A177-3AD203B41FA5}">
                      <a16:colId xmlns:a16="http://schemas.microsoft.com/office/drawing/2014/main" val="28251607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1083169963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72534020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2727203442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479455419"/>
                    </a:ext>
                  </a:extLst>
                </a:gridCol>
                <a:gridCol w="1482863">
                  <a:extLst>
                    <a:ext uri="{9D8B030D-6E8A-4147-A177-3AD203B41FA5}">
                      <a16:colId xmlns:a16="http://schemas.microsoft.com/office/drawing/2014/main" val="1897296865"/>
                    </a:ext>
                  </a:extLst>
                </a:gridCol>
                <a:gridCol w="1191416">
                  <a:extLst>
                    <a:ext uri="{9D8B030D-6E8A-4147-A177-3AD203B41FA5}">
                      <a16:colId xmlns:a16="http://schemas.microsoft.com/office/drawing/2014/main" val="3170612963"/>
                    </a:ext>
                  </a:extLst>
                </a:gridCol>
                <a:gridCol w="1610829">
                  <a:extLst>
                    <a:ext uri="{9D8B030D-6E8A-4147-A177-3AD203B41FA5}">
                      <a16:colId xmlns:a16="http://schemas.microsoft.com/office/drawing/2014/main" val="528732712"/>
                    </a:ext>
                  </a:extLst>
                </a:gridCol>
              </a:tblGrid>
              <a:tr h="1829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</a:t>
                      </a:r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EMS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영상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보안알림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267374"/>
                  </a:ext>
                </a:extLst>
              </a:tr>
              <a:tr h="2797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사업장 수량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368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(RMS :306, SEMS :62)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12,375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852540"/>
                  </a:ext>
                </a:extLst>
              </a:tr>
              <a:tr h="1721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금주  신규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287844"/>
                  </a:ext>
                </a:extLst>
              </a:tr>
              <a:tr h="1721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포인트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9/3,455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1/153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0/157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0/108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0/3,094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0/346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9/109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49/5,716p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478/108,162p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516237"/>
                  </a:ext>
                </a:extLst>
              </a:tr>
            </a:tbl>
          </a:graphicData>
        </a:graphic>
      </p:graphicFrame>
      <p:sp>
        <p:nvSpPr>
          <p:cNvPr id="7" name="Text Box 52">
            <a:extLst>
              <a:ext uri="{FF2B5EF4-FFF2-40B4-BE49-F238E27FC236}">
                <a16:creationId xmlns:a16="http://schemas.microsoft.com/office/drawing/2014/main" id="{A6985EA2-2353-4672-AE1C-1F838A235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57" y="5332740"/>
            <a:ext cx="2055303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33039"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서비스 제공현황 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운영센터 기준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03242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CE7A871-C07D-4024-B178-220A0C6A7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531112"/>
              </p:ext>
            </p:extLst>
          </p:nvPr>
        </p:nvGraphicFramePr>
        <p:xfrm>
          <a:off x="695585" y="546889"/>
          <a:ext cx="11141281" cy="48156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5967">
                  <a:extLst>
                    <a:ext uri="{9D8B030D-6E8A-4147-A177-3AD203B41FA5}">
                      <a16:colId xmlns:a16="http://schemas.microsoft.com/office/drawing/2014/main" val="1359777914"/>
                    </a:ext>
                  </a:extLst>
                </a:gridCol>
                <a:gridCol w="1024366">
                  <a:extLst>
                    <a:ext uri="{9D8B030D-6E8A-4147-A177-3AD203B41FA5}">
                      <a16:colId xmlns:a16="http://schemas.microsoft.com/office/drawing/2014/main" val="3658186606"/>
                    </a:ext>
                  </a:extLst>
                </a:gridCol>
                <a:gridCol w="3588832">
                  <a:extLst>
                    <a:ext uri="{9D8B030D-6E8A-4147-A177-3AD203B41FA5}">
                      <a16:colId xmlns:a16="http://schemas.microsoft.com/office/drawing/2014/main" val="1768300239"/>
                    </a:ext>
                  </a:extLst>
                </a:gridCol>
                <a:gridCol w="3441700">
                  <a:extLst>
                    <a:ext uri="{9D8B030D-6E8A-4147-A177-3AD203B41FA5}">
                      <a16:colId xmlns:a16="http://schemas.microsoft.com/office/drawing/2014/main" val="3296678039"/>
                    </a:ext>
                  </a:extLst>
                </a:gridCol>
                <a:gridCol w="2140416">
                  <a:extLst>
                    <a:ext uri="{9D8B030D-6E8A-4147-A177-3AD203B41FA5}">
                      <a16:colId xmlns:a16="http://schemas.microsoft.com/office/drawing/2014/main" val="2046462633"/>
                    </a:ext>
                  </a:extLst>
                </a:gridCol>
              </a:tblGrid>
              <a:tr h="43414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(9/5~ 9/8)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(9/13~ 9/16)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243847"/>
                  </a:ext>
                </a:extLst>
              </a:tr>
              <a:tr h="38690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차별화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en-US" altLang="ko-KR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확대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절감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149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10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마곡 </a:t>
                      </a:r>
                      <a:r>
                        <a:rPr lang="ko-KR" alt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뉴파워프라즈마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 서비스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 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="1" i="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="1" i="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i="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i="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368</a:t>
                      </a:r>
                      <a:r>
                        <a:rPr lang="ko-KR" altLang="en-US" sz="1100" b="1" i="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i="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105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.</a:t>
                      </a:r>
                      <a:r>
                        <a:rPr kumimoji="0" lang="ko-KR" altLang="en-US" sz="105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05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05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05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예정 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12,375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신규적용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35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414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108,036point)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기타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en-US" altLang="ko-KR" sz="1050" b="1" i="0" kern="120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'23</a:t>
                      </a:r>
                      <a:r>
                        <a:rPr lang="ko-KR" altLang="en-US" sz="1050" b="1" i="0" kern="120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50" b="1" i="0" kern="120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SEMS </a:t>
                      </a:r>
                      <a:r>
                        <a:rPr lang="ko-KR" altLang="en-US" sz="1050" b="1" i="0" kern="120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재계약 미팅 </a:t>
                      </a:r>
                      <a:r>
                        <a:rPr lang="en-US" altLang="ko-KR" sz="1050" b="1" i="0" kern="120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</a:t>
                      </a:r>
                      <a:r>
                        <a:rPr lang="ko-KR" altLang="en-US" sz="1050" b="1" i="0" kern="120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차</a:t>
                      </a:r>
                      <a:r>
                        <a:rPr lang="en-US" altLang="ko-KR" sz="1050" b="1" i="0" kern="120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_9/7)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단체주방 화재예방 솔루션 기술검토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 ~9/2)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서비스별 프로세스 재정립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(A/S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및 유지보수 포함 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~9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I8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온습도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센서 폐기처리 작업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(8/12~30)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CU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편의점</a:t>
                      </a: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CU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추가제안서 송부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(9/8)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149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예상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05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GS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강서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타워 재구축 실사</a:t>
                      </a:r>
                      <a:endParaRPr lang="en-US" altLang="ko-KR" sz="10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 서비스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24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100" b="1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 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100" b="1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="1" i="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="1" i="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i="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예상누적 </a:t>
                      </a:r>
                      <a:r>
                        <a:rPr lang="en-US" altLang="ko-KR" sz="1100" b="1" i="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368</a:t>
                      </a:r>
                      <a:r>
                        <a:rPr lang="ko-KR" altLang="en-US" sz="1100" b="1" i="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i="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예정 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endParaRPr lang="en-US" altLang="ko-KR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예상누적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12,404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신규적용 예상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30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100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108,136point)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단체주방 화재예방 솔루션 기술검토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 ~9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서비스별 프로세스 재정립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(A/S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및 유지보수 포함 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~9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</a:t>
                      </a:r>
                      <a:r>
                        <a:rPr lang="ko-KR" altLang="en-US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이슈 및 </a:t>
                      </a:r>
                      <a:r>
                        <a:rPr lang="ko-KR" altLang="en-US" sz="1000" b="1" u="sng" baseline="0" dirty="0" err="1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특이사황</a:t>
                      </a:r>
                      <a:endParaRPr lang="en-US" altLang="ko-KR" sz="1000" b="1" u="sng" baseline="0" dirty="0">
                        <a:solidFill>
                          <a:srgbClr val="C0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1. REMS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kern="1200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이동형화재감지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신규개발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Holding (7/12~ 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Rems :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H/W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통합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(REMS+AI)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구현  및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플랫폼 구성 검토 중 으로 잠시보류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 화재감지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AIOT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융합 개발 재 검토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172749"/>
                  </a:ext>
                </a:extLst>
              </a:tr>
            </a:tbl>
          </a:graphicData>
        </a:graphic>
      </p:graphicFrame>
      <p:sp>
        <p:nvSpPr>
          <p:cNvPr id="5" name="Text Box 52">
            <a:extLst>
              <a:ext uri="{FF2B5EF4-FFF2-40B4-BE49-F238E27FC236}">
                <a16:creationId xmlns:a16="http://schemas.microsoft.com/office/drawing/2014/main" id="{43B51F8F-E6E0-4A63-A05B-0D340F3E9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6045" y="180975"/>
            <a:ext cx="356021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633039">
              <a:defRPr/>
            </a:pP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인프라구축센터 주간 동향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(9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주차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E66C603-DCB9-4E10-8D65-BFC73160E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769612"/>
              </p:ext>
            </p:extLst>
          </p:nvPr>
        </p:nvGraphicFramePr>
        <p:xfrm>
          <a:off x="695585" y="5648970"/>
          <a:ext cx="11141284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7022">
                  <a:extLst>
                    <a:ext uri="{9D8B030D-6E8A-4147-A177-3AD203B41FA5}">
                      <a16:colId xmlns:a16="http://schemas.microsoft.com/office/drawing/2014/main" val="17914556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4132086725"/>
                    </a:ext>
                  </a:extLst>
                </a:gridCol>
                <a:gridCol w="833954">
                  <a:extLst>
                    <a:ext uri="{9D8B030D-6E8A-4147-A177-3AD203B41FA5}">
                      <a16:colId xmlns:a16="http://schemas.microsoft.com/office/drawing/2014/main" val="3726335271"/>
                    </a:ext>
                  </a:extLst>
                </a:gridCol>
                <a:gridCol w="880090">
                  <a:extLst>
                    <a:ext uri="{9D8B030D-6E8A-4147-A177-3AD203B41FA5}">
                      <a16:colId xmlns:a16="http://schemas.microsoft.com/office/drawing/2014/main" val="28251607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1083169963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72534020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2727203442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479455419"/>
                    </a:ext>
                  </a:extLst>
                </a:gridCol>
                <a:gridCol w="1482863">
                  <a:extLst>
                    <a:ext uri="{9D8B030D-6E8A-4147-A177-3AD203B41FA5}">
                      <a16:colId xmlns:a16="http://schemas.microsoft.com/office/drawing/2014/main" val="1897296865"/>
                    </a:ext>
                  </a:extLst>
                </a:gridCol>
                <a:gridCol w="1191416">
                  <a:extLst>
                    <a:ext uri="{9D8B030D-6E8A-4147-A177-3AD203B41FA5}">
                      <a16:colId xmlns:a16="http://schemas.microsoft.com/office/drawing/2014/main" val="3170612963"/>
                    </a:ext>
                  </a:extLst>
                </a:gridCol>
                <a:gridCol w="1610829">
                  <a:extLst>
                    <a:ext uri="{9D8B030D-6E8A-4147-A177-3AD203B41FA5}">
                      <a16:colId xmlns:a16="http://schemas.microsoft.com/office/drawing/2014/main" val="528732712"/>
                    </a:ext>
                  </a:extLst>
                </a:gridCol>
              </a:tblGrid>
              <a:tr h="1829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</a:t>
                      </a:r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EMS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영상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보안알림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267374"/>
                  </a:ext>
                </a:extLst>
              </a:tr>
              <a:tr h="2797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사업장 수량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368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(RMS :306, SEMS :62)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12,374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852540"/>
                  </a:ext>
                </a:extLst>
              </a:tr>
              <a:tr h="1721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금주  신규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287844"/>
                  </a:ext>
                </a:extLst>
              </a:tr>
              <a:tr h="1721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포인트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0/3,455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0/153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0/157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0/108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0/3,094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0/346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0/109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0/5,716p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414/108,036p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516237"/>
                  </a:ext>
                </a:extLst>
              </a:tr>
            </a:tbl>
          </a:graphicData>
        </a:graphic>
      </p:graphicFrame>
      <p:sp>
        <p:nvSpPr>
          <p:cNvPr id="7" name="Text Box 52">
            <a:extLst>
              <a:ext uri="{FF2B5EF4-FFF2-40B4-BE49-F238E27FC236}">
                <a16:creationId xmlns:a16="http://schemas.microsoft.com/office/drawing/2014/main" id="{A6985EA2-2353-4672-AE1C-1F838A235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57" y="5332740"/>
            <a:ext cx="2055303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33039"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서비스 제공현황 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운영센터 기준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64527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CE7A871-C07D-4024-B178-220A0C6A7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455941"/>
              </p:ext>
            </p:extLst>
          </p:nvPr>
        </p:nvGraphicFramePr>
        <p:xfrm>
          <a:off x="695585" y="546889"/>
          <a:ext cx="11141281" cy="48308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5967">
                  <a:extLst>
                    <a:ext uri="{9D8B030D-6E8A-4147-A177-3AD203B41FA5}">
                      <a16:colId xmlns:a16="http://schemas.microsoft.com/office/drawing/2014/main" val="1359777914"/>
                    </a:ext>
                  </a:extLst>
                </a:gridCol>
                <a:gridCol w="1024366">
                  <a:extLst>
                    <a:ext uri="{9D8B030D-6E8A-4147-A177-3AD203B41FA5}">
                      <a16:colId xmlns:a16="http://schemas.microsoft.com/office/drawing/2014/main" val="3658186606"/>
                    </a:ext>
                  </a:extLst>
                </a:gridCol>
                <a:gridCol w="3588832">
                  <a:extLst>
                    <a:ext uri="{9D8B030D-6E8A-4147-A177-3AD203B41FA5}">
                      <a16:colId xmlns:a16="http://schemas.microsoft.com/office/drawing/2014/main" val="1768300239"/>
                    </a:ext>
                  </a:extLst>
                </a:gridCol>
                <a:gridCol w="3441700">
                  <a:extLst>
                    <a:ext uri="{9D8B030D-6E8A-4147-A177-3AD203B41FA5}">
                      <a16:colId xmlns:a16="http://schemas.microsoft.com/office/drawing/2014/main" val="3296678039"/>
                    </a:ext>
                  </a:extLst>
                </a:gridCol>
                <a:gridCol w="2140416">
                  <a:extLst>
                    <a:ext uri="{9D8B030D-6E8A-4147-A177-3AD203B41FA5}">
                      <a16:colId xmlns:a16="http://schemas.microsoft.com/office/drawing/2014/main" val="2046462633"/>
                    </a:ext>
                  </a:extLst>
                </a:gridCol>
              </a:tblGrid>
              <a:tr h="43414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(9/13~ 9/16)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(9/13~ 9/16)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243847"/>
                  </a:ext>
                </a:extLst>
              </a:tr>
              <a:tr h="3810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차별화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en-US" altLang="ko-KR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확대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절감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2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2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(149</a:t>
                      </a:r>
                      <a:r>
                        <a:rPr lang="ko-KR" altLang="en-US" sz="12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2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10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디지털큐브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마곡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뉴파워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플라즈마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비용산출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aseline="0" dirty="0">
                          <a:solidFill>
                            <a:schemeClr val="accent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※ U+ </a:t>
                      </a:r>
                      <a:r>
                        <a:rPr lang="ko-KR" altLang="en-US" sz="1050" baseline="0" dirty="0" err="1">
                          <a:solidFill>
                            <a:schemeClr val="accent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북수원</a:t>
                      </a:r>
                      <a:r>
                        <a:rPr lang="ko-KR" altLang="en-US" sz="1050" baseline="0" dirty="0">
                          <a:solidFill>
                            <a:schemeClr val="accent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50" baseline="0" dirty="0" err="1">
                          <a:solidFill>
                            <a:schemeClr val="accent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관제점</a:t>
                      </a:r>
                      <a:r>
                        <a:rPr lang="ko-KR" altLang="en-US" sz="1050" baseline="0" dirty="0">
                          <a:solidFill>
                            <a:schemeClr val="accent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추가</a:t>
                      </a:r>
                      <a:endParaRPr lang="en-US" altLang="ko-KR" sz="1050" baseline="0" dirty="0">
                        <a:solidFill>
                          <a:schemeClr val="accent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EMS (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통신단절 현장점검 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endParaRPr lang="en-US" altLang="ko-KR" sz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 서비스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24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 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100" b="1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368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예정 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RMS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유지보수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영남권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점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중부권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1,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수도권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6,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강원권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i="0" kern="120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12,388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신규적용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14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306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108,342point)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※ GSR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주관 협력업체 월례회의진행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(9/16)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단체주방 화재예방 솔루션 기술검토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 ~9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서비스별 프로세스 재정립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(A/S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및 유지보수 포함 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~9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149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예상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10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GS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강서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타워 재구축 실사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마곡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뉴파워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플라즈마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비용산출 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EMS (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통신단절 현장점검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100" b="0" u="non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건예정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 서비스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24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 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100" b="1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368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예정 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RMS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유지보수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중부권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3,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수도권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endParaRPr lang="en-US" altLang="ko-KR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예상누적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12,400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신규적용 예상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12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100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108,442point)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GSR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주관 간판 운영회의 진행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(9/22)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단체주방 화재예방 솔루션 기술검토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 ~9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서비스별 프로세스 재정립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(A/S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및 유지보수 포함 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~9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</a:t>
                      </a:r>
                      <a:r>
                        <a:rPr lang="ko-KR" altLang="en-US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이슈 및 </a:t>
                      </a:r>
                      <a:r>
                        <a:rPr lang="ko-KR" altLang="en-US" sz="1000" b="1" u="sng" baseline="0" dirty="0" err="1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특이사황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1. REMS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kern="1200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이동형화재감지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신규개발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Holding (7/12~ 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Rems :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H/W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통합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(REMS+AI)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구현  및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플랫폼 구성 검토 중 으로 잠시보류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 화재감지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AIOT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융합 개발 재 검토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2. GS</a:t>
                      </a:r>
                      <a:r>
                        <a:rPr lang="ko-KR" altLang="en-US" sz="1000" b="1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슈퍼 물품피해 사고 이슈</a:t>
                      </a:r>
                      <a:endParaRPr lang="en-US" altLang="ko-KR" sz="1000" b="1" i="0" u="none" kern="1200" baseline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900" b="0" i="0" u="none" kern="1200" baseline="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점포명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GS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수퍼 속초 </a:t>
                      </a:r>
                      <a:r>
                        <a:rPr lang="ko-KR" altLang="en-US" sz="900" b="0" i="0" u="none" kern="1200" baseline="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교동점</a:t>
                      </a:r>
                      <a:endParaRPr lang="en-US" altLang="ko-KR" sz="9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900" b="0" i="0" u="none" kern="1200" baseline="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피해낭설비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900" b="0" i="0" u="none" kern="1200" baseline="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수산냉동고</a:t>
                      </a:r>
                      <a:endParaRPr lang="en-US" altLang="ko-KR" sz="9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피해현황 </a:t>
                      </a: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아이스크림</a:t>
                      </a: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0" i="0" u="none" kern="1200" baseline="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냉동간편식류</a:t>
                      </a:r>
                      <a:endParaRPr lang="en-US" altLang="ko-KR" sz="9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피해금액</a:t>
                      </a: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en-US" altLang="ko-KR" sz="9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975,000</a:t>
                      </a:r>
                      <a:r>
                        <a:rPr lang="ko-KR" altLang="en-US" sz="9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원</a:t>
                      </a:r>
                      <a:r>
                        <a:rPr lang="en-US" altLang="ko-KR" sz="9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보험처리</a:t>
                      </a:r>
                      <a:r>
                        <a:rPr lang="en-US" altLang="ko-KR" sz="9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발생원인 </a:t>
                      </a: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900" b="0" i="0" u="none" kern="1200" baseline="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수산냉동고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냉매부족에 의한 </a:t>
                      </a:r>
                      <a:endParaRPr lang="en-US" altLang="ko-KR" sz="9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온도 저하가 발생되었으나 </a:t>
                      </a:r>
                      <a:r>
                        <a:rPr lang="ko-KR" altLang="en-US" sz="900" b="0" i="0" u="none" kern="1200" baseline="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센서에러</a:t>
                      </a: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방전</a:t>
                      </a: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발생으로 </a:t>
                      </a:r>
                      <a:r>
                        <a:rPr lang="ko-KR" altLang="en-US" sz="9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온도이상 미 감지 및 알람 불가</a:t>
                      </a:r>
                      <a:r>
                        <a:rPr lang="en-US" altLang="ko-KR" sz="9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개선대책 </a:t>
                      </a: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노후화 온도센서 대상 배터리</a:t>
                      </a:r>
                      <a:endParaRPr lang="en-US" altLang="ko-KR" sz="9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완충 상태 확인후 </a:t>
                      </a:r>
                      <a:r>
                        <a:rPr lang="ko-KR" altLang="en-US" sz="900" b="0" i="0" u="none" kern="1200" baseline="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부족분 단계별 교체예정 </a:t>
                      </a:r>
                      <a:endParaRPr lang="en-US" altLang="ko-KR" sz="900" b="0" i="0" u="none" kern="1200" baseline="0" dirty="0">
                        <a:solidFill>
                          <a:srgbClr val="0070C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3. LTE </a:t>
                      </a:r>
                      <a:r>
                        <a:rPr lang="ko-KR" altLang="en-US" sz="1000" b="1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라우터 과다 청구</a:t>
                      </a:r>
                      <a:endParaRPr lang="en-US" altLang="ko-KR" sz="1000" b="1" i="0" u="none" kern="1200" baseline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- 8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DDOS 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공격 발생에 따른 </a:t>
                      </a:r>
                      <a:endParaRPr lang="en-US" altLang="ko-KR" sz="9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데이터 요금 과다청구</a:t>
                      </a:r>
                      <a:endParaRPr lang="en-US" altLang="ko-KR" sz="9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1,100</a:t>
                      </a:r>
                      <a:r>
                        <a:rPr lang="ko-KR" altLang="en-US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만 수준 →</a:t>
                      </a:r>
                      <a:r>
                        <a:rPr lang="en-US" altLang="ko-KR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9</a:t>
                      </a:r>
                      <a:r>
                        <a:rPr lang="ko-KR" altLang="en-US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6,700</a:t>
                      </a:r>
                      <a:r>
                        <a:rPr lang="ko-KR" altLang="en-US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만원 청구</a:t>
                      </a:r>
                      <a:r>
                        <a:rPr lang="en-US" altLang="ko-KR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요금과다 청구현장 </a:t>
                      </a: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① 광화문 </a:t>
                      </a: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RMS : 40,984,765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원</a:t>
                      </a:r>
                      <a:endParaRPr lang="en-US" altLang="ko-KR" sz="9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② </a:t>
                      </a: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GS</a:t>
                      </a:r>
                      <a:r>
                        <a:rPr lang="ko-KR" altLang="en-US" sz="900" b="0" i="0" u="none" kern="1200" baseline="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수퍼상계</a:t>
                      </a: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b="0" i="0" u="none" kern="1200" baseline="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네가와트</a:t>
                      </a: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: 9,858, 517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원</a:t>
                      </a:r>
                      <a:endParaRPr lang="en-US" altLang="ko-KR" sz="9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③ </a:t>
                      </a: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KT&amp;G : 24,717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원</a:t>
                      </a:r>
                      <a:endParaRPr lang="en-US" altLang="ko-KR" sz="9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900" b="0" i="0" u="none" kern="1200" baseline="0" dirty="0" err="1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나우티엔에스</a:t>
                      </a:r>
                      <a:r>
                        <a:rPr lang="en-US" altLang="ko-KR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(LU+ </a:t>
                      </a:r>
                      <a:r>
                        <a:rPr lang="ko-KR" altLang="en-US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라우터 개통 대리점</a:t>
                      </a:r>
                      <a:r>
                        <a:rPr lang="en-US" altLang="ko-KR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요금관련 재확인 </a:t>
                      </a:r>
                      <a:r>
                        <a:rPr lang="ko-KR" altLang="en-US" sz="900" b="0" i="0" u="none" kern="1200" baseline="0" dirty="0" err="1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요청중</a:t>
                      </a:r>
                      <a:endParaRPr lang="en-US" altLang="ko-KR" sz="900" b="0" i="0" u="none" kern="1200" baseline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172749"/>
                  </a:ext>
                </a:extLst>
              </a:tr>
            </a:tbl>
          </a:graphicData>
        </a:graphic>
      </p:graphicFrame>
      <p:sp>
        <p:nvSpPr>
          <p:cNvPr id="5" name="Text Box 52">
            <a:extLst>
              <a:ext uri="{FF2B5EF4-FFF2-40B4-BE49-F238E27FC236}">
                <a16:creationId xmlns:a16="http://schemas.microsoft.com/office/drawing/2014/main" id="{43B51F8F-E6E0-4A63-A05B-0D340F3E9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6045" y="180975"/>
            <a:ext cx="356021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633039">
              <a:defRPr/>
            </a:pP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인프라구축센터 주간 동향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(9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주차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E66C603-DCB9-4E10-8D65-BFC73160E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622825"/>
              </p:ext>
            </p:extLst>
          </p:nvPr>
        </p:nvGraphicFramePr>
        <p:xfrm>
          <a:off x="695585" y="5659046"/>
          <a:ext cx="11141284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7022">
                  <a:extLst>
                    <a:ext uri="{9D8B030D-6E8A-4147-A177-3AD203B41FA5}">
                      <a16:colId xmlns:a16="http://schemas.microsoft.com/office/drawing/2014/main" val="17914556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4132086725"/>
                    </a:ext>
                  </a:extLst>
                </a:gridCol>
                <a:gridCol w="833954">
                  <a:extLst>
                    <a:ext uri="{9D8B030D-6E8A-4147-A177-3AD203B41FA5}">
                      <a16:colId xmlns:a16="http://schemas.microsoft.com/office/drawing/2014/main" val="3726335271"/>
                    </a:ext>
                  </a:extLst>
                </a:gridCol>
                <a:gridCol w="880090">
                  <a:extLst>
                    <a:ext uri="{9D8B030D-6E8A-4147-A177-3AD203B41FA5}">
                      <a16:colId xmlns:a16="http://schemas.microsoft.com/office/drawing/2014/main" val="28251607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1083169963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72534020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2727203442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479455419"/>
                    </a:ext>
                  </a:extLst>
                </a:gridCol>
                <a:gridCol w="1482863">
                  <a:extLst>
                    <a:ext uri="{9D8B030D-6E8A-4147-A177-3AD203B41FA5}">
                      <a16:colId xmlns:a16="http://schemas.microsoft.com/office/drawing/2014/main" val="1897296865"/>
                    </a:ext>
                  </a:extLst>
                </a:gridCol>
                <a:gridCol w="1191416">
                  <a:extLst>
                    <a:ext uri="{9D8B030D-6E8A-4147-A177-3AD203B41FA5}">
                      <a16:colId xmlns:a16="http://schemas.microsoft.com/office/drawing/2014/main" val="3170612963"/>
                    </a:ext>
                  </a:extLst>
                </a:gridCol>
                <a:gridCol w="1610829">
                  <a:extLst>
                    <a:ext uri="{9D8B030D-6E8A-4147-A177-3AD203B41FA5}">
                      <a16:colId xmlns:a16="http://schemas.microsoft.com/office/drawing/2014/main" val="528732712"/>
                    </a:ext>
                  </a:extLst>
                </a:gridCol>
              </a:tblGrid>
              <a:tr h="1829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</a:t>
                      </a:r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EMS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영상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보안알림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267374"/>
                  </a:ext>
                </a:extLst>
              </a:tr>
              <a:tr h="2797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사업장 수량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368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(RMS :306, SEMS :62)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12,388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852540"/>
                  </a:ext>
                </a:extLst>
              </a:tr>
              <a:tr h="1721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금주  신규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287844"/>
                  </a:ext>
                </a:extLst>
              </a:tr>
              <a:tr h="1721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포인트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1/3,456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0/153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0/157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0/108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0/3,094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0/346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0/109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0/5,716p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306/108,342p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516237"/>
                  </a:ext>
                </a:extLst>
              </a:tr>
            </a:tbl>
          </a:graphicData>
        </a:graphic>
      </p:graphicFrame>
      <p:sp>
        <p:nvSpPr>
          <p:cNvPr id="7" name="Text Box 52">
            <a:extLst>
              <a:ext uri="{FF2B5EF4-FFF2-40B4-BE49-F238E27FC236}">
                <a16:creationId xmlns:a16="http://schemas.microsoft.com/office/drawing/2014/main" id="{A6985EA2-2353-4672-AE1C-1F838A235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585" y="5405130"/>
            <a:ext cx="2055303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33039"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서비스 제공현황 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운영센터 기준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27681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CE7A871-C07D-4024-B178-220A0C6A7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090555"/>
              </p:ext>
            </p:extLst>
          </p:nvPr>
        </p:nvGraphicFramePr>
        <p:xfrm>
          <a:off x="695585" y="546889"/>
          <a:ext cx="11141281" cy="48766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5967">
                  <a:extLst>
                    <a:ext uri="{9D8B030D-6E8A-4147-A177-3AD203B41FA5}">
                      <a16:colId xmlns:a16="http://schemas.microsoft.com/office/drawing/2014/main" val="1359777914"/>
                    </a:ext>
                  </a:extLst>
                </a:gridCol>
                <a:gridCol w="1024366">
                  <a:extLst>
                    <a:ext uri="{9D8B030D-6E8A-4147-A177-3AD203B41FA5}">
                      <a16:colId xmlns:a16="http://schemas.microsoft.com/office/drawing/2014/main" val="3658186606"/>
                    </a:ext>
                  </a:extLst>
                </a:gridCol>
                <a:gridCol w="3588832">
                  <a:extLst>
                    <a:ext uri="{9D8B030D-6E8A-4147-A177-3AD203B41FA5}">
                      <a16:colId xmlns:a16="http://schemas.microsoft.com/office/drawing/2014/main" val="1768300239"/>
                    </a:ext>
                  </a:extLst>
                </a:gridCol>
                <a:gridCol w="3441700">
                  <a:extLst>
                    <a:ext uri="{9D8B030D-6E8A-4147-A177-3AD203B41FA5}">
                      <a16:colId xmlns:a16="http://schemas.microsoft.com/office/drawing/2014/main" val="3296678039"/>
                    </a:ext>
                  </a:extLst>
                </a:gridCol>
                <a:gridCol w="2140416">
                  <a:extLst>
                    <a:ext uri="{9D8B030D-6E8A-4147-A177-3AD203B41FA5}">
                      <a16:colId xmlns:a16="http://schemas.microsoft.com/office/drawing/2014/main" val="2046462633"/>
                    </a:ext>
                  </a:extLst>
                </a:gridCol>
              </a:tblGrid>
              <a:tr h="43414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(9/17~ 9/21)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(9/24~ 9/28)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243847"/>
                  </a:ext>
                </a:extLst>
              </a:tr>
              <a:tr h="3810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차별화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en-US" altLang="ko-KR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확대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절감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149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10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GS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강서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타워 재구축 실사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(9/22)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현장점검 및 보수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EMS (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통신단절 현장점검 및 보수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endParaRPr lang="en-US" altLang="ko-KR" sz="1100" b="0" u="non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 서비스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24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 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368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예정 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RMS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유지보수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영남권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22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점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수도권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i="0" kern="120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12,407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신규적용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19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359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108,701point)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자산현황 파악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(~9/22)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라우터 통신 비용처리 업무협조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비용품의 및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ERP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작업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9/22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LG</a:t>
                      </a:r>
                      <a:r>
                        <a:rPr lang="ko-KR" alt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트위타워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(27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층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공기질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전도성 필터 설치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(9/24)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파인애플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온습도센서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서버 셋팅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과천에너지솔루션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13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149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예상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10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상암디지털큐브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RMS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노후장비 재구축 견적산출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현장점검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EMS (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  G/W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조도센서 신규 적용 모듈 연동 테스트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(9/27)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 서비스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24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 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369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예정 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신규구축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세종해들마을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(9/27)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RMS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유지보수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중부권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수도권</a:t>
                      </a:r>
                      <a:endParaRPr lang="en-US" altLang="ko-KR" sz="1100" b="0" i="0" kern="120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endParaRPr lang="en-US" altLang="ko-KR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예상누적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12,400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신규적용 예상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12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108,442point)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rgbClr val="0070C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</a:t>
                      </a:r>
                      <a:r>
                        <a:rPr lang="en-US" altLang="ko-KR" sz="1100" b="0" i="0" kern="120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'23</a:t>
                      </a:r>
                      <a:r>
                        <a:rPr lang="ko-KR" altLang="en-US" sz="1100" b="0" i="0" kern="120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b="0" i="0" kern="120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100" b="0" i="0" kern="120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차 재계약 미팅 </a:t>
                      </a:r>
                      <a:r>
                        <a:rPr lang="en-US" altLang="ko-KR" sz="1100" b="0" i="0" kern="1200" dirty="0">
                          <a:solidFill>
                            <a:srgbClr val="0070C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(9/29)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라우터 통신비용 처리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비용품의 및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ERP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작업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9/30)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서비스별 프로세스 재정립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(A/S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및 유지보수 포함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~9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.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인프라구축센터 자산실사 체크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(~9/27)</a:t>
                      </a: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</a:t>
                      </a:r>
                      <a:r>
                        <a:rPr lang="ko-KR" altLang="en-US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이슈 및 </a:t>
                      </a:r>
                      <a:r>
                        <a:rPr lang="ko-KR" altLang="en-US" sz="1000" b="1" u="sng" baseline="0" dirty="0" err="1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특이사황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1. REMS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kern="1200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이동형화재감지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신규개발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Holding (7/12~ 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Rems :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H/W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통합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(REMS+AI)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구현  및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플랫폼 구성 검토 중 으로 잠시보류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 화재감지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AIOT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융합 개발 재 검토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3. LTE </a:t>
                      </a:r>
                      <a:r>
                        <a:rPr lang="ko-KR" altLang="en-US" sz="1000" b="1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라우터 과다 청구</a:t>
                      </a:r>
                      <a:endParaRPr lang="en-US" altLang="ko-KR" sz="1000" b="1" i="0" u="none" kern="1200" baseline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- 8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데이터 요금 과다청구</a:t>
                      </a:r>
                      <a:endParaRPr lang="en-US" altLang="ko-KR" sz="9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1,100</a:t>
                      </a:r>
                      <a:r>
                        <a:rPr lang="ko-KR" altLang="en-US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만 수준 →</a:t>
                      </a:r>
                      <a:r>
                        <a:rPr lang="en-US" altLang="ko-KR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9</a:t>
                      </a:r>
                      <a:r>
                        <a:rPr lang="ko-KR" altLang="en-US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6,700</a:t>
                      </a:r>
                      <a:r>
                        <a:rPr lang="ko-KR" altLang="en-US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만원 청구</a:t>
                      </a:r>
                      <a:r>
                        <a:rPr lang="en-US" altLang="ko-KR" sz="9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- LGU+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측 과다요금 해지 및  지로 영수증</a:t>
                      </a:r>
                      <a:endParaRPr lang="en-US" altLang="ko-KR" sz="9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lang="ko-KR" altLang="en-US" sz="9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재 발행 예정</a:t>
                      </a:r>
                      <a:endParaRPr lang="en-US" altLang="ko-KR" sz="900" b="0" i="0" u="none" kern="1200" baseline="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172749"/>
                  </a:ext>
                </a:extLst>
              </a:tr>
            </a:tbl>
          </a:graphicData>
        </a:graphic>
      </p:graphicFrame>
      <p:sp>
        <p:nvSpPr>
          <p:cNvPr id="5" name="Text Box 52">
            <a:extLst>
              <a:ext uri="{FF2B5EF4-FFF2-40B4-BE49-F238E27FC236}">
                <a16:creationId xmlns:a16="http://schemas.microsoft.com/office/drawing/2014/main" id="{43B51F8F-E6E0-4A63-A05B-0D340F3E9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6045" y="180975"/>
            <a:ext cx="356021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633039">
              <a:defRPr/>
            </a:pP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인프라구축센터 주간 동향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(9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주차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E66C603-DCB9-4E10-8D65-BFC73160E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710616"/>
              </p:ext>
            </p:extLst>
          </p:nvPr>
        </p:nvGraphicFramePr>
        <p:xfrm>
          <a:off x="695585" y="5659046"/>
          <a:ext cx="11141284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7022">
                  <a:extLst>
                    <a:ext uri="{9D8B030D-6E8A-4147-A177-3AD203B41FA5}">
                      <a16:colId xmlns:a16="http://schemas.microsoft.com/office/drawing/2014/main" val="17914556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4132086725"/>
                    </a:ext>
                  </a:extLst>
                </a:gridCol>
                <a:gridCol w="833954">
                  <a:extLst>
                    <a:ext uri="{9D8B030D-6E8A-4147-A177-3AD203B41FA5}">
                      <a16:colId xmlns:a16="http://schemas.microsoft.com/office/drawing/2014/main" val="3726335271"/>
                    </a:ext>
                  </a:extLst>
                </a:gridCol>
                <a:gridCol w="880090">
                  <a:extLst>
                    <a:ext uri="{9D8B030D-6E8A-4147-A177-3AD203B41FA5}">
                      <a16:colId xmlns:a16="http://schemas.microsoft.com/office/drawing/2014/main" val="28251607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1083169963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72534020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2727203442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479455419"/>
                    </a:ext>
                  </a:extLst>
                </a:gridCol>
                <a:gridCol w="1482863">
                  <a:extLst>
                    <a:ext uri="{9D8B030D-6E8A-4147-A177-3AD203B41FA5}">
                      <a16:colId xmlns:a16="http://schemas.microsoft.com/office/drawing/2014/main" val="1897296865"/>
                    </a:ext>
                  </a:extLst>
                </a:gridCol>
                <a:gridCol w="1191416">
                  <a:extLst>
                    <a:ext uri="{9D8B030D-6E8A-4147-A177-3AD203B41FA5}">
                      <a16:colId xmlns:a16="http://schemas.microsoft.com/office/drawing/2014/main" val="3170612963"/>
                    </a:ext>
                  </a:extLst>
                </a:gridCol>
                <a:gridCol w="1610829">
                  <a:extLst>
                    <a:ext uri="{9D8B030D-6E8A-4147-A177-3AD203B41FA5}">
                      <a16:colId xmlns:a16="http://schemas.microsoft.com/office/drawing/2014/main" val="528732712"/>
                    </a:ext>
                  </a:extLst>
                </a:gridCol>
              </a:tblGrid>
              <a:tr h="1829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</a:t>
                      </a:r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EMS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영상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보안알림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267374"/>
                  </a:ext>
                </a:extLst>
              </a:tr>
              <a:tr h="2797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사업장 수량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368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(RMS :306, SEMS :62)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12,407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852540"/>
                  </a:ext>
                </a:extLst>
              </a:tr>
              <a:tr h="1721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금주  신규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287844"/>
                  </a:ext>
                </a:extLst>
              </a:tr>
              <a:tr h="1721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포인트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0/3,456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0/153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0/157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0/108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0/3,094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0/346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0/109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0/5,716p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359/108,701p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516237"/>
                  </a:ext>
                </a:extLst>
              </a:tr>
            </a:tbl>
          </a:graphicData>
        </a:graphic>
      </p:graphicFrame>
      <p:sp>
        <p:nvSpPr>
          <p:cNvPr id="7" name="Text Box 52">
            <a:extLst>
              <a:ext uri="{FF2B5EF4-FFF2-40B4-BE49-F238E27FC236}">
                <a16:creationId xmlns:a16="http://schemas.microsoft.com/office/drawing/2014/main" id="{A6985EA2-2353-4672-AE1C-1F838A235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585" y="5405130"/>
            <a:ext cx="2055303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33039"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서비스 제공현황 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운영센터 기준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01475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CE7A871-C07D-4024-B178-220A0C6A7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036248"/>
              </p:ext>
            </p:extLst>
          </p:nvPr>
        </p:nvGraphicFramePr>
        <p:xfrm>
          <a:off x="695585" y="546889"/>
          <a:ext cx="11141281" cy="47506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5967">
                  <a:extLst>
                    <a:ext uri="{9D8B030D-6E8A-4147-A177-3AD203B41FA5}">
                      <a16:colId xmlns:a16="http://schemas.microsoft.com/office/drawing/2014/main" val="1359777914"/>
                    </a:ext>
                  </a:extLst>
                </a:gridCol>
                <a:gridCol w="1024366">
                  <a:extLst>
                    <a:ext uri="{9D8B030D-6E8A-4147-A177-3AD203B41FA5}">
                      <a16:colId xmlns:a16="http://schemas.microsoft.com/office/drawing/2014/main" val="3658186606"/>
                    </a:ext>
                  </a:extLst>
                </a:gridCol>
                <a:gridCol w="3588832">
                  <a:extLst>
                    <a:ext uri="{9D8B030D-6E8A-4147-A177-3AD203B41FA5}">
                      <a16:colId xmlns:a16="http://schemas.microsoft.com/office/drawing/2014/main" val="1768300239"/>
                    </a:ext>
                  </a:extLst>
                </a:gridCol>
                <a:gridCol w="3441700">
                  <a:extLst>
                    <a:ext uri="{9D8B030D-6E8A-4147-A177-3AD203B41FA5}">
                      <a16:colId xmlns:a16="http://schemas.microsoft.com/office/drawing/2014/main" val="3296678039"/>
                    </a:ext>
                  </a:extLst>
                </a:gridCol>
                <a:gridCol w="2140416">
                  <a:extLst>
                    <a:ext uri="{9D8B030D-6E8A-4147-A177-3AD203B41FA5}">
                      <a16:colId xmlns:a16="http://schemas.microsoft.com/office/drawing/2014/main" val="2046462633"/>
                    </a:ext>
                  </a:extLst>
                </a:gridCol>
              </a:tblGrid>
              <a:tr h="46817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(10/4~ 10/7)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(10/11~ 10/14)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243847"/>
                  </a:ext>
                </a:extLst>
              </a:tr>
              <a:tr h="3810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차별화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en-US" altLang="ko-KR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확대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절감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149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10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펄어비스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RMS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신규구축 실사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(10/5)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현장점검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EMS (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 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현장점검 및 보수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endParaRPr lang="en-US" altLang="ko-KR" sz="1100" b="0" u="non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 서비스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24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 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371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(2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예정 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신규구축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수원팔달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광양성황점포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(10/7~10))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RMS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유지보수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중부권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2,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수도권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4,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영남권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endParaRPr lang="en-US" altLang="ko-KR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12,439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신규적용 예상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40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280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108,869point)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rgbClr val="0070C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'23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차 재계약 미팅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(10/7)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강성사옥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7,8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층 임원실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LUMI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장비 재 설치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(10/7)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서비스별 프로세스 재정립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(A/S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및 유지보수 포함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~10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149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예상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10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펄어비스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RMS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신규구축 견적산출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(10/12)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 RMS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재구축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U+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부산초량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(10/13)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EMS (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 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현장점검 및 보수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endParaRPr lang="en-US" altLang="ko-KR" sz="1100" b="0" u="non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 서비스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24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 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372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예정 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신규구축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울산남부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(10/11)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RMS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유지보수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중부권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수도권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영남권</a:t>
                      </a:r>
                      <a:endParaRPr lang="en-US" altLang="ko-KR" sz="1100" b="0" i="0" kern="120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endParaRPr lang="en-US" altLang="ko-KR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예상누적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12,489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신규적용 예상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50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108,969point)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서비스별 프로세스 재정립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(A/S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및 유지보수 포함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~10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</a:t>
                      </a:r>
                      <a:r>
                        <a:rPr lang="ko-KR" altLang="en-US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이슈 및 </a:t>
                      </a:r>
                      <a:r>
                        <a:rPr lang="ko-KR" altLang="en-US" sz="1000" b="1" u="sng" baseline="0" dirty="0" err="1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특이사황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1. REMS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kern="1200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이동형화재감지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신규개발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Holding (7/12~ 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Rems :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H/W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통합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(REMS+AI)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구현  및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플랫폼 구성 검토 중 으로 잠시보류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 화재감지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AIOT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융합 개발 재 검토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172749"/>
                  </a:ext>
                </a:extLst>
              </a:tr>
            </a:tbl>
          </a:graphicData>
        </a:graphic>
      </p:graphicFrame>
      <p:sp>
        <p:nvSpPr>
          <p:cNvPr id="5" name="Text Box 52">
            <a:extLst>
              <a:ext uri="{FF2B5EF4-FFF2-40B4-BE49-F238E27FC236}">
                <a16:creationId xmlns:a16="http://schemas.microsoft.com/office/drawing/2014/main" id="{43B51F8F-E6E0-4A63-A05B-0D340F3E9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6045" y="180975"/>
            <a:ext cx="356021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633039">
              <a:defRPr/>
            </a:pP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인프라구축센터 주간 동향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(10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주차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E66C603-DCB9-4E10-8D65-BFC73160E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347057"/>
              </p:ext>
            </p:extLst>
          </p:nvPr>
        </p:nvGraphicFramePr>
        <p:xfrm>
          <a:off x="695585" y="5659046"/>
          <a:ext cx="11141284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7022">
                  <a:extLst>
                    <a:ext uri="{9D8B030D-6E8A-4147-A177-3AD203B41FA5}">
                      <a16:colId xmlns:a16="http://schemas.microsoft.com/office/drawing/2014/main" val="17914556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4132086725"/>
                    </a:ext>
                  </a:extLst>
                </a:gridCol>
                <a:gridCol w="833954">
                  <a:extLst>
                    <a:ext uri="{9D8B030D-6E8A-4147-A177-3AD203B41FA5}">
                      <a16:colId xmlns:a16="http://schemas.microsoft.com/office/drawing/2014/main" val="3726335271"/>
                    </a:ext>
                  </a:extLst>
                </a:gridCol>
                <a:gridCol w="880090">
                  <a:extLst>
                    <a:ext uri="{9D8B030D-6E8A-4147-A177-3AD203B41FA5}">
                      <a16:colId xmlns:a16="http://schemas.microsoft.com/office/drawing/2014/main" val="28251607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1083169963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72534020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2727203442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479455419"/>
                    </a:ext>
                  </a:extLst>
                </a:gridCol>
                <a:gridCol w="1482863">
                  <a:extLst>
                    <a:ext uri="{9D8B030D-6E8A-4147-A177-3AD203B41FA5}">
                      <a16:colId xmlns:a16="http://schemas.microsoft.com/office/drawing/2014/main" val="1897296865"/>
                    </a:ext>
                  </a:extLst>
                </a:gridCol>
                <a:gridCol w="1191416">
                  <a:extLst>
                    <a:ext uri="{9D8B030D-6E8A-4147-A177-3AD203B41FA5}">
                      <a16:colId xmlns:a16="http://schemas.microsoft.com/office/drawing/2014/main" val="3170612963"/>
                    </a:ext>
                  </a:extLst>
                </a:gridCol>
                <a:gridCol w="1610829">
                  <a:extLst>
                    <a:ext uri="{9D8B030D-6E8A-4147-A177-3AD203B41FA5}">
                      <a16:colId xmlns:a16="http://schemas.microsoft.com/office/drawing/2014/main" val="528732712"/>
                    </a:ext>
                  </a:extLst>
                </a:gridCol>
              </a:tblGrid>
              <a:tr h="1829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</a:t>
                      </a:r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EMS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영상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보안알림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267374"/>
                  </a:ext>
                </a:extLst>
              </a:tr>
              <a:tr h="2797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사업장 수량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371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(RMS :306, SEMS :65)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12,439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852540"/>
                  </a:ext>
                </a:extLst>
              </a:tr>
              <a:tr h="1721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금주  신규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287844"/>
                  </a:ext>
                </a:extLst>
              </a:tr>
              <a:tr h="1721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포인트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0/3,456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0/153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0/157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0/108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0/3,094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0/346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0/109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39/5,776p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280/108,869p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516237"/>
                  </a:ext>
                </a:extLst>
              </a:tr>
            </a:tbl>
          </a:graphicData>
        </a:graphic>
      </p:graphicFrame>
      <p:sp>
        <p:nvSpPr>
          <p:cNvPr id="7" name="Text Box 52">
            <a:extLst>
              <a:ext uri="{FF2B5EF4-FFF2-40B4-BE49-F238E27FC236}">
                <a16:creationId xmlns:a16="http://schemas.microsoft.com/office/drawing/2014/main" id="{A6985EA2-2353-4672-AE1C-1F838A235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585" y="5405130"/>
            <a:ext cx="2055303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33039"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서비스 제공현황 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운영센터 기준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12194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CE7A871-C07D-4024-B178-220A0C6A7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775493"/>
              </p:ext>
            </p:extLst>
          </p:nvPr>
        </p:nvGraphicFramePr>
        <p:xfrm>
          <a:off x="695585" y="546889"/>
          <a:ext cx="11141281" cy="49182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5967">
                  <a:extLst>
                    <a:ext uri="{9D8B030D-6E8A-4147-A177-3AD203B41FA5}">
                      <a16:colId xmlns:a16="http://schemas.microsoft.com/office/drawing/2014/main" val="1359777914"/>
                    </a:ext>
                  </a:extLst>
                </a:gridCol>
                <a:gridCol w="1024366">
                  <a:extLst>
                    <a:ext uri="{9D8B030D-6E8A-4147-A177-3AD203B41FA5}">
                      <a16:colId xmlns:a16="http://schemas.microsoft.com/office/drawing/2014/main" val="3658186606"/>
                    </a:ext>
                  </a:extLst>
                </a:gridCol>
                <a:gridCol w="3588832">
                  <a:extLst>
                    <a:ext uri="{9D8B030D-6E8A-4147-A177-3AD203B41FA5}">
                      <a16:colId xmlns:a16="http://schemas.microsoft.com/office/drawing/2014/main" val="1768300239"/>
                    </a:ext>
                  </a:extLst>
                </a:gridCol>
                <a:gridCol w="3441700">
                  <a:extLst>
                    <a:ext uri="{9D8B030D-6E8A-4147-A177-3AD203B41FA5}">
                      <a16:colId xmlns:a16="http://schemas.microsoft.com/office/drawing/2014/main" val="3296678039"/>
                    </a:ext>
                  </a:extLst>
                </a:gridCol>
                <a:gridCol w="2140416">
                  <a:extLst>
                    <a:ext uri="{9D8B030D-6E8A-4147-A177-3AD203B41FA5}">
                      <a16:colId xmlns:a16="http://schemas.microsoft.com/office/drawing/2014/main" val="2046462633"/>
                    </a:ext>
                  </a:extLst>
                </a:gridCol>
              </a:tblGrid>
              <a:tr h="46817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(10/17~ 10/21)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  <a:b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(10/24~ 10/28)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243847"/>
                  </a:ext>
                </a:extLst>
              </a:tr>
              <a:tr h="3810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차별화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en-US" altLang="ko-KR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확대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비용</a:t>
                      </a:r>
                      <a:endParaRPr lang="en-US" altLang="ko-KR" sz="11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1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절감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150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10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LF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스퀘어 인천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(10/18)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펄어비스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RMS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신규구축 견적산출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(10/17)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현장점검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EMS (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 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현장점검 및 보수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endParaRPr lang="en-US" altLang="ko-KR" sz="1100" b="0" u="non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 서비스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 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372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예정 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신규구축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하안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(10/21))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RMS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유지보수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수도권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4,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영남권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endParaRPr lang="en-US" altLang="ko-KR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12,490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신규적용 예상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34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280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109,289point)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rgbClr val="0070C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'23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차 재계약 미팅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(10/7)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. LTE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라우터 및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공기질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서비스 매뉴얼 작성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( 10/20)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에너지 솔루션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온습도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센서 기술지원 완료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(10/20)</a:t>
                      </a:r>
                    </a:p>
                  </a:txBody>
                  <a:tcPr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(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150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예상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현장실사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철거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예정</a:t>
                      </a:r>
                      <a:endParaRPr lang="en-US" altLang="ko-KR" sz="1100" b="0" u="none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견적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KT</a:t>
                      </a:r>
                      <a:r>
                        <a:rPr lang="ko-KR" alt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목동정보보전산센터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현장실사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(10/27)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현장점검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EMS (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61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예상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신규구축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제주 </a:t>
                      </a:r>
                      <a:r>
                        <a:rPr lang="ko-KR" altLang="en-US" sz="1100" b="0" u="non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나인몰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구축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(10/24)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. 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현장점검 및 보수 </a:t>
                      </a:r>
                      <a:r>
                        <a:rPr lang="en-US" altLang="ko-KR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100" b="0" u="non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endParaRPr lang="en-US" altLang="ko-KR" sz="1100" b="0" u="non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 스위치 조작감시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 서비스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 (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1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GS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누적 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374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신규적용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(2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리뉴얼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폐점철거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예정 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신규구축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명지센트럴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(10/24), </a:t>
                      </a:r>
                      <a:r>
                        <a:rPr lang="ko-KR" alt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용인마북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(10/25)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RMS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유지보수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중부권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수도권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영남권</a:t>
                      </a:r>
                      <a:endParaRPr lang="en-US" altLang="ko-KR" sz="1100" b="0" i="0" kern="120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endParaRPr lang="en-US" altLang="ko-KR" sz="11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-GS25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예상누적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12,540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점포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신규적용 예상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50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개점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신규 포인트 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예상누적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109,389point)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연구 및 개발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모터센서 진동 데이터 트렌드 분석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(10/28)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공기질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어웨어센서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데이트 트렌드 분석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(10/28)</a:t>
                      </a: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</a:t>
                      </a:r>
                      <a:r>
                        <a:rPr lang="ko-KR" altLang="en-US" sz="1000" b="1" u="sng" baseline="0" dirty="0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이슈 및 </a:t>
                      </a:r>
                      <a:r>
                        <a:rPr lang="ko-KR" altLang="en-US" sz="1000" b="1" u="sng" baseline="0" dirty="0" err="1">
                          <a:solidFill>
                            <a:srgbClr val="C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특이사황</a:t>
                      </a: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1. REMS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kern="1200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이동형화재감지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신규개발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Holding (7/12~ 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Rems :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H/W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통합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(REMS+AI)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구현  및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플랫폼 구성 검토 중 으로 잠시보류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. 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이동형 화재감지 </a:t>
                      </a: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AIOT</a:t>
                      </a:r>
                      <a:r>
                        <a:rPr lang="ko-KR" altLang="en-US" sz="1000" b="0" i="0" u="none" kern="12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융합 개발 재 검토 </a:t>
                      </a:r>
                      <a:endParaRPr lang="en-US" altLang="ko-KR" sz="1000" b="0" i="0" u="none" kern="1200" baseline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kern="1200" baseline="0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172749"/>
                  </a:ext>
                </a:extLst>
              </a:tr>
            </a:tbl>
          </a:graphicData>
        </a:graphic>
      </p:graphicFrame>
      <p:sp>
        <p:nvSpPr>
          <p:cNvPr id="5" name="Text Box 52">
            <a:extLst>
              <a:ext uri="{FF2B5EF4-FFF2-40B4-BE49-F238E27FC236}">
                <a16:creationId xmlns:a16="http://schemas.microsoft.com/office/drawing/2014/main" id="{43B51F8F-E6E0-4A63-A05B-0D340F3E9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6045" y="180975"/>
            <a:ext cx="356021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633039">
              <a:defRPr/>
            </a:pP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인프라구축센터 주간 동향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(10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r>
              <a:rPr lang="ko-KR" altLang="en-US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주차</a:t>
            </a:r>
            <a:r>
              <a:rPr lang="en-US" altLang="ko-KR" sz="16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E66C603-DCB9-4E10-8D65-BFC73160E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90176"/>
              </p:ext>
            </p:extLst>
          </p:nvPr>
        </p:nvGraphicFramePr>
        <p:xfrm>
          <a:off x="695585" y="5659046"/>
          <a:ext cx="11141284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7022">
                  <a:extLst>
                    <a:ext uri="{9D8B030D-6E8A-4147-A177-3AD203B41FA5}">
                      <a16:colId xmlns:a16="http://schemas.microsoft.com/office/drawing/2014/main" val="17914556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4132086725"/>
                    </a:ext>
                  </a:extLst>
                </a:gridCol>
                <a:gridCol w="833954">
                  <a:extLst>
                    <a:ext uri="{9D8B030D-6E8A-4147-A177-3AD203B41FA5}">
                      <a16:colId xmlns:a16="http://schemas.microsoft.com/office/drawing/2014/main" val="3726335271"/>
                    </a:ext>
                  </a:extLst>
                </a:gridCol>
                <a:gridCol w="880090">
                  <a:extLst>
                    <a:ext uri="{9D8B030D-6E8A-4147-A177-3AD203B41FA5}">
                      <a16:colId xmlns:a16="http://schemas.microsoft.com/office/drawing/2014/main" val="282516077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1083169963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725340208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2727203442"/>
                    </a:ext>
                  </a:extLst>
                </a:gridCol>
                <a:gridCol w="857022">
                  <a:extLst>
                    <a:ext uri="{9D8B030D-6E8A-4147-A177-3AD203B41FA5}">
                      <a16:colId xmlns:a16="http://schemas.microsoft.com/office/drawing/2014/main" val="3479455419"/>
                    </a:ext>
                  </a:extLst>
                </a:gridCol>
                <a:gridCol w="1482863">
                  <a:extLst>
                    <a:ext uri="{9D8B030D-6E8A-4147-A177-3AD203B41FA5}">
                      <a16:colId xmlns:a16="http://schemas.microsoft.com/office/drawing/2014/main" val="1897296865"/>
                    </a:ext>
                  </a:extLst>
                </a:gridCol>
                <a:gridCol w="1191416">
                  <a:extLst>
                    <a:ext uri="{9D8B030D-6E8A-4147-A177-3AD203B41FA5}">
                      <a16:colId xmlns:a16="http://schemas.microsoft.com/office/drawing/2014/main" val="3170612963"/>
                    </a:ext>
                  </a:extLst>
                </a:gridCol>
                <a:gridCol w="1610829">
                  <a:extLst>
                    <a:ext uri="{9D8B030D-6E8A-4147-A177-3AD203B41FA5}">
                      <a16:colId xmlns:a16="http://schemas.microsoft.com/office/drawing/2014/main" val="528732712"/>
                    </a:ext>
                  </a:extLst>
                </a:gridCol>
              </a:tblGrid>
              <a:tr h="1829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</a:t>
                      </a:r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</a:t>
                      </a:r>
                      <a:endParaRPr lang="ko-KR" altLang="en-US" sz="11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화재수신반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EMS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영상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화장실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IOT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보안알림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수퍼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</a:t>
                      </a:r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편의점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267374"/>
                  </a:ext>
                </a:extLst>
              </a:tr>
              <a:tr h="2797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사업장 수량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150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372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(RMS :305, SEMS :67)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12,490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852540"/>
                  </a:ext>
                </a:extLst>
              </a:tr>
              <a:tr h="1721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금주  신규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287844"/>
                  </a:ext>
                </a:extLst>
              </a:tr>
              <a:tr h="1721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포인트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12/3,468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0/152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0/157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0/108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0/3,094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0/337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0/109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19/5,811p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238/109,289p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516237"/>
                  </a:ext>
                </a:extLst>
              </a:tr>
            </a:tbl>
          </a:graphicData>
        </a:graphic>
      </p:graphicFrame>
      <p:sp>
        <p:nvSpPr>
          <p:cNvPr id="7" name="Text Box 52">
            <a:extLst>
              <a:ext uri="{FF2B5EF4-FFF2-40B4-BE49-F238E27FC236}">
                <a16:creationId xmlns:a16="http://schemas.microsoft.com/office/drawing/2014/main" id="{A6985EA2-2353-4672-AE1C-1F838A235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585" y="5405130"/>
            <a:ext cx="2055303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33039"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서비스 제공현황 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운영센터 기준</a:t>
            </a:r>
            <a:r>
              <a: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86189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4160</TotalTime>
  <Words>7265</Words>
  <Application>Microsoft Office PowerPoint</Application>
  <PresentationFormat>와이드스크린</PresentationFormat>
  <Paragraphs>1415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LG스마트체 Regular</vt:lpstr>
      <vt:lpstr>맑은 고딕</vt:lpstr>
      <vt:lpstr>Arial</vt:lpstr>
      <vt:lpstr>Arial Narrow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156</cp:revision>
  <dcterms:created xsi:type="dcterms:W3CDTF">2022-03-06T23:51:21Z</dcterms:created>
  <dcterms:modified xsi:type="dcterms:W3CDTF">2022-10-24T03:17:34Z</dcterms:modified>
</cp:coreProperties>
</file>