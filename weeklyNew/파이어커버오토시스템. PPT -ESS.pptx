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83" r:id="rId3"/>
    <p:sldId id="286" r:id="rId4"/>
    <p:sldId id="271" r:id="rId5"/>
    <p:sldId id="285" r:id="rId6"/>
    <p:sldId id="288" r:id="rId7"/>
    <p:sldId id="287" r:id="rId8"/>
    <p:sldId id="272" r:id="rId9"/>
    <p:sldId id="290" r:id="rId10"/>
    <p:sldId id="289" r:id="rId11"/>
    <p:sldId id="291" r:id="rId12"/>
    <p:sldId id="279" r:id="rId13"/>
    <p:sldId id="28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1pPr>
    <a:lvl2pPr marL="0" marR="0" indent="4572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2pPr>
    <a:lvl3pPr marL="0" marR="0" indent="9144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3pPr>
    <a:lvl4pPr marL="0" marR="0" indent="13716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4pPr>
    <a:lvl5pPr marL="0" marR="0" indent="18288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5pPr>
    <a:lvl6pPr marL="0" marR="0" indent="22860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6pPr>
    <a:lvl7pPr marL="0" marR="0" indent="27432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7pPr>
    <a:lvl8pPr marL="0" marR="0" indent="32004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8pPr>
    <a:lvl9pPr marL="0" marR="0" indent="3657600" algn="ctr" defTabSz="3556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2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roxima Nova Medium"/>
        <a:ea typeface="Proxima Nova Medium"/>
        <a:cs typeface="Proxima Nova Medium"/>
        <a:sym typeface="Proxima Nova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 욱래" initials="조욱" lastIdx="1" clrIdx="0">
    <p:extLst>
      <p:ext uri="{19B8F6BF-5375-455C-9EA6-DF929625EA0E}">
        <p15:presenceInfo xmlns:p15="http://schemas.microsoft.com/office/powerpoint/2012/main" userId="c25f7da0c55ac3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D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hueOff val="-398243"/>
              <a:satOff val="23908"/>
              <a:lumOff val="10782"/>
            </a:schemeClr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B9CBD3"/>
          </a:solidFill>
        </a:fill>
      </a:tcStyle>
    </a:firstCol>
    <a:lastRow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7FA2B6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6DDDC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chemeClr val="accent4"/>
          </a:solidFill>
        </a:fill>
      </a:tcStyle>
    </a:firstCol>
    <a:lastRow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254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DF658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6F7F2"/>
          </a:solidFill>
        </a:fill>
      </a:tcStyle>
    </a:wholeTbl>
    <a:band2H>
      <a:tcTxStyle/>
      <a:tcStyle>
        <a:tcBdr/>
        <a:fill>
          <a:solidFill>
            <a:schemeClr val="accent6">
              <a:hueOff val="887465"/>
              <a:satOff val="-30004"/>
              <a:lumOff val="6094"/>
            </a:schemeClr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430252"/>
              <a:satOff val="-18978"/>
              <a:lumOff val="-19473"/>
            </a:schemeClr>
          </a:solidFill>
        </a:fill>
      </a:tcStyle>
    </a:firstCol>
    <a:lastRow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6F7F2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827A37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-3883"/>
              <a:lumOff val="14670"/>
            </a:schemeClr>
          </a:solidFill>
        </a:fill>
      </a:tcStyle>
    </a:wholeTbl>
    <a:band2H>
      <a:tcTxStyle/>
      <a:tcStyle>
        <a:tcBdr/>
        <a:fill>
          <a:solidFill>
            <a:srgbClr val="B5AEC4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8C78A6"/>
          </a:solidFill>
        </a:fill>
      </a:tcStyle>
    </a:firstCol>
    <a:la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14B97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14B9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D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Col>
    <a:lastRow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2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9" name="Shape 1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379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057400" y="11229761"/>
            <a:ext cx="20269200" cy="845948"/>
          </a:xfrm>
          <a:prstGeom prst="rect">
            <a:avLst/>
          </a:prstGeom>
        </p:spPr>
        <p:txBody>
          <a:bodyPr/>
          <a:lstStyle/>
          <a:p>
            <a:r>
              <a:t>저자 및 날짜</a:t>
            </a:r>
          </a:p>
        </p:txBody>
      </p:sp>
      <p:sp>
        <p:nvSpPr>
          <p:cNvPr id="13" name="프레젠테이션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검은 배경에 놓인 다양한 색의 립스틱 여덟 조각"/>
          <p:cNvSpPr>
            <a:spLocks noGrp="1"/>
          </p:cNvSpPr>
          <p:nvPr>
            <p:ph type="pic" idx="21"/>
          </p:nvPr>
        </p:nvSpPr>
        <p:spPr>
          <a:xfrm>
            <a:off x="1003300" y="-606362"/>
            <a:ext cx="22364700" cy="1489065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2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2057400" y="11229761"/>
            <a:ext cx="20269200" cy="845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저자 및 날짜</a:t>
            </a:r>
          </a:p>
        </p:txBody>
      </p:sp>
      <p:sp>
        <p:nvSpPr>
          <p:cNvPr id="23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2057400" y="2865468"/>
            <a:ext cx="20269200" cy="535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2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39599" y="13131800"/>
            <a:ext cx="307544" cy="3429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"/>
          <p:cNvSpPr/>
          <p:nvPr/>
        </p:nvSpPr>
        <p:spPr>
          <a:xfrm>
            <a:off x="12192000" y="2079724"/>
            <a:ext cx="11188700" cy="9550401"/>
          </a:xfrm>
          <a:prstGeom prst="rect">
            <a:avLst/>
          </a:prstGeom>
          <a:solidFill>
            <a:srgbClr val="D3B9B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54" name="직사각형"/>
          <p:cNvSpPr/>
          <p:nvPr/>
        </p:nvSpPr>
        <p:spPr>
          <a:xfrm>
            <a:off x="1008906" y="1067048"/>
            <a:ext cx="11190188" cy="11581904"/>
          </a:xfrm>
          <a:prstGeom prst="rect">
            <a:avLst/>
          </a:prstGeom>
          <a:solidFill>
            <a:schemeClr val="accent5">
              <a:hueOff val="-246905"/>
              <a:satOff val="-77181"/>
              <a:lumOff val="20457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55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2058458" y="3677751"/>
            <a:ext cx="20264297" cy="6956178"/>
          </a:xfrm>
          <a:prstGeom prst="rect">
            <a:avLst/>
          </a:prstGeom>
        </p:spPr>
        <p:txBody>
          <a:bodyPr numCol="2" spcCol="2314058" anchor="t"/>
          <a:lstStyle>
            <a:lvl1pPr marL="444500" indent="-444500" algn="l" defTabSz="2438338">
              <a:lnSpc>
                <a:spcPct val="80000"/>
              </a:lnSpc>
              <a:spcBef>
                <a:spcPts val="4200"/>
              </a:spcBef>
              <a:buSzPct val="100000"/>
              <a:buChar char="•"/>
              <a:defRPr sz="4000" b="0">
                <a:latin typeface="Proxima Nova Medium"/>
                <a:ea typeface="Proxima Nova Medium"/>
                <a:cs typeface="Proxima Nova Medium"/>
                <a:sym typeface="Proxima Nova Medium"/>
              </a:defRPr>
            </a:lvl1pPr>
            <a:lvl2pPr marL="889000" indent="-444500" algn="l" defTabSz="2438338">
              <a:lnSpc>
                <a:spcPct val="80000"/>
              </a:lnSpc>
              <a:spcBef>
                <a:spcPts val="4200"/>
              </a:spcBef>
              <a:buSzPct val="100000"/>
              <a:buChar char="•"/>
              <a:defRPr sz="4000" b="0">
                <a:latin typeface="Proxima Nova Medium"/>
                <a:ea typeface="Proxima Nova Medium"/>
                <a:cs typeface="Proxima Nova Medium"/>
                <a:sym typeface="Proxima Nova Medium"/>
              </a:defRPr>
            </a:lvl2pPr>
            <a:lvl3pPr marL="1333500" indent="-444500" algn="l" defTabSz="2438338">
              <a:lnSpc>
                <a:spcPct val="80000"/>
              </a:lnSpc>
              <a:spcBef>
                <a:spcPts val="4200"/>
              </a:spcBef>
              <a:buSzPct val="100000"/>
              <a:buChar char="•"/>
              <a:defRPr sz="4000" b="0">
                <a:latin typeface="Proxima Nova Medium"/>
                <a:ea typeface="Proxima Nova Medium"/>
                <a:cs typeface="Proxima Nova Medium"/>
                <a:sym typeface="Proxima Nova Medium"/>
              </a:defRPr>
            </a:lvl3pPr>
            <a:lvl4pPr marL="1778000" indent="-444500" algn="l" defTabSz="2438338">
              <a:lnSpc>
                <a:spcPct val="80000"/>
              </a:lnSpc>
              <a:spcBef>
                <a:spcPts val="4200"/>
              </a:spcBef>
              <a:buSzPct val="100000"/>
              <a:buChar char="•"/>
              <a:defRPr sz="4000" b="0">
                <a:latin typeface="Proxima Nova Medium"/>
                <a:ea typeface="Proxima Nova Medium"/>
                <a:cs typeface="Proxima Nova Medium"/>
                <a:sym typeface="Proxima Nova Medium"/>
              </a:defRPr>
            </a:lvl4pPr>
            <a:lvl5pPr marL="2222500" indent="-444500" algn="l" defTabSz="2438338">
              <a:lnSpc>
                <a:spcPct val="80000"/>
              </a:lnSpc>
              <a:spcBef>
                <a:spcPts val="4200"/>
              </a:spcBef>
              <a:buSzPct val="100000"/>
              <a:buChar char="•"/>
              <a:defRPr sz="4000" b="0">
                <a:latin typeface="Proxima Nova Medium"/>
                <a:ea typeface="Proxima Nova Medium"/>
                <a:cs typeface="Proxima Nova Medium"/>
                <a:sym typeface="Proxima Nova Medium"/>
              </a:defRPr>
            </a:lvl5pPr>
          </a:lstStyle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6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44578" y="13131800"/>
            <a:ext cx="307544" cy="3429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직사각형"/>
          <p:cNvSpPr/>
          <p:nvPr/>
        </p:nvSpPr>
        <p:spPr>
          <a:xfrm>
            <a:off x="1002557" y="1068834"/>
            <a:ext cx="22378886" cy="11578332"/>
          </a:xfrm>
          <a:prstGeom prst="rect">
            <a:avLst/>
          </a:prstGeom>
          <a:solidFill>
            <a:srgbClr val="7CA0B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76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2057400" y="4196048"/>
            <a:ext cx="20269200" cy="521315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2000">
                <a:solidFill>
                  <a:srgbClr val="FFFFFF"/>
                </a:solidFill>
                <a:latin typeface="Canela Regular"/>
                <a:ea typeface="Canela Regular"/>
                <a:cs typeface="Canela Regular"/>
                <a:sym typeface="Canela Regular"/>
              </a:defRPr>
            </a:lvl1pPr>
          </a:lstStyle>
          <a:p>
            <a:r>
              <a:t>섹션 제목</a:t>
            </a:r>
          </a:p>
        </p:txBody>
      </p:sp>
      <p:sp>
        <p:nvSpPr>
          <p:cNvPr id="7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"/>
          <p:cNvSpPr/>
          <p:nvPr/>
        </p:nvSpPr>
        <p:spPr>
          <a:xfrm>
            <a:off x="1008907" y="1067048"/>
            <a:ext cx="22378886" cy="11581904"/>
          </a:xfrm>
          <a:prstGeom prst="rect">
            <a:avLst/>
          </a:prstGeom>
          <a:solidFill>
            <a:schemeClr val="accent5">
              <a:hueOff val="-246905"/>
              <a:satOff val="-77181"/>
              <a:lumOff val="20457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85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057400" y="3232086"/>
            <a:ext cx="20269200" cy="845948"/>
          </a:xfrm>
          <a:prstGeom prst="rect">
            <a:avLst/>
          </a:prstGeom>
        </p:spPr>
        <p:txBody>
          <a:bodyPr/>
          <a:lstStyle/>
          <a:p>
            <a:r>
              <a:t>슬라이드 부제</a:t>
            </a:r>
          </a:p>
        </p:txBody>
      </p:sp>
      <p:sp>
        <p:nvSpPr>
          <p:cNvPr id="86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2057400" y="1060698"/>
            <a:ext cx="20269200" cy="2272842"/>
          </a:xfrm>
          <a:prstGeom prst="rect">
            <a:avLst/>
          </a:prstGeom>
        </p:spPr>
        <p:txBody>
          <a:bodyPr/>
          <a:lstStyle>
            <a:lvl1pPr>
              <a:lnSpc>
                <a:spcPct val="70000"/>
              </a:lnSpc>
              <a:defRPr sz="8200"/>
            </a:lvl1pPr>
          </a:lstStyle>
          <a:p>
            <a:r>
              <a:t>슬라이드 제목</a:t>
            </a:r>
          </a:p>
        </p:txBody>
      </p:sp>
      <p:sp>
        <p:nvSpPr>
          <p:cNvPr id="8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직사각형"/>
          <p:cNvSpPr/>
          <p:nvPr/>
        </p:nvSpPr>
        <p:spPr>
          <a:xfrm>
            <a:off x="12197605" y="1065312"/>
            <a:ext cx="11184585" cy="1158537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95" name="직사각형"/>
          <p:cNvSpPr/>
          <p:nvPr/>
        </p:nvSpPr>
        <p:spPr>
          <a:xfrm>
            <a:off x="1003299" y="2076549"/>
            <a:ext cx="11194307" cy="9556552"/>
          </a:xfrm>
          <a:prstGeom prst="rect">
            <a:avLst/>
          </a:prstGeom>
          <a:solidFill>
            <a:schemeClr val="accent3">
              <a:satOff val="-3883"/>
              <a:lumOff val="1467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96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496600" y="4331487"/>
            <a:ext cx="9049076" cy="549298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3200"/>
              </a:spcBef>
              <a:defRPr sz="4000" spc="-39"/>
            </a:lvl1pPr>
            <a:lvl2pPr algn="l">
              <a:lnSpc>
                <a:spcPct val="100000"/>
              </a:lnSpc>
              <a:spcBef>
                <a:spcPts val="3200"/>
              </a:spcBef>
              <a:defRPr sz="4000" spc="-39"/>
            </a:lvl2pPr>
            <a:lvl3pPr algn="l">
              <a:lnSpc>
                <a:spcPct val="100000"/>
              </a:lnSpc>
              <a:spcBef>
                <a:spcPts val="3200"/>
              </a:spcBef>
              <a:defRPr sz="4000" spc="-39"/>
            </a:lvl3pPr>
            <a:lvl4pPr algn="l">
              <a:lnSpc>
                <a:spcPct val="100000"/>
              </a:lnSpc>
              <a:spcBef>
                <a:spcPts val="3200"/>
              </a:spcBef>
              <a:defRPr sz="4000" spc="-39"/>
            </a:lvl4pPr>
            <a:lvl5pPr algn="l">
              <a:lnSpc>
                <a:spcPct val="100000"/>
              </a:lnSpc>
              <a:spcBef>
                <a:spcPts val="3200"/>
              </a:spcBef>
              <a:defRPr sz="4000" spc="-39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7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676400" y="5865318"/>
            <a:ext cx="9829800" cy="173301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0000"/>
              </a:lnSpc>
              <a:defRPr sz="8200"/>
            </a:lvl1pPr>
          </a:lstStyle>
          <a:p>
            <a:r>
              <a:t>의제 제목</a:t>
            </a:r>
          </a:p>
        </p:txBody>
      </p:sp>
      <p:sp>
        <p:nvSpPr>
          <p:cNvPr id="9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"/>
          <p:cNvSpPr/>
          <p:nvPr/>
        </p:nvSpPr>
        <p:spPr>
          <a:xfrm>
            <a:off x="999500" y="1067048"/>
            <a:ext cx="22378886" cy="11581904"/>
          </a:xfrm>
          <a:prstGeom prst="rect">
            <a:avLst/>
          </a:prstGeom>
          <a:solidFill>
            <a:schemeClr val="accent5">
              <a:hueOff val="-246905"/>
              <a:satOff val="-77181"/>
              <a:lumOff val="20457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10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2057400" y="4261880"/>
            <a:ext cx="20269200" cy="5061561"/>
          </a:xfrm>
          <a:prstGeom prst="rect">
            <a:avLst/>
          </a:prstGeom>
        </p:spPr>
        <p:txBody>
          <a:bodyPr/>
          <a:lstStyle>
            <a:lvl1pPr>
              <a:defRPr sz="12000" b="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>
              <a:defRPr sz="12000" b="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>
              <a:defRPr sz="12000" b="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>
              <a:defRPr sz="12000" b="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>
              <a:defRPr sz="12000" b="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내역서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"/>
          <p:cNvSpPr/>
          <p:nvPr/>
        </p:nvSpPr>
        <p:spPr>
          <a:xfrm>
            <a:off x="1008907" y="1066849"/>
            <a:ext cx="22378886" cy="115823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115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057400" y="8113450"/>
            <a:ext cx="20269200" cy="845948"/>
          </a:xfrm>
          <a:prstGeom prst="rect">
            <a:avLst/>
          </a:prstGeom>
        </p:spPr>
        <p:txBody>
          <a:bodyPr anchor="t"/>
          <a:lstStyle/>
          <a:p>
            <a:r>
              <a:t>사실 정보</a:t>
            </a:r>
          </a:p>
        </p:txBody>
      </p:sp>
      <p:sp>
        <p:nvSpPr>
          <p:cNvPr id="11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2057400" y="3498790"/>
            <a:ext cx="20269200" cy="4814114"/>
          </a:xfrm>
          <a:prstGeom prst="rect">
            <a:avLst/>
          </a:prstGeom>
        </p:spPr>
        <p:txBody>
          <a:bodyPr anchor="b"/>
          <a:lstStyle>
            <a:lvl1pPr defTabSz="2438338">
              <a:lnSpc>
                <a:spcPct val="80000"/>
              </a:lnSpc>
              <a:defRPr sz="25000" b="0" spc="-500">
                <a:latin typeface="+mn-lt"/>
                <a:ea typeface="+mn-ea"/>
                <a:cs typeface="+mn-cs"/>
                <a:sym typeface="Canela Bold"/>
              </a:defRPr>
            </a:lvl1pPr>
            <a:lvl2pPr defTabSz="2438338">
              <a:lnSpc>
                <a:spcPct val="80000"/>
              </a:lnSpc>
              <a:defRPr sz="25000" b="0" spc="-500">
                <a:latin typeface="+mn-lt"/>
                <a:ea typeface="+mn-ea"/>
                <a:cs typeface="+mn-cs"/>
                <a:sym typeface="Canela Bold"/>
              </a:defRPr>
            </a:lvl2pPr>
            <a:lvl3pPr defTabSz="2438338">
              <a:lnSpc>
                <a:spcPct val="80000"/>
              </a:lnSpc>
              <a:defRPr sz="25000" b="0" spc="-500">
                <a:latin typeface="+mn-lt"/>
                <a:ea typeface="+mn-ea"/>
                <a:cs typeface="+mn-cs"/>
                <a:sym typeface="Canela Bold"/>
              </a:defRPr>
            </a:lvl3pPr>
            <a:lvl4pPr defTabSz="2438338">
              <a:lnSpc>
                <a:spcPct val="80000"/>
              </a:lnSpc>
              <a:defRPr sz="25000" b="0" spc="-500">
                <a:latin typeface="+mn-lt"/>
                <a:ea typeface="+mn-ea"/>
                <a:cs typeface="+mn-cs"/>
                <a:sym typeface="Canela Bold"/>
              </a:defRPr>
            </a:lvl4pPr>
            <a:lvl5pPr defTabSz="2438338">
              <a:lnSpc>
                <a:spcPct val="80000"/>
              </a:lnSpc>
              <a:defRPr sz="25000" b="0" spc="-5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직사각형"/>
          <p:cNvSpPr/>
          <p:nvPr/>
        </p:nvSpPr>
        <p:spPr>
          <a:xfrm>
            <a:off x="1008907" y="1064171"/>
            <a:ext cx="22378886" cy="11587658"/>
          </a:xfrm>
          <a:prstGeom prst="rect">
            <a:avLst/>
          </a:prstGeom>
          <a:solidFill>
            <a:srgbClr val="D3B9B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125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737745" y="5549900"/>
            <a:ext cx="12908510" cy="2628900"/>
          </a:xfrm>
          <a:prstGeom prst="rect">
            <a:avLst/>
          </a:prstGeom>
        </p:spPr>
        <p:txBody>
          <a:bodyPr/>
          <a:lstStyle>
            <a:lvl1pPr marL="320204" indent="-320204" algn="l" defTabSz="355600">
              <a:lnSpc>
                <a:spcPct val="80000"/>
              </a:lnSpc>
              <a:defRPr sz="7000" b="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320204" indent="136995" algn="l" defTabSz="355600">
              <a:lnSpc>
                <a:spcPct val="80000"/>
              </a:lnSpc>
              <a:defRPr sz="7000" b="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320204" indent="594195" algn="l" defTabSz="355600">
              <a:lnSpc>
                <a:spcPct val="80000"/>
              </a:lnSpc>
              <a:defRPr sz="7000" b="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320204" indent="1051395" algn="l" defTabSz="355600">
              <a:lnSpc>
                <a:spcPct val="80000"/>
              </a:lnSpc>
              <a:defRPr sz="7000" b="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320204" indent="1508595" algn="l" defTabSz="355600">
              <a:lnSpc>
                <a:spcPct val="80000"/>
              </a:lnSpc>
              <a:defRPr sz="7000" b="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6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100233" y="9999201"/>
            <a:ext cx="12546022" cy="508001"/>
          </a:xfrm>
          <a:prstGeom prst="rect">
            <a:avLst/>
          </a:prstGeom>
        </p:spPr>
        <p:txBody>
          <a:bodyPr anchor="t"/>
          <a:lstStyle>
            <a:lvl1pPr algn="l" defTabSz="355600">
              <a:lnSpc>
                <a:spcPct val="140000"/>
              </a:lnSpc>
              <a:defRPr sz="2700" spc="26"/>
            </a:lvl1pPr>
          </a:lstStyle>
          <a:p>
            <a:r>
              <a:t>속성</a:t>
            </a:r>
          </a:p>
        </p:txBody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/>
          <p:cNvSpPr/>
          <p:nvPr/>
        </p:nvSpPr>
        <p:spPr>
          <a:xfrm>
            <a:off x="1002557" y="1066800"/>
            <a:ext cx="22378886" cy="11582400"/>
          </a:xfrm>
          <a:prstGeom prst="rect">
            <a:avLst/>
          </a:prstGeom>
          <a:solidFill>
            <a:srgbClr val="D3B9B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5431">
              <a:lnSpc>
                <a:spcPct val="120000"/>
              </a:lnSpc>
              <a:spcBef>
                <a:spcPts val="0"/>
              </a:spcBef>
              <a:defRPr sz="3000" spc="-59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/>
          </a:p>
        </p:txBody>
      </p:sp>
      <p:sp>
        <p:nvSpPr>
          <p:cNvPr id="3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2057400" y="2865877"/>
            <a:ext cx="20269200" cy="5359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프레젠테이션 제목</a:t>
            </a:r>
          </a:p>
        </p:txBody>
      </p:sp>
      <p:sp>
        <p:nvSpPr>
          <p:cNvPr id="4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2057400" y="7814975"/>
            <a:ext cx="20269200" cy="1488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38228" y="13131800"/>
            <a:ext cx="307544" cy="342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transition spd="med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5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0" marR="0" indent="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0" marR="0" indent="4572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0" marR="0" indent="9144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0" marR="0" indent="13716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0" marR="0" indent="18288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0" marR="0" indent="22860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0" marR="0" indent="27432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0" marR="0" indent="32004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0" marR="0" indent="3657600" algn="ctr" defTabSz="8255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solidFill>
            <a:srgbClr val="000000"/>
          </a:solidFill>
          <a:uFillTx/>
          <a:latin typeface="Proxima Nova"/>
          <a:ea typeface="Proxima Nova"/>
          <a:cs typeface="Proxima Nova"/>
          <a:sym typeface="Proxima Nov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ESS 화재 대비…"/>
          <p:cNvSpPr txBox="1">
            <a:spLocks noGrp="1"/>
          </p:cNvSpPr>
          <p:nvPr>
            <p:ph type="title"/>
          </p:nvPr>
        </p:nvSpPr>
        <p:spPr>
          <a:xfrm>
            <a:off x="1870364" y="1805595"/>
            <a:ext cx="20269200" cy="53594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br>
              <a:rPr lang="en-US" altLang="ko-KR" sz="6600" kern="0" spc="-5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6600" kern="0" spc="-5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6600" kern="0" spc="-7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6600" kern="0" spc="-70" dirty="0" err="1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6600" kern="0" spc="-7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오토 시스템 </a:t>
            </a:r>
            <a:r>
              <a:rPr lang="en-US" altLang="ko-KR" sz="6600" kern="0" spc="-7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6600" kern="0" spc="-5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FIRECOVER AUTO SYSTEM)</a:t>
            </a:r>
            <a:br>
              <a:rPr lang="en-US" altLang="ko-KR" sz="6600" kern="0" spc="-5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4000" dirty="0">
                <a:latin typeface="휴먼명조"/>
              </a:rPr>
            </a:br>
            <a:r>
              <a:rPr lang="en-US" altLang="ko-KR" sz="4000" dirty="0">
                <a:latin typeface="휴먼명조"/>
              </a:rPr>
              <a:t>FIRECOVER AUTO SYSTEM ESS</a:t>
            </a:r>
            <a:br>
              <a:rPr lang="en-US" altLang="ko-KR" sz="4000" dirty="0">
                <a:latin typeface="휴먼명조"/>
              </a:rPr>
            </a:br>
            <a:br>
              <a:rPr lang="en-US" altLang="ko-KR" sz="6600" kern="0" spc="-5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800" kern="0" spc="-50" dirty="0">
                <a:solidFill>
                  <a:srgbClr val="000000"/>
                </a:solidFill>
                <a:effectLst/>
                <a:latin typeface="한양신명조"/>
              </a:rPr>
            </a:b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한양신명조"/>
              </a:rPr>
              <a:t>소</a:t>
            </a:r>
            <a:endParaRPr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5986F3-07F5-8DE5-3D0C-AA595C650262}"/>
              </a:ext>
            </a:extLst>
          </p:cNvPr>
          <p:cNvSpPr/>
          <p:nvPr/>
        </p:nvSpPr>
        <p:spPr>
          <a:xfrm>
            <a:off x="17435788" y="9523573"/>
            <a:ext cx="605790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3000" b="0" i="0" u="none" strike="noStrike" cap="none" spc="-59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3000" spc="-59" dirty="0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주식회사 </a:t>
            </a:r>
            <a:r>
              <a:rPr lang="ko-KR" altLang="en-US" sz="3000" spc="-59" dirty="0" err="1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가드케이</a:t>
            </a:r>
            <a:endParaRPr kumimoji="0" lang="ko-KR" altLang="en-US" sz="3000" b="0" i="0" u="none" strike="noStrike" cap="none" spc="-59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  <p:pic>
        <p:nvPicPr>
          <p:cNvPr id="7" name="그림 개체 틀 6">
            <a:extLst>
              <a:ext uri="{FF2B5EF4-FFF2-40B4-BE49-F238E27FC236}">
                <a16:creationId xmlns:a16="http://schemas.microsoft.com/office/drawing/2014/main" id="{3AA42C28-73F9-D1BD-601A-27C0C30689C2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 rotWithShape="1">
          <a:blip r:embed="rId2"/>
          <a:srcRect t="27658" b="27658"/>
          <a:stretch/>
        </p:blipFill>
        <p:spPr>
          <a:xfrm>
            <a:off x="0" y="-587326"/>
            <a:ext cx="24384000" cy="1489065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64F561-F182-F8CF-65D6-C34886C9109A}"/>
              </a:ext>
            </a:extLst>
          </p:cNvPr>
          <p:cNvSpPr txBox="1"/>
          <p:nvPr/>
        </p:nvSpPr>
        <p:spPr>
          <a:xfrm>
            <a:off x="4679576" y="3459178"/>
            <a:ext cx="14038730" cy="1777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80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파이어커버</a:t>
            </a:r>
            <a:r>
              <a:rPr kumimoji="0" lang="ko-KR" altLang="en-US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 오토시스템 </a:t>
            </a:r>
            <a:r>
              <a:rPr kumimoji="0" lang="en-US" altLang="ko-KR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ESS</a:t>
            </a:r>
            <a:endParaRPr kumimoji="0" lang="ko-KR" altLang="en-US" sz="8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184F1-3725-CA3C-4066-08BA614B705E}"/>
              </a:ext>
            </a:extLst>
          </p:cNvPr>
          <p:cNvSpPr txBox="1"/>
          <p:nvPr/>
        </p:nvSpPr>
        <p:spPr>
          <a:xfrm>
            <a:off x="7853082" y="8632569"/>
            <a:ext cx="7637930" cy="1417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54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주식회사</a:t>
            </a:r>
            <a:r>
              <a:rPr kumimoji="0" lang="en-US" altLang="ko-KR" sz="54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 </a:t>
            </a:r>
            <a:r>
              <a:rPr kumimoji="0" lang="ko-KR" altLang="en-US" sz="54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가드케이</a:t>
            </a:r>
            <a:endParaRPr kumimoji="0" lang="ko-KR" altLang="en-US" sz="5400" b="0" i="0" u="none" strike="noStrike" cap="none" spc="0" normalizeH="0" baseline="0" dirty="0">
              <a:ln>
                <a:noFill/>
              </a:ln>
              <a:solidFill>
                <a:srgbClr val="92D050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282DC1-00AC-1879-B20D-9D4738A5FE4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3268528" y="2062264"/>
            <a:ext cx="9439072" cy="10358220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altLang="ko-KR" dirty="0"/>
              <a:t>FIRECOVER</a:t>
            </a:r>
            <a:r>
              <a:rPr lang="ko-KR" altLang="en-US" dirty="0"/>
              <a:t> </a:t>
            </a:r>
            <a:r>
              <a:rPr lang="en-US" altLang="ko-KR" dirty="0"/>
              <a:t>AUTOSYSTEM</a:t>
            </a:r>
            <a:r>
              <a:rPr lang="ko-KR" altLang="en-US" dirty="0"/>
              <a:t> </a:t>
            </a:r>
            <a:r>
              <a:rPr lang="en-US" altLang="ko-KR" dirty="0"/>
              <a:t>ESS</a:t>
            </a:r>
            <a:r>
              <a:rPr lang="ko-KR" altLang="en-US" dirty="0"/>
              <a:t>개요</a:t>
            </a:r>
            <a:endParaRPr lang="en-US" altLang="ko-KR" dirty="0"/>
          </a:p>
          <a:p>
            <a:pPr marL="742950" indent="-742950">
              <a:buAutoNum type="arabicPeriod"/>
            </a:pPr>
            <a:r>
              <a:rPr lang="ko-KR" altLang="en-US" dirty="0" err="1"/>
              <a:t>파이어커버</a:t>
            </a:r>
            <a:r>
              <a:rPr lang="ko-KR" altLang="en-US" dirty="0"/>
              <a:t> 오토시스템 </a:t>
            </a:r>
            <a:r>
              <a:rPr lang="en-US" altLang="ko-KR" dirty="0"/>
              <a:t>ESS </a:t>
            </a:r>
            <a:r>
              <a:rPr lang="ko-KR" altLang="en-US" dirty="0"/>
              <a:t>배경</a:t>
            </a:r>
            <a:endParaRPr lang="en-US" altLang="ko-KR" dirty="0"/>
          </a:p>
          <a:p>
            <a:pPr marL="742950" indent="-742950">
              <a:buAutoNum type="arabicPeriod"/>
            </a:pPr>
            <a:r>
              <a:rPr lang="ko-KR" altLang="en-US" dirty="0" err="1"/>
              <a:t>파이어커버</a:t>
            </a:r>
            <a:r>
              <a:rPr lang="ko-KR" altLang="en-US" dirty="0"/>
              <a:t> 오토시스템 </a:t>
            </a:r>
            <a:r>
              <a:rPr lang="en-US" altLang="ko-KR" dirty="0"/>
              <a:t>ESS </a:t>
            </a:r>
            <a:r>
              <a:rPr lang="ko-KR" altLang="en-US" dirty="0"/>
              <a:t>필요성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 err="1"/>
              <a:t>파이어커버</a:t>
            </a:r>
            <a:r>
              <a:rPr lang="ko-KR" altLang="en-US" dirty="0"/>
              <a:t> 오토 시스템 </a:t>
            </a:r>
            <a:r>
              <a:rPr lang="en-US" altLang="ko-KR" dirty="0"/>
              <a:t>ESS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파이어 커버 오토시스템 </a:t>
            </a:r>
            <a:r>
              <a:rPr lang="en-US" altLang="ko-KR" dirty="0"/>
              <a:t>ESS</a:t>
            </a:r>
            <a:r>
              <a:rPr lang="ko-KR" altLang="en-US" dirty="0"/>
              <a:t>의 섬유</a:t>
            </a:r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기존 질식 </a:t>
            </a:r>
            <a:r>
              <a:rPr lang="ko-KR" altLang="en-US" dirty="0" err="1"/>
              <a:t>소화포</a:t>
            </a:r>
            <a:r>
              <a:rPr lang="ko-KR" altLang="en-US" dirty="0"/>
              <a:t> 문제점</a:t>
            </a:r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당사 개발 섬유의 특징</a:t>
            </a:r>
            <a:endParaRPr lang="en-US" altLang="ko-KR" dirty="0"/>
          </a:p>
          <a:p>
            <a:r>
              <a:rPr lang="en-US" altLang="ko-KR" dirty="0"/>
              <a:t>8. </a:t>
            </a:r>
            <a:r>
              <a:rPr lang="ko-KR" altLang="en-US" dirty="0" err="1"/>
              <a:t>파이어커버</a:t>
            </a:r>
            <a:r>
              <a:rPr lang="ko-KR" altLang="en-US" dirty="0"/>
              <a:t> 오토 시스템 </a:t>
            </a:r>
            <a:r>
              <a:rPr lang="en-US" altLang="ko-KR" dirty="0"/>
              <a:t>ESS</a:t>
            </a:r>
            <a:r>
              <a:rPr lang="ko-KR" altLang="en-US" dirty="0"/>
              <a:t>의 구조 및 시공</a:t>
            </a:r>
            <a:endParaRPr lang="en-US" altLang="ko-KR" dirty="0"/>
          </a:p>
          <a:p>
            <a:r>
              <a:rPr lang="en-US" altLang="ko-KR" dirty="0"/>
              <a:t>9. </a:t>
            </a:r>
            <a:r>
              <a:rPr lang="ko-KR" altLang="en-US" dirty="0" err="1"/>
              <a:t>파이어커버</a:t>
            </a:r>
            <a:r>
              <a:rPr lang="ko-KR" altLang="en-US" dirty="0"/>
              <a:t> 오토 시스템 </a:t>
            </a:r>
            <a:r>
              <a:rPr lang="en-US" altLang="ko-KR" dirty="0"/>
              <a:t>ESS </a:t>
            </a:r>
            <a:r>
              <a:rPr lang="ko-KR" altLang="en-US" dirty="0"/>
              <a:t>도입효과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2DD3227-97C9-7483-1DFC-933109B2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91285086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282DC1-00AC-1879-B20D-9D4738A5FE4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877799" y="1828800"/>
            <a:ext cx="10021111" cy="10058400"/>
          </a:xfrm>
        </p:spPr>
        <p:txBody>
          <a:bodyPr>
            <a:normAutofit/>
          </a:bodyPr>
          <a:lstStyle/>
          <a:p>
            <a:pPr marR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3200" kern="0" spc="-50" dirty="0">
              <a:solidFill>
                <a:srgbClr val="000000"/>
              </a:solidFill>
              <a:effectLst/>
              <a:latin typeface="휴먼명조"/>
              <a:ea typeface="맑은 고딕" panose="020B0503020000020004" pitchFamily="50" charset="-127"/>
            </a:endParaRPr>
          </a:p>
          <a:p>
            <a:pPr marR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3200" kern="0" spc="-50" dirty="0">
              <a:solidFill>
                <a:srgbClr val="000000"/>
              </a:solidFill>
              <a:effectLst/>
              <a:latin typeface="휴먼명조"/>
              <a:ea typeface="맑은 고딕" panose="020B0503020000020004" pitchFamily="50" charset="-127"/>
            </a:endParaRPr>
          </a:p>
          <a:p>
            <a:pPr marL="914400" indent="-914400" algn="just">
              <a:buAutoNum type="arabicPeriod"/>
            </a:pPr>
            <a:r>
              <a:rPr lang="en-US" altLang="ko-KR" kern="0" spc="-70" dirty="0">
                <a:solidFill>
                  <a:schemeClr val="tx1"/>
                </a:solidFill>
                <a:effectLst/>
                <a:latin typeface="휴먼명조"/>
                <a:ea typeface="맑은 고딕" panose="020B0503020000020004" pitchFamily="50" charset="-127"/>
              </a:rPr>
              <a:t>FIRECOVER AUTO SYSTEM</a:t>
            </a:r>
            <a:r>
              <a:rPr lang="ko-KR" altLang="en-US" kern="0" spc="-70" dirty="0">
                <a:solidFill>
                  <a:schemeClr val="tx1"/>
                </a:solidFill>
                <a:effectLst/>
                <a:latin typeface="휴먼명조"/>
                <a:ea typeface="맑은 고딕" panose="020B0503020000020004" pitchFamily="50" charset="-127"/>
              </a:rPr>
              <a:t> </a:t>
            </a:r>
            <a:r>
              <a:rPr lang="en-US" altLang="ko-KR" kern="0" spc="-70" dirty="0">
                <a:solidFill>
                  <a:schemeClr val="tx1"/>
                </a:solidFill>
                <a:effectLst/>
                <a:latin typeface="휴먼명조"/>
                <a:ea typeface="맑은 고딕" panose="020B0503020000020004" pitchFamily="50" charset="-127"/>
              </a:rPr>
              <a:t>ESS </a:t>
            </a:r>
            <a:r>
              <a:rPr lang="ko-KR" altLang="en-US" kern="0" spc="-70" dirty="0">
                <a:solidFill>
                  <a:schemeClr val="tx1"/>
                </a:solidFill>
                <a:effectLst/>
                <a:latin typeface="휴먼명조"/>
                <a:ea typeface="맑은 고딕" panose="020B0503020000020004" pitchFamily="50" charset="-127"/>
              </a:rPr>
              <a:t>개요</a:t>
            </a:r>
            <a:endParaRPr lang="en-US" altLang="ko-KR" b="0" kern="0" spc="-70" dirty="0">
              <a:solidFill>
                <a:srgbClr val="000000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just">
              <a:lnSpc>
                <a:spcPct val="200000"/>
              </a:lnSpc>
            </a:pP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2DD3227-97C9-7483-1DFC-933109B2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090" y="2431916"/>
            <a:ext cx="10343745" cy="3579779"/>
          </a:xfrm>
        </p:spPr>
        <p:txBody>
          <a:bodyPr>
            <a:normAutofit/>
          </a:bodyPr>
          <a:lstStyle/>
          <a:p>
            <a:pPr marL="742950" marR="0" indent="-742950" algn="l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600" spc="-70" dirty="0">
                <a:latin typeface="휴먼명조"/>
                <a:ea typeface="맑은 고딕" panose="020B0503020000020004" pitchFamily="50" charset="-127"/>
              </a:rPr>
              <a:t>                     </a:t>
            </a:r>
            <a:r>
              <a:rPr lang="ko-KR" altLang="en-US" sz="3600" kern="0" spc="-70" dirty="0">
                <a:solidFill>
                  <a:srgbClr val="000000"/>
                </a:solidFill>
                <a:effectLst/>
                <a:latin typeface="휴먼명조"/>
                <a:ea typeface="맑은 고딕" panose="020B0503020000020004" pitchFamily="50" charset="-127"/>
              </a:rPr>
              <a:t> </a:t>
            </a:r>
            <a:br>
              <a:rPr lang="en-US" altLang="ko-KR" sz="9600" b="1" spc="-50" dirty="0">
                <a:latin typeface="휴먼명조"/>
                <a:ea typeface="맑은 고딕" panose="020B0503020000020004" pitchFamily="50" charset="-127"/>
              </a:rPr>
            </a:br>
            <a:r>
              <a:rPr lang="ko-KR" altLang="en-US" sz="3100" b="1" kern="0" spc="-70" dirty="0" err="1">
                <a:solidFill>
                  <a:srgbClr val="000000"/>
                </a:solidFill>
                <a:effectLst/>
                <a:latin typeface="휴먼명조"/>
                <a:ea typeface="맑은 고딕" panose="020B0503020000020004" pitchFamily="50" charset="-127"/>
              </a:rPr>
              <a:t>파이어커버</a:t>
            </a:r>
            <a:r>
              <a:rPr lang="ko-KR" altLang="en-US" sz="3100" b="1" kern="0" spc="-70" dirty="0">
                <a:solidFill>
                  <a:srgbClr val="000000"/>
                </a:solidFill>
                <a:effectLst/>
                <a:latin typeface="휴먼명조"/>
                <a:ea typeface="맑은 고딕" panose="020B0503020000020004" pitchFamily="50" charset="-127"/>
              </a:rPr>
              <a:t> 오토 시스템 </a:t>
            </a:r>
            <a:r>
              <a:rPr lang="en-US" altLang="ko-KR" sz="3100" b="1" kern="0" spc="-70" dirty="0">
                <a:solidFill>
                  <a:srgbClr val="000000"/>
                </a:solidFill>
                <a:effectLst/>
                <a:latin typeface="휴먼명조"/>
                <a:ea typeface="맑은 고딕" panose="020B0503020000020004" pitchFamily="50" charset="-127"/>
              </a:rPr>
              <a:t>ESS</a:t>
            </a:r>
            <a:br>
              <a:rPr lang="en-US" altLang="ko-KR" sz="3100" b="1" kern="0" spc="-50" dirty="0">
                <a:solidFill>
                  <a:srgbClr val="000000"/>
                </a:solidFill>
                <a:effectLst/>
                <a:latin typeface="휴먼명조"/>
                <a:ea typeface="맑은 고딕" panose="020B0503020000020004" pitchFamily="50" charset="-127"/>
              </a:rPr>
            </a:br>
            <a:endParaRPr lang="ko-KR" altLang="en-US" sz="31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535B0A-2639-9A5C-06CD-6E2DA2C07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26" y="5564222"/>
            <a:ext cx="10343745" cy="5544766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882DCB1-3A24-3B92-2D60-696FF8406634}"/>
              </a:ext>
            </a:extLst>
          </p:cNvPr>
          <p:cNvSpPr/>
          <p:nvPr/>
        </p:nvSpPr>
        <p:spPr>
          <a:xfrm>
            <a:off x="14071773" y="3898612"/>
            <a:ext cx="3140411" cy="1702316"/>
          </a:xfrm>
          <a:prstGeom prst="ellipse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기존</a:t>
            </a:r>
            <a:endParaRPr kumimoji="0" lang="en-US" altLang="ko-KR" sz="3000" b="0" i="0" u="none" strike="noStrike" cap="none" spc="-59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소방설비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A0D8A51-AD0D-EBD5-1126-DFDB6118D254}"/>
              </a:ext>
            </a:extLst>
          </p:cNvPr>
          <p:cNvSpPr/>
          <p:nvPr/>
        </p:nvSpPr>
        <p:spPr>
          <a:xfrm>
            <a:off x="19055875" y="3438367"/>
            <a:ext cx="2957209" cy="2481342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파이어커버오토시스템</a:t>
            </a: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 </a:t>
            </a:r>
            <a:r>
              <a:rPr kumimoji="0" lang="en-US" altLang="ko-KR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ESS</a:t>
            </a:r>
            <a:endParaRPr kumimoji="0" lang="ko-KR" altLang="en-US" sz="3000" b="0" i="0" u="none" strike="noStrike" cap="none" spc="-59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  <p:sp>
        <p:nvSpPr>
          <p:cNvPr id="10" name="더하기 기호 9">
            <a:extLst>
              <a:ext uri="{FF2B5EF4-FFF2-40B4-BE49-F238E27FC236}">
                <a16:creationId xmlns:a16="http://schemas.microsoft.com/office/drawing/2014/main" id="{D95AA2DF-C5C4-FDD5-0C97-281A71D42B38}"/>
              </a:ext>
            </a:extLst>
          </p:cNvPr>
          <p:cNvSpPr/>
          <p:nvPr/>
        </p:nvSpPr>
        <p:spPr>
          <a:xfrm>
            <a:off x="17359822" y="4221805"/>
            <a:ext cx="1400777" cy="1045711"/>
          </a:xfrm>
          <a:prstGeom prst="mathPlus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-59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1A1CEA-3044-10D6-977B-63AAA2867727}"/>
              </a:ext>
            </a:extLst>
          </p:cNvPr>
          <p:cNvSpPr/>
          <p:nvPr/>
        </p:nvSpPr>
        <p:spPr>
          <a:xfrm>
            <a:off x="13575759" y="6357390"/>
            <a:ext cx="8968902" cy="656590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화재  확산 방지를 목표로 하는 자동 장치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E3227A-3AC0-6D1C-0878-A7E014E0D069}"/>
              </a:ext>
            </a:extLst>
          </p:cNvPr>
          <p:cNvSpPr/>
          <p:nvPr/>
        </p:nvSpPr>
        <p:spPr>
          <a:xfrm>
            <a:off x="13393953" y="7578494"/>
            <a:ext cx="9194261" cy="39805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 ESS </a:t>
            </a: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등의</a:t>
            </a:r>
            <a:r>
              <a:rPr kumimoji="0" lang="en-US" altLang="ko-KR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  </a:t>
            </a: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충전시설과 저장장치에</a:t>
            </a:r>
            <a:endParaRPr kumimoji="0" lang="en-US" altLang="ko-KR" sz="3000" b="0" i="0" u="none" strike="noStrike" cap="none" spc="-59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화재 발생시 기존 소방설비인 </a:t>
            </a:r>
            <a:endParaRPr kumimoji="0" lang="en-US" altLang="ko-KR" sz="3000" b="0" i="0" u="none" strike="noStrike" cap="none" spc="-59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스프링 쿨러 및 소화</a:t>
            </a:r>
            <a:r>
              <a:rPr kumimoji="0" lang="en-US" altLang="ko-KR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, </a:t>
            </a: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가스설비와 함께</a:t>
            </a:r>
          </a:p>
          <a:p>
            <a:pPr defTabSz="415431">
              <a:lnSpc>
                <a:spcPct val="120000"/>
              </a:lnSpc>
              <a:spcBef>
                <a:spcPts val="0"/>
              </a:spcBef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상부에</a:t>
            </a:r>
            <a:r>
              <a:rPr lang="ko-KR" altLang="en-US" sz="3000" spc="-59" dirty="0">
                <a:solidFill>
                  <a:schemeClr val="tx1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서 </a:t>
            </a:r>
            <a:r>
              <a:rPr lang="ko-KR" altLang="en-US" sz="3000" spc="-59" dirty="0" err="1">
                <a:solidFill>
                  <a:schemeClr val="tx1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질식소화포가</a:t>
            </a:r>
            <a:r>
              <a:rPr lang="ko-KR" altLang="en-US" sz="3000" spc="-59" dirty="0">
                <a:solidFill>
                  <a:schemeClr val="tx1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 내려와</a:t>
            </a:r>
            <a:endParaRPr lang="en-US" altLang="ko-KR" sz="3000" spc="-59" dirty="0">
              <a:solidFill>
                <a:schemeClr val="tx1"/>
              </a:solidFill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defTabSz="415431">
              <a:lnSpc>
                <a:spcPct val="120000"/>
              </a:lnSpc>
              <a:spcBef>
                <a:spcPts val="0"/>
              </a:spcBef>
            </a:pPr>
            <a:r>
              <a:rPr lang="ko-KR" altLang="en-US" sz="3000" spc="-59" dirty="0" err="1">
                <a:solidFill>
                  <a:schemeClr val="tx1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리튬이온배터리</a:t>
            </a:r>
            <a:r>
              <a:rPr lang="ko-KR" altLang="en-US" sz="3000" spc="-59" dirty="0">
                <a:solidFill>
                  <a:schemeClr val="tx1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 화재를 조기 대응하여 화재의 확산을 막아 대형 화재가 되지 않도록 한다</a:t>
            </a:r>
            <a:r>
              <a:rPr lang="en-US" altLang="ko-KR" sz="3000" spc="-59" dirty="0">
                <a:solidFill>
                  <a:schemeClr val="tx1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.</a:t>
            </a:r>
            <a:endParaRPr kumimoji="0" lang="ko-KR" altLang="en-US" sz="3000" b="0" i="0" u="none" strike="noStrike" cap="none" spc="-59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-59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</p:spTree>
    <p:extLst>
      <p:ext uri="{BB962C8B-B14F-4D97-AF65-F5344CB8AC3E}">
        <p14:creationId xmlns:p14="http://schemas.microsoft.com/office/powerpoint/2010/main" val="271000781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4DA801D-38AF-2E28-1854-C0937F34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50" y="1196041"/>
            <a:ext cx="16388749" cy="1733018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휴먼명조"/>
              </a:rPr>
              <a:t>2.</a:t>
            </a:r>
            <a:r>
              <a:rPr lang="ko-KR" altLang="en-US" dirty="0" err="1">
                <a:solidFill>
                  <a:schemeClr val="tx1"/>
                </a:solidFill>
                <a:latin typeface="휴먼명조"/>
              </a:rPr>
              <a:t>파이어커버</a:t>
            </a:r>
            <a:r>
              <a:rPr lang="ko-KR" altLang="en-US" dirty="0">
                <a:solidFill>
                  <a:schemeClr val="tx1"/>
                </a:solidFill>
                <a:latin typeface="휴먼명조"/>
              </a:rPr>
              <a:t> 오토 시스템 </a:t>
            </a:r>
            <a:r>
              <a:rPr lang="en-US" altLang="ko-KR" dirty="0">
                <a:solidFill>
                  <a:schemeClr val="tx1"/>
                </a:solidFill>
                <a:latin typeface="휴먼명조"/>
              </a:rPr>
              <a:t>ESS</a:t>
            </a:r>
            <a:r>
              <a:rPr lang="ko-KR" altLang="en-US" dirty="0">
                <a:solidFill>
                  <a:schemeClr val="tx1"/>
                </a:solidFill>
                <a:latin typeface="휴먼명조"/>
              </a:rPr>
              <a:t>의 배경</a:t>
            </a:r>
          </a:p>
        </p:txBody>
      </p:sp>
      <p:sp>
        <p:nvSpPr>
          <p:cNvPr id="12" name="텍스트 개체 틀 1">
            <a:extLst>
              <a:ext uri="{FF2B5EF4-FFF2-40B4-BE49-F238E27FC236}">
                <a16:creationId xmlns:a16="http://schemas.microsoft.com/office/drawing/2014/main" id="{33BAFB41-1DB4-B471-6E63-A5A0688B1C92}"/>
              </a:ext>
            </a:extLst>
          </p:cNvPr>
          <p:cNvSpPr txBox="1">
            <a:spLocks/>
          </p:cNvSpPr>
          <p:nvPr/>
        </p:nvSpPr>
        <p:spPr>
          <a:xfrm>
            <a:off x="12354128" y="1543050"/>
            <a:ext cx="10449129" cy="1062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indent="22860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indent="27432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indent="32004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indent="36576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endParaRPr lang="en-US" altLang="ko-KR" sz="2400" spc="0" dirty="0">
              <a:latin typeface="휴먼명조"/>
              <a:ea typeface="휴먼명조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2800" spc="0" dirty="0">
                <a:latin typeface="휴먼명조"/>
                <a:ea typeface="맑은 고딕" panose="020B0503020000020004" pitchFamily="50" charset="-127"/>
              </a:rPr>
              <a:t>① ESS</a:t>
            </a:r>
            <a:r>
              <a:rPr lang="ko-KR" altLang="en-US" sz="2800" spc="0" dirty="0">
                <a:latin typeface="휴먼명조"/>
                <a:ea typeface="맑은 고딕" panose="020B0503020000020004" pitchFamily="50" charset="-127"/>
              </a:rPr>
              <a:t>의 리튬이온 배터리 </a:t>
            </a:r>
            <a:r>
              <a:rPr lang="en-US" altLang="ko-KR" sz="2800" spc="0" dirty="0">
                <a:latin typeface="휴먼명조"/>
                <a:ea typeface="맑은 고딕" panose="020B0503020000020004" pitchFamily="50" charset="-127"/>
              </a:rPr>
              <a:t> </a:t>
            </a:r>
            <a:r>
              <a:rPr lang="ko-KR" altLang="en-US" sz="2800" spc="0" dirty="0">
                <a:latin typeface="휴먼명조"/>
                <a:ea typeface="맑은 고딕" panose="020B0503020000020004" pitchFamily="50" charset="-127"/>
              </a:rPr>
              <a:t>보급</a:t>
            </a:r>
            <a:r>
              <a:rPr lang="ko-KR" altLang="ko-KR" sz="2800" spc="0" dirty="0">
                <a:latin typeface="휴먼명조"/>
                <a:ea typeface="맑은 고딕" panose="020B0503020000020004" pitchFamily="50" charset="-127"/>
              </a:rPr>
              <a:t>☞</a:t>
            </a:r>
            <a:r>
              <a:rPr lang="ko-KR" altLang="en-US" sz="2800" spc="0" dirty="0">
                <a:latin typeface="휴먼명조"/>
                <a:ea typeface="맑은 고딕" panose="020B0503020000020004" pitchFamily="50" charset="-127"/>
              </a:rPr>
              <a:t> </a:t>
            </a:r>
            <a:r>
              <a:rPr lang="ko-KR" altLang="en-US" sz="3500" spc="0" dirty="0">
                <a:solidFill>
                  <a:schemeClr val="tx1"/>
                </a:solidFill>
                <a:latin typeface="휴먼명조"/>
                <a:ea typeface="맑은 고딕" panose="020B0503020000020004" pitchFamily="50" charset="-127"/>
              </a:rPr>
              <a:t>데이터센터 위험 증가 </a:t>
            </a:r>
            <a:endParaRPr lang="en-US" altLang="ko-KR" sz="3500" spc="0" dirty="0">
              <a:solidFill>
                <a:schemeClr val="tx1"/>
              </a:solidFill>
              <a:latin typeface="휴먼명조"/>
              <a:ea typeface="맑은 고딕" panose="020B0503020000020004" pitchFamily="50" charset="-127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2800" spc="0" dirty="0">
                <a:latin typeface="휴먼명조"/>
                <a:ea typeface="맑은 고딕" panose="020B0503020000020004" pitchFamily="50" charset="-127"/>
              </a:rPr>
              <a:t> </a:t>
            </a:r>
            <a:endParaRPr lang="ko-KR" altLang="en-US" sz="2800" b="0" spc="0" dirty="0">
              <a:latin typeface="휴먼명조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ko-KR" altLang="en-US" sz="2800" spc="0" dirty="0">
                <a:latin typeface="휴먼명조"/>
                <a:ea typeface="휴먼명조"/>
              </a:rPr>
              <a:t>②</a:t>
            </a:r>
            <a:r>
              <a:rPr lang="en-US" altLang="ko-KR" sz="2800" spc="0" dirty="0">
                <a:latin typeface="휴먼명조"/>
                <a:ea typeface="휴먼명조"/>
              </a:rPr>
              <a:t> </a:t>
            </a:r>
            <a:r>
              <a:rPr lang="ko-KR" altLang="en-US" sz="2800" spc="0" dirty="0">
                <a:latin typeface="휴먼명조"/>
                <a:ea typeface="휴먼명조"/>
              </a:rPr>
              <a:t>리튬이온 배터리 화재 특성상 대형 화재로 확산 가능성 </a:t>
            </a:r>
            <a:endParaRPr lang="en-US" altLang="ko-KR" sz="2800" spc="0" dirty="0">
              <a:latin typeface="휴먼명조"/>
              <a:ea typeface="휴먼명조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2800" spc="0" dirty="0">
                <a:latin typeface="휴먼명조"/>
                <a:ea typeface="휴먼명조"/>
              </a:rPr>
              <a:t>     </a:t>
            </a:r>
            <a:r>
              <a:rPr lang="ko-KR" altLang="ko-KR" sz="2800" spc="0" dirty="0">
                <a:latin typeface="휴먼명조"/>
                <a:ea typeface="휴먼명조"/>
              </a:rPr>
              <a:t>☞</a:t>
            </a:r>
            <a:r>
              <a:rPr lang="ko-KR" altLang="en-US" sz="2800" spc="0" dirty="0">
                <a:latin typeface="휴먼명조"/>
                <a:ea typeface="맑은 고딕" panose="020B0503020000020004" pitchFamily="50" charset="-127"/>
              </a:rPr>
              <a:t> 소화기</a:t>
            </a:r>
            <a:r>
              <a:rPr lang="en-US" altLang="ko-KR" sz="2800" spc="0" dirty="0">
                <a:latin typeface="휴먼명조"/>
                <a:ea typeface="맑은 고딕" panose="020B0503020000020004" pitchFamily="50" charset="-127"/>
              </a:rPr>
              <a:t>, </a:t>
            </a:r>
            <a:r>
              <a:rPr lang="ko-KR" altLang="en-US" sz="2800" spc="0" dirty="0">
                <a:latin typeface="휴먼명조"/>
                <a:ea typeface="맑은 고딕" panose="020B0503020000020004" pitchFamily="50" charset="-127"/>
              </a:rPr>
              <a:t>냉각수 무의미</a:t>
            </a:r>
            <a:endParaRPr lang="en-US" altLang="ko-KR" sz="2800" spc="0" dirty="0">
              <a:latin typeface="휴먼명조"/>
              <a:ea typeface="맑은 고딕" panose="020B0503020000020004" pitchFamily="50" charset="-127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endParaRPr lang="en-US" altLang="ko-KR" sz="2800" spc="0" dirty="0">
              <a:latin typeface="휴먼명조"/>
              <a:ea typeface="맑은 고딕" panose="020B0503020000020004" pitchFamily="50" charset="-127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ko-KR" altLang="en-US" sz="2800" spc="0" dirty="0">
                <a:latin typeface="휴먼명조"/>
                <a:ea typeface="휴먼명조"/>
              </a:rPr>
              <a:t>③</a:t>
            </a:r>
            <a:r>
              <a:rPr lang="en-US" altLang="ko-KR" sz="2800" spc="0" dirty="0">
                <a:latin typeface="휴먼명조"/>
                <a:ea typeface="휴먼명조"/>
              </a:rPr>
              <a:t> </a:t>
            </a:r>
            <a:r>
              <a:rPr lang="ko-KR" altLang="en-US" sz="2800" spc="0" dirty="0">
                <a:latin typeface="휴먼명조"/>
                <a:ea typeface="휴먼명조"/>
              </a:rPr>
              <a:t>기사제목          </a:t>
            </a:r>
            <a:r>
              <a:rPr lang="en-US" altLang="ko-KR" sz="2800" spc="0" dirty="0">
                <a:solidFill>
                  <a:schemeClr val="tx1"/>
                </a:solidFill>
                <a:latin typeface="휴먼명조"/>
                <a:ea typeface="휴먼명조"/>
              </a:rPr>
              <a:t>“</a:t>
            </a:r>
            <a:r>
              <a:rPr lang="ko-KR" altLang="en-US" sz="2800" spc="0" dirty="0">
                <a:solidFill>
                  <a:schemeClr val="tx1"/>
                </a:solidFill>
                <a:latin typeface="휴먼명조"/>
                <a:ea typeface="휴먼명조"/>
              </a:rPr>
              <a:t>불 나면 끄는데 </a:t>
            </a:r>
            <a:r>
              <a:rPr lang="en-US" altLang="ko-KR" sz="2800" spc="0" dirty="0">
                <a:solidFill>
                  <a:schemeClr val="tx1"/>
                </a:solidFill>
                <a:latin typeface="휴먼명조"/>
                <a:ea typeface="휴먼명조"/>
              </a:rPr>
              <a:t>7</a:t>
            </a:r>
            <a:r>
              <a:rPr lang="ko-KR" altLang="en-US" sz="2800" spc="0" dirty="0">
                <a:solidFill>
                  <a:schemeClr val="tx1"/>
                </a:solidFill>
                <a:latin typeface="휴먼명조"/>
                <a:ea typeface="휴먼명조"/>
              </a:rPr>
              <a:t>시간</a:t>
            </a:r>
            <a:r>
              <a:rPr lang="en-US" altLang="ko-KR" sz="2800" spc="0" dirty="0">
                <a:solidFill>
                  <a:schemeClr val="tx1"/>
                </a:solidFill>
                <a:latin typeface="휴먼명조"/>
                <a:ea typeface="휴먼명조"/>
              </a:rPr>
              <a:t>” </a:t>
            </a: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2800" spc="0" dirty="0">
                <a:latin typeface="휴먼명조"/>
                <a:ea typeface="휴먼명조"/>
              </a:rPr>
              <a:t>                     </a:t>
            </a:r>
            <a:r>
              <a:rPr lang="en-US" altLang="ko-KR" sz="2800" spc="0" dirty="0">
                <a:solidFill>
                  <a:schemeClr val="tx1"/>
                </a:solidFill>
                <a:latin typeface="휴먼명조"/>
                <a:ea typeface="휴먼명조"/>
              </a:rPr>
              <a:t>“</a:t>
            </a:r>
            <a:r>
              <a:rPr lang="ko-KR" altLang="en-US" sz="2800" spc="0" dirty="0">
                <a:solidFill>
                  <a:schemeClr val="tx1"/>
                </a:solidFill>
                <a:latin typeface="휴먼명조"/>
                <a:ea typeface="휴먼명조"/>
              </a:rPr>
              <a:t>몇주간 방치했던 전기차 발화</a:t>
            </a:r>
            <a:r>
              <a:rPr lang="en-US" altLang="ko-KR" sz="2800" spc="0" dirty="0">
                <a:solidFill>
                  <a:schemeClr val="tx1"/>
                </a:solidFill>
                <a:latin typeface="휴먼명조"/>
                <a:ea typeface="휴먼명조"/>
              </a:rPr>
              <a:t>”</a:t>
            </a: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2800" spc="0" dirty="0">
                <a:latin typeface="휴먼명조"/>
                <a:ea typeface="휴먼명조"/>
              </a:rPr>
              <a:t> ☞ </a:t>
            </a:r>
            <a:r>
              <a:rPr lang="ko-KR" altLang="en-US" sz="2800" spc="0" dirty="0" err="1">
                <a:latin typeface="휴먼명조"/>
                <a:ea typeface="휴먼명조"/>
              </a:rPr>
              <a:t>리튬이온배터리</a:t>
            </a:r>
            <a:r>
              <a:rPr lang="ko-KR" altLang="en-US" sz="2800" spc="0" dirty="0">
                <a:latin typeface="휴먼명조"/>
                <a:ea typeface="휴먼명조"/>
              </a:rPr>
              <a:t> 화재 특성 및 소화 어려움 표현</a:t>
            </a:r>
            <a:endParaRPr lang="en-US" altLang="ko-KR" sz="2800" spc="0" dirty="0">
              <a:latin typeface="휴먼명조"/>
              <a:ea typeface="휴먼명조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endParaRPr lang="en-US" altLang="ko-KR" sz="2800" spc="0" dirty="0">
              <a:latin typeface="바탕" panose="02030600000101010101" pitchFamily="18" charset="-127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endParaRPr lang="en-US" altLang="ko-KR" sz="2800" spc="0" dirty="0">
              <a:latin typeface="바탕" panose="02030600000101010101" pitchFamily="18" charset="-127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2800" spc="0" dirty="0">
                <a:latin typeface="바탕" panose="02030600000101010101" pitchFamily="18" charset="-127"/>
                <a:ea typeface="맑은 고딕" panose="020B0503020000020004" pitchFamily="50" charset="-127"/>
              </a:rPr>
              <a:t>  </a:t>
            </a:r>
            <a:r>
              <a:rPr lang="ko-KR" altLang="ko-KR" sz="3900" spc="0" dirty="0">
                <a:solidFill>
                  <a:srgbClr val="7030A0"/>
                </a:solidFill>
                <a:latin typeface="Impact" panose="020B0806030902050204" pitchFamily="34" charset="0"/>
                <a:ea typeface="HY목각파임B" panose="02030600000101010101" pitchFamily="18" charset="-127"/>
              </a:rPr>
              <a:t>☞</a:t>
            </a:r>
            <a:r>
              <a:rPr lang="ko-KR" altLang="en-US" sz="3900" spc="0" dirty="0">
                <a:solidFill>
                  <a:srgbClr val="7030A0"/>
                </a:solidFill>
                <a:latin typeface="Impact" panose="020B0806030902050204" pitchFamily="34" charset="0"/>
                <a:ea typeface="HY목각파임B" panose="02030600000101010101" pitchFamily="18" charset="-127"/>
              </a:rPr>
              <a:t>☞ 자동화재 대응 시스템 필요 인식과 </a:t>
            </a:r>
            <a:endParaRPr lang="en-US" altLang="ko-KR" sz="3900" spc="0" dirty="0">
              <a:solidFill>
                <a:srgbClr val="7030A0"/>
              </a:solidFill>
              <a:latin typeface="Impact" panose="020B0806030902050204" pitchFamily="34" charset="0"/>
              <a:ea typeface="HY목각파임B" panose="02030600000101010101" pitchFamily="18" charset="-127"/>
            </a:endParaRPr>
          </a:p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r>
              <a:rPr lang="en-US" altLang="ko-KR" sz="3900" spc="0" dirty="0">
                <a:solidFill>
                  <a:srgbClr val="7030A0"/>
                </a:solidFill>
                <a:latin typeface="Impact" panose="020B0806030902050204" pitchFamily="34" charset="0"/>
                <a:ea typeface="HY목각파임B" panose="02030600000101010101" pitchFamily="18" charset="-127"/>
              </a:rPr>
              <a:t>              </a:t>
            </a:r>
            <a:r>
              <a:rPr lang="ko-KR" altLang="en-US" sz="3900" spc="0" dirty="0">
                <a:solidFill>
                  <a:srgbClr val="7030A0"/>
                </a:solidFill>
                <a:latin typeface="Impact" panose="020B0806030902050204" pitchFamily="34" charset="0"/>
                <a:ea typeface="HY목각파임B" panose="02030600000101010101" pitchFamily="18" charset="-127"/>
              </a:rPr>
              <a:t> 방법을 제시</a:t>
            </a:r>
            <a:endParaRPr lang="ko-KR" altLang="en-US" sz="2800" spc="0" dirty="0">
              <a:solidFill>
                <a:srgbClr val="7030A0"/>
              </a:solidFill>
              <a:latin typeface="Impact" panose="020B0806030902050204" pitchFamily="34" charset="0"/>
              <a:ea typeface="HY목각파임B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041881-D67C-B08F-656A-FC2FB9219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80" y="3681132"/>
            <a:ext cx="9302844" cy="540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6333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282DC1-00AC-1879-B20D-9D4738A5FE4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544425" y="1517516"/>
            <a:ext cx="10471218" cy="10797702"/>
          </a:xfrm>
        </p:spPr>
        <p:txBody>
          <a:bodyPr>
            <a:normAutofit/>
          </a:bodyPr>
          <a:lstStyle/>
          <a:p>
            <a:pPr marL="251460" marR="0" indent="-25146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40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1460" marR="0" indent="-25146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sz="3200" kern="0" spc="-7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추가 확산방지 설비 필요 </a:t>
            </a:r>
            <a:endParaRPr lang="en-US" altLang="ko-KR" sz="3200" kern="0" spc="-70" dirty="0">
              <a:solidFill>
                <a:srgbClr val="C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1460" marR="0" indent="-25146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3200" spc="-7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3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 소방시설 </a:t>
            </a:r>
            <a:r>
              <a:rPr lang="ko-KR" altLang="en-US" sz="3200" b="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리튬이온배터리</a:t>
            </a: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화재 대응 어려움</a:t>
            </a:r>
            <a:endParaRPr lang="en-US" altLang="ko-KR" sz="3200" kern="0" spc="-70" dirty="0">
              <a:solidFill>
                <a:srgbClr val="C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1460" marR="0" indent="-25146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3200" b="0" kern="0" spc="-50" dirty="0">
              <a:solidFill>
                <a:srgbClr val="C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3200" kern="0" spc="-7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대형 화재 가능성</a:t>
            </a:r>
            <a:r>
              <a:rPr lang="ko-KR" altLang="en-US" sz="32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320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도심의 데이터센터  </a:t>
            </a:r>
            <a:r>
              <a:rPr lang="en-US" altLang="ko-KR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</a:t>
            </a:r>
            <a:r>
              <a:rPr lang="ko-KR" altLang="en-US" sz="3200" b="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충방전</a:t>
            </a: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지속과 실내 충전 시설로 인한 위험이 증가</a:t>
            </a:r>
            <a:endParaRPr lang="en-US" altLang="ko-KR" sz="32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32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sz="3200" kern="0" spc="-7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초기대응 어려움 </a:t>
            </a:r>
            <a:endParaRPr lang="en-US" altLang="ko-KR" sz="3200" kern="0" spc="-70" dirty="0">
              <a:solidFill>
                <a:srgbClr val="C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UPS</a:t>
            </a: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시설 지하 및 소방차 진입이 어려운 환경</a:t>
            </a:r>
            <a:endParaRPr lang="en-US" altLang="ko-KR" sz="32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32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r>
              <a:rPr lang="ko-KR" altLang="en-US" sz="32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kern="0" spc="-7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개인의 직접 화재 대응에 대한 두려움과</a:t>
            </a:r>
            <a:r>
              <a:rPr lang="en-US" altLang="ko-KR" sz="3200" kern="0" spc="-7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kern="0" spc="-7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endParaRPr lang="en-US" altLang="ko-KR" sz="3200" kern="0" spc="-70" dirty="0">
              <a:solidFill>
                <a:srgbClr val="C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2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2DD3227-97C9-7483-1DFC-933109B2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CCB44-920A-610F-D118-47230ECA0CE9}"/>
              </a:ext>
            </a:extLst>
          </p:cNvPr>
          <p:cNvSpPr txBox="1"/>
          <p:nvPr/>
        </p:nvSpPr>
        <p:spPr>
          <a:xfrm>
            <a:off x="1031130" y="231776"/>
            <a:ext cx="20358657" cy="14219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251460" marR="0" indent="-25146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48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4800" b="1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48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오토 시스템 </a:t>
            </a:r>
            <a:r>
              <a:rPr lang="en-US" altLang="ko-KR" sz="4800" b="1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en-US" altLang="ko-KR" sz="48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4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FIRECOVER AUTO SYSTEM ESS)</a:t>
            </a:r>
            <a:r>
              <a:rPr lang="ko-KR" altLang="en-US" sz="48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필요성</a:t>
            </a:r>
            <a:endParaRPr lang="en-US" altLang="ko-KR" sz="4800" b="1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4E558F-23E6-FD13-85ED-FC4F7B189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479146"/>
            <a:ext cx="9829800" cy="62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607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4DA801D-38AF-2E28-1854-C0937F34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07" y="291831"/>
            <a:ext cx="12380281" cy="8568436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5400" dirty="0">
                <a:latin typeface="휴먼명조"/>
              </a:rPr>
              <a:t>4. FIRECOVER AUTO SYSTEM ESS</a:t>
            </a:r>
            <a:br>
              <a:rPr lang="en-US" altLang="ko-KR" sz="6000" dirty="0">
                <a:latin typeface="휴먼명조"/>
              </a:rPr>
            </a:br>
            <a:br>
              <a:rPr lang="en-US" altLang="ko-KR" sz="6000" dirty="0">
                <a:latin typeface="휴먼명조"/>
              </a:rPr>
            </a:br>
            <a:r>
              <a:rPr lang="en-US" altLang="ko-KR" sz="6000" dirty="0">
                <a:latin typeface="휴먼명조"/>
              </a:rPr>
              <a:t>                   </a:t>
            </a:r>
            <a:br>
              <a:rPr lang="en-US" altLang="ko-KR" sz="2800" dirty="0">
                <a:latin typeface="휴먼명조"/>
              </a:rPr>
            </a:br>
            <a:endParaRPr lang="ko-KR" altLang="en-US" sz="2800" dirty="0">
              <a:latin typeface="휴먼명조"/>
            </a:endParaRPr>
          </a:p>
        </p:txBody>
      </p:sp>
      <p:sp>
        <p:nvSpPr>
          <p:cNvPr id="12" name="텍스트 개체 틀 1">
            <a:extLst>
              <a:ext uri="{FF2B5EF4-FFF2-40B4-BE49-F238E27FC236}">
                <a16:creationId xmlns:a16="http://schemas.microsoft.com/office/drawing/2014/main" id="{33BAFB41-1DB4-B471-6E63-A5A0688B1C92}"/>
              </a:ext>
            </a:extLst>
          </p:cNvPr>
          <p:cNvSpPr txBox="1">
            <a:spLocks/>
          </p:cNvSpPr>
          <p:nvPr/>
        </p:nvSpPr>
        <p:spPr>
          <a:xfrm>
            <a:off x="13044057" y="1263104"/>
            <a:ext cx="9829800" cy="1062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39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indent="22860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indent="27432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indent="32004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indent="3657600" algn="ctr" defTabSz="8255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solidFill>
                  <a:srgbClr val="000000"/>
                </a:solidFill>
                <a:uFillTx/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algn="just" fontAlgn="base" latinLnBrk="1" hangingPunct="1">
              <a:lnSpc>
                <a:spcPct val="160000"/>
              </a:lnSpc>
              <a:spcBef>
                <a:spcPts val="0"/>
              </a:spcBef>
            </a:pPr>
            <a:endParaRPr lang="en-US" altLang="ko-KR" sz="2400" spc="0" dirty="0">
              <a:latin typeface="휴먼명조"/>
              <a:ea typeface="휴먼명조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4DF21-1160-E92E-821B-AFF858A5B131}"/>
              </a:ext>
            </a:extLst>
          </p:cNvPr>
          <p:cNvSpPr txBox="1"/>
          <p:nvPr/>
        </p:nvSpPr>
        <p:spPr>
          <a:xfrm>
            <a:off x="12775952" y="2254691"/>
            <a:ext cx="10523341" cy="86467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기존의 </a:t>
            </a:r>
            <a:r>
              <a:rPr lang="ko-KR" altLang="en-US" sz="2400" spc="-7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가스계</a:t>
            </a: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설비 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등의 소화설비는 유지하고 화재 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확산방지를 위한 추가 </a:t>
            </a:r>
            <a:endParaRPr lang="en-US" altLang="ko-KR" sz="2400" b="1" kern="0" spc="-70" dirty="0">
              <a:solidFill>
                <a:srgbClr val="7030A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spc="-7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ko-KR" altLang="en-US" sz="2400" b="1" spc="-7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1" spc="-70" dirty="0" err="1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랙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상부에  </a:t>
            </a:r>
            <a:r>
              <a:rPr lang="en-US" altLang="ko-KR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FIRECOVER</a:t>
            </a:r>
            <a:r>
              <a:rPr lang="en-US" altLang="ko-KR" sz="2400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endParaRPr lang="ko-KR" altLang="en-US" sz="24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algn="just" fontAlgn="base" latinLnBrk="1">
              <a:lnSpc>
                <a:spcPct val="180000"/>
              </a:lnSpc>
              <a:spcBef>
                <a:spcPts val="0"/>
              </a:spcBef>
            </a:pP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 화재가 감지되면 </a:t>
            </a: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소화 설비의 가동</a:t>
            </a:r>
            <a:r>
              <a:rPr lang="en-US" altLang="ko-KR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스프링 쿨러의 물</a:t>
            </a:r>
            <a:r>
              <a:rPr lang="en-US" altLang="ko-KR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가스 등이 분사</a:t>
            </a:r>
            <a:endParaRPr lang="ko-KR" altLang="en-US" sz="24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sz="240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파이어커버가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사면 등에서 내려와 바닥면에 밀착 </a:t>
            </a:r>
            <a:r>
              <a:rPr lang="ko-KR" altLang="en-US" sz="2400" b="1" u="sng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외부 유입공기 차단</a:t>
            </a:r>
            <a:endParaRPr lang="en-US" altLang="ko-KR" sz="2400" b="1" u="sng" kern="0" spc="-70" dirty="0">
              <a:solidFill>
                <a:srgbClr val="7030A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ko-KR" altLang="en-US" sz="2400" b="1" kern="0" spc="-70" dirty="0" err="1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작동하여 파이어 커버에 의해 화재 외부 확산 차단</a:t>
            </a:r>
            <a:endParaRPr lang="ko-KR" altLang="en-US" sz="2400" b="1" u="sng" kern="0" spc="-50" dirty="0">
              <a:solidFill>
                <a:srgbClr val="7030A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④ 기존 소화 </a:t>
            </a:r>
            <a:r>
              <a:rPr lang="ko-KR" altLang="en-US" sz="2400" spc="-7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소화</a:t>
            </a: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설비에 추가하여 리튬이온 배터리 소화액 분사</a:t>
            </a:r>
            <a:endParaRPr lang="en-US" altLang="ko-KR" sz="2400" b="1" u="sng" kern="0" spc="-70" dirty="0">
              <a:solidFill>
                <a:srgbClr val="7030A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     </a:t>
            </a:r>
            <a:r>
              <a:rPr lang="en-US" altLang="ko-KR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- </a:t>
            </a:r>
            <a:r>
              <a:rPr lang="ko-KR" altLang="en-US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자동 및 수동 선택적</a:t>
            </a:r>
            <a:r>
              <a:rPr lang="en-US" altLang="ko-KR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, </a:t>
            </a:r>
            <a:r>
              <a:rPr lang="ko-KR" altLang="en-US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통신 설비에 의한 제어</a:t>
            </a:r>
            <a:r>
              <a:rPr lang="en-US" altLang="ko-KR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, </a:t>
            </a:r>
            <a:r>
              <a:rPr lang="ko-KR" altLang="en-US" sz="2400" b="1" kern="0" spc="-50" dirty="0">
                <a:solidFill>
                  <a:srgbClr val="7030A0"/>
                </a:solidFill>
                <a:effectLst/>
                <a:latin typeface="한양신명조"/>
              </a:rPr>
              <a:t>설비의 선택적 사용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장치의  </a:t>
            </a:r>
            <a:r>
              <a:rPr lang="ko-KR" altLang="en-US" sz="2400" b="1" kern="0" spc="-5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상부와 </a:t>
            </a:r>
            <a:r>
              <a:rPr lang="ko-KR" altLang="en-US" sz="2400" b="1" spc="-5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좌우에</a:t>
            </a:r>
            <a:r>
              <a:rPr lang="ko-KR" altLang="en-US" sz="2400" b="1" kern="0" spc="-5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모듈을 접합</a:t>
            </a:r>
            <a:endParaRPr lang="ko-KR" altLang="en-US" sz="2400" b="1" u="sng" kern="0" spc="-50" dirty="0">
              <a:solidFill>
                <a:srgbClr val="7030A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모듈은 전기로 작동하지만 화재로 </a:t>
            </a:r>
            <a:r>
              <a:rPr lang="ko-KR" altLang="en-US" sz="2400" b="1" spc="-7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전기가 차단되면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작동 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하도록 설계</a:t>
            </a:r>
            <a:endParaRPr lang="en-US" altLang="ko-KR" sz="2400" spc="-7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연기와 열 감지기가 설치됨</a:t>
            </a:r>
            <a:r>
              <a:rPr lang="en-US" altLang="ko-KR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 감지기와 별도 설치</a:t>
            </a:r>
            <a:endParaRPr lang="ko-KR" altLang="en-US" sz="2400" b="1" kern="0" spc="-50" dirty="0">
              <a:solidFill>
                <a:srgbClr val="7030A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⑦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기둥 및 방해요인에 의한 설치 애로지역은 여건에 맞게 </a:t>
            </a:r>
            <a:r>
              <a:rPr lang="en-US" altLang="ko-KR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UNIT </a:t>
            </a:r>
            <a:r>
              <a:rPr lang="ko-KR" altLang="en-US" sz="2400" b="1" kern="0" spc="-7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단위로 설치</a:t>
            </a:r>
            <a:endParaRPr lang="ko-KR" altLang="en-US" sz="2400" b="1" u="sng" kern="0" spc="-50" dirty="0">
              <a:solidFill>
                <a:srgbClr val="7030A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⑧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무인 진압으로 근무자의 감시실패에 따른 책임 소재가 없고 화재 대응에 사람의 개입이 </a:t>
            </a:r>
            <a:r>
              <a:rPr lang="ko-KR" altLang="en-US" sz="2400" kern="0" spc="-5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없어</a:t>
            </a:r>
            <a:r>
              <a:rPr lang="ko-KR" altLang="en-US" sz="2400" kern="0" spc="-5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1" u="sng" kern="0" spc="-50" dirty="0">
                <a:solidFill>
                  <a:srgbClr val="7030A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안전사고가 발생하지 않음</a:t>
            </a:r>
            <a:endParaRPr lang="ko-KR" altLang="en-US" sz="2400" b="1" u="sng" kern="0" spc="-50" dirty="0">
              <a:solidFill>
                <a:srgbClr val="7030A0"/>
              </a:solidFill>
              <a:effectLst/>
              <a:latin typeface="한양신명조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ED0F5D-BB5A-91C7-B543-79902D68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741" y="4267436"/>
            <a:ext cx="5289177" cy="710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769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282DC1-00AC-1879-B20D-9D4738A5FE4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760407" y="1381328"/>
            <a:ext cx="9829800" cy="10984890"/>
          </a:xfrm>
        </p:spPr>
        <p:txBody>
          <a:bodyPr>
            <a:normAutofit/>
          </a:bodyPr>
          <a:lstStyle/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spc="-70" dirty="0">
                <a:solidFill>
                  <a:srgbClr val="0099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en-US" altLang="ko-KR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원단 형태의 </a:t>
            </a:r>
            <a:r>
              <a:rPr lang="ko-KR" altLang="en-US" sz="2800" kern="0" spc="-70" dirty="0" err="1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오토 시스템</a:t>
            </a:r>
            <a:endParaRPr lang="ko-KR" altLang="en-US" sz="2400" kern="0" spc="-50" dirty="0">
              <a:solidFill>
                <a:srgbClr val="0099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지나치게 압력이 높아지면 하부를 통해 가스 배출 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폭발방지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화재의 외부 확산 차단 가능</a:t>
            </a: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ko-KR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외부화재의 내부 확산 차단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④ 물이나 소화액에 완전 침수 방식은 시스템 오작동이 발생 할 경우 침수 </a:t>
            </a:r>
            <a:r>
              <a:rPr lang="en-US" altLang="ko-KR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엄청난 손실 발생 가능성 배제</a:t>
            </a: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50" dirty="0">
                <a:solidFill>
                  <a:srgbClr val="000000"/>
                </a:solidFill>
                <a:effectLst/>
                <a:latin typeface="한양신명조"/>
              </a:rPr>
              <a:t> </a:t>
            </a:r>
          </a:p>
          <a:p>
            <a:pPr algn="just" fontAlgn="base" latinLnBrk="1">
              <a:lnSpc>
                <a:spcPct val="170000"/>
              </a:lnSpc>
              <a:spcBef>
                <a:spcPts val="0"/>
              </a:spcBef>
            </a:pPr>
            <a:r>
              <a:rPr lang="en-US" altLang="ko-KR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2800" kern="0" spc="-70" dirty="0" err="1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오토 시스템 </a:t>
            </a:r>
            <a:r>
              <a:rPr lang="en-US" altLang="ko-KR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ko-KR" altLang="en-US" sz="2800" kern="0" spc="-70" dirty="0">
                <a:solidFill>
                  <a:srgbClr val="0099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위한 섬유가 가져야 할 특징</a:t>
            </a:r>
            <a:endParaRPr lang="ko-KR" altLang="en-US" sz="2800" kern="0" spc="-50" dirty="0">
              <a:solidFill>
                <a:srgbClr val="0099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 저온 경화현상이 발생하지 않아야 함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실리카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유리섬유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석영섬유 발생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롤링시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정전기가 발생하지 않아야 함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실리카 정전기로 인한 화재 유발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실내에서 </a:t>
            </a: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유리가루 등 섬유가루 등이 날리지 않아야 함 </a:t>
            </a:r>
            <a:endParaRPr lang="en-US" altLang="ko-KR" sz="2400" b="0" spc="-7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④ 실내여서 인체 유해성 더욱 부각됨</a:t>
            </a:r>
            <a:endParaRPr lang="en-US" altLang="ko-KR" sz="2400" b="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화재의 </a:t>
            </a:r>
            <a:r>
              <a:rPr lang="ko-KR" altLang="en-US" sz="2400" b="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고온에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견뎌야 함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상부에 보관하기 때문에 가벼워야 함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⑦</a:t>
            </a:r>
            <a:r>
              <a:rPr lang="en-US" altLang="ko-KR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유해가스 및 공기를 차단할 수 있는 성능 확보</a:t>
            </a:r>
            <a:endParaRPr lang="ko-KR" altLang="en-US" sz="2400" b="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200" b="0" kern="0" spc="-50" dirty="0">
              <a:solidFill>
                <a:srgbClr val="000000"/>
              </a:solidFill>
              <a:effectLst/>
              <a:latin typeface="한양신명조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53ECAE1-0905-CB19-9857-091AE4063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406760032">
            <a:extLst>
              <a:ext uri="{FF2B5EF4-FFF2-40B4-BE49-F238E27FC236}">
                <a16:creationId xmlns:a16="http://schemas.microsoft.com/office/drawing/2014/main" id="{EF7E3459-BB08-6E99-E770-2121E4C2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50" y="2276771"/>
            <a:ext cx="7031627" cy="358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DEE641-AFD7-4518-0A64-E5E04974B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783" y="6858000"/>
            <a:ext cx="5680952" cy="4551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B713F4-00EE-DC64-08C4-57DD3EEEB08F}"/>
              </a:ext>
            </a:extLst>
          </p:cNvPr>
          <p:cNvSpPr txBox="1"/>
          <p:nvPr/>
        </p:nvSpPr>
        <p:spPr>
          <a:xfrm>
            <a:off x="2518651" y="8718993"/>
            <a:ext cx="5389125" cy="2049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시범 제작 중인 </a:t>
            </a:r>
            <a:endParaRPr lang="en-US" altLang="ko-KR" dirty="0"/>
          </a:p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FIRECOVER AUTO SYSTEM ESS</a:t>
            </a:r>
            <a:endParaRPr kumimoji="0" lang="ko-KR" altLang="en-US" sz="29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96C75-0433-D91E-B11B-8315DC68B7E6}"/>
              </a:ext>
            </a:extLst>
          </p:cNvPr>
          <p:cNvSpPr txBox="1"/>
          <p:nvPr/>
        </p:nvSpPr>
        <p:spPr>
          <a:xfrm>
            <a:off x="5728780" y="4343414"/>
            <a:ext cx="6536987" cy="3028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2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설계</a:t>
            </a:r>
            <a:endParaRPr kumimoji="0" lang="en-US" altLang="ko-KR" sz="29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  <a:p>
            <a:r>
              <a:rPr kumimoji="0" lang="en-US" altLang="ko-KR" sz="2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FIRECOVER AUTO SYSTEM ESS</a:t>
            </a:r>
            <a:endParaRPr kumimoji="0" lang="ko-KR" altLang="en-US" sz="29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29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9CE69-C5BE-295A-14AA-8EAEA96AD44B}"/>
              </a:ext>
            </a:extLst>
          </p:cNvPr>
          <p:cNvSpPr txBox="1"/>
          <p:nvPr/>
        </p:nvSpPr>
        <p:spPr>
          <a:xfrm>
            <a:off x="1809345" y="811500"/>
            <a:ext cx="9669293" cy="13342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5. </a:t>
            </a:r>
            <a:r>
              <a:rPr kumimoji="0" lang="ko-KR" altLang="en-US" sz="4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파이어커버</a:t>
            </a:r>
            <a:r>
              <a:rPr kumimoji="0" lang="ko-KR" altLang="en-US" sz="4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Medium"/>
                <a:ea typeface="Proxima Nova Medium"/>
                <a:cs typeface="Proxima Nova Medium"/>
                <a:sym typeface="Proxima Nova Medium"/>
              </a:rPr>
              <a:t> 오토 시스템 섬유</a:t>
            </a:r>
          </a:p>
        </p:txBody>
      </p:sp>
    </p:spTree>
    <p:extLst>
      <p:ext uri="{BB962C8B-B14F-4D97-AF65-F5344CB8AC3E}">
        <p14:creationId xmlns:p14="http://schemas.microsoft.com/office/powerpoint/2010/main" val="13699757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89E1863-013C-043C-D2F6-8AFD12CB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70" y="503609"/>
            <a:ext cx="10853529" cy="1733018"/>
          </a:xfrm>
        </p:spPr>
        <p:txBody>
          <a:bodyPr>
            <a:normAutofit/>
          </a:bodyPr>
          <a:lstStyle/>
          <a:p>
            <a:r>
              <a:rPr lang="en-US" altLang="ko-KR" sz="6000" dirty="0"/>
              <a:t>6. </a:t>
            </a:r>
            <a:r>
              <a:rPr lang="ko-KR" altLang="en-US" sz="6000" dirty="0"/>
              <a:t>기존 질식 </a:t>
            </a:r>
            <a:r>
              <a:rPr lang="ko-KR" altLang="en-US" sz="6000" dirty="0" err="1"/>
              <a:t>소화포의</a:t>
            </a:r>
            <a:r>
              <a:rPr lang="ko-KR" altLang="en-US" sz="6000" dirty="0"/>
              <a:t> 문제점</a:t>
            </a:r>
            <a:r>
              <a:rPr lang="en-US" altLang="ko-KR" sz="6000" dirty="0"/>
              <a:t> </a:t>
            </a:r>
            <a:endParaRPr lang="ko-KR" altLang="en-US" sz="6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8CC360-68A2-FBC3-BFD0-F7204BB16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399" y="1143000"/>
            <a:ext cx="3871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C8F9F6-B169-A0EF-4DAD-24EBC5B46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169" y="6611483"/>
            <a:ext cx="4297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A40D07-AFF6-E605-FA7E-201DA220B431}"/>
              </a:ext>
            </a:extLst>
          </p:cNvPr>
          <p:cNvSpPr txBox="1"/>
          <p:nvPr/>
        </p:nvSpPr>
        <p:spPr>
          <a:xfrm>
            <a:off x="1291009" y="1848831"/>
            <a:ext cx="10376452" cy="96764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457200" marR="0" indent="-4572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AutoNum type="circleNumDbPlain"/>
            </a:pPr>
            <a:r>
              <a:rPr lang="ko-KR" altLang="en-US" sz="2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갈라지는 현상</a:t>
            </a:r>
            <a:r>
              <a:rPr lang="en-US" altLang="ko-KR" sz="2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800" b="1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질식소화포</a:t>
            </a:r>
            <a:r>
              <a:rPr lang="en-US" altLang="ko-KR" sz="2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0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질식소화포</a:t>
            </a:r>
            <a:r>
              <a:rPr lang="ko-KR" altLang="en-US" sz="20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대부분이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무기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유리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실리카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석영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섬유에 무기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실리콘수지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코팅 하여 사용하고 있다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..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석면을 대체하고 있는 무기섬유는 자체로도 문제가 있지만 표면처리로 문제가 커진다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무기섬유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광물질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규사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돌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실리콘수지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광물질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규사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돌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결합하면 접어 보관할 때 돌과 돌이 만나게 갈라지거나 구멍이 발생한다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457200" indent="-457200" algn="just" fontAlgn="base" latinLnBrk="1">
              <a:lnSpc>
                <a:spcPct val="180000"/>
              </a:lnSpc>
              <a:spcBef>
                <a:spcPts val="0"/>
              </a:spcBef>
              <a:buFontTx/>
              <a:buAutoNum type="circleNumDbPlain"/>
            </a:pPr>
            <a:r>
              <a:rPr lang="ko-KR" altLang="en-US" sz="2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인체유해성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실리카 원료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산화규소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석영섬유와 유리섬유 원료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산화규소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산화알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루미늄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산화칼슘은 산업안전보건관리법상 관리대상 물질이며 유연하게 하려고 코팅액에  사용 금지 물질인 브롬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할로겐 등 유해성분이 함유되는 경우가 있어 유해성 심각</a:t>
            </a:r>
            <a:endParaRPr lang="en-US" altLang="ko-KR" sz="1800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 algn="just" fontAlgn="base" latinLnBrk="1">
              <a:lnSpc>
                <a:spcPct val="180000"/>
              </a:lnSpc>
              <a:spcBef>
                <a:spcPts val="0"/>
              </a:spcBef>
              <a:buFontTx/>
              <a:buAutoNum type="circleNumDbPlain"/>
            </a:pPr>
            <a:r>
              <a:rPr lang="ko-KR" altLang="en-US" sz="2800" b="1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겨울 상온보관 필요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겨울 영하에  보관하면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푸석해져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갈라짐과 부러짐 현상이 발생</a:t>
            </a:r>
            <a:endParaRPr lang="en-US" altLang="ko-KR" sz="1800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 algn="just" fontAlgn="base" latinLnBrk="1">
              <a:lnSpc>
                <a:spcPct val="180000"/>
              </a:lnSpc>
              <a:spcBef>
                <a:spcPts val="0"/>
              </a:spcBef>
              <a:buFontTx/>
              <a:buAutoNum type="circleNumDbPlain"/>
            </a:pPr>
            <a:r>
              <a:rPr lang="en-US" altLang="ko-KR" sz="2800" b="1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찢어짐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화재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차량에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날카로운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표면에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걸리면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길게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찢어져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불이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새고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유입이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 algn="just" fontAlgn="base" latinLnBrk="1">
              <a:lnSpc>
                <a:spcPct val="180000"/>
              </a:lnSpc>
              <a:spcBef>
                <a:spcPts val="0"/>
              </a:spcBef>
              <a:buFontTx/>
              <a:buAutoNum type="circleNumDbPlain"/>
            </a:pP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무거워 사용하기 불편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무기섬유는 대체로 무거우며 두께가 얇아지면 내열 도도 함께 내려가 통상 두꺼운 원단을 사용하는데 무거워 지면 응급 상황에 서 대응이 어려워 짐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 algn="just" fontAlgn="base" latinLnBrk="1">
              <a:lnSpc>
                <a:spcPct val="180000"/>
              </a:lnSpc>
              <a:spcBef>
                <a:spcPts val="0"/>
              </a:spcBef>
              <a:buFontTx/>
              <a:buAutoNum type="circleNumDbPlain"/>
            </a:pP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정전기 발생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(ESS)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롤에 감기거나 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풀릴때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정전기 많이 발생되며 땅바닥에 모래가 달라붙는 형태로 확인 가능 하다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실내의 경우 오히려 화재의 원인이 될 수 있다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457200" indent="-457200" algn="just" fontAlgn="base" latinLnBrk="1">
              <a:lnSpc>
                <a:spcPct val="180000"/>
              </a:lnSpc>
              <a:spcBef>
                <a:spcPts val="0"/>
              </a:spcBef>
              <a:buFontTx/>
              <a:buAutoNum type="circleNumDbPlain"/>
            </a:pP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저온경화현상 발생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(ESS)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낮은 온도라도 온도 변화가 지속 발생하면 섬유표면이 경화되어 부서지는 현상  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69EA268E-596B-8BCB-402A-0C572D50B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28945"/>
              </p:ext>
            </p:extLst>
          </p:nvPr>
        </p:nvGraphicFramePr>
        <p:xfrm>
          <a:off x="13248860" y="1689652"/>
          <a:ext cx="9144002" cy="10165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1">
                  <a:extLst>
                    <a:ext uri="{9D8B030D-6E8A-4147-A177-3AD203B41FA5}">
                      <a16:colId xmlns:a16="http://schemas.microsoft.com/office/drawing/2014/main" val="829717090"/>
                    </a:ext>
                  </a:extLst>
                </a:gridCol>
                <a:gridCol w="4572001">
                  <a:extLst>
                    <a:ext uri="{9D8B030D-6E8A-4147-A177-3AD203B41FA5}">
                      <a16:colId xmlns:a16="http://schemas.microsoft.com/office/drawing/2014/main" val="2939389401"/>
                    </a:ext>
                  </a:extLst>
                </a:gridCol>
              </a:tblGrid>
              <a:tr h="3173893"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sz="2800" b="1" dirty="0"/>
                        <a:t>갈라지는 현상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sz="2800" b="1" dirty="0"/>
                        <a:t>보관상 문제</a:t>
                      </a:r>
                    </a:p>
                    <a:p>
                      <a:pPr latinLnBrk="1"/>
                      <a:endParaRPr lang="en-US" altLang="ko-KR" sz="2800" dirty="0"/>
                    </a:p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38306"/>
                  </a:ext>
                </a:extLst>
              </a:tr>
              <a:tr h="3495875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/>
                        <a:t>인체유해성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190161"/>
                  </a:ext>
                </a:extLst>
              </a:tr>
              <a:tr h="3495875">
                <a:tc gridSpan="2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sz="2800" b="1" dirty="0"/>
                        <a:t>새로운 문제</a:t>
                      </a:r>
                      <a:endParaRPr lang="en-US" altLang="ko-KR" sz="2800" b="1" dirty="0"/>
                    </a:p>
                    <a:p>
                      <a:pPr latinLnBrk="1"/>
                      <a:endParaRPr lang="en-US" altLang="ko-KR" sz="2800" dirty="0"/>
                    </a:p>
                    <a:p>
                      <a:pPr latinLnBrk="1"/>
                      <a:endParaRPr lang="en-US" altLang="ko-KR" sz="2800" dirty="0"/>
                    </a:p>
                    <a:p>
                      <a:pPr latinLnBrk="1"/>
                      <a:endParaRPr lang="en-US" altLang="ko-KR" sz="2800" dirty="0"/>
                    </a:p>
                    <a:p>
                      <a:pPr latinLnBrk="1"/>
                      <a:endParaRPr lang="en-US" altLang="ko-KR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969250"/>
                  </a:ext>
                </a:extLst>
              </a:tr>
            </a:tbl>
          </a:graphicData>
        </a:graphic>
      </p:graphicFrame>
      <p:pic>
        <p:nvPicPr>
          <p:cNvPr id="10" name="_x406759392">
            <a:extLst>
              <a:ext uri="{FF2B5EF4-FFF2-40B4-BE49-F238E27FC236}">
                <a16:creationId xmlns:a16="http://schemas.microsoft.com/office/drawing/2014/main" id="{408A94DE-B650-B190-5BF9-4F94782C1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085" y="2628148"/>
            <a:ext cx="2208213" cy="186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_x149904984">
            <a:extLst>
              <a:ext uri="{FF2B5EF4-FFF2-40B4-BE49-F238E27FC236}">
                <a16:creationId xmlns:a16="http://schemas.microsoft.com/office/drawing/2014/main" id="{A16C66C0-00AB-42D6-23C4-1ECC8D1A9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6974" y="5466081"/>
            <a:ext cx="8527774" cy="244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2F0C8150-1A72-D6A7-1082-BFC71D8A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5" name="_x406756752">
            <a:extLst>
              <a:ext uri="{FF2B5EF4-FFF2-40B4-BE49-F238E27FC236}">
                <a16:creationId xmlns:a16="http://schemas.microsoft.com/office/drawing/2014/main" id="{A17D5F61-DC99-266F-D01B-C5DE3A9EC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549" y="2574539"/>
            <a:ext cx="4241225" cy="199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9D696F7-4C5A-F97F-C766-59C8C9A8DB87}"/>
              </a:ext>
            </a:extLst>
          </p:cNvPr>
          <p:cNvSpPr/>
          <p:nvPr/>
        </p:nvSpPr>
        <p:spPr>
          <a:xfrm>
            <a:off x="14442085" y="9669177"/>
            <a:ext cx="2514072" cy="923290"/>
          </a:xfrm>
          <a:prstGeom prst="ellipse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정전기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F20EB7C-536F-AEA1-5FAE-FC49719B9A66}"/>
              </a:ext>
            </a:extLst>
          </p:cNvPr>
          <p:cNvSpPr/>
          <p:nvPr/>
        </p:nvSpPr>
        <p:spPr>
          <a:xfrm>
            <a:off x="18518539" y="9690854"/>
            <a:ext cx="2514072" cy="923290"/>
          </a:xfrm>
          <a:prstGeom prst="ellipse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저온경화</a:t>
            </a:r>
          </a:p>
        </p:txBody>
      </p:sp>
      <p:sp>
        <p:nvSpPr>
          <p:cNvPr id="20" name="더하기 기호 19">
            <a:extLst>
              <a:ext uri="{FF2B5EF4-FFF2-40B4-BE49-F238E27FC236}">
                <a16:creationId xmlns:a16="http://schemas.microsoft.com/office/drawing/2014/main" id="{3D9B0B7A-A3DB-D5A1-9DEC-B2E8D779C949}"/>
              </a:ext>
            </a:extLst>
          </p:cNvPr>
          <p:cNvSpPr/>
          <p:nvPr/>
        </p:nvSpPr>
        <p:spPr>
          <a:xfrm>
            <a:off x="17254861" y="9669177"/>
            <a:ext cx="1005791" cy="923290"/>
          </a:xfrm>
          <a:prstGeom prst="mathPlus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-59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17A75E9-0847-F7EF-5EAA-7785ECC66A53}"/>
              </a:ext>
            </a:extLst>
          </p:cNvPr>
          <p:cNvSpPr/>
          <p:nvPr/>
        </p:nvSpPr>
        <p:spPr>
          <a:xfrm>
            <a:off x="15864352" y="10849822"/>
            <a:ext cx="3786808" cy="726440"/>
          </a:xfrm>
          <a:prstGeom prst="round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3000" spc="-59" dirty="0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ESS </a:t>
            </a:r>
            <a:r>
              <a:rPr lang="ko-KR" altLang="en-US" sz="3000" spc="-59" dirty="0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등 실내 사용불가</a:t>
            </a:r>
            <a:endParaRPr kumimoji="0" lang="ko-KR" altLang="en-US" sz="3000" b="0" i="0" u="none" strike="noStrike" cap="none" spc="-59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</p:spTree>
    <p:extLst>
      <p:ext uri="{BB962C8B-B14F-4D97-AF65-F5344CB8AC3E}">
        <p14:creationId xmlns:p14="http://schemas.microsoft.com/office/powerpoint/2010/main" val="351907445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053460E-F19F-D5CB-5A72-530C20F83DCD}"/>
              </a:ext>
            </a:extLst>
          </p:cNvPr>
          <p:cNvSpPr/>
          <p:nvPr/>
        </p:nvSpPr>
        <p:spPr>
          <a:xfrm>
            <a:off x="1444752" y="7863840"/>
            <a:ext cx="9582912" cy="149961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-59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9E1863-013C-043C-D2F6-8AFD12CB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1" y="503609"/>
            <a:ext cx="11162818" cy="1733018"/>
          </a:xfrm>
        </p:spPr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당사 개발 섬유의특징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8CC360-68A2-FBC3-BFD0-F7204BB16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399" y="1143000"/>
            <a:ext cx="3871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C8F9F6-B169-A0EF-4DAD-24EBC5B46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169" y="6611483"/>
            <a:ext cx="4297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A40D07-AFF6-E605-FA7E-201DA220B431}"/>
              </a:ext>
            </a:extLst>
          </p:cNvPr>
          <p:cNvSpPr txBox="1"/>
          <p:nvPr/>
        </p:nvSpPr>
        <p:spPr>
          <a:xfrm>
            <a:off x="1581497" y="2257579"/>
            <a:ext cx="10376452" cy="6740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SC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(SPECIAL CELLULOSE FIBER)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ⓐ 갈라짐 방지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유연함을 확보하여 굽힘과 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삼중 접는 시험 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회 실시</a:t>
            </a:r>
            <a:endParaRPr lang="ko-KR" altLang="en-US" sz="2000" b="1" kern="0" spc="0" dirty="0">
              <a:solidFill>
                <a:srgbClr val="0070C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ⓑ 찢어짐 방지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걸려 찢어짐 최소화하는 직조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인열강도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33.3N(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텐트 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12N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FITI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시험성적서 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ⓒ 겨울보관문제 해결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겨울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푸석해져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갈라짐과 부러짐을 해결 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MSDS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성적서</a:t>
            </a:r>
            <a:endParaRPr lang="ko-KR" altLang="en-US" sz="2000" b="1" kern="0" spc="0" dirty="0">
              <a:solidFill>
                <a:srgbClr val="0070C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kern="0" spc="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ⓓ 인체유해성 해결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산화규소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산화알루미늄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산화칼슘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브롬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할로겐 등 유해 성분을 제거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MSDS 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시험성적서</a:t>
            </a:r>
            <a:endParaRPr lang="ko-KR" altLang="en-US" sz="2000" b="1" kern="0" spc="0" dirty="0">
              <a:solidFill>
                <a:srgbClr val="0070C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ⓔ 사용편의성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1mx1m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기준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400g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내외의 중량으로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600g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이상의 무기재료에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비해 혁신적으로 가벼움 </a:t>
            </a:r>
            <a:r>
              <a:rPr lang="en-US" altLang="ko-KR" sz="2000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2000" b="1" kern="0" spc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실측</a:t>
            </a:r>
            <a:endParaRPr lang="en-US" altLang="ko-KR" sz="2000" b="1" kern="0" spc="0" dirty="0">
              <a:solidFill>
                <a:srgbClr val="0070C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ko-KR" sz="24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ⓕ</a:t>
            </a:r>
            <a:r>
              <a:rPr lang="en-US" altLang="ko-KR" sz="24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정전기 발생하지 않음</a:t>
            </a:r>
            <a:endParaRPr lang="en-US" altLang="ko-KR" sz="2400" b="1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ⓕ 저온 경화 현상 발생 하지 않음</a:t>
            </a:r>
            <a:r>
              <a:rPr lang="en-US" altLang="ko-KR" sz="2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변화 반복에도 </a:t>
            </a:r>
            <a:r>
              <a:rPr lang="ko-KR" altLang="en-US" sz="20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경화되지 않음</a:t>
            </a:r>
            <a:endParaRPr lang="ko-KR" altLang="en-US" sz="2000" b="1" kern="0" spc="0" dirty="0">
              <a:solidFill>
                <a:srgbClr val="FFFF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2F0C8150-1A72-D6A7-1082-BFC71D8A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E4BC4A-3CCE-DEF0-24DB-DF22481D2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723" y="9164526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7F802-0AAE-8016-3BF8-B8A71406FB54}"/>
              </a:ext>
            </a:extLst>
          </p:cNvPr>
          <p:cNvSpPr txBox="1"/>
          <p:nvPr/>
        </p:nvSpPr>
        <p:spPr>
          <a:xfrm>
            <a:off x="12954975" y="1600200"/>
            <a:ext cx="9803294" cy="106465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2800" b="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ASC FIBER(ACTIVE SPECIAL CELLULOSE FIBER)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0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ⓐ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ASC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(ACTIVE SPECIAL CELLULOSE FIBER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- SC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 장점에 </a:t>
            </a:r>
            <a:r>
              <a:rPr lang="ko-KR" altLang="en-US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소화가스 발생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기능 부가된 섬유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ⓑ 원단의 표면에 </a:t>
            </a:r>
            <a:r>
              <a:rPr lang="ko-KR" altLang="en-US" sz="200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비다공성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고분자 합성 물질이 분포하여 </a:t>
            </a:r>
            <a:r>
              <a:rPr lang="en-US" altLang="ko-KR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120</a:t>
            </a:r>
            <a:r>
              <a:rPr lang="ko-KR" altLang="en-US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℃ 이상의 불에 반응하여 </a:t>
            </a:r>
            <a:r>
              <a:rPr lang="en-US" altLang="ko-KR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3M </a:t>
            </a:r>
            <a:r>
              <a:rPr lang="en-US" altLang="ko-KR" sz="2000" b="1" kern="0" spc="-70" dirty="0" err="1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Novec</a:t>
            </a:r>
            <a:r>
              <a:rPr lang="en-US" altLang="ko-KR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1230 Fire protection Fluid </a:t>
            </a:r>
            <a:r>
              <a:rPr lang="ko-KR" altLang="en-US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분사되어 냉각과 질식이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진행된다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ⓒ 소화기체가 분사되어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불을 밀어내어 섬유가 직접 닫지 않아 </a:t>
            </a:r>
            <a:r>
              <a:rPr lang="ko-KR" altLang="en-US" sz="200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질식소화포가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손상 되지 않고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미미하지만 화재에 소화 기체는 냉각기능이 발생하여 화재 확산 </a:t>
            </a:r>
            <a:r>
              <a:rPr lang="ko-KR" altLang="en-US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방지에 능동적 영향을 주는 효과적인 화재 대응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섬유다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ⓓ 리튬이온 배터리 화재의 최고점에서 질식소화덮개가 </a:t>
            </a:r>
            <a:r>
              <a:rPr lang="ko-KR" altLang="en-US" sz="2000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덮히면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온도는 거의 즉시 하락 한다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만일의 섬유의 내화도를 넘어서는 환경에서 </a:t>
            </a:r>
            <a:r>
              <a:rPr lang="ko-KR" altLang="en-US" sz="2000" b="1" kern="0" spc="-7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섬유에 미치는 영향을 최소화 </a:t>
            </a:r>
            <a:r>
              <a:rPr lang="ko-KR" altLang="en-US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spc="-7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0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sz="4000" b="1" kern="0" spc="-7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4000" b="1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오토시스템 사용되는 섬유</a:t>
            </a:r>
            <a:endParaRPr lang="ko-KR" altLang="en-US" sz="40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kern="0" spc="-70" dirty="0" err="1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</a:t>
            </a:r>
            <a:r>
              <a:rPr lang="ko-KR" altLang="en-US" sz="3200" b="1" kern="0" spc="-70" dirty="0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오토 시스템에는 기존의 질식소화덮개에 사용되는 무기섬유의 단점이 보완되고 기능이 더해진  </a:t>
            </a:r>
            <a:r>
              <a:rPr lang="en-US" altLang="ko-KR" sz="3200" b="1" kern="0" spc="-70" dirty="0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SC</a:t>
            </a:r>
            <a:r>
              <a:rPr lang="ko-KR" altLang="en-US" sz="3200" b="1" kern="0" spc="-70" dirty="0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</a:t>
            </a:r>
            <a:r>
              <a:rPr lang="ko-KR" altLang="en-US" sz="3200" b="1" spc="-7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3200" b="1" kern="0" spc="-70" dirty="0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ASC</a:t>
            </a:r>
            <a:r>
              <a:rPr lang="ko-KR" altLang="en-US" sz="3200" b="1" kern="0" spc="-70" dirty="0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섬유가 사용된다</a:t>
            </a:r>
            <a:r>
              <a:rPr lang="en-US" altLang="ko-KR" sz="3200" b="1" kern="0" spc="-70" dirty="0">
                <a:solidFill>
                  <a:schemeClr val="accent2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200" b="1" kern="0" spc="0" dirty="0">
              <a:solidFill>
                <a:schemeClr val="accent2">
                  <a:lumMod val="50000"/>
                </a:schemeClr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b="1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76765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89E1863-013C-043C-D2F6-8AFD12CB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58" y="503609"/>
            <a:ext cx="11430000" cy="1733018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8. </a:t>
            </a:r>
            <a:r>
              <a:rPr lang="ko-KR" altLang="en-US" sz="4800" dirty="0" err="1"/>
              <a:t>파이어커버</a:t>
            </a:r>
            <a:r>
              <a:rPr lang="ko-KR" altLang="en-US" sz="4800" dirty="0"/>
              <a:t> 오토 시스템 구조 및 시공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8CC360-68A2-FBC3-BFD0-F7204BB16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92" y="867041"/>
            <a:ext cx="39479833" cy="86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C8F9F6-B169-A0EF-4DAD-24EBC5B46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169" y="6611483"/>
            <a:ext cx="4297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A40D07-AFF6-E605-FA7E-201DA220B431}"/>
              </a:ext>
            </a:extLst>
          </p:cNvPr>
          <p:cNvSpPr txBox="1"/>
          <p:nvPr/>
        </p:nvSpPr>
        <p:spPr>
          <a:xfrm>
            <a:off x="1550506" y="2158254"/>
            <a:ext cx="10376452" cy="93994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spc="-7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spc="-7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kern="0" spc="-7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spc="-7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한양신명조"/>
                <a:ea typeface="맑은 고딕" panose="020B0503020000020004" pitchFamily="50" charset="-127"/>
              </a:rPr>
              <a:t> </a:t>
            </a:r>
            <a:r>
              <a:rPr lang="en-US" altLang="ko-KR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장치의 상부와 좌우에 모듈을 접합 한다</a:t>
            </a:r>
            <a:r>
              <a:rPr lang="en-US" altLang="ko-KR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24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tabLst>
                <a:tab pos="316230" algn="l"/>
              </a:tabLst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모듈은 조립식 형태로 제작 </a:t>
            </a:r>
            <a:r>
              <a:rPr lang="en-US" altLang="ko-KR" sz="2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현장 설치를 위해</a:t>
            </a:r>
            <a:endParaRPr lang="ko-KR" altLang="en-US" sz="24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algn="just" fontAlgn="base" latinLnBrk="1">
              <a:lnSpc>
                <a:spcPct val="180000"/>
              </a:lnSpc>
              <a:spcBef>
                <a:spcPts val="0"/>
              </a:spcBef>
            </a:pP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화재를 감지 감지하기 위해 연기</a:t>
            </a:r>
            <a:r>
              <a:rPr lang="en-US" altLang="ko-KR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온도센스 및 감지기가 현장 상황에 </a:t>
            </a:r>
            <a:r>
              <a:rPr lang="ko-KR" altLang="en-US" sz="2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따른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설치</a:t>
            </a:r>
            <a:endParaRPr lang="ko-KR" altLang="en-US" sz="24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algn="just" fontAlgn="base" latinLnBrk="1">
              <a:lnSpc>
                <a:spcPct val="180000"/>
              </a:lnSpc>
              <a:spcBef>
                <a:spcPts val="0"/>
              </a:spcBef>
            </a:pP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spc="-7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스프링클러 외에 </a:t>
            </a:r>
            <a:r>
              <a:rPr lang="en-US" altLang="ko-KR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CO2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장치</a:t>
            </a:r>
            <a:r>
              <a:rPr lang="en-US" altLang="ko-KR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소화액 장치를 추가 설치하여 냉각과 질식 추가 옵션이 가능하고 이들의 가동은 자동</a:t>
            </a:r>
            <a:r>
              <a:rPr lang="en-US" altLang="ko-KR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수동 다양한 방식으로 의사에 따라 </a:t>
            </a:r>
            <a:endParaRPr lang="en-US" altLang="ko-KR" sz="2400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⑤ </a:t>
            </a:r>
            <a:r>
              <a:rPr lang="ko-KR" altLang="en-US" sz="24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모듈이 단순하고 외부에서 만들어서 현장에서 단순 부착으로 경제적</a:t>
            </a:r>
            <a:endParaRPr lang="en-US" altLang="ko-KR" sz="2400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4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4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2F0C8150-1A72-D6A7-1082-BFC71D8A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21027A-008D-1FB0-B00B-FE8A3205E1D5}"/>
              </a:ext>
            </a:extLst>
          </p:cNvPr>
          <p:cNvSpPr txBox="1"/>
          <p:nvPr/>
        </p:nvSpPr>
        <p:spPr>
          <a:xfrm>
            <a:off x="13455243" y="10551979"/>
            <a:ext cx="9303026" cy="10710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556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FIRECOVER AUTO SYSTEM ESS  </a:t>
            </a:r>
            <a:r>
              <a:rPr lang="ko-KR" altLang="en-US" dirty="0"/>
              <a:t>동작중인 모습</a:t>
            </a:r>
            <a:endParaRPr kumimoji="0" lang="ko-KR" altLang="en-US" sz="29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roxima Nova Medium"/>
              <a:ea typeface="Proxima Nova Medium"/>
              <a:cs typeface="Proxima Nova Medium"/>
              <a:sym typeface="Proxima Nova Medium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5BB954F-CC41-3294-08A4-7A7C7390F604}"/>
              </a:ext>
            </a:extLst>
          </p:cNvPr>
          <p:cNvSpPr/>
          <p:nvPr/>
        </p:nvSpPr>
        <p:spPr>
          <a:xfrm>
            <a:off x="2186609" y="3059859"/>
            <a:ext cx="8905461" cy="923290"/>
          </a:xfrm>
          <a:prstGeom prst="ellipse">
            <a:avLst/>
          </a:prstGeom>
          <a:solidFill>
            <a:srgbClr val="92D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000" b="0" i="0" u="none" strike="noStrike" cap="none" spc="-59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anela Deck Bold"/>
                <a:ea typeface="Canela Deck Bold"/>
                <a:cs typeface="Canela Deck Bold"/>
                <a:sym typeface="Canela Deck Bold"/>
              </a:rPr>
              <a:t>모듈 부착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0B2C7F-12CA-1F31-C4DC-4F161516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177" y="2092961"/>
            <a:ext cx="8260271" cy="84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2832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89E1863-013C-043C-D2F6-8AFD12CB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19" y="868644"/>
            <a:ext cx="11430000" cy="1733018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8. </a:t>
            </a:r>
            <a:r>
              <a:rPr lang="ko-KR" altLang="en-US" sz="4800" dirty="0" err="1"/>
              <a:t>파이어커버</a:t>
            </a:r>
            <a:r>
              <a:rPr lang="ko-KR" altLang="en-US" sz="4800" dirty="0"/>
              <a:t> 오토 시스템 구조 및 시공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8CC360-68A2-FBC3-BFD0-F7204BB16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92" y="867041"/>
            <a:ext cx="39479833" cy="86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C8F9F6-B169-A0EF-4DAD-24EBC5B46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169" y="6611483"/>
            <a:ext cx="4297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2F0C8150-1A72-D6A7-1082-BFC71D8A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424000-607F-0E23-168B-98FEADFB22F3}"/>
              </a:ext>
            </a:extLst>
          </p:cNvPr>
          <p:cNvSpPr txBox="1"/>
          <p:nvPr/>
        </p:nvSpPr>
        <p:spPr>
          <a:xfrm>
            <a:off x="12541882" y="1981136"/>
            <a:ext cx="10376452" cy="10175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-7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⑥ 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ESS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2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함체의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유닛을 </a:t>
            </a:r>
            <a:r>
              <a:rPr lang="en-US" altLang="ko-KR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 단위로 여건에 맞추어 설치</a:t>
            </a:r>
            <a:endParaRPr lang="ko-KR" altLang="en-US" sz="2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ⓐ 개별설치의 조건이 되지 않거나 기둥과 같은 장애물로 불편한               </a:t>
            </a:r>
            <a:r>
              <a:rPr lang="ko-KR" altLang="en-US" sz="28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상황에서는 벽과 같은 장애물에 의한 간섭을 유지한체 시공</a:t>
            </a:r>
            <a:endParaRPr lang="ko-KR" altLang="en-US" sz="2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ⓑ </a:t>
            </a:r>
            <a:r>
              <a:rPr lang="ko-KR" altLang="en-US" sz="2800" kern="0" spc="-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파이어커버를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사면</a:t>
            </a:r>
            <a:r>
              <a:rPr lang="en-US" altLang="ko-KR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삼면</a:t>
            </a:r>
            <a:r>
              <a:rPr lang="en-US" altLang="ko-KR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이면</a:t>
            </a:r>
            <a:r>
              <a:rPr lang="en-US" altLang="ko-KR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전면부 작동하게 함</a:t>
            </a:r>
            <a:endParaRPr lang="ko-KR" altLang="en-US" sz="2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ⓒ 공간적 제약요인에도 난이도 있는 현장에 맞춤 적용</a:t>
            </a:r>
            <a:endParaRPr lang="ko-KR" altLang="en-US" sz="2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ⓓ 충전구역 단위로 개별안전구역이 설치되어 화재확산 방지가 가능</a:t>
            </a:r>
            <a:endParaRPr lang="ko-KR" altLang="en-US" sz="2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800" kern="0" spc="-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-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⑦ 시스템을 주기적으로 점검하여 작동여부 및 시스템 구성들의 상태 점검 </a:t>
            </a:r>
            <a:endParaRPr lang="ko-KR" altLang="en-US" sz="2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☞ 이상이 발견되면 메인 구성인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파이어커버를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포함해 모든 부분을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수리및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교체</a:t>
            </a:r>
            <a:endParaRPr lang="en-US" altLang="ko-KR" sz="28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just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85C5B-C728-BC0E-4562-6AD0DC2C59CF}"/>
              </a:ext>
            </a:extLst>
          </p:cNvPr>
          <p:cNvSpPr txBox="1"/>
          <p:nvPr/>
        </p:nvSpPr>
        <p:spPr>
          <a:xfrm>
            <a:off x="-4935133" y="3204532"/>
            <a:ext cx="22124504" cy="5355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sz="3200" dirty="0">
                <a:latin typeface="휴먼명조"/>
              </a:rPr>
              <a:t>FIRECOVER AUTO SYSTEM ESS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F9D720-BD14-C45F-85E0-E331E2D24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5" y="4071041"/>
            <a:ext cx="9253728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244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F56F46-A993-1AB7-B766-DD5DE911CE2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572999" y="1073426"/>
            <a:ext cx="10384971" cy="11099524"/>
          </a:xfrm>
        </p:spPr>
        <p:txBody>
          <a:bodyPr>
            <a:norm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400" kern="0" spc="0" dirty="0">
              <a:solidFill>
                <a:srgbClr val="000000"/>
              </a:solidFill>
              <a:effectLst/>
              <a:latin typeface="휴먼명조"/>
              <a:ea typeface="휴먼명조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3200" kern="0" spc="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 리튬이온 배터리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화재를 효과적으로 대응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 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②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화재 확산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,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 유독가스 및 연기에 의한 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2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차 피해를 방지</a:t>
            </a:r>
            <a:endParaRPr lang="en-US" altLang="ko-KR" sz="3200" spc="0" dirty="0">
              <a:solidFill>
                <a:schemeClr val="tx1"/>
              </a:solidFill>
              <a:latin typeface="휴먼명조"/>
              <a:ea typeface="휴먼명조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③</a:t>
            </a:r>
            <a:r>
              <a:rPr lang="en-US" altLang="ko-KR" sz="3200" spc="0" dirty="0">
                <a:solidFill>
                  <a:schemeClr val="tx1"/>
                </a:solidFill>
                <a:latin typeface="HCI Poppy"/>
                <a:ea typeface="휴먼명조"/>
              </a:rPr>
              <a:t>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초기대응으로 대형화재 차단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,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담당자 책임 면제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④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인적 공급이 없어 안전사고 문제가 발생하지 않음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spc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좁은 공간과 지형지물로 진압이 어려운 공간 설치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  <a:p>
            <a:pPr marL="514350" marR="0" indent="-5143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circleNumDbPlain" startAt="6"/>
            </a:pP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외부의 화재에서 내부의</a:t>
            </a: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 </a:t>
            </a:r>
            <a:r>
              <a:rPr lang="en-US" altLang="ko-KR" sz="3200" spc="0" dirty="0">
                <a:solidFill>
                  <a:schemeClr val="tx1"/>
                </a:solidFill>
                <a:latin typeface="휴먼명조"/>
                <a:ea typeface="휴먼명조"/>
              </a:rPr>
              <a:t>ESS</a:t>
            </a: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를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 보호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3200" kern="0" spc="0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⑦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화재가 내부로 한정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,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 소화 후 감식 등 사후 활동 용이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spc="0" dirty="0">
                <a:solidFill>
                  <a:schemeClr val="tx1"/>
                </a:solidFill>
                <a:latin typeface="휴먼명조"/>
                <a:ea typeface="휴먼명조"/>
              </a:rPr>
              <a:t>⑧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화재 진압 후 진압 장치의 철거에 인력이 투입이 필요 없고</a:t>
            </a:r>
            <a:r>
              <a:rPr lang="en-US" altLang="ko-KR" sz="3200" kern="0" spc="0" dirty="0">
                <a:solidFill>
                  <a:schemeClr val="tx1"/>
                </a:solidFill>
                <a:effectLst/>
                <a:latin typeface="HCI Poppy"/>
                <a:ea typeface="휴먼명조"/>
              </a:rPr>
              <a:t>, </a:t>
            </a:r>
            <a:r>
              <a:rPr lang="ko-KR" altLang="en-US" sz="3200" kern="0" spc="0" dirty="0">
                <a:solidFill>
                  <a:schemeClr val="tx1"/>
                </a:solidFill>
                <a:effectLst/>
                <a:latin typeface="휴먼명조"/>
                <a:ea typeface="휴먼명조"/>
              </a:rPr>
              <a:t>잔여 불씨에 의한 화재의 위험에서 인명을 보호</a:t>
            </a:r>
            <a:endParaRPr lang="ko-KR" altLang="en-US" sz="3200" kern="0" spc="0" dirty="0">
              <a:solidFill>
                <a:schemeClr val="tx1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682E81-8A6A-1FC3-A71B-0DC37F40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2590"/>
            <a:ext cx="10896602" cy="1733018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9.</a:t>
            </a:r>
            <a:r>
              <a:rPr lang="ko-KR" altLang="en-US" sz="5400" dirty="0" err="1"/>
              <a:t>파이어커버</a:t>
            </a:r>
            <a:r>
              <a:rPr lang="ko-KR" altLang="en-US" sz="5400" dirty="0"/>
              <a:t> 오토시스템 도입효과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357F18-C8F9-B826-E1EF-CE801D06F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547257"/>
            <a:ext cx="7653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C9830B6-3C41-C6D3-F9AD-E4D8B6D1E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225" y="2547257"/>
            <a:ext cx="6034768" cy="27636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3504514-9901-48BA-6843-582B038A2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548" y="5486400"/>
            <a:ext cx="5952445" cy="249827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C75F09-2756-CA91-3802-A0C4B9D59517}"/>
              </a:ext>
            </a:extLst>
          </p:cNvPr>
          <p:cNvSpPr/>
          <p:nvPr/>
        </p:nvSpPr>
        <p:spPr>
          <a:xfrm>
            <a:off x="3216386" y="8749038"/>
            <a:ext cx="5952445" cy="1949252"/>
          </a:xfrm>
          <a:prstGeom prst="rect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3000" b="0" i="0" u="none" strike="noStrike" cap="none" spc="-59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4000" spc="-59" dirty="0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주식회사 </a:t>
            </a:r>
            <a:r>
              <a:rPr lang="ko-KR" altLang="en-US" sz="4000" spc="-59" dirty="0" err="1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rPr>
              <a:t>가드케이</a:t>
            </a:r>
            <a:endParaRPr lang="en-US" altLang="ko-KR" sz="4000" spc="-59" dirty="0">
              <a:solidFill>
                <a:srgbClr val="FFFFFF"/>
              </a:solidFill>
              <a:latin typeface="Canela Deck Bold"/>
              <a:ea typeface="Canela Deck Bold"/>
              <a:cs typeface="Canela Deck Bold"/>
              <a:sym typeface="Canela Deck Bold"/>
            </a:endParaRPr>
          </a:p>
          <a:p>
            <a:pPr marL="0" marR="0" indent="0" algn="ctr" defTabSz="415431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000" b="0" i="0" u="none" strike="noStrike" cap="none" spc="-59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nela Deck Bold"/>
              <a:ea typeface="Canela Deck Bold"/>
              <a:cs typeface="Canela Deck Bold"/>
              <a:sym typeface="Canela Deck Bold"/>
            </a:endParaRPr>
          </a:p>
        </p:txBody>
      </p:sp>
    </p:spTree>
    <p:extLst>
      <p:ext uri="{BB962C8B-B14F-4D97-AF65-F5344CB8AC3E}">
        <p14:creationId xmlns:p14="http://schemas.microsoft.com/office/powerpoint/2010/main" val="29436164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CF7708-7404-1EFF-DA8F-90AFFE6FC5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057400" y="10154521"/>
            <a:ext cx="20269200" cy="845948"/>
          </a:xfrm>
        </p:spPr>
        <p:txBody>
          <a:bodyPr/>
          <a:lstStyle/>
          <a:p>
            <a:r>
              <a:rPr lang="ko-KR" altLang="en-US" dirty="0"/>
              <a:t>    주식회사 </a:t>
            </a:r>
            <a:r>
              <a:rPr lang="ko-KR" altLang="en-US" dirty="0" err="1"/>
              <a:t>가드케이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F76948-6FFD-5B79-646C-37C49A5876B5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20804F-C7EB-CEDA-6D55-5653C7307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260" y="4105072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27352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9_Lookbook">
  <a:themeElements>
    <a:clrScheme name="29_Lookbook">
      <a:dk1>
        <a:srgbClr val="000000"/>
      </a:dk1>
      <a:lt1>
        <a:srgbClr val="F6F7F2"/>
      </a:lt1>
      <a:dk2>
        <a:srgbClr val="5E5E5E"/>
      </a:dk2>
      <a:lt2>
        <a:srgbClr val="D5D5D5"/>
      </a:lt2>
      <a:accent1>
        <a:srgbClr val="B9CAD3"/>
      </a:accent1>
      <a:accent2>
        <a:srgbClr val="8CBAD7"/>
      </a:accent2>
      <a:accent3>
        <a:srgbClr val="B5AFC4"/>
      </a:accent3>
      <a:accent4>
        <a:srgbClr val="E8A6B1"/>
      </a:accent4>
      <a:accent5>
        <a:srgbClr val="FF8A6E"/>
      </a:accent5>
      <a:accent6>
        <a:srgbClr val="E2CF91"/>
      </a:accent6>
      <a:hlink>
        <a:srgbClr val="0000FF"/>
      </a:hlink>
      <a:folHlink>
        <a:srgbClr val="FF00FF"/>
      </a:folHlink>
    </a:clrScheme>
    <a:fontScheme name="29_Lookbook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9_Lookboo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15431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59" normalizeH="0" baseline="0">
            <a:ln>
              <a:noFill/>
            </a:ln>
            <a:solidFill>
              <a:srgbClr val="FFFFFF"/>
            </a:solidFill>
            <a:effectLst/>
            <a:uFillTx/>
            <a:latin typeface="Canela Deck Bold"/>
            <a:ea typeface="Canela Deck Bold"/>
            <a:cs typeface="Canela Deck Bold"/>
            <a:sym typeface="Canela Deck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3556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2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roxima Nova Medium"/>
            <a:ea typeface="Proxima Nova Medium"/>
            <a:cs typeface="Proxima Nova Medium"/>
            <a:sym typeface="Proxima Nova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9_Lookbook">
  <a:themeElements>
    <a:clrScheme name="29_Lookbook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B9CAD3"/>
      </a:accent1>
      <a:accent2>
        <a:srgbClr val="8CBAD7"/>
      </a:accent2>
      <a:accent3>
        <a:srgbClr val="B5AFC4"/>
      </a:accent3>
      <a:accent4>
        <a:srgbClr val="E8A6B1"/>
      </a:accent4>
      <a:accent5>
        <a:srgbClr val="FF8A6E"/>
      </a:accent5>
      <a:accent6>
        <a:srgbClr val="E2CF91"/>
      </a:accent6>
      <a:hlink>
        <a:srgbClr val="0000FF"/>
      </a:hlink>
      <a:folHlink>
        <a:srgbClr val="FF00FF"/>
      </a:folHlink>
    </a:clrScheme>
    <a:fontScheme name="29_Lookbook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9_Lookboo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15431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59" normalizeH="0" baseline="0">
            <a:ln>
              <a:noFill/>
            </a:ln>
            <a:solidFill>
              <a:srgbClr val="FFFFFF"/>
            </a:solidFill>
            <a:effectLst/>
            <a:uFillTx/>
            <a:latin typeface="Canela Deck Bold"/>
            <a:ea typeface="Canela Deck Bold"/>
            <a:cs typeface="Canela Deck Bold"/>
            <a:sym typeface="Canela Deck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3556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2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roxima Nova Medium"/>
            <a:ea typeface="Proxima Nova Medium"/>
            <a:cs typeface="Proxima Nova Medium"/>
            <a:sym typeface="Proxima Nova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1282</Words>
  <Application>Microsoft Office PowerPoint</Application>
  <PresentationFormat>사용자 지정</PresentationFormat>
  <Paragraphs>173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9" baseType="lpstr">
      <vt:lpstr>Canela Bold</vt:lpstr>
      <vt:lpstr>Canela Deck Bold</vt:lpstr>
      <vt:lpstr>Canela Deck Regular</vt:lpstr>
      <vt:lpstr>Canela Regular</vt:lpstr>
      <vt:lpstr>HCI Poppy</vt:lpstr>
      <vt:lpstr>Helvetica Neue</vt:lpstr>
      <vt:lpstr>Proxima Nova</vt:lpstr>
      <vt:lpstr>Proxima Nova Medium</vt:lpstr>
      <vt:lpstr>맑은 고딕</vt:lpstr>
      <vt:lpstr>바탕</vt:lpstr>
      <vt:lpstr>한양신명조</vt:lpstr>
      <vt:lpstr>함초롬돋움</vt:lpstr>
      <vt:lpstr>함초롬바탕</vt:lpstr>
      <vt:lpstr>휴먼명조</vt:lpstr>
      <vt:lpstr>Impact</vt:lpstr>
      <vt:lpstr>29_Lookbook</vt:lpstr>
      <vt:lpstr>   파이어커버 오토 시스템 (FIRECOVER AUTO SYSTEM)  FIRECOVER AUTO SYSTEM ESS  ) 소</vt:lpstr>
      <vt:lpstr>목차</vt:lpstr>
      <vt:lpstr>                       파이어커버 오토 시스템 ESS </vt:lpstr>
      <vt:lpstr>2.파이어커버 오토 시스템 ESS의 배경</vt:lpstr>
      <vt:lpstr>PowerPoint 프레젠테이션</vt:lpstr>
      <vt:lpstr>4. FIRECOVER AUTO SYSTEM ESS                      </vt:lpstr>
      <vt:lpstr>PowerPoint 프레젠테이션</vt:lpstr>
      <vt:lpstr>6. 기존 질식 소화포의 문제점 </vt:lpstr>
      <vt:lpstr>7. 당사 개발 섬유의특징 </vt:lpstr>
      <vt:lpstr>8. 파이어커버 오토 시스템 구조 및 시공</vt:lpstr>
      <vt:lpstr>8. 파이어커버 오토 시스템 구조 및 시공</vt:lpstr>
      <vt:lpstr>9.파이어커버 오토시스템 도입효과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 화재 대비 파이어 커버 활용</dc:title>
  <dc:creator>새롬상사</dc:creator>
  <cp:lastModifiedBy>욱래 조</cp:lastModifiedBy>
  <cp:revision>114</cp:revision>
  <dcterms:modified xsi:type="dcterms:W3CDTF">2022-12-20T16:33:42Z</dcterms:modified>
</cp:coreProperties>
</file>