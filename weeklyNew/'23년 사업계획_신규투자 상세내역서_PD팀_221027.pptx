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3" r:id="rId2"/>
    <p:sldId id="279" r:id="rId3"/>
    <p:sldId id="277" r:id="rId4"/>
    <p:sldId id="270" r:id="rId5"/>
    <p:sldId id="278" r:id="rId6"/>
    <p:sldId id="264" r:id="rId7"/>
    <p:sldId id="275" r:id="rId8"/>
    <p:sldId id="274" r:id="rId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736" autoAdjust="0"/>
  </p:normalViewPr>
  <p:slideViewPr>
    <p:cSldViewPr showGuides="1">
      <p:cViewPr varScale="1">
        <p:scale>
          <a:sx n="103" d="100"/>
          <a:sy n="103" d="100"/>
        </p:scale>
        <p:origin x="11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B793EF-BCA7-4093-8429-D75DA2B9831B}" type="datetimeFigureOut">
              <a:rPr lang="ko-KR" altLang="en-US" smtClean="0"/>
              <a:t>22-10-27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6C5F6F-166A-46B6-9866-AECEB95338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145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26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4FC8B946-B050-44E8-A3BE-9CC20A61C52C}" type="slidenum">
              <a:rPr lang="ko-KR" altLang="en-US" sz="1200" b="0">
                <a:latin typeface="굴림" panose="020B0600000101010101" pitchFamily="50" charset="-127"/>
              </a:rPr>
              <a:pPr/>
              <a:t>1</a:t>
            </a:fld>
            <a:endParaRPr lang="ko-KR" altLang="en-US" sz="1200" b="0">
              <a:latin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8375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26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4FC8B946-B050-44E8-A3BE-9CC20A61C52C}" type="slidenum">
              <a:rPr lang="ko-KR" altLang="en-US" sz="1200" b="0">
                <a:latin typeface="굴림" panose="020B0600000101010101" pitchFamily="50" charset="-127"/>
              </a:rPr>
              <a:pPr/>
              <a:t>2</a:t>
            </a:fld>
            <a:endParaRPr lang="ko-KR" altLang="en-US" sz="1200" b="0">
              <a:latin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65538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26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4FC8B946-B050-44E8-A3BE-9CC20A61C52C}" type="slidenum">
              <a:rPr lang="ko-KR" altLang="en-US" sz="1200" b="0">
                <a:latin typeface="굴림" panose="020B0600000101010101" pitchFamily="50" charset="-127"/>
              </a:rPr>
              <a:pPr/>
              <a:t>3</a:t>
            </a:fld>
            <a:endParaRPr lang="ko-KR" altLang="en-US" sz="1200" b="0">
              <a:latin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99825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26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4FC8B946-B050-44E8-A3BE-9CC20A61C52C}" type="slidenum">
              <a:rPr lang="ko-KR" altLang="en-US" sz="1200" b="0">
                <a:latin typeface="굴림" panose="020B0600000101010101" pitchFamily="50" charset="-127"/>
              </a:rPr>
              <a:pPr/>
              <a:t>4</a:t>
            </a:fld>
            <a:endParaRPr lang="ko-KR" altLang="en-US" sz="1200" b="0">
              <a:latin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05893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26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4FC8B946-B050-44E8-A3BE-9CC20A61C52C}" type="slidenum">
              <a:rPr lang="ko-KR" altLang="en-US" sz="1200" b="0">
                <a:latin typeface="굴림" panose="020B0600000101010101" pitchFamily="50" charset="-127"/>
              </a:rPr>
              <a:pPr/>
              <a:t>5</a:t>
            </a:fld>
            <a:endParaRPr lang="ko-KR" altLang="en-US" sz="1200" b="0">
              <a:latin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07975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26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4FC8B946-B050-44E8-A3BE-9CC20A61C52C}" type="slidenum">
              <a:rPr lang="ko-KR" altLang="en-US" sz="1200" b="0">
                <a:latin typeface="굴림" panose="020B0600000101010101" pitchFamily="50" charset="-127"/>
              </a:rPr>
              <a:pPr/>
              <a:t>6</a:t>
            </a:fld>
            <a:endParaRPr lang="ko-KR" altLang="en-US" sz="1200" b="0">
              <a:latin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972389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26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4FC8B946-B050-44E8-A3BE-9CC20A61C52C}" type="slidenum">
              <a:rPr lang="ko-KR" altLang="en-US" sz="1200" b="0">
                <a:latin typeface="굴림" panose="020B0600000101010101" pitchFamily="50" charset="-127"/>
              </a:rPr>
              <a:pPr/>
              <a:t>7</a:t>
            </a:fld>
            <a:endParaRPr lang="ko-KR" altLang="en-US" sz="1200" b="0">
              <a:latin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097043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126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20750" latinLnBrk="1"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000000"/>
                </a:solidFill>
                <a:latin typeface="돋움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4FC8B946-B050-44E8-A3BE-9CC20A61C52C}" type="slidenum">
              <a:rPr lang="ko-KR" altLang="en-US" sz="1200" b="0">
                <a:latin typeface="굴림" panose="020B0600000101010101" pitchFamily="50" charset="-127"/>
              </a:rPr>
              <a:pPr/>
              <a:t>8</a:t>
            </a:fld>
            <a:endParaRPr lang="ko-KR" altLang="en-US" sz="1200" b="0">
              <a:latin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2831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E11B6-622F-400D-A047-ADF48A56494D}" type="datetimeFigureOut">
              <a:rPr lang="ko-KR" altLang="en-US" smtClean="0"/>
              <a:t>22-10-27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07628-A23D-4A92-8581-8C86464EA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5736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E11B6-622F-400D-A047-ADF48A56494D}" type="datetimeFigureOut">
              <a:rPr lang="ko-KR" altLang="en-US" smtClean="0"/>
              <a:t>22-10-27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07628-A23D-4A92-8581-8C86464EA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3611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E11B6-622F-400D-A047-ADF48A56494D}" type="datetimeFigureOut">
              <a:rPr lang="ko-KR" altLang="en-US" smtClean="0"/>
              <a:t>22-10-27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07628-A23D-4A92-8581-8C86464EA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964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E11B6-622F-400D-A047-ADF48A56494D}" type="datetimeFigureOut">
              <a:rPr lang="ko-KR" altLang="en-US" smtClean="0"/>
              <a:t>22-10-27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07628-A23D-4A92-8581-8C86464EA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3499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E11B6-622F-400D-A047-ADF48A56494D}" type="datetimeFigureOut">
              <a:rPr lang="ko-KR" altLang="en-US" smtClean="0"/>
              <a:t>22-10-27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07628-A23D-4A92-8581-8C86464EA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5627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E11B6-622F-400D-A047-ADF48A56494D}" type="datetimeFigureOut">
              <a:rPr lang="ko-KR" altLang="en-US" smtClean="0"/>
              <a:t>22-10-27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07628-A23D-4A92-8581-8C86464EA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766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E11B6-622F-400D-A047-ADF48A56494D}" type="datetimeFigureOut">
              <a:rPr lang="ko-KR" altLang="en-US" smtClean="0"/>
              <a:t>22-10-27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07628-A23D-4A92-8581-8C86464EA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1056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E11B6-622F-400D-A047-ADF48A56494D}" type="datetimeFigureOut">
              <a:rPr lang="ko-KR" altLang="en-US" smtClean="0"/>
              <a:t>22-10-27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07628-A23D-4A92-8581-8C86464EA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583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E11B6-622F-400D-A047-ADF48A56494D}" type="datetimeFigureOut">
              <a:rPr lang="ko-KR" altLang="en-US" smtClean="0"/>
              <a:t>22-10-27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07628-A23D-4A92-8581-8C86464EA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287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E11B6-622F-400D-A047-ADF48A56494D}" type="datetimeFigureOut">
              <a:rPr lang="ko-KR" altLang="en-US" smtClean="0"/>
              <a:t>22-10-27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07628-A23D-4A92-8581-8C86464EA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1259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E11B6-622F-400D-A047-ADF48A56494D}" type="datetimeFigureOut">
              <a:rPr lang="ko-KR" altLang="en-US" smtClean="0"/>
              <a:t>22-10-27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07628-A23D-4A92-8581-8C86464EA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4695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내지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텍스트 개체 틀 7"/>
          <p:cNvSpPr>
            <a:spLocks noGrp="1"/>
          </p:cNvSpPr>
          <p:nvPr userDrawn="1">
            <p:ph type="body" sz="quarter" idx="16"/>
          </p:nvPr>
        </p:nvSpPr>
        <p:spPr>
          <a:xfrm>
            <a:off x="5114569" y="95549"/>
            <a:ext cx="3721096" cy="227225"/>
          </a:xfrm>
          <a:prstGeom prst="rect">
            <a:avLst/>
          </a:prstGeom>
        </p:spPr>
        <p:txBody>
          <a:bodyPr lIns="0" tIns="0" rIns="0" bIns="0"/>
          <a:lstStyle>
            <a:lvl1pPr marL="342900" indent="-342900" algn="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200" b="0" kern="1200" spc="-100" baseline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</a:lstStyle>
          <a:p>
            <a:pPr lvl="0"/>
            <a:endParaRPr lang="en-US" altLang="ko-KR" dirty="0"/>
          </a:p>
        </p:txBody>
      </p:sp>
      <p:cxnSp>
        <p:nvCxnSpPr>
          <p:cNvPr id="27" name="직선 연결선 1"/>
          <p:cNvCxnSpPr/>
          <p:nvPr userDrawn="1"/>
        </p:nvCxnSpPr>
        <p:spPr>
          <a:xfrm>
            <a:off x="316574" y="522115"/>
            <a:ext cx="8509387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텍스트 개체 틀 1"/>
          <p:cNvSpPr>
            <a:spLocks noGrp="1"/>
          </p:cNvSpPr>
          <p:nvPr>
            <p:ph type="body" sz="quarter" idx="10" hasCustomPrompt="1"/>
          </p:nvPr>
        </p:nvSpPr>
        <p:spPr>
          <a:xfrm>
            <a:off x="449946" y="149294"/>
            <a:ext cx="3723176" cy="255371"/>
          </a:xfrm>
          <a:prstGeom prst="rect">
            <a:avLst/>
          </a:prstGeom>
        </p:spPr>
        <p:txBody>
          <a:bodyPr lIns="0" tIns="0" rIns="0" bIns="0">
            <a:scene3d>
              <a:camera prst="orthographicFront"/>
              <a:lightRig rig="threePt" dir="t"/>
            </a:scene3d>
            <a:sp3d>
              <a:extrusionClr>
                <a:schemeClr val="tx1"/>
              </a:extrusionClr>
              <a:contourClr>
                <a:schemeClr val="tx1"/>
              </a:contourClr>
            </a:sp3d>
          </a:bodyPr>
          <a:lstStyle>
            <a:lvl1pPr>
              <a:buNone/>
              <a:defRPr sz="1800" b="1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ko-KR"/>
              <a:t>1.1.1 </a:t>
            </a:r>
            <a:r>
              <a:rPr lang="ko-KR" altLang="en-US"/>
              <a:t>소제목 맑은 고딕 </a:t>
            </a:r>
            <a:r>
              <a:rPr lang="en-US" altLang="ko-KR"/>
              <a:t>18pt Bold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288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E11B6-622F-400D-A047-ADF48A56494D}" type="datetimeFigureOut">
              <a:rPr lang="ko-KR" altLang="en-US" smtClean="0"/>
              <a:t>22-10-27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207628-A23D-4A92-8581-8C86464EA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457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4" r:id="rId1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텍스트 개체 틀 1"/>
          <p:cNvSpPr>
            <a:spLocks noGrp="1"/>
          </p:cNvSpPr>
          <p:nvPr>
            <p:ph type="body" sz="quarter" idx="10"/>
          </p:nvPr>
        </p:nvSpPr>
        <p:spPr>
          <a:extLst/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신규투자 상세내역서 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2688279"/>
              </p:ext>
            </p:extLst>
          </p:nvPr>
        </p:nvGraphicFramePr>
        <p:xfrm>
          <a:off x="709735" y="713905"/>
          <a:ext cx="7795481" cy="5144688"/>
        </p:xfrm>
        <a:graphic>
          <a:graphicData uri="http://schemas.openxmlformats.org/drawingml/2006/table">
            <a:tbl>
              <a:tblPr/>
              <a:tblGrid>
                <a:gridCol w="753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32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2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93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36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47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076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030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0632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144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부서명  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   </a:t>
                      </a:r>
                    </a:p>
                  </a:txBody>
                  <a:tcPr marL="30678" marR="30678" marT="33229" marB="33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0">
                  <a:txBody>
                    <a:bodyPr/>
                    <a:lstStyle/>
                    <a:p>
                      <a:pPr algn="l" fontAlgn="ctr"/>
                      <a:r>
                        <a:rPr lang="en-US" altLang="ko-KR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DX</a:t>
                      </a:r>
                      <a:r>
                        <a:rPr lang="ko-KR" altLang="en-US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총괄 </a:t>
                      </a:r>
                      <a:r>
                        <a:rPr lang="en-US" altLang="ko-KR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P.D</a:t>
                      </a:r>
                      <a:r>
                        <a:rPr lang="ko-KR" altLang="en-US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팀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90000" marR="90000" marT="46800" marB="46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90000" marR="90000" marT="46800" marB="46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90000" marR="90000" marT="46800" marB="46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90000" marR="90000" marT="46800" marB="46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44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담당자  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최용민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0678" marR="30678" marT="33229" marB="33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152">
                <a:tc gridSpan="11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IT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신규 투자계획 양식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152">
                <a:tc rowSpan="4" grid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투자요약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투자명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AI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영상분석 신규 탐지유형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및 보안안전 서비스 상품 개발</a:t>
                      </a: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투자기간</a:t>
                      </a: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’23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년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4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월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~10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월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550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투자목적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AI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영상 분석 신규 탐지 유형 추가 개발을 통한 서비스 고도화 및 보안 안전 서비스 관련 상품 라인업 확대</a:t>
                      </a: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021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추진내용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신규 노드 개발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및 영상 중계기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i="0" u="none" strike="noStrike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브릿지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디바이스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성능 개선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보안 안전 신규서비스 상품 개발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873">
                <a:tc gridSpan="2"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영향범위</a:t>
                      </a:r>
                      <a:b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주사용자</a:t>
                      </a: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인원수</a:t>
                      </a: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000" b="1" i="0" u="none" strike="noStrike" kern="12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당사 운영 센터 및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서비스 이용 고객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152">
                <a:tc rowSpan="2" gridSpan="3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기대효과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정성적 효과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정량적 효과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정량적 효과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10469">
                <a:tc gridSpan="3"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85725" indent="-85725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신규 노드 추가를 통한 고객 니즈 충족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85725" indent="-85725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서비스 판매 대상 고객 확대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85725" indent="-85725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보안 안전 상품 개발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85725" indent="-85725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서비스 품질 향상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영상 중계기 성능 개선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85725" indent="-85725" algn="l" fontAlgn="ctr">
                        <a:buFont typeface="Arial" panose="020B0604020202020204" pitchFamily="34" charset="0"/>
                        <a:buChar char="•"/>
                      </a:pP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3152">
                <a:tc rowSpan="4" grid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</a:t>
                      </a:r>
                      <a:b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예산규모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단위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천원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투자비</a:t>
                      </a:r>
                      <a:b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내역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항목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내 역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금액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금액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32683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1. 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노드 개발</a:t>
                      </a:r>
                    </a:p>
                  </a:txBody>
                  <a:tcPr marL="33230" marR="33230" marT="35998" marB="3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노드 개발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개당 약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억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*3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노드 학습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모델링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테스트 등</a:t>
                      </a:r>
                      <a:endParaRPr lang="en-US" altLang="ko-KR" sz="1000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5998" marB="3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400,000</a:t>
                      </a:r>
                      <a:endParaRPr lang="ko-KR" altLang="en-US" sz="1000" b="0" i="0" u="none" strike="noStrike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7200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200,000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30678" marR="7200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자체노드개발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1~2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6323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2. </a:t>
                      </a:r>
                      <a:r>
                        <a:rPr lang="ko-KR" altLang="en-US" sz="1000" b="1" i="0" u="none" strike="noStrike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브릿지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개발</a:t>
                      </a:r>
                    </a:p>
                  </a:txBody>
                  <a:tcPr marL="33230" marR="33230" marT="35998" marB="3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영상중계기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성능 고도화 제품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보안 안전 관련 상품 개발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억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0678" marR="30678" marT="35998" marB="3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7200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200000</a:t>
                      </a:r>
                      <a:endParaRPr lang="ko-KR" altLang="en-US" sz="1000" b="0" i="0" u="none" strike="noStrike" kern="12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0678" marR="7200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중소형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빌딩용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브릿지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개발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3021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총투자금액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400,000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6323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  고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0040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FC1BA81-C668-4E54-84F6-4E4FA1B181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462240"/>
              </p:ext>
            </p:extLst>
          </p:nvPr>
        </p:nvGraphicFramePr>
        <p:xfrm>
          <a:off x="674259" y="764704"/>
          <a:ext cx="7795481" cy="5233859"/>
        </p:xfrm>
        <a:graphic>
          <a:graphicData uri="http://schemas.openxmlformats.org/drawingml/2006/table">
            <a:tbl>
              <a:tblPr/>
              <a:tblGrid>
                <a:gridCol w="753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06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18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93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85420812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5248">
                  <a:extLst>
                    <a:ext uri="{9D8B030D-6E8A-4147-A177-3AD203B41FA5}">
                      <a16:colId xmlns:a16="http://schemas.microsoft.com/office/drawing/2014/main" val="1066911802"/>
                    </a:ext>
                  </a:extLst>
                </a:gridCol>
                <a:gridCol w="8079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0632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764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부서명  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   </a:t>
                      </a:r>
                    </a:p>
                  </a:txBody>
                  <a:tcPr marL="30678" marR="30678" marT="33229" marB="33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1">
                  <a:txBody>
                    <a:bodyPr/>
                    <a:lstStyle/>
                    <a:p>
                      <a:pPr algn="l" fontAlgn="ctr"/>
                      <a:r>
                        <a:rPr lang="en-US" altLang="ko-KR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DX</a:t>
                      </a:r>
                      <a:r>
                        <a:rPr lang="ko-KR" altLang="en-US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총괄 </a:t>
                      </a:r>
                      <a:r>
                        <a:rPr lang="en-US" altLang="ko-KR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P.D</a:t>
                      </a:r>
                      <a:r>
                        <a:rPr lang="ko-KR" altLang="en-US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팀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90000" marR="90000" marT="46800" marB="46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90000" marR="90000" marT="46800" marB="46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90000" marR="90000" marT="46800" marB="46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90000" marR="90000" marT="46800" marB="46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62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담당자  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장재호 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0678" marR="30678" marT="33229" marB="33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315"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IT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신규 투자계획 양식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258">
                <a:tc rowSpan="4" grid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투자요약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투자명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IoT </a:t>
                      </a: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센서 프로토콜 연동개발</a:t>
                      </a:r>
                    </a:p>
                  </a:txBody>
                  <a:tcPr marL="33230" marR="33230" marT="35998" marB="3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투자기간</a:t>
                      </a: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‘23.02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월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~10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월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258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투자목적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9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서비스 영역 확대를 위한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IoT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라인업 확대 및 화재수신반 조도센서 구축 비용 절감</a:t>
                      </a:r>
                    </a:p>
                  </a:txBody>
                  <a:tcPr marL="33230" marR="33230" marT="35998" marB="3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258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추진내용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9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통신기기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(G/W)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에서 추가적인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IoT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라인업 센서류의 프로토콜을 인식하도록 펌웨어 개발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화재수신반조작감시를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위한 조도센서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인식모듈을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제거하고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G/W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에서 직접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조도센서값을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받도록 개발</a:t>
                      </a:r>
                    </a:p>
                  </a:txBody>
                  <a:tcPr marL="33230" marR="33230" marT="35998" marB="3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258">
                <a:tc gridSpan="2"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영향범위</a:t>
                      </a:r>
                      <a:b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주사용자</a:t>
                      </a: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인원수</a:t>
                      </a: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000" b="1" i="0" u="none" strike="noStrike" kern="12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9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전용 및 공용공간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고객사용자 및 현장관리자</a:t>
                      </a: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8591">
                <a:tc rowSpan="2" gridSpan="3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기대효과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정성적 효과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정량적 효과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pPr latinLnBrk="1"/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정량적 효과</a:t>
                      </a:r>
                      <a:endParaRPr lang="ko-KR" altLang="en-US"/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950">
                <a:tc gridSpan="3"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85725" indent="-85725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IoT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장비 개별 개발없이 빠른 신규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IoT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기기 확보가능</a:t>
                      </a:r>
                    </a:p>
                    <a:p>
                      <a:pPr marL="85725" indent="-85725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전용공간 및 중소형빌딩 신규 서비스 개발 가능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171450" indent="-171450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플랫폼 단위 연동으로 개발비 절감</a:t>
                      </a:r>
                      <a:b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플랫폼 연동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억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-&gt; 10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 </a:t>
                      </a:r>
                      <a:r>
                        <a:rPr lang="en-US" altLang="ko-KR" sz="1000" b="0" i="0" u="none" strike="noStrike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IoT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기기 확보</a:t>
                      </a:r>
                      <a:b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개별 </a:t>
                      </a:r>
                      <a:r>
                        <a:rPr lang="en-US" altLang="ko-KR" sz="1000" b="0" i="0" u="none" strike="noStrike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IoT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기기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개발시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개당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0.5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억 개발비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pPr marL="85725" indent="-85725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조도센서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인식모듈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불필요로 비용절감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개소당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만원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315">
                <a:tc rowSpan="6" grid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</a:t>
                      </a:r>
                      <a:b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예산규모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단위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천원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투자비</a:t>
                      </a:r>
                      <a:b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내역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항목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내 역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금액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금액</a:t>
                      </a:r>
                      <a:endParaRPr lang="ko-KR" altLang="en-US" dirty="0"/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비고</a:t>
                      </a:r>
                      <a:endParaRPr lang="ko-KR" altLang="en-US"/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7126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1" i="0" u="none" strike="noStrike" kern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1. </a:t>
                      </a:r>
                      <a:r>
                        <a:rPr lang="ko-KR" altLang="en-US" sz="1000" b="1" i="0" u="none" strike="noStrike" kern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데이터 분석</a:t>
                      </a: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G/W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및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센서류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분석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200,000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 3,000</a:t>
                      </a:r>
                      <a:endParaRPr lang="ko-KR" altLang="en-US" dirty="0"/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센서류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x 100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만원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신형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G/W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인터페이스 개발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신규 아이템 클라우드 연동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System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3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1" i="0" u="none" strike="noStrike" kern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2. </a:t>
                      </a:r>
                      <a:r>
                        <a:rPr lang="ko-KR" altLang="en-US" sz="1000" b="1" i="0" u="none" strike="noStrike" kern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프로토콜 개발</a:t>
                      </a: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서버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I/F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테스트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200,000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45,000</a:t>
                      </a:r>
                      <a:endParaRPr lang="ko-KR" altLang="en-US" dirty="0"/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센서류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3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종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x 1500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만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신형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G/W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인터페이스 개발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신규 아이템 클라우드 연동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System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3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1" i="0" u="none" strike="noStrike" kern="11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339130699"/>
                  </a:ext>
                </a:extLst>
              </a:tr>
              <a:tr h="28803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1" i="0" u="none" strike="noStrike" kern="11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82595286"/>
                  </a:ext>
                </a:extLst>
              </a:tr>
              <a:tr h="49909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총투자금액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48,000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31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  고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705009-E398-4ED5-9432-960489C414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>
                <a:latin typeface="맑은 고딕" pitchFamily="50" charset="-127"/>
              </a:rPr>
              <a:t>신규투자 상세내역서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3008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FC1BA81-C668-4E54-84F6-4E4FA1B181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5927157"/>
              </p:ext>
            </p:extLst>
          </p:nvPr>
        </p:nvGraphicFramePr>
        <p:xfrm>
          <a:off x="674259" y="764704"/>
          <a:ext cx="7795481" cy="5281067"/>
        </p:xfrm>
        <a:graphic>
          <a:graphicData uri="http://schemas.openxmlformats.org/drawingml/2006/table">
            <a:tbl>
              <a:tblPr/>
              <a:tblGrid>
                <a:gridCol w="753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06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18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93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85420812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5248">
                  <a:extLst>
                    <a:ext uri="{9D8B030D-6E8A-4147-A177-3AD203B41FA5}">
                      <a16:colId xmlns:a16="http://schemas.microsoft.com/office/drawing/2014/main" val="1066911802"/>
                    </a:ext>
                  </a:extLst>
                </a:gridCol>
                <a:gridCol w="8079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0632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764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부서명  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   </a:t>
                      </a:r>
                    </a:p>
                  </a:txBody>
                  <a:tcPr marL="30678" marR="30678" marT="33229" marB="33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1">
                  <a:txBody>
                    <a:bodyPr/>
                    <a:lstStyle/>
                    <a:p>
                      <a:pPr algn="l" fontAlgn="ctr"/>
                      <a:r>
                        <a:rPr lang="en-US" altLang="ko-KR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DX</a:t>
                      </a:r>
                      <a:r>
                        <a:rPr lang="ko-KR" altLang="en-US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총괄 </a:t>
                      </a:r>
                      <a:r>
                        <a:rPr lang="en-US" altLang="ko-KR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P.D</a:t>
                      </a:r>
                      <a:r>
                        <a:rPr lang="ko-KR" altLang="en-US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팀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90000" marR="90000" marT="46800" marB="46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90000" marR="90000" marT="46800" marB="46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90000" marR="90000" marT="46800" marB="46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90000" marR="90000" marT="46800" marB="46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62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담당자  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장재호 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0678" marR="30678" marT="33229" marB="33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315"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IT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신규 투자계획 양식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258">
                <a:tc rowSpan="4" grid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투자요약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투자명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  <a:cs typeface="+mn-cs"/>
                        </a:rPr>
                        <a:t>이동형 안전감시 장비 개발 및 구매</a:t>
                      </a:r>
                    </a:p>
                  </a:txBody>
                  <a:tcPr marL="33230" marR="33230" marT="35998" marB="3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투자기간</a:t>
                      </a: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‘23.04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월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~9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월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258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투자목적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9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공사안전관리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강화를 위한 기존 이동형 안전관리 장비의 개선사항 반영 신규 개발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5998" marB="3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258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추진내용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9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‘23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9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월까지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이동형 안전관리 장비 개발 및 </a:t>
                      </a:r>
                      <a:r>
                        <a:rPr lang="en-US" altLang="ko-KR" sz="1000" b="0" i="0" u="none" strike="noStrike" baseline="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PoC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진행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(w/ 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인프라구축센터</a:t>
                      </a:r>
                      <a:r>
                        <a:rPr lang="en-US" altLang="ko-KR" sz="10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5998" marB="359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258">
                <a:tc gridSpan="2"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영향범위</a:t>
                      </a:r>
                      <a:b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주사용자</a:t>
                      </a: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인원수</a:t>
                      </a: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000" b="1" i="0" u="none" strike="noStrike" kern="12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9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공사현장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당사 현장근무자 및 안전관리자</a:t>
                      </a: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8591">
                <a:tc rowSpan="2" gridSpan="3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기대효과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정성적 효과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정량적 효과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pPr latinLnBrk="1"/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정량적 효과</a:t>
                      </a:r>
                      <a:endParaRPr lang="ko-KR" altLang="en-US"/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950">
                <a:tc gridSpan="3"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85725" indent="-85725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공사안전관리의 실시간 원격감시</a:t>
                      </a:r>
                      <a:endParaRPr lang="en-US" altLang="ko-KR" sz="1000" b="0" i="0" u="none" strike="noStrike" baseline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85725" indent="-85725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공사 외 안전감시가 필요한 모든 공간에 적용 가능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171450" indent="-171450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플랫폼 단위 연동으로 개발비 절감</a:t>
                      </a:r>
                      <a:b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플랫폼 연동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억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-&gt; 10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 </a:t>
                      </a:r>
                      <a:r>
                        <a:rPr lang="en-US" altLang="ko-KR" sz="1000" b="0" i="0" u="none" strike="noStrike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IoT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기기 확보</a:t>
                      </a:r>
                      <a:b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개별 </a:t>
                      </a:r>
                      <a:r>
                        <a:rPr lang="en-US" altLang="ko-KR" sz="1000" b="0" i="0" u="none" strike="noStrike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IoT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기기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개발시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개당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0.5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억 개발비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pPr marL="85725" indent="-85725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안전관리자의</a:t>
                      </a:r>
                      <a:r>
                        <a:rPr lang="ko-KR" altLang="en-US" sz="1000" b="0" i="0" u="none" strike="noStrike" baseline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상시 상주없이 원격 안전관리로 안전관리비 절감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315">
                <a:tc rowSpan="6" grid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</a:t>
                      </a:r>
                      <a:b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예산규모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단위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천원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투자비</a:t>
                      </a:r>
                      <a:b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내역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항목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내 역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금액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금액</a:t>
                      </a:r>
                      <a:endParaRPr lang="ko-KR" altLang="en-US"/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00" b="1" i="0" u="none" strike="noStrike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비고</a:t>
                      </a:r>
                      <a:endParaRPr lang="ko-KR" altLang="en-US"/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7126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1" i="0" u="none" strike="noStrike" kern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1. H/W</a:t>
                      </a:r>
                      <a:endParaRPr lang="ko-KR" altLang="en-US" sz="1000" b="1" i="0" u="none" strike="noStrike" kern="11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기구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카메라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센서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배터리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통신</a:t>
                      </a:r>
                      <a:b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설계 안에 따른 샘플제작 및 테스트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200,000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100,000</a:t>
                      </a:r>
                      <a:endParaRPr lang="ko-KR" altLang="en-US" dirty="0"/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/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신형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G/W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인터페이스 개발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신규 아이템 클라우드 연동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System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3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1" i="0" u="none" strike="noStrike" kern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2. S/W</a:t>
                      </a:r>
                      <a:endParaRPr lang="ko-KR" altLang="en-US" sz="1000" b="1" i="0" u="none" strike="noStrike" kern="11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서버구축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App/Web UI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200,000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100,000</a:t>
                      </a:r>
                      <a:endParaRPr lang="ko-KR" altLang="en-US" dirty="0"/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/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신형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G/W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인터페이스 개발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신규 아이템 클라우드 연동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System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3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1" i="0" u="none" strike="noStrike" kern="11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339130699"/>
                  </a:ext>
                </a:extLst>
              </a:tr>
              <a:tr h="28803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000" b="1" i="0" u="none" strike="noStrike" kern="11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82595286"/>
                  </a:ext>
                </a:extLst>
              </a:tr>
              <a:tr h="49909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총투자금액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200,000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31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  고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705009-E398-4ED5-9432-960489C414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>
                <a:latin typeface="맑은 고딕" pitchFamily="50" charset="-127"/>
              </a:rPr>
              <a:t>신규투자 상세내역서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448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FC1BA81-C668-4E54-84F6-4E4FA1B181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66195"/>
              </p:ext>
            </p:extLst>
          </p:nvPr>
        </p:nvGraphicFramePr>
        <p:xfrm>
          <a:off x="674259" y="764704"/>
          <a:ext cx="7795481" cy="5070423"/>
        </p:xfrm>
        <a:graphic>
          <a:graphicData uri="http://schemas.openxmlformats.org/drawingml/2006/table">
            <a:tbl>
              <a:tblPr/>
              <a:tblGrid>
                <a:gridCol w="753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06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18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93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85420812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5248">
                  <a:extLst>
                    <a:ext uri="{9D8B030D-6E8A-4147-A177-3AD203B41FA5}">
                      <a16:colId xmlns:a16="http://schemas.microsoft.com/office/drawing/2014/main" val="1066911802"/>
                    </a:ext>
                  </a:extLst>
                </a:gridCol>
                <a:gridCol w="8079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0632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764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부서명  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   </a:t>
                      </a:r>
                    </a:p>
                  </a:txBody>
                  <a:tcPr marL="30678" marR="30678" marT="33229" marB="33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1">
                  <a:txBody>
                    <a:bodyPr/>
                    <a:lstStyle/>
                    <a:p>
                      <a:pPr algn="l" fontAlgn="ctr"/>
                      <a:r>
                        <a:rPr lang="en-US" altLang="ko-KR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DX</a:t>
                      </a:r>
                      <a:r>
                        <a:rPr lang="ko-KR" altLang="en-US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총괄 </a:t>
                      </a:r>
                      <a:r>
                        <a:rPr lang="en-US" altLang="ko-KR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P.D</a:t>
                      </a:r>
                      <a:r>
                        <a:rPr lang="ko-KR" altLang="en-US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팀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90000" marR="90000" marT="46800" marB="46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90000" marR="90000" marT="46800" marB="46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90000" marR="90000" marT="46800" marB="46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90000" marR="90000" marT="46800" marB="46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62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담당자  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장재호 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0678" marR="30678" marT="33229" marB="33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315">
                <a:tc gridSpan="1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IT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신규 투자계획 양식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258">
                <a:tc rowSpan="4" grid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투자요약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투자명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RMS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통신기기 개선 및 클라우드 서버 연동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UX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</a:t>
                      </a: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투자기간</a:t>
                      </a: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‘23.03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월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~11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월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258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투자목적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9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RMS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통신기기 고도화 및 중소형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매장형 고객 확대를 위한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IoT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센서류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라인업 확대를 위한 인프라 구축</a:t>
                      </a: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258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추진내용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9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‘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23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년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02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월까지 업무범위를 협의한 후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약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6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개월간의 개발과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개월간의 시험운용을 진행할 예정임</a:t>
                      </a: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258">
                <a:tc gridSpan="2"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영향범위</a:t>
                      </a:r>
                      <a:b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주사용자</a:t>
                      </a: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인원수</a:t>
                      </a: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000" b="1" i="0" u="none" strike="noStrike" kern="12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9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RMS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사용현장 및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하이파인애플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화장실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IoT)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일부</a:t>
                      </a: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8591">
                <a:tc rowSpan="2" gridSpan="3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기대효과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정성적 효과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정량적 효과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pPr latinLnBrk="1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정량적 효과</a:t>
                      </a:r>
                      <a:endParaRPr lang="ko-KR" altLang="en-US" dirty="0"/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950">
                <a:tc gridSpan="3"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171450" indent="-171450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i="0" u="none" strike="noStrike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IoT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장비 개별 개발없이 빠른 신규 </a:t>
                      </a:r>
                      <a:r>
                        <a:rPr lang="en-US" altLang="ko-KR" sz="1000" b="0" i="0" u="none" strike="noStrike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IoT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기기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확보가능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171450" indent="-171450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전용공간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및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중소형빌딩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신규 서비스 개발 가능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171450" indent="-171450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플랫폼 단위 연동으로 개발비 절감</a:t>
                      </a:r>
                      <a:b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플랫폼 연동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억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-&gt; 10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 </a:t>
                      </a:r>
                      <a:r>
                        <a:rPr lang="en-US" altLang="ko-KR" sz="1000" b="0" i="0" u="none" strike="noStrike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IoT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기기 확보</a:t>
                      </a:r>
                      <a:b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개별 </a:t>
                      </a:r>
                      <a:r>
                        <a:rPr lang="en-US" altLang="ko-KR" sz="1000" b="0" i="0" u="none" strike="noStrike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IoT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기기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개발시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개당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0.5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억 개발비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5">
                  <a:txBody>
                    <a:bodyPr/>
                    <a:lstStyle/>
                    <a:p>
                      <a:pPr latinLnBrk="1"/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플랫폼 단위 연동으로 개발비 절감</a:t>
                      </a:r>
                      <a:b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-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개별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IoT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기기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개발시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센서종류별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0.5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억 개발비 소요</a:t>
                      </a:r>
                      <a:endParaRPr lang="ko-KR" altLang="en-US" dirty="0"/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315">
                <a:tc rowSpan="5" grid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</a:t>
                      </a:r>
                      <a:b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예산규모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단위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천원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투자비</a:t>
                      </a:r>
                      <a:b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내역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항목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내 역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금액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금액</a:t>
                      </a:r>
                      <a:endParaRPr lang="ko-KR" altLang="en-US" dirty="0"/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비고</a:t>
                      </a:r>
                      <a:endParaRPr lang="ko-KR" altLang="en-US" dirty="0"/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7126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1" i="0" u="none" strike="noStrike" kern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1. RMS </a:t>
                      </a:r>
                      <a:r>
                        <a:rPr lang="ko-KR" altLang="en-US" sz="1000" b="1" i="0" u="none" strike="noStrike" kern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서버 개선</a:t>
                      </a: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데이터 동적 분석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오픈형 서비스 솔루션 구축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200,000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500,000</a:t>
                      </a:r>
                      <a:endParaRPr lang="ko-KR" altLang="en-US" dirty="0"/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오픈형 솔루션을 통한 범용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IoT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센서류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적용  으로 맞춤형 고객 서비스 제공 가능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신형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G/W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인터페이스 개발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신규 아이템 클라우드 연동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System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3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1" i="0" u="none" strike="noStrike" kern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2. </a:t>
                      </a:r>
                      <a:r>
                        <a:rPr lang="ko-KR" altLang="en-US" sz="1000" b="1" i="0" u="none" strike="noStrike" kern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단말기 고도화</a:t>
                      </a: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범용 통신기기 개발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200,000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250,000</a:t>
                      </a:r>
                      <a:endParaRPr lang="ko-KR" altLang="en-US" dirty="0"/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모듈화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성능개선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, AI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서비스 연동 등 개발</a:t>
                      </a:r>
                      <a:endParaRPr lang="ko-KR" altLang="en-US" dirty="0"/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신형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G/W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인터페이스 개발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LG스마트체 Regular" panose="020B0600000101010101" pitchFamily="50" charset="-127"/>
                      </a:endParaRPr>
                    </a:p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신규 아이템 클라우드 연동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System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개발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3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1" i="0" u="none" strike="noStrike" kern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3. UX </a:t>
                      </a:r>
                      <a:r>
                        <a:rPr lang="ko-KR" altLang="en-US" sz="1000" b="1" i="0" u="none" strike="noStrike" kern="11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고도화</a:t>
                      </a: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- Virtual Interface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구현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 150,000</a:t>
                      </a:r>
                      <a:endParaRPr lang="ko-KR" altLang="en-US" dirty="0"/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고객공간정보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디지털트윈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), AICCTV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anose="020B0600000101010101" pitchFamily="50" charset="-127"/>
                        </a:rPr>
                        <a:t>등 연동된 지휘통제화면 개발</a:t>
                      </a:r>
                      <a:endParaRPr lang="ko-KR" altLang="en-US" dirty="0"/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339130699"/>
                  </a:ext>
                </a:extLst>
              </a:tr>
              <a:tr h="49909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총투자금액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9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900,000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31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  고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0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705009-E398-4ED5-9432-960489C414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>
                <a:latin typeface="맑은 고딕" pitchFamily="50" charset="-127"/>
              </a:rPr>
              <a:t>신규투자 상세내역서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6351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텍스트 개체 틀 1"/>
          <p:cNvSpPr>
            <a:spLocks noGrp="1"/>
          </p:cNvSpPr>
          <p:nvPr>
            <p:ph type="body" sz="quarter" idx="10"/>
          </p:nvPr>
        </p:nvSpPr>
        <p:spPr>
          <a:extLst/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ko-KR" altLang="en-US" dirty="0">
                <a:latin typeface="맑은 고딕" pitchFamily="50" charset="-127"/>
              </a:rPr>
              <a:t>신규투자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상세내역서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2790832"/>
              </p:ext>
            </p:extLst>
          </p:nvPr>
        </p:nvGraphicFramePr>
        <p:xfrm>
          <a:off x="692312" y="600290"/>
          <a:ext cx="7795481" cy="4875755"/>
        </p:xfrm>
        <a:graphic>
          <a:graphicData uri="http://schemas.openxmlformats.org/drawingml/2006/table">
            <a:tbl>
              <a:tblPr/>
              <a:tblGrid>
                <a:gridCol w="753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4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70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93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36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47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076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030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0632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764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부서명  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   </a:t>
                      </a:r>
                    </a:p>
                  </a:txBody>
                  <a:tcPr marL="30678" marR="30678" marT="33229" marB="33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0">
                  <a:txBody>
                    <a:bodyPr/>
                    <a:lstStyle/>
                    <a:p>
                      <a:pPr algn="l" fontAlgn="ctr"/>
                      <a:r>
                        <a:rPr lang="en-US" altLang="ko-KR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DX</a:t>
                      </a:r>
                      <a:r>
                        <a:rPr lang="ko-KR" altLang="en-US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총괄 </a:t>
                      </a:r>
                      <a:r>
                        <a:rPr lang="en-US" altLang="ko-KR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P.D</a:t>
                      </a:r>
                      <a:r>
                        <a:rPr lang="ko-KR" altLang="en-US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팀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90000" marR="90000" marT="46800" marB="46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90000" marR="90000" marT="46800" marB="46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90000" marR="90000" marT="46800" marB="46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90000" marR="90000" marT="46800" marB="46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62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담당자  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김대선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0678" marR="30678" marT="33229" marB="33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315">
                <a:tc gridSpan="11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IT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신규 투자계획 양식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591">
                <a:tc rowSpan="4" grid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투자요약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투자명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 서비스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Offering Website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투자기간</a:t>
                      </a: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‘23.01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월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~03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월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3787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투자목적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 서비스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인바운드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영업을 위한 웹사이트 및 홍보물 제작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09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추진내용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 서비스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오퍼링을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접수할 수 있는 웹사이트 개발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주차 서비스 홍보자료 제작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브로셔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(3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841">
                <a:tc gridSpan="2"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영향범위</a:t>
                      </a:r>
                      <a:b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주사용자</a:t>
                      </a: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인원수</a:t>
                      </a: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000" b="1" i="0" u="none" strike="noStrike" kern="12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브랜드신뢰도 및 서비스 실적을 바탕으로 한 매출 확대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중소형 빌딩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8591">
                <a:tc rowSpan="2" gridSpan="3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기대효과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정성적 효과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정량적 효과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950">
                <a:tc gridSpan="3"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171450" indent="-171450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고객중심의 서비스제공을 통한 중소형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매장시장 확대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171450" indent="-171450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인바운드콜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월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회 이상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315">
                <a:tc rowSpan="6" grid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</a:t>
                      </a:r>
                      <a:b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예산규모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단위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천원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투자비</a:t>
                      </a:r>
                      <a:b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내역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항목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내 역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금액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7126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1" i="0" u="none" strike="noStrike" kern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1. </a:t>
                      </a:r>
                      <a:r>
                        <a:rPr lang="ko-KR" altLang="en-US" sz="1000" b="1" i="0" u="none" strike="noStrike" kern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웹사이트제작</a:t>
                      </a: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디자인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코딩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프로그램개발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쳇봇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관리자페이지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게시판제작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등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15,000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7200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호스팅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유지보수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도메인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 무료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이후 유료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3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2.</a:t>
                      </a:r>
                      <a:r>
                        <a:rPr lang="en-US" altLang="ko-KR" sz="1000" b="1" i="0" u="none" strike="noStrike" kern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1" i="0" u="none" strike="noStrike" kern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홍보물제작</a:t>
                      </a:r>
                      <a:endParaRPr lang="ko-KR" altLang="en-US" sz="1000" b="1" i="0" u="none" strike="noStrike" kern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브로셔 인쇄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10,000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7200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3841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3.</a:t>
                      </a:r>
                      <a:r>
                        <a:rPr lang="en-US" altLang="ko-KR" sz="1000" b="1" i="0" u="none" strike="noStrike" kern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1" i="0" u="none" strike="noStrike" kern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기타</a:t>
                      </a:r>
                      <a:r>
                        <a:rPr lang="en-US" altLang="ko-KR" sz="1000" b="1" i="0" u="none" strike="noStrike" kern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1" i="0" u="none" strike="noStrike" kern="110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제경비</a:t>
                      </a:r>
                      <a:r>
                        <a:rPr lang="en-US" altLang="ko-KR" sz="1000" b="1" i="0" u="none" strike="noStrike" kern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="1" i="0" u="none" strike="noStrike" kern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제경비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출장비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식대 등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5,000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7200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315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i="0" u="none" strike="noStrike" kern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7200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9909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총투자금액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30,000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31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  고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1141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텍스트 개체 틀 1"/>
          <p:cNvSpPr>
            <a:spLocks noGrp="1"/>
          </p:cNvSpPr>
          <p:nvPr>
            <p:ph type="body" sz="quarter" idx="10"/>
          </p:nvPr>
        </p:nvSpPr>
        <p:spPr>
          <a:extLst/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ko-KR" altLang="en-US" dirty="0">
                <a:latin typeface="맑은 고딕" pitchFamily="50" charset="-127"/>
              </a:rPr>
              <a:t>신규투자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상세내역서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611325"/>
              </p:ext>
            </p:extLst>
          </p:nvPr>
        </p:nvGraphicFramePr>
        <p:xfrm>
          <a:off x="692312" y="600290"/>
          <a:ext cx="7795481" cy="5814721"/>
        </p:xfrm>
        <a:graphic>
          <a:graphicData uri="http://schemas.openxmlformats.org/drawingml/2006/table">
            <a:tbl>
              <a:tblPr/>
              <a:tblGrid>
                <a:gridCol w="753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4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70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93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36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47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076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030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0632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764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부서명  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   </a:t>
                      </a:r>
                    </a:p>
                  </a:txBody>
                  <a:tcPr marL="30678" marR="30678" marT="33229" marB="33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0">
                  <a:txBody>
                    <a:bodyPr/>
                    <a:lstStyle/>
                    <a:p>
                      <a:pPr algn="l" fontAlgn="ctr"/>
                      <a:r>
                        <a:rPr lang="en-US" altLang="ko-KR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DX</a:t>
                      </a:r>
                      <a:r>
                        <a:rPr lang="ko-KR" altLang="en-US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총괄 </a:t>
                      </a:r>
                      <a:r>
                        <a:rPr lang="en-US" altLang="ko-KR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P.D</a:t>
                      </a:r>
                      <a:r>
                        <a:rPr lang="ko-KR" altLang="en-US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팀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90000" marR="90000" marT="46800" marB="46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90000" marR="90000" marT="46800" marB="46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90000" marR="90000" marT="46800" marB="46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90000" marR="90000" marT="46800" marB="46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62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담당자  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홍승철 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0678" marR="30678" marT="33229" marB="33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315">
                <a:tc gridSpan="11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IT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신규 투자계획 양식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591">
                <a:tc rowSpan="4" grid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투자요약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투자명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미화서비스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Offering Website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투자기간</a:t>
                      </a: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‘23.04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월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~06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월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3787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투자목적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중소형빌딩 및 매장형 고객대상 미화서비스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인바운드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영업을 위한 웹사이트 및 홍보물 제작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09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추진내용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미화서비스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오퍼링을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접수할 수 있는 웹사이트 개발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(4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-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미화서비스 소개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서비스 영역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업무프로세스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차별화 강점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-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고객니즈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파악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필요한서비스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건물규모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마감재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예산범위 등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하는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쳇봇형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접수페이지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-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가견적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자동산출 후 세부 상담 연결 후 협력사 소싱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당사 브랜드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미화서비스 홍보자료 제작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브로셔 및 동영상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(6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841">
                <a:tc gridSpan="2"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영향범위</a:t>
                      </a:r>
                      <a:b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주사용자</a:t>
                      </a: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인원수</a:t>
                      </a: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000" b="1" i="0" u="none" strike="noStrike" kern="12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(2023~2024) :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당사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패트롤서비스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대상 고객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매장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청소계약 매출 실적 확보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차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(2025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이후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 :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브랜드신뢰도 및 서비스 실적을 바탕으로 한 매출 확대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중소형 빌딩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최종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대형 수익형 건물의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입주사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대상 전용구역 청소 영역확대를 통한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FM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미화 수주로 확대</a:t>
                      </a: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8591">
                <a:tc rowSpan="2" gridSpan="3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기대효과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정성적 효과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정량적 효과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950">
                <a:tc gridSpan="3"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171450" indent="-171450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고객중심의 서비스제공을 통한 중소형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매장시장진입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171450" indent="-171450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전문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FM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社브랜드 파워를 활용한 전체 미화시장 석권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171450" indent="-171450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2023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~2024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패트롤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고객확보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매출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억이상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171450" indent="-171450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2025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 이후 사업확대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매출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10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억 달성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171450" indent="-171450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2027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(5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까지 매출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50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억 확대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315">
                <a:tc rowSpan="6" grid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</a:t>
                      </a:r>
                      <a:b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예산규모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단위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천원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투자비</a:t>
                      </a:r>
                      <a:b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내역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항목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내 역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금액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7126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1" i="0" u="none" strike="noStrike" kern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1. </a:t>
                      </a:r>
                      <a:r>
                        <a:rPr lang="ko-KR" altLang="en-US" sz="1000" b="1" i="0" u="none" strike="noStrike" kern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웹사이트제작</a:t>
                      </a: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디자인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코딩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프로그램개발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쳇봇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관리자페이지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게시판제작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등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15,000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7200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호스팅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유지보수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도메인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 무료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이후 유료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3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2.</a:t>
                      </a:r>
                      <a:r>
                        <a:rPr lang="en-US" altLang="ko-KR" sz="1000" b="1" i="0" u="none" strike="noStrike" kern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1" i="0" u="none" strike="noStrike" kern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홍보물제작</a:t>
                      </a:r>
                      <a:endParaRPr lang="ko-KR" altLang="en-US" sz="1000" b="1" i="0" u="none" strike="noStrike" kern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브로셔 인쇄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동영상 제작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30,000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7200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3841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3.</a:t>
                      </a:r>
                      <a:r>
                        <a:rPr lang="en-US" altLang="ko-KR" sz="1000" b="1" i="0" u="none" strike="noStrike" kern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1" i="0" u="none" strike="noStrike" kern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기타</a:t>
                      </a:r>
                      <a:r>
                        <a:rPr lang="en-US" altLang="ko-KR" sz="1000" b="1" i="0" u="none" strike="noStrike" kern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1" i="0" u="none" strike="noStrike" kern="110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제경비</a:t>
                      </a:r>
                      <a:r>
                        <a:rPr lang="en-US" altLang="ko-KR" sz="1000" b="1" i="0" u="none" strike="noStrike" kern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="1" i="0" u="none" strike="noStrike" kern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제경비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출장비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식대 등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5,000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7200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315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i="0" u="none" strike="noStrike" kern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7200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9909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총투자금액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50,000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31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  고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0892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텍스트 개체 틀 1"/>
          <p:cNvSpPr>
            <a:spLocks noGrp="1"/>
          </p:cNvSpPr>
          <p:nvPr>
            <p:ph type="body" sz="quarter" idx="10"/>
          </p:nvPr>
        </p:nvSpPr>
        <p:spPr>
          <a:extLst/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ko-KR" altLang="en-US" dirty="0">
                <a:latin typeface="맑은 고딕" pitchFamily="50" charset="-127"/>
              </a:rPr>
              <a:t>신규투자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상세내역서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520513"/>
              </p:ext>
            </p:extLst>
          </p:nvPr>
        </p:nvGraphicFramePr>
        <p:xfrm>
          <a:off x="692312" y="600290"/>
          <a:ext cx="7795481" cy="4875755"/>
        </p:xfrm>
        <a:graphic>
          <a:graphicData uri="http://schemas.openxmlformats.org/drawingml/2006/table">
            <a:tbl>
              <a:tblPr/>
              <a:tblGrid>
                <a:gridCol w="753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4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70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93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36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47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076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030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0632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764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부서명  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   </a:t>
                      </a:r>
                    </a:p>
                  </a:txBody>
                  <a:tcPr marL="30678" marR="30678" marT="33229" marB="33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0">
                  <a:txBody>
                    <a:bodyPr/>
                    <a:lstStyle/>
                    <a:p>
                      <a:pPr algn="l" fontAlgn="ctr"/>
                      <a:r>
                        <a:rPr lang="en-US" altLang="ko-KR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DX</a:t>
                      </a:r>
                      <a:r>
                        <a:rPr lang="ko-KR" altLang="en-US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총괄 </a:t>
                      </a:r>
                      <a:r>
                        <a:rPr lang="en-US" altLang="ko-KR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P.D</a:t>
                      </a:r>
                      <a:r>
                        <a:rPr lang="ko-KR" altLang="en-US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팀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90000" marR="90000" marT="46800" marB="46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90000" marR="90000" marT="46800" marB="46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90000" marR="90000" marT="46800" marB="46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90000" marR="90000" marT="46800" marB="46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62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담당자  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최용민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0678" marR="30678" marT="33229" marB="33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315">
                <a:tc gridSpan="11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IT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신규 투자계획 양식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591">
                <a:tc rowSpan="4" grid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투자요약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투자명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AI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뷰어 서비스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Offering Website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투자기간</a:t>
                      </a: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‘23.07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월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~09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월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3787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투자목적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AI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뷰어 서비스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인바운드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영업을 위한 웹사이트 및 홍보물 제작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09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추진내용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AI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뷰어 서비스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오퍼링을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접수할 수 있는 웹사이트 개발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(7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AI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뷰어 서비스 홍보자료 제작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브로셔 및 동영상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(9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841">
                <a:tc gridSpan="2"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영향범위</a:t>
                      </a:r>
                      <a:b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주사용자</a:t>
                      </a: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인원수</a:t>
                      </a: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000" b="1" i="0" u="none" strike="noStrike" kern="12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브랜드신뢰도 및 서비스 실적을 바탕으로 한 매출 확대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중소형 빌딩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8591">
                <a:tc rowSpan="2" gridSpan="3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기대효과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정성적 효과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정량적 효과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950">
                <a:tc gridSpan="3"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171450" indent="-171450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고객중심의 서비스제공을 통한 중소형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매장시장 확대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171450" indent="-171450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인바운드콜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월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회 이상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315">
                <a:tc rowSpan="6" grid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</a:t>
                      </a:r>
                      <a:b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예산규모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단위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천원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투자비</a:t>
                      </a:r>
                      <a:b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내역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항목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내 역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금액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7126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1" i="0" u="none" strike="noStrike" kern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1. </a:t>
                      </a:r>
                      <a:r>
                        <a:rPr lang="ko-KR" altLang="en-US" sz="1000" b="1" i="0" u="none" strike="noStrike" kern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웹사이트제작</a:t>
                      </a: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디자인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코딩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프로그램개발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쳇봇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관리자페이지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게시판제작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등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15,000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7200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호스팅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유지보수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도메인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 무료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이후 유료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3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2.</a:t>
                      </a:r>
                      <a:r>
                        <a:rPr lang="en-US" altLang="ko-KR" sz="1000" b="1" i="0" u="none" strike="noStrike" kern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1" i="0" u="none" strike="noStrike" kern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홍보물제작</a:t>
                      </a:r>
                      <a:endParaRPr lang="ko-KR" altLang="en-US" sz="1000" b="1" i="0" u="none" strike="noStrike" kern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브로셔 인쇄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동영상 제작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30,000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7200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3841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3.</a:t>
                      </a:r>
                      <a:r>
                        <a:rPr lang="en-US" altLang="ko-KR" sz="1000" b="1" i="0" u="none" strike="noStrike" kern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1" i="0" u="none" strike="noStrike" kern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기타</a:t>
                      </a:r>
                      <a:r>
                        <a:rPr lang="en-US" altLang="ko-KR" sz="1000" b="1" i="0" u="none" strike="noStrike" kern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1" i="0" u="none" strike="noStrike" kern="110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제경비</a:t>
                      </a:r>
                      <a:r>
                        <a:rPr lang="en-US" altLang="ko-KR" sz="1000" b="1" i="0" u="none" strike="noStrike" kern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="1" i="0" u="none" strike="noStrike" kern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제경비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출장비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식대 등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5,000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7200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315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i="0" u="none" strike="noStrike" kern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7200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9909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총투자금액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50,000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31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  고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2249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텍스트 개체 틀 1"/>
          <p:cNvSpPr>
            <a:spLocks noGrp="1"/>
          </p:cNvSpPr>
          <p:nvPr>
            <p:ph type="body" sz="quarter" idx="10"/>
          </p:nvPr>
        </p:nvSpPr>
        <p:spPr>
          <a:extLst/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ko-KR" altLang="en-US" dirty="0">
                <a:latin typeface="맑은 고딕" pitchFamily="50" charset="-127"/>
              </a:rPr>
              <a:t>신규투자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상세내역서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8303407"/>
              </p:ext>
            </p:extLst>
          </p:nvPr>
        </p:nvGraphicFramePr>
        <p:xfrm>
          <a:off x="692312" y="600290"/>
          <a:ext cx="7795481" cy="4875755"/>
        </p:xfrm>
        <a:graphic>
          <a:graphicData uri="http://schemas.openxmlformats.org/drawingml/2006/table">
            <a:tbl>
              <a:tblPr/>
              <a:tblGrid>
                <a:gridCol w="753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4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70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93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36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47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076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030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0632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764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부서명  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   </a:t>
                      </a:r>
                    </a:p>
                  </a:txBody>
                  <a:tcPr marL="30678" marR="30678" marT="33229" marB="33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10">
                  <a:txBody>
                    <a:bodyPr/>
                    <a:lstStyle/>
                    <a:p>
                      <a:pPr algn="l" fontAlgn="ctr"/>
                      <a:r>
                        <a:rPr lang="en-US" altLang="ko-KR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DX</a:t>
                      </a:r>
                      <a:r>
                        <a:rPr lang="ko-KR" altLang="en-US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총괄 </a:t>
                      </a:r>
                      <a:r>
                        <a:rPr lang="en-US" altLang="ko-KR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P.D</a:t>
                      </a:r>
                      <a:r>
                        <a:rPr lang="ko-KR" altLang="en-US" sz="1200" b="1" i="0" u="none" strike="noStrike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팀</a:t>
                      </a:r>
                      <a:endParaRPr lang="ko-KR" altLang="en-US" sz="12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90000" marR="90000" marT="46800" marB="46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90000" marR="90000" marT="46800" marB="46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90000" marR="90000" marT="46800" marB="46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90000" marR="90000" marT="46800" marB="46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621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 담당자  </a:t>
                      </a: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ko-KR" altLang="en-US" sz="12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장재호</a:t>
                      </a:r>
                      <a:endParaRPr lang="en-US" altLang="ko-KR" sz="12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0678" marR="30678" marT="33229" marB="332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>
                    <a:lnL>
                      <a:noFill/>
                    </a:lnL>
                    <a:lnR>
                      <a:noFill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315">
                <a:tc gridSpan="11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IT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신규 투자계획 양식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591">
                <a:tc rowSpan="4" grid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투자요약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투자명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서비스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Offering Website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투자기간</a:t>
                      </a: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‘23.10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월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~12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월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3787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투자목적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서비스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인바운드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영업을 위한 웹사이트 및 홍보물 제작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909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추진내용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서비스 </a:t>
                      </a: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오퍼링을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접수할 수 있는 웹사이트 개발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(10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RMS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서비스 홍보자료 제작 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브로셔 및 동영상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(12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841">
                <a:tc gridSpan="2"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>
                        <a:lnSpc>
                          <a:spcPct val="10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영향범위</a:t>
                      </a:r>
                      <a:b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</a:b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/</a:t>
                      </a: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주사용자</a:t>
                      </a: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인원수</a:t>
                      </a:r>
                      <a:r>
                        <a:rPr lang="en-US" altLang="ko-KR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000" b="1" i="0" u="none" strike="noStrike" kern="12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  <a:cs typeface="+mn-cs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브랜드신뢰도 및 서비스 실적을 바탕으로 한 매출 확대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중소형 빌딩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8591">
                <a:tc rowSpan="2" gridSpan="3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kern="12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  <a:cs typeface="+mn-cs"/>
                        </a:rPr>
                        <a:t>기대효과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정성적 효과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정량적 효과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950">
                <a:tc gridSpan="3" vMerge="1"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latin typeface="+mn-lt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171450" indent="-171450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고객중심의 서비스제공을 통한 중소형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/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매장시장 확대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171450" indent="-171450" algn="l" fontAlgn="ctr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i="0" u="none" strike="noStrike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인바운드콜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월</a:t>
                      </a: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</a:t>
                      </a:r>
                      <a:r>
                        <a:rPr lang="ko-KR" altLang="en-US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회 이상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315">
                <a:tc rowSpan="6" gridSpan="2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예상</a:t>
                      </a:r>
                      <a:b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예산규모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단위 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: 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천원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투자비</a:t>
                      </a:r>
                      <a:b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내역</a:t>
                      </a:r>
                      <a:endParaRPr lang="en-US" altLang="ko-KR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항목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내 역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금액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비고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7126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1" i="0" u="none" strike="noStrike" kern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1. </a:t>
                      </a:r>
                      <a:r>
                        <a:rPr lang="ko-KR" altLang="en-US" sz="1000" b="1" i="0" u="none" strike="noStrike" kern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웹사이트제작</a:t>
                      </a: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디자인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코딩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프로그램개발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쳇봇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관리자페이지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게시판제작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등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15,000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7200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호스팅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유지보수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도메인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(1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년 무료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이후 유료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3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2.</a:t>
                      </a:r>
                      <a:r>
                        <a:rPr lang="en-US" altLang="ko-KR" sz="1000" b="1" i="0" u="none" strike="noStrike" kern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1" i="0" u="none" strike="noStrike" kern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홍보물제작</a:t>
                      </a:r>
                      <a:endParaRPr lang="ko-KR" altLang="en-US" sz="1000" b="1" i="0" u="none" strike="noStrike" kern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브로셔 인쇄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동영상 제작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30,000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7200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3841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3.</a:t>
                      </a:r>
                      <a:r>
                        <a:rPr lang="en-US" altLang="ko-KR" sz="1000" b="1" i="0" u="none" strike="noStrike" kern="11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="1" i="0" u="none" strike="noStrike" kern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기타</a:t>
                      </a:r>
                      <a:r>
                        <a:rPr lang="en-US" altLang="ko-KR" sz="1000" b="1" i="0" u="none" strike="noStrike" kern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b="1" i="0" u="none" strike="noStrike" kern="110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제경비</a:t>
                      </a:r>
                      <a:r>
                        <a:rPr lang="en-US" altLang="ko-KR" sz="1000" b="1" i="0" u="none" strike="noStrike" kern="11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b="1" i="0" u="none" strike="noStrike" kern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제경비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출장비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식대 등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5,000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7200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315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i="0" u="none" strike="noStrike" kern="11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/>
                </a:tc>
                <a:tc gridSpan="3"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7200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9909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총투자금액</a:t>
                      </a:r>
                      <a:endParaRPr lang="en-US" altLang="ko-KR" sz="1000" b="1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50,000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33230" marR="33230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31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비  고</a:t>
                      </a: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30678" marR="30678" marT="33229" marB="332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3236" marR="33236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859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959</TotalTime>
  <Words>1595</Words>
  <Application>Microsoft Office PowerPoint</Application>
  <PresentationFormat>화면 슬라이드 쇼(4:3)</PresentationFormat>
  <Paragraphs>363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LG스마트체 Regular</vt:lpstr>
      <vt:lpstr>굴림</vt:lpstr>
      <vt:lpstr>맑은 고딕</vt:lpstr>
      <vt:lpstr>Arial</vt:lpstr>
      <vt:lpstr>Arial Narrow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Ucjh</cp:lastModifiedBy>
  <cp:revision>46</cp:revision>
  <dcterms:created xsi:type="dcterms:W3CDTF">2015-08-19T09:17:37Z</dcterms:created>
  <dcterms:modified xsi:type="dcterms:W3CDTF">2022-10-27T02:04:12Z</dcterms:modified>
</cp:coreProperties>
</file>