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4"/>
  </p:notesMasterIdLst>
  <p:sldIdLst>
    <p:sldId id="620" r:id="rId2"/>
    <p:sldId id="621" r:id="rId3"/>
  </p:sldIdLst>
  <p:sldSz cx="9906000" cy="6858000" type="A4"/>
  <p:notesSz cx="6797675" cy="99266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7">
          <p15:clr>
            <a:srgbClr val="A4A3A4"/>
          </p15:clr>
        </p15:guide>
        <p15:guide id="2" orient="horz" pos="4319">
          <p15:clr>
            <a:srgbClr val="A4A3A4"/>
          </p15:clr>
        </p15:guide>
        <p15:guide id="3" orient="horz" pos="1616" userDrawn="1">
          <p15:clr>
            <a:srgbClr val="A4A3A4"/>
          </p15:clr>
        </p15:guide>
        <p15:guide id="4" orient="horz" pos="3974">
          <p15:clr>
            <a:srgbClr val="A4A3A4"/>
          </p15:clr>
        </p15:guide>
        <p15:guide id="5" orient="horz" pos="2160">
          <p15:clr>
            <a:srgbClr val="A4A3A4"/>
          </p15:clr>
        </p15:guide>
        <p15:guide id="6" orient="horz" pos="935">
          <p15:clr>
            <a:srgbClr val="A4A3A4"/>
          </p15:clr>
        </p15:guide>
        <p15:guide id="8" orient="horz" pos="2614">
          <p15:clr>
            <a:srgbClr val="A4A3A4"/>
          </p15:clr>
        </p15:guide>
        <p15:guide id="9" pos="3120">
          <p15:clr>
            <a:srgbClr val="A4A3A4"/>
          </p15:clr>
        </p15:guide>
        <p15:guide id="10" pos="126">
          <p15:clr>
            <a:srgbClr val="A4A3A4"/>
          </p15:clr>
        </p15:guide>
        <p15:guide id="11" pos="6114">
          <p15:clr>
            <a:srgbClr val="A4A3A4"/>
          </p15:clr>
        </p15:guide>
        <p15:guide id="12" pos="1669">
          <p15:clr>
            <a:srgbClr val="A4A3A4"/>
          </p15:clr>
        </p15:guide>
        <p15:guide id="13" pos="308">
          <p15:clr>
            <a:srgbClr val="A4A3A4"/>
          </p15:clr>
        </p15:guide>
        <p15:guide id="14" pos="5932">
          <p15:clr>
            <a:srgbClr val="A4A3A4"/>
          </p15:clr>
        </p15:guide>
        <p15:guide id="15" pos="3029">
          <p15:clr>
            <a:srgbClr val="A4A3A4"/>
          </p15:clr>
        </p15:guide>
        <p15:guide id="16" pos="3211">
          <p15:clr>
            <a:srgbClr val="A4A3A4"/>
          </p15:clr>
        </p15:guide>
        <p15:guide id="17" pos="4572">
          <p15:clr>
            <a:srgbClr val="A4A3A4"/>
          </p15:clr>
        </p15:guide>
        <p15:guide id="18" pos="384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RVEONE" initials="S" lastIdx="1" clrIdx="0">
    <p:extLst>
      <p:ext uri="{19B8F6BF-5375-455C-9EA6-DF929625EA0E}">
        <p15:presenceInfo xmlns:p15="http://schemas.microsoft.com/office/powerpoint/2012/main" userId="SERVEON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FF"/>
    <a:srgbClr val="0099CC"/>
    <a:srgbClr val="3399FF"/>
    <a:srgbClr val="FF9999"/>
    <a:srgbClr val="FF9966"/>
    <a:srgbClr val="FF6600"/>
    <a:srgbClr val="CCCCCC"/>
    <a:srgbClr val="A50034"/>
    <a:srgbClr val="FFFFFF"/>
    <a:srgbClr val="C500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11" autoAdjust="0"/>
    <p:restoredTop sz="96582" autoAdjust="0"/>
  </p:normalViewPr>
  <p:slideViewPr>
    <p:cSldViewPr>
      <p:cViewPr varScale="1">
        <p:scale>
          <a:sx n="109" d="100"/>
          <a:sy n="109" d="100"/>
        </p:scale>
        <p:origin x="78" y="114"/>
      </p:cViewPr>
      <p:guideLst>
        <p:guide orient="horz" pos="1207"/>
        <p:guide orient="horz" pos="4319"/>
        <p:guide orient="horz" pos="1616"/>
        <p:guide orient="horz" pos="3974"/>
        <p:guide orient="horz" pos="2160"/>
        <p:guide orient="horz" pos="935"/>
        <p:guide orient="horz" pos="2614"/>
        <p:guide pos="3120"/>
        <p:guide pos="126"/>
        <p:guide pos="6114"/>
        <p:guide pos="1669"/>
        <p:guide pos="308"/>
        <p:guide pos="5932"/>
        <p:guide pos="3029"/>
        <p:guide pos="3211"/>
        <p:guide pos="4572"/>
        <p:guide pos="3846"/>
      </p:guideLst>
    </p:cSldViewPr>
  </p:slideViewPr>
  <p:outlineViewPr>
    <p:cViewPr>
      <p:scale>
        <a:sx n="33" d="100"/>
        <a:sy n="33" d="100"/>
      </p:scale>
      <p:origin x="0" y="10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howGuides="1">
      <p:cViewPr varScale="1">
        <p:scale>
          <a:sx n="66" d="100"/>
          <a:sy n="66" d="100"/>
        </p:scale>
        <p:origin x="3264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46275" cy="496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ko-KR" dirty="0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863" y="0"/>
            <a:ext cx="2946275" cy="496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ko-KR" dirty="0"/>
          </a:p>
        </p:txBody>
      </p:sp>
      <p:sp>
        <p:nvSpPr>
          <p:cNvPr id="501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1200" y="744538"/>
            <a:ext cx="537527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501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0383" y="4715832"/>
            <a:ext cx="5436909" cy="44666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01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28272"/>
            <a:ext cx="2946275" cy="496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ko-KR" dirty="0"/>
          </a:p>
        </p:txBody>
      </p:sp>
      <p:sp>
        <p:nvSpPr>
          <p:cNvPr id="501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863" y="9428272"/>
            <a:ext cx="2946275" cy="496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4CAAA1D-F35D-4B17-84EE-4EE23C36AB51}" type="slidenum">
              <a:rPr lang="en-US" altLang="ko-KR"/>
              <a:pPr/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528381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AAA1D-F35D-4B17-84EE-4EE23C36AB51}" type="slidenum">
              <a:rPr lang="en-US" altLang="ko-KR" smtClean="0"/>
              <a:pPr/>
              <a:t>0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765813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[비밀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473018" y="1268760"/>
            <a:ext cx="8915400" cy="562075"/>
          </a:xfrm>
          <a:prstGeom prst="rect">
            <a:avLst/>
          </a:prstGeom>
        </p:spPr>
        <p:txBody>
          <a:bodyPr/>
          <a:lstStyle>
            <a:lvl1pPr algn="ctr">
              <a:defRPr sz="2400" b="1">
                <a:solidFill>
                  <a:schemeClr val="tx1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  <a:cs typeface="Arial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1877577" y="1833461"/>
            <a:ext cx="615084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4"/>
          <p:cNvSpPr>
            <a:spLocks noChangeArrowheads="1"/>
          </p:cNvSpPr>
          <p:nvPr userDrawn="1"/>
        </p:nvSpPr>
        <p:spPr bwMode="auto">
          <a:xfrm>
            <a:off x="8841432" y="248643"/>
            <a:ext cx="808285" cy="300037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kern="0" dirty="0">
                <a:solidFill>
                  <a:srgbClr val="FF0000"/>
                </a:solidFill>
                <a:latin typeface="+mj-ea"/>
                <a:ea typeface="+mj-ea"/>
              </a:rPr>
              <a:t>대외비</a:t>
            </a:r>
            <a:endParaRPr kumimoji="0" lang="en-US" altLang="ko-KR" sz="1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15" name="직사각형 14"/>
          <p:cNvSpPr/>
          <p:nvPr userDrawn="1"/>
        </p:nvSpPr>
        <p:spPr>
          <a:xfrm>
            <a:off x="0" y="6584533"/>
            <a:ext cx="99060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21528" lvl="1" indent="-457200" algn="ctr" defTabSz="1043056" fontAlgn="auto"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Copyright ©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서브원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서브원의 사전 승인 없이 본 내용의 전부 또는 일부에 대한 복사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전재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배포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사용 등을 금합니다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endParaRPr kumimoji="0" lang="ko-KR" altLang="ko-KR" sz="1000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[대외비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473018" y="1268760"/>
            <a:ext cx="8915400" cy="562075"/>
          </a:xfrm>
          <a:prstGeom prst="rect">
            <a:avLst/>
          </a:prstGeom>
        </p:spPr>
        <p:txBody>
          <a:bodyPr/>
          <a:lstStyle>
            <a:lvl1pPr algn="ctr">
              <a:defRPr sz="2400" b="1">
                <a:solidFill>
                  <a:schemeClr val="tx1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  <a:cs typeface="Arial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1877577" y="1833461"/>
            <a:ext cx="615084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4"/>
          <p:cNvSpPr>
            <a:spLocks noChangeArrowheads="1"/>
          </p:cNvSpPr>
          <p:nvPr userDrawn="1"/>
        </p:nvSpPr>
        <p:spPr bwMode="auto">
          <a:xfrm>
            <a:off x="8841432" y="248643"/>
            <a:ext cx="808285" cy="300037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kern="0" dirty="0">
                <a:solidFill>
                  <a:srgbClr val="FF0000"/>
                </a:solidFill>
                <a:latin typeface="+mj-ea"/>
                <a:ea typeface="+mj-ea"/>
              </a:rPr>
              <a:t>대외비</a:t>
            </a:r>
            <a:endParaRPr kumimoji="0" lang="en-US" altLang="ko-KR" sz="1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15" name="직사각형 14"/>
          <p:cNvSpPr/>
          <p:nvPr userDrawn="1"/>
        </p:nvSpPr>
        <p:spPr>
          <a:xfrm>
            <a:off x="0" y="6584533"/>
            <a:ext cx="99060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21528" lvl="1" indent="-457200" algn="ctr" defTabSz="1043056" fontAlgn="auto"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Copyright ©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서브원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서브원의 사전 승인 없이 본 내용의 전부 또는 일부에 대한 복사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전재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배포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사용 등을 금합니다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endParaRPr kumimoji="0" lang="ko-KR" altLang="ko-KR" sz="1000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8672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(with 자동페이지번호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7096" y="79164"/>
            <a:ext cx="5749782" cy="490067"/>
          </a:xfrm>
          <a:prstGeom prst="rect">
            <a:avLst/>
          </a:prstGeom>
        </p:spPr>
        <p:txBody>
          <a:bodyPr anchor="ctr" anchorCtr="0"/>
          <a:lstStyle>
            <a:lvl1pPr algn="l">
              <a:defRPr sz="1600" b="1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13" name="슬라이드 번호 개체 틀 5"/>
          <p:cNvSpPr txBox="1">
            <a:spLocks/>
          </p:cNvSpPr>
          <p:nvPr userDrawn="1"/>
        </p:nvSpPr>
        <p:spPr>
          <a:xfrm>
            <a:off x="3782870" y="6381331"/>
            <a:ext cx="2311400" cy="476251"/>
          </a:xfrm>
          <a:prstGeom prst="rect">
            <a:avLst/>
          </a:prstGeom>
        </p:spPr>
        <p:txBody>
          <a:bodyPr anchor="b"/>
          <a:lstStyle>
            <a:lvl1pPr algn="ctr">
              <a:defRPr sz="1000" b="1">
                <a:solidFill>
                  <a:schemeClr val="tx1"/>
                </a:solidFill>
                <a:latin typeface="Arial" pitchFamily="34" charset="0"/>
                <a:ea typeface="가는둥근제목체" pitchFamily="18" charset="-127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0DDAB4-6EBD-4FE5-A400-982DB9D5976A}" type="slidenum">
              <a:rPr kumimoji="1" lang="en-US" altLang="ko-KR" sz="11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Arial" pitchFamily="34" charset="0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Arial" pitchFamily="34" charset="0"/>
              </a:rPr>
              <a:t> / 14</a:t>
            </a:r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1" hasCustomPrompt="1"/>
          </p:nvPr>
        </p:nvSpPr>
        <p:spPr>
          <a:xfrm>
            <a:off x="344488" y="807992"/>
            <a:ext cx="9072562" cy="604883"/>
          </a:xfrm>
          <a:prstGeom prst="rect">
            <a:avLst/>
          </a:prstGeom>
        </p:spPr>
        <p:txBody>
          <a:bodyPr/>
          <a:lstStyle>
            <a:lvl1pPr marL="0" indent="0" latinLnBrk="0">
              <a:buNone/>
              <a:defRPr kumimoji="1" lang="ko-KR" altLang="en-US" sz="1400" b="1" kern="1200" dirty="0" smtClean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pPr marL="342900" lvl="0" indent="-342900" algn="l" rtl="0" fontAlgn="base" latinLnBrk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dirty="0"/>
              <a:t>Governing Message</a:t>
            </a:r>
            <a:endParaRPr lang="ko-KR" altLang="en-US" dirty="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4270" y="208869"/>
            <a:ext cx="3601098" cy="36036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kumimoji="1" lang="ko-KR" altLang="en-US" sz="1200" b="1" dirty="0" smtClean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Sub-Title</a:t>
            </a:r>
            <a:endParaRPr lang="ko-KR" altLang="en-US" dirty="0"/>
          </a:p>
        </p:txBody>
      </p:sp>
      <p:cxnSp>
        <p:nvCxnSpPr>
          <p:cNvPr id="8" name="직선 연결선 7"/>
          <p:cNvCxnSpPr/>
          <p:nvPr userDrawn="1"/>
        </p:nvCxnSpPr>
        <p:spPr>
          <a:xfrm>
            <a:off x="0" y="620688"/>
            <a:ext cx="990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(with 수동페이지번호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7096" y="79164"/>
            <a:ext cx="5749782" cy="490067"/>
          </a:xfrm>
          <a:prstGeom prst="rect">
            <a:avLst/>
          </a:prstGeom>
        </p:spPr>
        <p:txBody>
          <a:bodyPr anchor="ctr" anchorCtr="0"/>
          <a:lstStyle>
            <a:lvl1pPr algn="l">
              <a:defRPr sz="1600" b="1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1" hasCustomPrompt="1"/>
          </p:nvPr>
        </p:nvSpPr>
        <p:spPr>
          <a:xfrm>
            <a:off x="344488" y="807992"/>
            <a:ext cx="9072562" cy="604883"/>
          </a:xfrm>
          <a:prstGeom prst="rect">
            <a:avLst/>
          </a:prstGeom>
        </p:spPr>
        <p:txBody>
          <a:bodyPr/>
          <a:lstStyle>
            <a:lvl1pPr marL="0" indent="0" latinLnBrk="0">
              <a:buNone/>
              <a:defRPr kumimoji="1" lang="ko-KR" altLang="en-US" sz="1400" b="1" kern="1200" dirty="0" smtClean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pPr marL="342900" lvl="0" indent="-342900" algn="l" rtl="0" fontAlgn="base" latinLnBrk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dirty="0"/>
              <a:t>Governing Message</a:t>
            </a:r>
            <a:endParaRPr lang="ko-KR" altLang="en-US" dirty="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4270" y="208869"/>
            <a:ext cx="3601098" cy="36036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kumimoji="1" lang="ko-KR" altLang="en-US" sz="1200" b="1" dirty="0" smtClean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Sub-Title</a:t>
            </a:r>
            <a:endParaRPr lang="ko-KR" altLang="en-US" dirty="0"/>
          </a:p>
        </p:txBody>
      </p:sp>
      <p:sp>
        <p:nvSpPr>
          <p:cNvPr id="11" name="텍스트 개체 틀 3"/>
          <p:cNvSpPr>
            <a:spLocks noGrp="1"/>
          </p:cNvSpPr>
          <p:nvPr>
            <p:ph type="body" sz="quarter" idx="13" hasCustomPrompt="1"/>
          </p:nvPr>
        </p:nvSpPr>
        <p:spPr>
          <a:xfrm>
            <a:off x="3793928" y="6381328"/>
            <a:ext cx="2311200" cy="475200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000" b="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en-US" altLang="ko-KR" dirty="0"/>
              <a:t>5 / 10</a:t>
            </a:r>
            <a:endParaRPr lang="ko-KR" altLang="en-US" dirty="0"/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0" y="620688"/>
            <a:ext cx="990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9569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(without 페이지번호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7096" y="79164"/>
            <a:ext cx="5749782" cy="490067"/>
          </a:xfrm>
          <a:prstGeom prst="rect">
            <a:avLst/>
          </a:prstGeom>
        </p:spPr>
        <p:txBody>
          <a:bodyPr anchor="ctr" anchorCtr="0"/>
          <a:lstStyle>
            <a:lvl1pPr algn="l">
              <a:defRPr sz="1600" b="1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1" hasCustomPrompt="1"/>
          </p:nvPr>
        </p:nvSpPr>
        <p:spPr>
          <a:xfrm>
            <a:off x="344488" y="807992"/>
            <a:ext cx="9072562" cy="604883"/>
          </a:xfrm>
          <a:prstGeom prst="rect">
            <a:avLst/>
          </a:prstGeom>
        </p:spPr>
        <p:txBody>
          <a:bodyPr/>
          <a:lstStyle>
            <a:lvl1pPr marL="0" indent="0" latinLnBrk="0">
              <a:buNone/>
              <a:defRPr kumimoji="1" lang="ko-KR" altLang="en-US" sz="1400" b="1" kern="1200" dirty="0" smtClean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pPr marL="342900" lvl="0" indent="-342900" algn="l" rtl="0" fontAlgn="base" latinLnBrk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dirty="0"/>
              <a:t>Governing Message</a:t>
            </a:r>
            <a:endParaRPr lang="ko-KR" altLang="en-US" dirty="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4270" y="208869"/>
            <a:ext cx="3601098" cy="36036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kumimoji="1" lang="ko-KR" altLang="en-US" sz="1200" b="1" dirty="0" smtClean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Sub-Title</a:t>
            </a:r>
            <a:endParaRPr lang="ko-KR" altLang="en-US" dirty="0"/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20688"/>
            <a:ext cx="990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9569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(without 페이지번호,Govering Messa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7096" y="79164"/>
            <a:ext cx="5749782" cy="490067"/>
          </a:xfrm>
          <a:prstGeom prst="rect">
            <a:avLst/>
          </a:prstGeom>
        </p:spPr>
        <p:txBody>
          <a:bodyPr anchor="ctr" anchorCtr="0"/>
          <a:lstStyle>
            <a:lvl1pPr algn="l">
              <a:defRPr sz="1600" b="1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4270" y="208869"/>
            <a:ext cx="3601098" cy="36036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kumimoji="1" lang="ko-KR" altLang="en-US" sz="1200" b="1" dirty="0" smtClean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Sub-Title</a:t>
            </a:r>
            <a:endParaRPr lang="ko-KR" altLang="en-US" dirty="0"/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20688"/>
            <a:ext cx="990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2067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6026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474415" y="1911399"/>
            <a:ext cx="4929222" cy="58149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>
              <a:defRPr sz="2800" b="1"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970392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box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852936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 sz="6000" b="0">
                <a:solidFill>
                  <a:srgbClr val="424242"/>
                </a:solidFill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965139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40B1A-2E36-4B64-94B4-17E6F1EE7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6634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0" r:id="rId3"/>
    <p:sldLayoutId id="2147483661" r:id="rId4"/>
    <p:sldLayoutId id="2147483662" r:id="rId5"/>
    <p:sldLayoutId id="2147483666" r:id="rId6"/>
    <p:sldLayoutId id="2147483657" r:id="rId7"/>
    <p:sldLayoutId id="2147483663" r:id="rId8"/>
    <p:sldLayoutId id="2147483664" r:id="rId9"/>
    <p:sldLayoutId id="2147483667" r:id="rId10"/>
  </p:sldLayoutIdLst>
  <p:hf sldNum="0" hdr="0" ftr="0" dt="0"/>
  <p:txStyles>
    <p:titleStyle>
      <a:lvl1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EB395D-ED40-4D8A-BF9A-296673394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306" y="79164"/>
            <a:ext cx="5749782" cy="490067"/>
          </a:xfrm>
        </p:spPr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단체 주방 화재 예방 솔루션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0DA525E-C303-4D78-9AAF-0E857A3E30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1592" y="-1910443"/>
            <a:ext cx="7870916" cy="495934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2C77DA5-5788-40E9-A97A-702B25589B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1592" y="3411415"/>
            <a:ext cx="7870916" cy="4562850"/>
          </a:xfrm>
          <a:prstGeom prst="rect">
            <a:avLst/>
          </a:prstGeom>
        </p:spPr>
      </p:pic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C60BC142-3FA6-4DD4-820D-4B9B54A30C6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61306" y="670445"/>
          <a:ext cx="9001000" cy="73930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2650">
                  <a:extLst>
                    <a:ext uri="{9D8B030D-6E8A-4147-A177-3AD203B41FA5}">
                      <a16:colId xmlns:a16="http://schemas.microsoft.com/office/drawing/2014/main" val="3857424020"/>
                    </a:ext>
                  </a:extLst>
                </a:gridCol>
                <a:gridCol w="7098350">
                  <a:extLst>
                    <a:ext uri="{9D8B030D-6E8A-4147-A177-3AD203B41FA5}">
                      <a16:colId xmlns:a16="http://schemas.microsoft.com/office/drawing/2014/main" val="3334094002"/>
                    </a:ext>
                  </a:extLst>
                </a:gridCol>
              </a:tblGrid>
              <a:tr h="42181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구성요소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내 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2474914"/>
                  </a:ext>
                </a:extLst>
              </a:tr>
              <a:tr h="6383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제 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0000537"/>
                  </a:ext>
                </a:extLst>
              </a:tr>
              <a:tr h="6383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부 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중소형 및 대형 건물에 맞춘 건물관리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IoT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패키지로 고객의 불필요한 비용 낭비 절감 및 품질 향상을 위한 상품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건물주가 자신에게 맞는 상품 서비스를 손쉽게 선택할 수 있는 상품임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1923568"/>
                  </a:ext>
                </a:extLst>
              </a:tr>
              <a:tr h="8089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문제점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공급자 중심으로 구성된 패키지 상품으로 건물에 필요하지 않은 서비스까지 구입하므로 불필요한 비용 지불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사람에 따른 서비스 품질에 차이가 있어 안정적인 건물관리 어려움 발생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전문 건물 관리 인력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전문성이 없어서 필요한 서비스가 무엇인지 알지 못한다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상품별로 구매 방법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계약기간등이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달라 구매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하는대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어려움이 있다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indent="-228600" latinLnBrk="1">
                        <a:buAutoNum type="arabicPeriod"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indent="-2286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서비스 비교 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–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업체 검색 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–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개별 상담 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–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개별 방문 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–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개별 견적 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–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업체별 견적 비교 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–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가격 협상 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–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시공 의 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‘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복잡한 서비스 </a:t>
                      </a:r>
                      <a:r>
                        <a:rPr lang="ko-KR" altLang="en-US" sz="1000" dirty="0" err="1">
                          <a:solidFill>
                            <a:srgbClr val="FF0000"/>
                          </a:solidFill>
                        </a:rPr>
                        <a:t>딜리버리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 프로세스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’</a:t>
                      </a:r>
                    </a:p>
                    <a:p>
                      <a:pPr marL="228600" indent="-2286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지속적인 인건비 상승에 따른 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‘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건물 유지 관리 비용의 지속 증가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’</a:t>
                      </a:r>
                    </a:p>
                    <a:p>
                      <a:pPr marL="228600" indent="-22860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FM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업체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, IoT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개발업체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통신업체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출동보안업체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로봇제조업체 등 서비스 경계가 불분명한 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‘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제품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서비스선택의 비교 어려움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’</a:t>
                      </a:r>
                    </a:p>
                    <a:p>
                      <a:pPr marL="228600" indent="-228600" latinLnBrk="1">
                        <a:buAutoNum type="arabicPeriod"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6790605"/>
                  </a:ext>
                </a:extLst>
              </a:tr>
              <a:tr h="6383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솔루션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에스앤아이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코퍼레이션은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다양하게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퍼져있는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상품들을 고객이 쉽게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찾을수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있게 구성하고 내부에 전문인력을 활용하여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건물 맞춤형 상품을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선택할수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있게 도와주고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AI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기반으로 상품을 구성한 토탈 패키지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FM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 전문가에 의한 철저한 검수를 거친 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‘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안전 솔루션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’</a:t>
                      </a: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단순 제품구매나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 1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회성 설치가 아닌 계약보증기간 동안 안심할 수 있는 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‘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안심 솔루션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’</a:t>
                      </a: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전국 서비스센터를 통한 당일주문 당일설치를 보장하는 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‘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신속 솔루션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’</a:t>
                      </a:r>
                    </a:p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9200932"/>
                  </a:ext>
                </a:extLst>
              </a:tr>
              <a:tr h="6383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내부 관계자의 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해당상품을 기획한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PD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팀은 대형빌딩위주 사업을 추진하다가 중소형 건물관리 진출을 위해 고객 맞춤형 상품 발굴 및 개발을 통한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인력중심의 사업에서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IoT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접목한 서비스 개발을 통해 비용은 절감하고 품질은 향상 시키는 서비스를 출시 하게 되었다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또는 시장을 석권하게 되었다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8199023"/>
                  </a:ext>
                </a:extLst>
              </a:tr>
              <a:tr h="6383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이용방법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에스앤아이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종합 플랫폼을 이용하여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AI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기반 추천과 전문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MD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를 통해 언제든지 서비스를 이용할 수 있고  전국에 있는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에스앤아이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체험관을 통해 서비스를 체험하고 구매할 수 있다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143950"/>
                  </a:ext>
                </a:extLst>
              </a:tr>
              <a:tr h="9533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고객의 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최근 중소형 빌딩을 구매한 홍길동씨는 건물관리 상품이 너무 다양하고 구성이 복잡해서 어떤 상품이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좋은지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알수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없었는대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에스애아이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상품은 쉽게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이해할수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있어 나에게 맞는 상품을 찾기 편했고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에스앤아이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전문가 도움으로 건물에 맞는 상품을 선택할 수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있었따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그래서 비용을 합리적으로 사용했다는 생각이 들었다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합리적인 상품을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구매할수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있어서 너무 좋았다 건물관리 상품이 너무 많고 건물에 맞는 적합한 상품을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에스앤아이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전문가가 추천해줘서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비용 절감 및 최상의 상품을 구매하게 되었음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87103"/>
                  </a:ext>
                </a:extLst>
              </a:tr>
              <a:tr h="6383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마무리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향후 개인 주택 및 아파트 시장을 대상으로 하는 서비스를 준비중에 있다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6633785"/>
                  </a:ext>
                </a:extLst>
              </a:tr>
            </a:tbl>
          </a:graphicData>
        </a:graphic>
      </p:graphicFrame>
      <p:sp>
        <p:nvSpPr>
          <p:cNvPr id="19" name="텍스트 개체 틀 18">
            <a:extLst>
              <a:ext uri="{FF2B5EF4-FFF2-40B4-BE49-F238E27FC236}">
                <a16:creationId xmlns:a16="http://schemas.microsoft.com/office/drawing/2014/main" id="{FD83A5C3-106A-405E-9620-BA690F2515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PR  (5</a:t>
            </a:r>
            <a:r>
              <a:rPr lang="ko-KR" altLang="en-US" dirty="0" err="1"/>
              <a:t>년후의</a:t>
            </a:r>
            <a:r>
              <a:rPr lang="ko-KR" altLang="en-US" dirty="0"/>
              <a:t> 모습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DBBDAF5-515F-4092-9D7D-17832D6BA923}"/>
              </a:ext>
            </a:extLst>
          </p:cNvPr>
          <p:cNvSpPr txBox="1"/>
          <p:nvPr/>
        </p:nvSpPr>
        <p:spPr>
          <a:xfrm>
            <a:off x="848544" y="7305199"/>
            <a:ext cx="8766168" cy="1217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1) 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고객이 필요로 하는 </a:t>
            </a:r>
            <a:r>
              <a:rPr kumimoji="0" lang="ko-KR" altLang="en-US" sz="1463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추천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을 가장 잘 해주는 기업</a:t>
            </a:r>
            <a:endParaRPr kumimoji="0" lang="en-US" altLang="ko-KR" sz="1463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2) FM 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</a:t>
            </a:r>
            <a:r>
              <a:rPr kumimoji="0" lang="ko-KR" altLang="en-US" sz="1463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전문 </a:t>
            </a:r>
            <a:r>
              <a:rPr kumimoji="0" lang="en-US" altLang="ko-KR" sz="1463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MD 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최다 보유 기업</a:t>
            </a:r>
            <a:endParaRPr kumimoji="0" lang="en-US" altLang="ko-KR" sz="1463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3) FM 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서비스 </a:t>
            </a:r>
            <a:r>
              <a:rPr kumimoji="0" lang="ko-KR" altLang="en-US" sz="1463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공급 업체가 가장 선호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하는 협업 파트너</a:t>
            </a:r>
            <a:endParaRPr kumimoji="0" lang="en-US" altLang="ko-KR" sz="1463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4) 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건물관리 상품 외 헬스 케어</a:t>
            </a:r>
            <a: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0" lang="ko-KR" altLang="en-US" sz="1463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모빌리티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등의 상품을 결합한 </a:t>
            </a:r>
            <a:r>
              <a:rPr kumimoji="0" lang="ko-KR" altLang="en-US" sz="1463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종합 패키지</a:t>
            </a:r>
            <a:b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5) 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새로운 상품</a:t>
            </a:r>
            <a: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서비스를 </a:t>
            </a:r>
            <a:r>
              <a:rPr kumimoji="0" lang="ko-KR" altLang="en-US" sz="1463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가장 빠르게 발굴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하고 가장 많은 </a:t>
            </a:r>
            <a: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FM 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상품을 보유한 기업</a:t>
            </a:r>
            <a:endParaRPr kumimoji="0" lang="en-US" altLang="ko-KR" sz="1463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62EF06A-B3F7-413F-BAC4-D6E13FEE4F5B}"/>
              </a:ext>
            </a:extLst>
          </p:cNvPr>
          <p:cNvSpPr/>
          <p:nvPr/>
        </p:nvSpPr>
        <p:spPr>
          <a:xfrm>
            <a:off x="2721529" y="1412776"/>
            <a:ext cx="460695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kern="0" dirty="0" err="1">
                <a:solidFill>
                  <a:prstClr val="black"/>
                </a:solidFill>
                <a:latin typeface="Arial"/>
                <a:ea typeface="나눔고딕"/>
              </a:rPr>
              <a:t>에스앤아이</a:t>
            </a:r>
            <a:r>
              <a:rPr kumimoji="0" lang="ko-KR" altLang="en-US" sz="1200" b="1" kern="0" dirty="0">
                <a:solidFill>
                  <a:prstClr val="black"/>
                </a:solidFill>
                <a:latin typeface="Arial"/>
                <a:ea typeface="나눔고딕"/>
              </a:rPr>
              <a:t> </a:t>
            </a:r>
            <a:r>
              <a:rPr kumimoji="0" lang="ko-KR" altLang="en-US" sz="1200" b="1" kern="0" dirty="0" err="1">
                <a:solidFill>
                  <a:prstClr val="black"/>
                </a:solidFill>
                <a:latin typeface="Arial"/>
                <a:ea typeface="나눔고딕"/>
              </a:rPr>
              <a:t>코퍼레이션</a:t>
            </a:r>
            <a:r>
              <a:rPr kumimoji="0" lang="ko-KR" altLang="en-US" sz="1200" b="1" kern="0" dirty="0">
                <a:solidFill>
                  <a:prstClr val="black"/>
                </a:solidFill>
                <a:latin typeface="Arial"/>
                <a:ea typeface="나눔고딕"/>
              </a:rPr>
              <a:t> 중소형 건물관리 시장 석권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89137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EB395D-ED40-4D8A-BF9A-296673394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306" y="79164"/>
            <a:ext cx="5749782" cy="490067"/>
          </a:xfrm>
        </p:spPr>
        <p:txBody>
          <a:bodyPr/>
          <a:lstStyle/>
          <a:p>
            <a:r>
              <a:rPr lang="en-US" altLang="ko-KR" dirty="0"/>
              <a:t>FAQ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D95A13-D466-4BE6-8A6F-DA22EBF0B8A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C38DB51-6B43-4D0B-A497-974C0D55D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9464" y="698936"/>
            <a:ext cx="4948138" cy="3303405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72115869-BA6F-404B-8537-7A6D6D47590E}"/>
              </a:ext>
            </a:extLst>
          </p:cNvPr>
          <p:cNvSpPr/>
          <p:nvPr/>
        </p:nvSpPr>
        <p:spPr>
          <a:xfrm>
            <a:off x="128464" y="695937"/>
            <a:ext cx="648072" cy="2963819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ko-KR" altLang="en-US" sz="1100" dirty="0">
                <a:solidFill>
                  <a:schemeClr val="tx1"/>
                </a:solidFill>
                <a:latin typeface="+mn-ea"/>
                <a:cs typeface="Arial" pitchFamily="34" charset="0"/>
              </a:rPr>
              <a:t>내부 </a:t>
            </a:r>
            <a:r>
              <a:rPr lang="en-US" altLang="ko-KR" sz="1100" dirty="0">
                <a:solidFill>
                  <a:schemeClr val="tx1"/>
                </a:solidFill>
                <a:latin typeface="+mn-ea"/>
                <a:cs typeface="Arial" pitchFamily="34" charset="0"/>
              </a:rPr>
              <a:t>FAQ</a:t>
            </a:r>
            <a:endParaRPr lang="ko-KR" altLang="en-US" sz="11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20D2F47-BE38-4CCD-A3A1-AD4105D0C1ED}"/>
              </a:ext>
            </a:extLst>
          </p:cNvPr>
          <p:cNvSpPr/>
          <p:nvPr/>
        </p:nvSpPr>
        <p:spPr>
          <a:xfrm>
            <a:off x="128464" y="3792787"/>
            <a:ext cx="648072" cy="2963819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ko-KR" altLang="en-US" sz="1100" dirty="0">
                <a:solidFill>
                  <a:schemeClr val="tx1"/>
                </a:solidFill>
                <a:latin typeface="+mn-ea"/>
                <a:cs typeface="Arial" pitchFamily="34" charset="0"/>
              </a:rPr>
              <a:t>외부 </a:t>
            </a:r>
            <a:r>
              <a:rPr lang="en-US" altLang="ko-KR" sz="1100" dirty="0">
                <a:solidFill>
                  <a:schemeClr val="tx1"/>
                </a:solidFill>
                <a:latin typeface="+mn-ea"/>
                <a:cs typeface="Arial" pitchFamily="34" charset="0"/>
              </a:rPr>
              <a:t>FAQ (</a:t>
            </a:r>
            <a:r>
              <a:rPr lang="ko-KR" altLang="en-US" sz="1100" dirty="0">
                <a:solidFill>
                  <a:schemeClr val="tx1"/>
                </a:solidFill>
                <a:latin typeface="+mn-ea"/>
                <a:cs typeface="Arial" pitchFamily="34" charset="0"/>
              </a:rPr>
              <a:t>고객관점</a:t>
            </a:r>
            <a:r>
              <a:rPr lang="en-US" altLang="ko-KR" sz="1100" dirty="0">
                <a:solidFill>
                  <a:schemeClr val="tx1"/>
                </a:solidFill>
                <a:latin typeface="+mn-ea"/>
                <a:cs typeface="Arial" pitchFamily="34" charset="0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A9B4CA7-D179-4D71-9423-B7E26110C984}"/>
              </a:ext>
            </a:extLst>
          </p:cNvPr>
          <p:cNvSpPr/>
          <p:nvPr/>
        </p:nvSpPr>
        <p:spPr>
          <a:xfrm>
            <a:off x="858704" y="695937"/>
            <a:ext cx="8918832" cy="280075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Q. 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운영시기는 언제로 할 것인가</a:t>
            </a:r>
            <a:endParaRPr lang="en-US" altLang="ko-KR" sz="1000" dirty="0">
              <a:solidFill>
                <a:srgbClr val="0070C0"/>
              </a:solidFill>
              <a:latin typeface="+mn-ea"/>
              <a:cs typeface="Arial" pitchFamily="34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A. 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Q. 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판매방식은 어떻게 할 것인가</a:t>
            </a:r>
            <a:endParaRPr lang="en-US" altLang="ko-KR" sz="1000" dirty="0">
              <a:solidFill>
                <a:srgbClr val="0070C0"/>
              </a:solidFill>
              <a:latin typeface="+mn-ea"/>
              <a:cs typeface="Arial" pitchFamily="34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A. 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Q. 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서비스 제공 방식은 무엇입니까</a:t>
            </a:r>
            <a:endParaRPr lang="en-US" altLang="ko-KR" sz="1000" dirty="0">
              <a:solidFill>
                <a:srgbClr val="0070C0"/>
              </a:solidFill>
              <a:latin typeface="+mn-ea"/>
              <a:cs typeface="Arial" pitchFamily="34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A. 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Q. 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비용절감 및 품질향상 방안은 무엇입니까</a:t>
            </a:r>
            <a:endParaRPr lang="en-US" altLang="ko-KR" sz="1000" dirty="0">
              <a:solidFill>
                <a:srgbClr val="0070C0"/>
              </a:solidFill>
              <a:latin typeface="+mn-ea"/>
              <a:cs typeface="Arial" pitchFamily="34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A. 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Q. AI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는 어떻게 활용할 수 있나요</a:t>
            </a:r>
            <a:endParaRPr lang="en-US" altLang="ko-KR" sz="1000" dirty="0">
              <a:solidFill>
                <a:srgbClr val="0070C0"/>
              </a:solidFill>
              <a:latin typeface="+mn-ea"/>
              <a:cs typeface="Arial" pitchFamily="34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A. 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AD4CEEE-0350-4C89-A52E-928F3AF3AA19}"/>
              </a:ext>
            </a:extLst>
          </p:cNvPr>
          <p:cNvSpPr/>
          <p:nvPr/>
        </p:nvSpPr>
        <p:spPr>
          <a:xfrm>
            <a:off x="858704" y="3717032"/>
            <a:ext cx="8918832" cy="280075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Q. 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왜 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S&amp;I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에서 구매해야 하나요</a:t>
            </a:r>
            <a:endParaRPr lang="en-US" altLang="ko-KR" sz="1000" dirty="0">
              <a:solidFill>
                <a:srgbClr val="0070C0"/>
              </a:solidFill>
              <a:latin typeface="+mn-ea"/>
              <a:cs typeface="Arial" pitchFamily="34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A. 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Q. 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품질보증 기간은 어떻게 되나요</a:t>
            </a:r>
            <a:endParaRPr lang="en-US" altLang="ko-KR" sz="1000" dirty="0">
              <a:solidFill>
                <a:srgbClr val="0070C0"/>
              </a:solidFill>
              <a:latin typeface="+mn-ea"/>
              <a:cs typeface="Arial" pitchFamily="34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A. 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Q. 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패키지 서비스 중에서 내가 원하는 </a:t>
            </a:r>
            <a:r>
              <a:rPr lang="ko-KR" altLang="en-US" sz="1000" dirty="0" err="1">
                <a:solidFill>
                  <a:srgbClr val="0070C0"/>
                </a:solidFill>
                <a:latin typeface="+mn-ea"/>
                <a:cs typeface="Arial" pitchFamily="34" charset="0"/>
              </a:rPr>
              <a:t>것만도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 구매 가능한가요</a:t>
            </a:r>
            <a:endParaRPr lang="en-US" altLang="ko-KR" sz="1000" dirty="0">
              <a:solidFill>
                <a:srgbClr val="0070C0"/>
              </a:solidFill>
              <a:latin typeface="+mn-ea"/>
              <a:cs typeface="Arial" pitchFamily="34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A. 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Q. 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내가 원하는 서비스가 없습니다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. 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A. 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Q. AI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는 어떻게 활용할 수 있나요</a:t>
            </a:r>
            <a:endParaRPr lang="en-US" altLang="ko-KR" sz="1000" dirty="0">
              <a:solidFill>
                <a:srgbClr val="0070C0"/>
              </a:solidFill>
              <a:latin typeface="+mn-ea"/>
              <a:cs typeface="Arial" pitchFamily="34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A. </a:t>
            </a:r>
          </a:p>
        </p:txBody>
      </p:sp>
    </p:spTree>
    <p:extLst>
      <p:ext uri="{BB962C8B-B14F-4D97-AF65-F5344CB8AC3E}">
        <p14:creationId xmlns:p14="http://schemas.microsoft.com/office/powerpoint/2010/main" val="3799736126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서비스개발팀">
      <a:majorFont>
        <a:latin typeface="LG스마트체 Regular"/>
        <a:ea typeface="LG스마트체 Regular"/>
        <a:cs typeface=""/>
      </a:majorFont>
      <a:minorFont>
        <a:latin typeface="LG스마트체 Regular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6350">
          <a:solidFill>
            <a:schemeClr val="tx1">
              <a:lumMod val="50000"/>
              <a:lumOff val="50000"/>
            </a:schemeClr>
          </a:solidFill>
        </a:ln>
      </a:spPr>
      <a:bodyPr rtlCol="0" anchor="ctr"/>
      <a:lstStyle>
        <a:defPPr>
          <a:lnSpc>
            <a:spcPct val="120000"/>
          </a:lnSpc>
          <a:spcBef>
            <a:spcPts val="600"/>
          </a:spcBef>
          <a:defRPr sz="1100" dirty="0" smtClean="0">
            <a:solidFill>
              <a:schemeClr val="tx1"/>
            </a:solidFill>
            <a:latin typeface="+mn-ea"/>
            <a:cs typeface="Arial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latinLnBrk="0">
          <a:lnSpc>
            <a:spcPct val="120000"/>
          </a:lnSpc>
          <a:spcBef>
            <a:spcPts val="600"/>
          </a:spcBef>
          <a:defRPr sz="1200" dirty="0" smtClean="0">
            <a:latin typeface="+mn-lt"/>
            <a:ea typeface="+mn-ea"/>
            <a:cs typeface="Arial" pitchFamily="34" charset="0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29607</TotalTime>
  <Words>537</Words>
  <Application>Microsoft Office PowerPoint</Application>
  <PresentationFormat>A4 용지(210x297mm)</PresentationFormat>
  <Paragraphs>67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9" baseType="lpstr">
      <vt:lpstr>LG스마트체 Regular</vt:lpstr>
      <vt:lpstr>LG스마트체 SemiBold</vt:lpstr>
      <vt:lpstr>굴림</vt:lpstr>
      <vt:lpstr>나눔고딕</vt:lpstr>
      <vt:lpstr>맑은 고딕</vt:lpstr>
      <vt:lpstr>Arial</vt:lpstr>
      <vt:lpstr>기본 디자인</vt:lpstr>
      <vt:lpstr>(단체 주방 화재 예방 솔루션)</vt:lpstr>
      <vt:lpstr>FAQ</vt:lpstr>
    </vt:vector>
  </TitlesOfParts>
  <Manager>류창우</Manager>
  <Company>SERVEONE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Template - 기본</dc:title>
  <dc:creator>외부사업담당</dc:creator>
  <cp:lastModifiedBy>Ucjh</cp:lastModifiedBy>
  <cp:revision>2632</cp:revision>
  <cp:lastPrinted>2017-07-06T08:43:05Z</cp:lastPrinted>
  <dcterms:created xsi:type="dcterms:W3CDTF">2010-05-06T04:51:51Z</dcterms:created>
  <dcterms:modified xsi:type="dcterms:W3CDTF">2022-10-31T05:03:00Z</dcterms:modified>
</cp:coreProperties>
</file>