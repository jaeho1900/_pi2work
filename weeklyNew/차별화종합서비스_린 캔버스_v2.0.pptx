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  <p:sldMasterId id="2147483668" r:id="rId2"/>
  </p:sldMasterIdLst>
  <p:notesMasterIdLst>
    <p:notesMasterId r:id="rId8"/>
  </p:notesMasterIdLst>
  <p:sldIdLst>
    <p:sldId id="627" r:id="rId3"/>
    <p:sldId id="628" r:id="rId4"/>
    <p:sldId id="626" r:id="rId5"/>
    <p:sldId id="618" r:id="rId6"/>
    <p:sldId id="268" r:id="rId7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7">
          <p15:clr>
            <a:srgbClr val="A4A3A4"/>
          </p15:clr>
        </p15:guide>
        <p15:guide id="2" orient="horz" pos="4319">
          <p15:clr>
            <a:srgbClr val="A4A3A4"/>
          </p15:clr>
        </p15:guide>
        <p15:guide id="3" orient="horz" pos="1616" userDrawn="1">
          <p15:clr>
            <a:srgbClr val="A4A3A4"/>
          </p15:clr>
        </p15:guide>
        <p15:guide id="4" orient="horz" pos="3974">
          <p15:clr>
            <a:srgbClr val="A4A3A4"/>
          </p15:clr>
        </p15:guide>
        <p15:guide id="5" orient="horz" pos="2160">
          <p15:clr>
            <a:srgbClr val="A4A3A4"/>
          </p15:clr>
        </p15:guide>
        <p15:guide id="6" orient="horz" pos="935">
          <p15:clr>
            <a:srgbClr val="A4A3A4"/>
          </p15:clr>
        </p15:guide>
        <p15:guide id="8" orient="horz" pos="2614">
          <p15:clr>
            <a:srgbClr val="A4A3A4"/>
          </p15:clr>
        </p15:guide>
        <p15:guide id="9" pos="3120">
          <p15:clr>
            <a:srgbClr val="A4A3A4"/>
          </p15:clr>
        </p15:guide>
        <p15:guide id="10" pos="126">
          <p15:clr>
            <a:srgbClr val="A4A3A4"/>
          </p15:clr>
        </p15:guide>
        <p15:guide id="11" pos="6114">
          <p15:clr>
            <a:srgbClr val="A4A3A4"/>
          </p15:clr>
        </p15:guide>
        <p15:guide id="12" pos="1669">
          <p15:clr>
            <a:srgbClr val="A4A3A4"/>
          </p15:clr>
        </p15:guide>
        <p15:guide id="13" pos="308">
          <p15:clr>
            <a:srgbClr val="A4A3A4"/>
          </p15:clr>
        </p15:guide>
        <p15:guide id="14" pos="5932">
          <p15:clr>
            <a:srgbClr val="A4A3A4"/>
          </p15:clr>
        </p15:guide>
        <p15:guide id="15" pos="3029">
          <p15:clr>
            <a:srgbClr val="A4A3A4"/>
          </p15:clr>
        </p15:guide>
        <p15:guide id="16" pos="3211">
          <p15:clr>
            <a:srgbClr val="A4A3A4"/>
          </p15:clr>
        </p15:guide>
        <p15:guide id="17" pos="4572">
          <p15:clr>
            <a:srgbClr val="A4A3A4"/>
          </p15:clr>
        </p15:guide>
        <p15:guide id="18" pos="384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VEONE" initials="S" lastIdx="1" clrIdx="0">
    <p:extLst>
      <p:ext uri="{19B8F6BF-5375-455C-9EA6-DF929625EA0E}">
        <p15:presenceInfo xmlns:p15="http://schemas.microsoft.com/office/powerpoint/2012/main" userId="SERVEO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0099CC"/>
    <a:srgbClr val="FF9966"/>
    <a:srgbClr val="CCCCCC"/>
    <a:srgbClr val="3399FF"/>
    <a:srgbClr val="FF9999"/>
    <a:srgbClr val="FF6600"/>
    <a:srgbClr val="A50034"/>
    <a:srgbClr val="FFFFFF"/>
    <a:srgbClr val="C500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11" autoAdjust="0"/>
    <p:restoredTop sz="96582" autoAdjust="0"/>
  </p:normalViewPr>
  <p:slideViewPr>
    <p:cSldViewPr>
      <p:cViewPr varScale="1">
        <p:scale>
          <a:sx n="120" d="100"/>
          <a:sy n="120" d="100"/>
        </p:scale>
        <p:origin x="84" y="84"/>
      </p:cViewPr>
      <p:guideLst>
        <p:guide orient="horz" pos="1207"/>
        <p:guide orient="horz" pos="4319"/>
        <p:guide orient="horz" pos="1616"/>
        <p:guide orient="horz" pos="3974"/>
        <p:guide orient="horz" pos="2160"/>
        <p:guide orient="horz" pos="935"/>
        <p:guide orient="horz" pos="2614"/>
        <p:guide pos="3120"/>
        <p:guide pos="126"/>
        <p:guide pos="6114"/>
        <p:guide pos="1669"/>
        <p:guide pos="308"/>
        <p:guide pos="5932"/>
        <p:guide pos="3029"/>
        <p:guide pos="3211"/>
        <p:guide pos="4572"/>
        <p:guide pos="3846"/>
      </p:guideLst>
    </p:cSldViewPr>
  </p:slideViewPr>
  <p:outlineViewPr>
    <p:cViewPr>
      <p:scale>
        <a:sx n="33" d="100"/>
        <a:sy n="33" d="100"/>
      </p:scale>
      <p:origin x="0" y="10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326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863" y="0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ko-KR" dirty="0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527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383" y="4715832"/>
            <a:ext cx="5436909" cy="4466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272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 dirty="0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863" y="9428272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4CAAA1D-F35D-4B17-84EE-4EE23C36AB51}" type="slidenum">
              <a:rPr lang="en-US" altLang="ko-KR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52838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0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66468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[비밀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473018" y="1268760"/>
            <a:ext cx="8915400" cy="562075"/>
          </a:xfrm>
          <a:prstGeom prst="rect">
            <a:avLst/>
          </a:prstGeom>
        </p:spPr>
        <p:txBody>
          <a:bodyPr/>
          <a:lstStyle>
            <a:lvl1pPr algn="ctr">
              <a:defRPr sz="2400" b="1">
                <a:solidFill>
                  <a:schemeClr val="tx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1877577" y="1833461"/>
            <a:ext cx="61508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4"/>
          <p:cNvSpPr>
            <a:spLocks noChangeArrowheads="1"/>
          </p:cNvSpPr>
          <p:nvPr userDrawn="1"/>
        </p:nvSpPr>
        <p:spPr bwMode="auto">
          <a:xfrm>
            <a:off x="8841432" y="248643"/>
            <a:ext cx="808285" cy="300037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kern="0" dirty="0">
                <a:solidFill>
                  <a:srgbClr val="FF0000"/>
                </a:solidFill>
                <a:latin typeface="+mj-ea"/>
                <a:ea typeface="+mj-ea"/>
              </a:rPr>
              <a:t>대외비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0" y="6584533"/>
            <a:ext cx="9906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21528" lvl="1" indent="-457200" algn="ctr" defTabSz="1043056" fontAlgn="auto"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Copyright ©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서브원의 사전 승인 없이 본 내용의 전부 또는 일부에 대한 복사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등을 금합니다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kumimoji="0" lang="ko-KR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[대외비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473018" y="1268760"/>
            <a:ext cx="8915400" cy="562075"/>
          </a:xfrm>
          <a:prstGeom prst="rect">
            <a:avLst/>
          </a:prstGeom>
        </p:spPr>
        <p:txBody>
          <a:bodyPr/>
          <a:lstStyle>
            <a:lvl1pPr algn="ctr">
              <a:defRPr sz="2400" b="1">
                <a:solidFill>
                  <a:schemeClr val="tx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1877577" y="1833461"/>
            <a:ext cx="61508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4"/>
          <p:cNvSpPr>
            <a:spLocks noChangeArrowheads="1"/>
          </p:cNvSpPr>
          <p:nvPr userDrawn="1"/>
        </p:nvSpPr>
        <p:spPr bwMode="auto">
          <a:xfrm>
            <a:off x="8841432" y="248643"/>
            <a:ext cx="808285" cy="300037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kern="0" dirty="0">
                <a:solidFill>
                  <a:srgbClr val="FF0000"/>
                </a:solidFill>
                <a:latin typeface="+mj-ea"/>
                <a:ea typeface="+mj-ea"/>
              </a:rPr>
              <a:t>대외비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0" y="6584533"/>
            <a:ext cx="9906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21528" lvl="1" indent="-457200" algn="ctr" defTabSz="1043056" fontAlgn="auto"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Copyright ©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서브원의 사전 승인 없이 본 내용의 전부 또는 일부에 대한 복사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등을 금합니다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kumimoji="0" lang="ko-KR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672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 자동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3" name="슬라이드 번호 개체 틀 5"/>
          <p:cNvSpPr txBox="1">
            <a:spLocks/>
          </p:cNvSpPr>
          <p:nvPr userDrawn="1"/>
        </p:nvSpPr>
        <p:spPr>
          <a:xfrm>
            <a:off x="3782870" y="6381331"/>
            <a:ext cx="2311400" cy="476251"/>
          </a:xfrm>
          <a:prstGeom prst="rect">
            <a:avLst/>
          </a:prstGeom>
        </p:spPr>
        <p:txBody>
          <a:bodyPr anchor="b"/>
          <a:lstStyle>
            <a:lvl1pPr algn="ctr">
              <a:defRPr sz="1000" b="1">
                <a:solidFill>
                  <a:schemeClr val="tx1"/>
                </a:solidFill>
                <a:latin typeface="Arial" pitchFamily="34" charset="0"/>
                <a:ea typeface="가는둥근제목체" pitchFamily="18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0DDAB4-6EBD-4FE5-A400-982DB9D5976A}" type="slidenum">
              <a:rPr kumimoji="1" lang="en-US" altLang="ko-KR" sz="11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Arial" pitchFamily="34" charset="0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 pitchFamily="34" charset="0"/>
              </a:rPr>
              <a:t> / 14</a:t>
            </a:r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 수동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sp>
        <p:nvSpPr>
          <p:cNvPr id="11" name="텍스트 개체 틀 3"/>
          <p:cNvSpPr>
            <a:spLocks noGrp="1"/>
          </p:cNvSpPr>
          <p:nvPr>
            <p:ph type="body" sz="quarter" idx="13" hasCustomPrompt="1"/>
          </p:nvPr>
        </p:nvSpPr>
        <p:spPr>
          <a:xfrm>
            <a:off x="3793928" y="6381328"/>
            <a:ext cx="2311200" cy="4752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000" b="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5 / 10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569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out 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56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out 페이지번호,Govering Mess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067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602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74415" y="1911399"/>
            <a:ext cx="4929222" cy="5814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>
              <a:defRPr sz="2800" b="1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70392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852936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 sz="6000" b="0">
                <a:solidFill>
                  <a:srgbClr val="424242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65139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40B1A-2E36-4B64-94B4-17E6F1EE7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634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5268FA-5A0C-44B1-AF8B-9AFC21436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0A281A5-27CB-4DFF-8C36-4D5E5AAE5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09F7E9-9C43-4406-9CE3-F6E706143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2B30-093D-4E8A-866B-51AF540DB0FE}" type="datetimeFigureOut">
              <a:rPr lang="ko-KR" altLang="en-US" smtClean="0"/>
              <a:t>2022-10-11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28A854-A3D5-4D99-9F36-80249A7BB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5F000E-14AA-4F6B-9963-577947BD0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23652-3F05-4BA4-8DA9-7DC8BDD9FC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597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7BFE4C-11EE-4F48-ABA9-38FEDCE11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34637C-61B7-4BD9-BAF9-ED0A6D457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F45D78-3902-4415-A5A7-E21D87923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2B30-093D-4E8A-866B-51AF540DB0FE}" type="datetimeFigureOut">
              <a:rPr lang="ko-KR" altLang="en-US" smtClean="0"/>
              <a:t>2022-10-11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A7764D-6F15-43D0-9C34-2C4740527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D2643E-F9CE-40DB-80A3-268A12C31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23652-3F05-4BA4-8DA9-7DC8BDD9FC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901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35738A-C9D2-421F-B68F-A70133F22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8707E8-6535-48EA-8AAC-3FC0421A2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CD5727-F024-44E9-BB98-3D8391614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2B30-093D-4E8A-866B-51AF540DB0FE}" type="datetimeFigureOut">
              <a:rPr lang="ko-KR" altLang="en-US" smtClean="0"/>
              <a:t>2022-10-11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3B82D0-6935-4635-B090-F161A5755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8B767A-8957-4DF3-BD19-777283960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23652-3F05-4BA4-8DA9-7DC8BDD9FC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4872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3E7922-A9EB-40C5-9150-E77E7DB1C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774297-3CC2-436D-BC50-84A14CA92A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155E7F-E0EE-4AC2-BDA9-1D8F8EB7B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74C817-A0E8-42C7-B325-C8EECA954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2B30-093D-4E8A-866B-51AF540DB0FE}" type="datetimeFigureOut">
              <a:rPr lang="ko-KR" altLang="en-US" smtClean="0"/>
              <a:t>2022-10-11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9FD873-0C84-4825-A445-CCD187F67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70C739-70E8-4101-A23A-136108CD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23652-3F05-4BA4-8DA9-7DC8BDD9FC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468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42C78A-FA7A-4E55-9687-59C5CF4D0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ABF5F8-E323-4353-9A20-2D0FF1C40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BF17D6-7D2B-4992-AFB9-4C9F531CB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35264D-1466-4F9D-A9AF-A4BDE9D7C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FDEEE79-C8F8-4847-8901-4155F01E97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7FBE930-33F4-4BD7-873A-5007B2325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2B30-093D-4E8A-866B-51AF540DB0FE}" type="datetimeFigureOut">
              <a:rPr lang="ko-KR" altLang="en-US" smtClean="0"/>
              <a:t>2022-10-11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202BAD2-8CF5-4B11-A586-C9010D67B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4938D90-9B5C-4007-B065-3C18B32FB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23652-3F05-4BA4-8DA9-7DC8BDD9FC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2817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02CDFB-28FD-45C9-916C-3CF95C207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20DCED-CF82-434C-8CE1-A50727425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2B30-093D-4E8A-866B-51AF540DB0FE}" type="datetimeFigureOut">
              <a:rPr lang="ko-KR" altLang="en-US" smtClean="0"/>
              <a:t>2022-10-11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760406-C783-47BA-9545-B11B19E1C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263BB0-9F1E-480C-91C6-EC2D11658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23652-3F05-4BA4-8DA9-7DC8BDD9FC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364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D62DD4D-AE33-42FB-805E-D6FCE1E09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2B30-093D-4E8A-866B-51AF540DB0FE}" type="datetimeFigureOut">
              <a:rPr lang="ko-KR" altLang="en-US" smtClean="0"/>
              <a:t>2022-10-11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022D86C-0655-42EF-9230-F5A15D4D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006DC1-9A16-46A2-B05A-7796B8B99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23652-3F05-4BA4-8DA9-7DC8BDD9FC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859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92C350-C78E-4F03-B46C-62203871D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1B2780-A903-457A-A62C-806EF33D3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64B85E-A845-4886-9F4D-AAD199C65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9088D5-8E35-4F1E-93A2-D5B087223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2B30-093D-4E8A-866B-51AF540DB0FE}" type="datetimeFigureOut">
              <a:rPr lang="ko-KR" altLang="en-US" smtClean="0"/>
              <a:t>2022-10-11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1E5AF5-5768-4D0E-B820-FCB789F6E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4405C8-891C-4BC9-8E89-3DEA9ABAB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23652-3F05-4BA4-8DA9-7DC8BDD9FC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0136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17AEB8-D101-46EE-8DB3-337E9559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7A643A-BC73-4E22-9090-9F040E74A8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BE51A2E-217D-4AF7-8A96-21382E234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9B113B-0BA1-4199-9B4D-D7A33A226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2B30-093D-4E8A-866B-51AF540DB0FE}" type="datetimeFigureOut">
              <a:rPr lang="ko-KR" altLang="en-US" smtClean="0"/>
              <a:t>2022-10-11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250DC9-1D80-41F5-A785-6821E46E1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99251F-C60C-4F2A-9E5E-C41A009D0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23652-3F05-4BA4-8DA9-7DC8BDD9FC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784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CE5F15-5542-4319-8759-83A92C7FD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35FCD1-839F-4832-A00D-BB759D33B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0A04C7-1BA0-444B-926E-91AB2A72F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2B30-093D-4E8A-866B-51AF540DB0FE}" type="datetimeFigureOut">
              <a:rPr lang="ko-KR" altLang="en-US" smtClean="0"/>
              <a:t>2022-10-11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FF68BC-C85A-4964-848D-E787EEFE8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8ACE68-9E4C-4C99-93F0-5210E278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23652-3F05-4BA4-8DA9-7DC8BDD9FC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0226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01AA9EC-38DB-449B-A5C1-F0792F8FEF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539B65-09DE-4C25-8C8E-28D75799B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80987B-AB65-444E-877F-5BEF7D17B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2B30-093D-4E8A-866B-51AF540DB0FE}" type="datetimeFigureOut">
              <a:rPr lang="ko-KR" altLang="en-US" smtClean="0"/>
              <a:t>2022-10-11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D29351-BEFC-4EC5-8E90-2A3C2D4EA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625C14-A8C6-47A8-9FFF-F9E618C88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23652-3F05-4BA4-8DA9-7DC8BDD9FC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716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0" r:id="rId3"/>
    <p:sldLayoutId id="2147483661" r:id="rId4"/>
    <p:sldLayoutId id="2147483662" r:id="rId5"/>
    <p:sldLayoutId id="2147483666" r:id="rId6"/>
    <p:sldLayoutId id="2147483657" r:id="rId7"/>
    <p:sldLayoutId id="2147483663" r:id="rId8"/>
    <p:sldLayoutId id="2147483664" r:id="rId9"/>
    <p:sldLayoutId id="2147483667" r:id="rId10"/>
  </p:sldLayoutIdLst>
  <p:hf sldNum="0" hdr="0" ft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08F6C2-4D5F-4EEE-B8F2-E4D7646E0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A99B0C-03EA-45A6-9507-E74CAF34D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7129FC-3EF7-42A1-BC79-CA9749F571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42B30-093D-4E8A-866B-51AF540DB0FE}" type="datetimeFigureOut">
              <a:rPr lang="ko-KR" altLang="en-US" smtClean="0"/>
              <a:t>2022-10-11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B31499-E663-4B8F-8986-0C35DAD941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E28A00-B09A-4B22-B4BD-8BEB19D37F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23652-3F05-4BA4-8DA9-7DC8BDD9FC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164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742950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1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B395D-ED40-4D8A-BF9A-296673394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06" y="79164"/>
            <a:ext cx="5749782" cy="490067"/>
          </a:xfrm>
        </p:spPr>
        <p:txBody>
          <a:bodyPr/>
          <a:lstStyle/>
          <a:p>
            <a:r>
              <a:rPr lang="en-US" altLang="ko-KR" dirty="0"/>
              <a:t>PR  (5</a:t>
            </a:r>
            <a:r>
              <a:rPr lang="ko-KR" altLang="en-US" dirty="0" err="1"/>
              <a:t>년후의</a:t>
            </a:r>
            <a:r>
              <a:rPr lang="ko-KR" altLang="en-US" dirty="0"/>
              <a:t> 모습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C60BC142-3FA6-4DD4-820D-4B9B54A30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399391"/>
              </p:ext>
            </p:extLst>
          </p:nvPr>
        </p:nvGraphicFramePr>
        <p:xfrm>
          <a:off x="561306" y="836711"/>
          <a:ext cx="9001000" cy="11596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358">
                  <a:extLst>
                    <a:ext uri="{9D8B030D-6E8A-4147-A177-3AD203B41FA5}">
                      <a16:colId xmlns:a16="http://schemas.microsoft.com/office/drawing/2014/main" val="3857424020"/>
                    </a:ext>
                  </a:extLst>
                </a:gridCol>
                <a:gridCol w="7633642">
                  <a:extLst>
                    <a:ext uri="{9D8B030D-6E8A-4147-A177-3AD203B41FA5}">
                      <a16:colId xmlns:a16="http://schemas.microsoft.com/office/drawing/2014/main" val="3334094002"/>
                    </a:ext>
                  </a:extLst>
                </a:gridCol>
              </a:tblGrid>
              <a:tr h="317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구성요소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474914"/>
                  </a:ext>
                </a:extLst>
              </a:tr>
              <a:tr h="4804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제 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000537"/>
                  </a:ext>
                </a:extLst>
              </a:tr>
              <a:tr h="4804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부 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중소형 및 대형건물에 맞춘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FM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건물관리는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IT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기반과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FM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부가서비를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접목한 상품 패키지로 고객의 불필요한 비용 낭비 절감과 품질 향상을 위한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FM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상품을 건물소유주 및 입주사가 자신에게 맞는 상품 서비스를 손쉽게 선택할 수 있는 상품이다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923568"/>
                  </a:ext>
                </a:extLst>
              </a:tr>
              <a:tr h="9787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문제점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중소형 건물 소유자는 건물관리에 대한 전문 지식이 부족해 판매자 중심의 패키지 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FM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상품을 </a:t>
                      </a:r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구매함으로서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 건물에 필요하지 않은 서비스까지 구입하면서 불필요한 비용을 </a:t>
                      </a:r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지출하게되었다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. 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또한 서비스 제공인력과 협력사 수준에 따라 품질에 차이가 발생하여 안정적인 건물관리에 어려움이 발생하였다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예를 들어 중소형 건물 소유자는 저비용의 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FM 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업체만 </a:t>
                      </a:r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찾게되면서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품질이 낮아지고 입주사의 미화청결과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냉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난방 </a:t>
                      </a:r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장애등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 실내 쾌적성에 불만이 발생하게 되었으며 타 소형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FM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업체를 변경하여도 비슷한 수준이며 대기업 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FM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사는 고비용으로 부담되어 건물관리에 어려움이 발생하였다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.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공급자 중심으로 구성된 패키지 상품으로 건물에 필요하지 않은 서비스까지 구입하므로 불필요한 비용 지불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서비스 제공인력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협력사 수준에 따라 서비스 품질에 차이가 있어 안정적인 건물관리 어려움 발생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고객은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FM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영역의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전문성이 부족해 필요한 서비스가 무엇인지 알지 못한다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서비스를 제공하는 다수의 업체들 중 신뢰할 수 있는 전문성을 가진 회사를 구분하기 어렵다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최소비용으로 저렴하게 품질을 유지하고 싶은데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서비스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상품별 구매 방법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계약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기간등이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달라 구매 하는데 어려움이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대기업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프랜차이즈 업체라도 결국 서비스의 수준이 비슷한데 서비스 비용이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너무높다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S&amp;I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 제공하는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FM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서비스는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단품별로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제공되고 있음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각각의 서비스 판매 및 홍보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대형 건물 중심 솔루션으로 중소형 건물 관리 서비스가 존재 하지 않고 경험이 없음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타사대비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S&amp;I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만의 강점 차별점을 고객이 구분하기 어려움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10.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서비스 비교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업체 검색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개별 상담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개별 방문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개별 견적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업체별 견적 비교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가격 협상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시공 의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복잡한 서비스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딜리버리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프로세스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’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지속적인 인건비 상승에 따른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건물 유지 관리 비용의 지속 증가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’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13. FM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업체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IoT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개발업체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통신업체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출동보안업체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로봇제조업체 등 서비스 경계가 불분명한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제품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서비스선택의 비교 어려움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’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14.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사람에 따른 서비스 품질에 차이가 있어 안정적인 건물관리 어려움 발생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15.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전문 건물 관리 인력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전문성이 없어서 필요한 서비스가 무엇인지 알지 못한다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16.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상품별로 구매 방법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계약기간등이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달라 구매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하는대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어려움이 있다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17.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공급자 중심으로 구성된 패키지 상품으로 건물에 필요하지 않은 서비스까지 구입하므로 불필요한 비용 지불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18.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서비스 제공인력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협력사 수준에 따라 서비스 품질에 차이가 있어 안정적인 건물관리 어려움 발생</a:t>
                      </a:r>
                      <a:endParaRPr lang="en-US" altLang="ko-KR" sz="1000" dirty="0">
                        <a:solidFill>
                          <a:srgbClr val="FF0000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790605"/>
                  </a:ext>
                </a:extLst>
              </a:tr>
              <a:tr h="9787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솔루션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이에 </a:t>
                      </a:r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에스엔아이코퍼레이션은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 다양하게 </a:t>
                      </a:r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퍼져있는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 상품들을 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AI </a:t>
                      </a:r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머신러닝과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 내부 전문 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MD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의 분석으로 중소형 건물의 유형과 공간별로 조합하여 맞춤형 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FM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상품 패키지 서비스를 </a:t>
                      </a:r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제공였다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소형 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FM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사의 차별화된 강점으로 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1) FM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전문가의 철저한 검수 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2) 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단순제품구매가 아닌 계약보증기간동안 </a:t>
                      </a:r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안심할수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 있는 상품 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3) 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전국 서비스센터를 통한 신속한 대응 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4)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건물 용도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공간별 쾌적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편의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안전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, IoT, ESG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상품 </a:t>
                      </a:r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솔루션등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 대기업의 브랜드파워의 신뢰로 품질은 높이면서 저비용을 실현하여 중소형건물 소유자와 입주자는 만족도가 높았다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또한 상품과 더불어 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FM </a:t>
                      </a:r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년간유지보수를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 접목하면서 청결관리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시설점검등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 실내 이용자의 쾌적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편의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안전을 보장하여 고객 만족이 </a:t>
                      </a:r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높은것으로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 조사되었다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예를들어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 다양한 연령대의 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FM 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인력중심의 청소품질이 </a:t>
                      </a:r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낮아지는것을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  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IT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기반 청소로봇 상품을 도입하여 품질을 높이고 가성비로 경쟁력을 높여왔다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.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 </a:t>
                      </a:r>
                      <a:endParaRPr lang="en-US" altLang="ko-KR" sz="1000" dirty="0">
                        <a:solidFill>
                          <a:srgbClr val="0099FF"/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에스앤아이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코퍼레이션은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다양하게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퍼져있는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상품들을 고객이 쉽게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찾을수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있게 구성하고 내부에 전문인력을 활용하여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건물 맞춤형 상품을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선택할수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있게 도와주고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기반으로 상품을 구성한 토탈 패키지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고객의 경험을 바탕으로 한 상품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서비스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구성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FM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이라면 믿고 맡길 수 있는 브랜드 파워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우수한 서비스 품질과 합리적인 가격으로 구성된 상품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서비스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패키징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고객 문제점을 파악하여 고객을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감동시킬수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있는 솔루션 개발 필요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중소형 건물 솔루션 개발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타사대비 자사만의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차별점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강점 부각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7. FM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전문가에 의한 철저한 검수를 거친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안전 솔루션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’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8.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단순 제품구매나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회성 설치가 아닌 계약보증기간 동안 안심할 수 있는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안심 솔루션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’</a:t>
                      </a: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9.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전국 서비스센터를 통한 당일주문 당일설치를 보장하는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신속 솔루션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’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200932"/>
                  </a:ext>
                </a:extLst>
              </a:tr>
              <a:tr h="9787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내부 관계자의 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해당상품을 기획한 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DX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총괄은 대형빌딩위주 건물관리 사업을 관리하다가 중소형건물의 낮은 품질의 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FM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 관리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문제점이 </a:t>
                      </a:r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발생된것에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 대해 고객 맞춤형 상품 발굴과 개발을 통해 인력중심의 사업에서 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IoT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를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접목한 서비스를 개발하여 비용은 절감하고 품질은 향상 시키는 서비스를 출시 </a:t>
                      </a:r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하게된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 배경을 설명하였다</a:t>
                      </a:r>
                      <a:endParaRPr lang="en-US" altLang="ko-KR" sz="1000" dirty="0">
                        <a:solidFill>
                          <a:srgbClr val="0099FF"/>
                        </a:solidFill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DX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총괄의 인터뷰에서 가장 </a:t>
                      </a:r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아날로그적이고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노동집약적이고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고도로 분화된 기존의 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FM 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시장에서 고객 인사이트를 기반으로 </a:t>
                      </a: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'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기존 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FM 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서비스의 디지털 차별화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', '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새로운 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FM 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솔루션 개발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', 'FM 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생태계 플랫폼 구축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'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을 통해 </a:t>
                      </a:r>
                      <a:endParaRPr lang="en-US" altLang="ko-KR" sz="1000" dirty="0">
                        <a:solidFill>
                          <a:srgbClr val="0099FF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대형 오피스 뿐만 아니라 중소형 빌딩에서도 최고의 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FM 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회사로 디지털 </a:t>
                      </a:r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트랜스포메이션에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 성공하였다고 하였다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199023"/>
                  </a:ext>
                </a:extLst>
              </a:tr>
              <a:tr h="4804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이용방법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에스앤아이코퍼레이션은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 종합 플랫폼을 이용하여 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AI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기반 추천과 전문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MD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를 통해 언제든지 서비스를 이용할 수 있고  전국에 있는 </a:t>
                      </a:r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에스앤아이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 홍보관을 통해 서비스를 체험하고 구매할 수 있다</a:t>
                      </a:r>
                      <a:endParaRPr lang="en-US" altLang="ko-KR" sz="1000" dirty="0">
                        <a:solidFill>
                          <a:srgbClr val="0099FF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143950"/>
                  </a:ext>
                </a:extLst>
              </a:tr>
              <a:tr h="8304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고객의 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“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최근 중소형 빌딩을 매입한 홍길동씨는 건물관리 상품이 너무 다양하고 구성이 복잡해서 어떤 상품이 </a:t>
                      </a:r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좋은지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알수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 없었는데 </a:t>
                      </a:r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에스앤아이에서는</a:t>
                      </a:r>
                      <a:endParaRPr lang="en-US" altLang="ko-KR" sz="1000" dirty="0">
                        <a:solidFill>
                          <a:srgbClr val="0099FF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상품을 쉽게 </a:t>
                      </a:r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이해할수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 있고 나에게 맞는 상품을 찾기 편했고 </a:t>
                      </a:r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에스앤아이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 전문가의 비교 분석으로 추천하여 맞춤형 상품을 선택할 수 있었고 브랜드 기업으로 믿고 구매하여 가성비가 높아 합리적인 비용을 지출하여서 좋았다고 말하였다</a:t>
                      </a:r>
                      <a:r>
                        <a:rPr lang="en-US" altLang="ko-KR" sz="1000" dirty="0">
                          <a:solidFill>
                            <a:srgbClr val="0099FF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그래서 비용을 합리적으로 사용했다는 생각이 들었다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합리적인 상품을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구매할수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있어서 너무 좋았다 건물관리 상품이 너무 많고 건물에 맞는 적합한 상품을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에스앤아이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전문가가 추천해줘서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비용 절감 및 최상의 상품을 구매하게 되었음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7103"/>
                  </a:ext>
                </a:extLst>
              </a:tr>
              <a:tr h="4804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마무리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마지막으로 </a:t>
                      </a:r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에스앤아이코퍼레이션은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 중소형건물의 </a:t>
                      </a:r>
                      <a:r>
                        <a:rPr lang="ko-KR" altLang="en-US" sz="1000" dirty="0" err="1">
                          <a:solidFill>
                            <a:srgbClr val="0099FF"/>
                          </a:solidFill>
                        </a:rPr>
                        <a:t>시장석권에</a:t>
                      </a:r>
                      <a:r>
                        <a:rPr lang="ko-KR" altLang="en-US" sz="1000" dirty="0">
                          <a:solidFill>
                            <a:srgbClr val="0099FF"/>
                          </a:solidFill>
                        </a:rPr>
                        <a:t> 안주하지 않고 개인주택 및 아파트에 맞는 맞춤형 시장으로 상품 서비스를 출시 준비중에 있다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633785"/>
                  </a:ext>
                </a:extLst>
              </a:tr>
            </a:tbl>
          </a:graphicData>
        </a:graphic>
      </p:graphicFrame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FD83A5C3-106A-405E-9620-BA690F2515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62EF06A-B3F7-413F-BAC4-D6E13FEE4F5B}"/>
              </a:ext>
            </a:extLst>
          </p:cNvPr>
          <p:cNvSpPr/>
          <p:nvPr/>
        </p:nvSpPr>
        <p:spPr>
          <a:xfrm>
            <a:off x="2504728" y="1268760"/>
            <a:ext cx="54726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1" kern="0" dirty="0">
                <a:solidFill>
                  <a:srgbClr val="FF0000"/>
                </a:solidFill>
                <a:latin typeface="Arial"/>
                <a:ea typeface="나눔고딕"/>
              </a:rPr>
              <a:t>국내</a:t>
            </a:r>
            <a:r>
              <a:rPr kumimoji="0" lang="en-US" altLang="ko-KR" sz="1200" b="1" kern="0" dirty="0">
                <a:solidFill>
                  <a:srgbClr val="FF0000"/>
                </a:solidFill>
                <a:latin typeface="Arial"/>
                <a:ea typeface="나눔고딕"/>
              </a:rPr>
              <a:t>1</a:t>
            </a:r>
            <a:r>
              <a:rPr kumimoji="0" lang="ko-KR" altLang="en-US" sz="1200" b="1" kern="0" dirty="0">
                <a:solidFill>
                  <a:srgbClr val="FF0000"/>
                </a:solidFill>
                <a:latin typeface="Arial"/>
                <a:ea typeface="나눔고딕"/>
              </a:rPr>
              <a:t>위 </a:t>
            </a:r>
            <a:r>
              <a:rPr kumimoji="0" lang="en-US" altLang="ko-KR" sz="1200" b="1" kern="0" dirty="0">
                <a:solidFill>
                  <a:srgbClr val="FF0000"/>
                </a:solidFill>
                <a:latin typeface="Arial"/>
                <a:ea typeface="나눔고딕"/>
              </a:rPr>
              <a:t>FM</a:t>
            </a:r>
            <a:r>
              <a:rPr kumimoji="0" lang="ko-KR" altLang="en-US" sz="1200" b="1" kern="0" dirty="0">
                <a:solidFill>
                  <a:srgbClr val="FF0000"/>
                </a:solidFill>
                <a:latin typeface="Arial"/>
                <a:ea typeface="나눔고딕"/>
              </a:rPr>
              <a:t>社 </a:t>
            </a:r>
            <a:r>
              <a:rPr kumimoji="0" lang="ko-KR" altLang="en-US" sz="1200" b="1" kern="0" dirty="0" err="1">
                <a:solidFill>
                  <a:srgbClr val="FF0000"/>
                </a:solidFill>
                <a:latin typeface="Arial"/>
                <a:ea typeface="나눔고딕"/>
              </a:rPr>
              <a:t>에스앤아이코퍼레이션의</a:t>
            </a:r>
            <a:r>
              <a:rPr kumimoji="0" lang="ko-KR" altLang="en-US" sz="1200" b="1" kern="0" dirty="0">
                <a:solidFill>
                  <a:srgbClr val="FF0000"/>
                </a:solidFill>
                <a:latin typeface="Arial"/>
                <a:ea typeface="나눔고딕"/>
              </a:rPr>
              <a:t> </a:t>
            </a:r>
            <a:r>
              <a:rPr kumimoji="0" lang="en-US" altLang="ko-KR" sz="1200" b="1" kern="0" dirty="0">
                <a:solidFill>
                  <a:srgbClr val="FF0000"/>
                </a:solidFill>
                <a:latin typeface="Arial"/>
                <a:ea typeface="나눔고딕"/>
              </a:rPr>
              <a:t>DX - </a:t>
            </a:r>
            <a:r>
              <a:rPr kumimoji="0" lang="ko-KR" altLang="en-US" sz="1200" b="1" kern="0" dirty="0">
                <a:solidFill>
                  <a:srgbClr val="FF0000"/>
                </a:solidFill>
                <a:latin typeface="Arial"/>
                <a:ea typeface="나눔고딕"/>
              </a:rPr>
              <a:t>중소형 건물관리영역까지 석권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23FD31-5CBE-4806-952C-292664329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5568" y="0"/>
            <a:ext cx="5545048" cy="349385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A95EA11-656A-42DD-AFB3-98D234335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6656" y="12700790"/>
            <a:ext cx="5545049" cy="321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558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B395D-ED40-4D8A-BF9A-296673394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06" y="79164"/>
            <a:ext cx="5749782" cy="490067"/>
          </a:xfrm>
        </p:spPr>
        <p:txBody>
          <a:bodyPr/>
          <a:lstStyle/>
          <a:p>
            <a:r>
              <a:rPr lang="en-US" altLang="ko-KR" dirty="0"/>
              <a:t>PR  (5</a:t>
            </a:r>
            <a:r>
              <a:rPr lang="ko-KR" altLang="en-US" dirty="0" err="1"/>
              <a:t>년후의</a:t>
            </a:r>
            <a:r>
              <a:rPr lang="ko-KR" altLang="en-US" dirty="0"/>
              <a:t> 모습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D95A13-D466-4BE6-8A6F-DA22EBF0B8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C38DB51-6B43-4D0B-A497-974C0D55D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1916832"/>
            <a:ext cx="3759085" cy="250958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2115869-BA6F-404B-8537-7A6D6D47590E}"/>
              </a:ext>
            </a:extLst>
          </p:cNvPr>
          <p:cNvSpPr/>
          <p:nvPr/>
        </p:nvSpPr>
        <p:spPr>
          <a:xfrm>
            <a:off x="561306" y="875576"/>
            <a:ext cx="2375470" cy="3211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ko-KR" altLang="en-US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내부 </a:t>
            </a:r>
            <a:r>
              <a:rPr lang="en-US" altLang="ko-KR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FAQ</a:t>
            </a: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8CD820-8A6D-452E-B499-A89EE6FCB023}"/>
              </a:ext>
            </a:extLst>
          </p:cNvPr>
          <p:cNvSpPr/>
          <p:nvPr/>
        </p:nvSpPr>
        <p:spPr>
          <a:xfrm>
            <a:off x="557520" y="1347139"/>
            <a:ext cx="6696744" cy="942667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서비스 상품을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개발하게된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계기는 무엇입니까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?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저희 회사는 중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,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대형 건물 위주의 프라임 빌딩을 높은 품질 서비스로 건물관리를 하고 있습니다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하지만 국내 중소형 건물의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FM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시장은 영세한 건물관리 업체가 저비용으로 주로 운영되고 있으나 낮은 품질로 건물내 입주자의 불편이 발생하여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저희회사의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고품질 저비용 상품을 개발하게 되었습니다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.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   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판매방식은 어떻게 운영하는 것입니까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?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저희회사에서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운영하는 플랫폼인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FM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상품 홈페이지를 통해 누구나 쉽게 건물규모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용도와 목적을 입력하면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AI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머신러닝을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통해 최적의 상품을 추천하여 주고 회사 전문가가 연락하거나 방문하여 보다 상세한 상품을 비교 분석한 내용을 고객에게 보다 쉽게 설명하여 의사결정을 빠르게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할수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있도록 도와드립니다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그리고 전국 권역에 위치한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저희회사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홍보관에 방문하여 실물로 직접 제품을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보실수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있으며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VR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증강현실을 통해 체험을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경험할수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있습니다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.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   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어떤 상품을 구성해서 운영합니까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?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저희 회사 전문가의 철저한 검수와 분석을 마친 상품이 등록되어 있으며 단순 제품인 기본형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부터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상품과 결합된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FM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부가서비스와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IoT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연계한 고급형 상품까지 다양하게 구비되어 있습니다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이 회사만의 차별화 경쟁력은 무엇입니까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?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중소형건물의 낮은 건물관리 품질을 합리적인 비용으로 고품질의 맞춤형 패키지 상품을 조합하여 중소형 건물 시장의 고품격 트랜드를 향상 시키는 것이 차별화된 경쟁력 입니다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.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또한 일시적인 상품 판매를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1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회성에 그치지 않고 상품을 불편없이 지속적으로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사용할수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있도로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제품 보증과 년간 유지보수를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할수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있습니다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181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B395D-ED40-4D8A-BF9A-296673394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06" y="79164"/>
            <a:ext cx="5749782" cy="490067"/>
          </a:xfrm>
        </p:spPr>
        <p:txBody>
          <a:bodyPr/>
          <a:lstStyle/>
          <a:p>
            <a:r>
              <a:rPr lang="en-US" altLang="ko-KR" dirty="0"/>
              <a:t>PR  (5</a:t>
            </a:r>
            <a:r>
              <a:rPr lang="ko-KR" altLang="en-US" dirty="0" err="1"/>
              <a:t>년후의</a:t>
            </a:r>
            <a:r>
              <a:rPr lang="ko-KR" altLang="en-US" dirty="0"/>
              <a:t> 모습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D95A13-D466-4BE6-8A6F-DA22EBF0B8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C38DB51-6B43-4D0B-A497-974C0D55D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3560" y="2182112"/>
            <a:ext cx="4047117" cy="270187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0D2F47-BE38-4CCD-A3A1-AD4105D0C1ED}"/>
              </a:ext>
            </a:extLst>
          </p:cNvPr>
          <p:cNvSpPr/>
          <p:nvPr/>
        </p:nvSpPr>
        <p:spPr>
          <a:xfrm>
            <a:off x="416496" y="836712"/>
            <a:ext cx="2375470" cy="3211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ko-KR" altLang="en-US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외부 </a:t>
            </a:r>
            <a:r>
              <a:rPr lang="en-US" altLang="ko-KR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FAQ (</a:t>
            </a:r>
            <a:r>
              <a:rPr lang="ko-KR" altLang="en-US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고객관점</a:t>
            </a:r>
            <a:r>
              <a:rPr lang="en-US" altLang="ko-KR" sz="1100" dirty="0">
                <a:solidFill>
                  <a:schemeClr val="tx1"/>
                </a:solidFill>
                <a:latin typeface="+mn-ea"/>
                <a:cs typeface="Arial" pitchFamily="34" charset="0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250D1E-D663-4F89-B16C-707408F25396}"/>
              </a:ext>
            </a:extLst>
          </p:cNvPr>
          <p:cNvSpPr/>
          <p:nvPr/>
        </p:nvSpPr>
        <p:spPr>
          <a:xfrm>
            <a:off x="632520" y="1268760"/>
            <a:ext cx="6840760" cy="1051316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귀사의 서비스를 판매하거나 구축한 사례를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소개할수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있습니까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?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신한은행 전국지점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100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개소에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ESG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상품인 텀블러 자동세척기 도입으로 임직원들의 세척의 불편을 해소하였으며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1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회 세척마다 탄소배출량이 데이터화 되어 전국 지점의 탄소배출량을 리포트 제공하여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ESG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경영에 기여한 바 있습니다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또한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단순 제품 판매 만이 아닌 당사의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FM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부가서비스인 미화를 접목하여 제품의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1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일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2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회 청결관리 서비스와 배관 누수여부 시설점검과 문제 발생시 전국 권역의 신속한 방문출동 서비스를 조합하여 년간 유지보수 계약을 맺어 실내 이용자가 쾌적하고 편리하게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사용할수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있는 상품을 도입하였습니다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.</a:t>
            </a:r>
            <a:b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</a:b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상품은 비싸지 않습니까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?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저희 회사는 건물관리 빌딩이 수백개에 달하고 제품 판매를 대량으로 판매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할수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있는 네트워크가 있으므로 제품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협혁업체의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대량 구매로 인한 파격적인 단가 할인이 가능합니다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또한 제품의 보증 및 품질은 저희 회사 전문가가 유사제품과 비교하여 철저한 검수와 분석으로 품질을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보증할수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있습니다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상품 종류는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어떤것이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있습니까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?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중소형 건물의 규모와 공간별에 맞는 맞춤형 상품을 패키지로 조합하여 비용 낭비없이 합리적인 가격을 제안해 드립니다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상품의 종류로는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1)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쾌적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편의 상품 솔루션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2) IoT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안전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/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보안 솔루션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3) IoT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에너지절감 솔루션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4) ESG (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온실가스감축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/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환경보호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)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상품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솔루션등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다양하게 구성되어 있습니다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상품과 연계하여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FM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부가서비스인 미화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청결관리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),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시설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점검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)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을 년간 유지보수 계약을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할수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있으며 전국 권역에 분포된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저희회사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지사를 통해 상품 문제시 방문 출동을 통해 신속한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AS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를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받아볼수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있습니다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이 회사의 상품은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다른회사와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어떤 차별화가 있나요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?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  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품질이 높고 저렴하게 구입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전문가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, AI,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검증</a:t>
            </a: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품질보증방안과 품질보증기간은 어떻게 되나요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?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일시불과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구독서비로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선택하여  기본형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고급형 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as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는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1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년 무상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구독은 계약기간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)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Q.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중소형 건물에 어떤 상품서비스를 적용하고 고객이 만족한 사례가 있습니까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?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전국에 있는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프랜차이드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의류매장에 원격관리인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RMS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와 안전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/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보안을 연계한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AI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뷰어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그리고 매장내 청소를 위한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IoT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청소로봇을 패키지로 구매한 사례가 있습니다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RMS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는 화재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침수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누수시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모바일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App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과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저희회사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통합감시센터에서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즉기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알람이 발생하여 지휘출동서비스를 연계하여 인근의 지사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저희직원이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신속히 출동하여 대응을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할수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있으며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AI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뷰어는 전시된 제품의 도난 상황을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AI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로 인지하여 즉시 알림을 고객에게 전송하고 주말에 침입자 발생시에도 알림과 함께 인근 저희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보안요안의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신속한 출동으로 즉시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대응할수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있습니다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또한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IoT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청소로봇으로 야간에 자동으로 청소를 시행하고 시행 결과 데이터를 고객에게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레포트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전송을 보내줍니다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,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이로서 의류매장의 화재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도난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000" dirty="0" err="1">
                <a:solidFill>
                  <a:srgbClr val="0070C0"/>
                </a:solidFill>
                <a:latin typeface="+mn-ea"/>
                <a:cs typeface="Arial" pitchFamily="34" charset="0"/>
              </a:rPr>
              <a:t>청소등</a:t>
            </a:r>
            <a:r>
              <a:rPr lang="ko-KR" altLang="en-US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 건물관리의 무인화가 가능하고 인건비 절감으로 매장의 이익률을 높여주어 고객이 만족한 사례가 있습니다</a:t>
            </a:r>
            <a:r>
              <a:rPr lang="en-US" altLang="ko-KR" sz="1000" dirty="0">
                <a:solidFill>
                  <a:srgbClr val="0070C0"/>
                </a:solidFill>
                <a:latin typeface="+mn-ea"/>
                <a:cs typeface="Arial" pitchFamily="34" charset="0"/>
              </a:rPr>
              <a:t>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 marL="171450" indent="-171450">
              <a:lnSpc>
                <a:spcPct val="120000"/>
              </a:lnSpc>
              <a:spcBef>
                <a:spcPts val="600"/>
              </a:spcBef>
              <a:buFontTx/>
              <a:buChar char="-"/>
            </a:pP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 marL="171450" indent="-171450">
              <a:lnSpc>
                <a:spcPct val="120000"/>
              </a:lnSpc>
              <a:spcBef>
                <a:spcPts val="600"/>
              </a:spcBef>
              <a:buFontTx/>
              <a:buChar char="-"/>
            </a:pP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altLang="ko-KR" sz="1000" dirty="0">
              <a:solidFill>
                <a:srgbClr val="0070C0"/>
              </a:solidFill>
              <a:latin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235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B395D-ED40-4D8A-BF9A-296673394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차별화종합서비스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린 캔버스 작성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68F5D6-18C1-49E6-BF3E-53E62B9D56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sz="11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작성일</a:t>
            </a:r>
            <a:r>
              <a:rPr lang="en-US" altLang="ko-KR" sz="1100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2022.10.07</a:t>
            </a:r>
            <a:endParaRPr lang="ko-KR" altLang="en-US" sz="1100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E8C406D-70B2-4A01-915E-783E260B4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809297"/>
              </p:ext>
            </p:extLst>
          </p:nvPr>
        </p:nvGraphicFramePr>
        <p:xfrm>
          <a:off x="272476" y="836712"/>
          <a:ext cx="9361044" cy="5616624"/>
        </p:xfrm>
        <a:graphic>
          <a:graphicData uri="http://schemas.openxmlformats.org/drawingml/2006/table">
            <a:tbl>
              <a:tblPr/>
              <a:tblGrid>
                <a:gridCol w="1800204">
                  <a:extLst>
                    <a:ext uri="{9D8B030D-6E8A-4147-A177-3AD203B41FA5}">
                      <a16:colId xmlns:a16="http://schemas.microsoft.com/office/drawing/2014/main" val="549860655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3235663187"/>
                    </a:ext>
                  </a:extLst>
                </a:gridCol>
                <a:gridCol w="936102">
                  <a:extLst>
                    <a:ext uri="{9D8B030D-6E8A-4147-A177-3AD203B41FA5}">
                      <a16:colId xmlns:a16="http://schemas.microsoft.com/office/drawing/2014/main" val="1073697076"/>
                    </a:ext>
                  </a:extLst>
                </a:gridCol>
                <a:gridCol w="936106">
                  <a:extLst>
                    <a:ext uri="{9D8B030D-6E8A-4147-A177-3AD203B41FA5}">
                      <a16:colId xmlns:a16="http://schemas.microsoft.com/office/drawing/2014/main" val="3100038196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92849847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4244309635"/>
                    </a:ext>
                  </a:extLst>
                </a:gridCol>
              </a:tblGrid>
              <a:tr h="60724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문제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솔루션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고유의 가치제안</a:t>
                      </a:r>
                      <a:endParaRPr lang="ko-KR" altLang="en-US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경쟁우위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 </a:t>
                      </a:r>
                      <a:r>
                        <a:rPr lang="ko-KR" altLang="en-US" sz="1000" b="1" kern="0" spc="0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고객군</a:t>
                      </a:r>
                      <a:endParaRPr lang="ko-KR" altLang="en-US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548839"/>
                  </a:ext>
                </a:extLst>
              </a:tr>
              <a:tr h="1825302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중소형 건물 소유자는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FM</a:t>
                      </a:r>
                      <a:r>
                        <a:rPr lang="ko-KR" altLang="en-US" sz="1000" kern="0" spc="0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에대한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전문지식이 부족함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</a:t>
                      </a:r>
                      <a:r>
                        <a:rPr lang="ko-KR" altLang="en-US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체계적이지 않은 소형 </a:t>
                      </a:r>
                      <a:r>
                        <a:rPr lang="en-US" altLang="ko-KR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FM</a:t>
                      </a:r>
                      <a:r>
                        <a:rPr lang="ko-KR" altLang="en-US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회사의 다양한 상품들을 검증하기 어려움</a:t>
                      </a:r>
                      <a:endParaRPr lang="en-US" altLang="ko-KR" sz="1000" kern="0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3.</a:t>
                      </a:r>
                      <a:r>
                        <a:rPr lang="ko-KR" altLang="en-US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건물에 맞지않은 </a:t>
                      </a:r>
                      <a:r>
                        <a:rPr lang="en-US" altLang="ko-KR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FM</a:t>
                      </a:r>
                      <a:r>
                        <a:rPr lang="ko-KR" altLang="en-US" sz="1000" kern="0" spc="0" baseline="0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상품들중</a:t>
                      </a:r>
                      <a:r>
                        <a:rPr lang="ko-KR" altLang="en-US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일부 적용되어 과다비용 지출이 발생함</a:t>
                      </a:r>
                      <a:endParaRPr lang="en-US" altLang="ko-KR" sz="1000" kern="0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4. </a:t>
                      </a:r>
                      <a:r>
                        <a:rPr lang="ko-KR" altLang="en-US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인력중심 </a:t>
                      </a:r>
                      <a:r>
                        <a:rPr lang="en-US" altLang="ko-KR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FM</a:t>
                      </a:r>
                      <a:r>
                        <a:rPr lang="ko-KR" altLang="en-US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 고령화</a:t>
                      </a:r>
                      <a:r>
                        <a:rPr lang="en-US" altLang="ko-KR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000" kern="0" spc="0" baseline="0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인건비상승등</a:t>
                      </a:r>
                      <a:r>
                        <a:rPr lang="ko-KR" altLang="en-US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kern="0" spc="0" baseline="0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휴먼에러로</a:t>
                      </a:r>
                      <a:r>
                        <a:rPr lang="ko-KR" altLang="en-US" sz="1000" kern="0" spc="0" baseline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서비스 품질이 낮아짐  </a:t>
                      </a:r>
                      <a:endParaRPr lang="en-US" altLang="ko-KR" sz="1000" kern="0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고객이 쉽게 </a:t>
                      </a:r>
                      <a:r>
                        <a:rPr lang="ko-KR" altLang="en-US" sz="1000" kern="0" spc="0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접근할수있는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플랫폼에서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AI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기반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FM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 추천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 </a:t>
                      </a:r>
                      <a:r>
                        <a:rPr lang="ko-KR" altLang="en-US" sz="1000" kern="0" spc="0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에스앤아이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전문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MD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 상담으로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고품질 저비용 상품패키지 추천</a:t>
                      </a:r>
                      <a:b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인력중심의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FM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에서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IT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기반 차별화 상품으로 고품질 저비용 상품추천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ko-KR" altLang="en-US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2"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중소형건물의 맞춤형 상품을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AI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기반 추천과 전문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MD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를 통해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FM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 패키지와 합리적인 비용제시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인건비 상승 인력 중심에서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IoT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기반 차별화 상품 도입으로 고품질 합리적인 비용으로 공급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다양한 상품과 대량 판매를 통한 협력사의 단가할인 계약으로 타 사와의 가격 경쟁력 실현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단순상품 판매만 아닌 미화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000" kern="0" spc="0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시설관리등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당사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FM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유지보수 접목에 따른 차별화 상품으로 독보적 우위확보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당사의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IT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기반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IoT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상품의 차별성</a:t>
                      </a: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Arial" pitchFamily="34" charset="0"/>
                        </a:rPr>
                        <a:t>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Arial" pitchFamily="34" charset="0"/>
                        </a:rPr>
                        <a:t>중소형빌딩 소유자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Arial" pitchFamily="34" charset="0"/>
                        </a:rPr>
                        <a:t>/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Arial" pitchFamily="34" charset="0"/>
                        </a:rPr>
                        <a:t>입주사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Arial" pitchFamily="34" charset="0"/>
                      </a:endParaRP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Arial" pitchFamily="34" charset="0"/>
                        </a:rPr>
                        <a:t>2. ESG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Arial" pitchFamily="34" charset="0"/>
                        </a:rPr>
                        <a:t>경영에 관심 많은 기업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Arial" pitchFamily="34" charset="0"/>
                      </a:endParaRP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Arial" pitchFamily="34" charset="0"/>
                        </a:rPr>
                        <a:t>3.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Arial" pitchFamily="34" charset="0"/>
                        </a:rPr>
                        <a:t>임직원 복지 향상에 관심이 많은 기업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Arial" pitchFamily="34" charset="0"/>
                      </a:endParaRPr>
                    </a:p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baseline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510875"/>
                  </a:ext>
                </a:extLst>
              </a:tr>
              <a:tr h="4758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핵심지표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채널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06148689"/>
                  </a:ext>
                </a:extLst>
              </a:tr>
              <a:tr h="1551593">
                <a:tc v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0620" marR="20620" marT="5701" marB="570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건물 유형별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공간별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다양한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FM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 발굴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상품과 연계하여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FM </a:t>
                      </a:r>
                      <a:r>
                        <a:rPr lang="ko-KR" altLang="en-US" sz="1000" kern="0" spc="0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년간유지보수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상품 개발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플랫폼을 통한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AI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추천 클라우드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전문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MD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최다 보유로 다양한 유형의 고객 상담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전국지사 체험홍보관 방문구매</a:t>
                      </a: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4708838"/>
                  </a:ext>
                </a:extLst>
              </a:tr>
              <a:tr h="415918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비용 구조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6. </a:t>
                      </a:r>
                      <a:r>
                        <a:rPr lang="ko-KR" altLang="en-US" sz="1000" b="1" kern="0" spc="0" dirty="0" err="1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수익원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264491"/>
                  </a:ext>
                </a:extLst>
              </a:tr>
              <a:tr h="740750">
                <a:tc gridSpan="3"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FM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상품패키지 판매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 FM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유지보수 년간 비용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이윤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판매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운영관리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구매대행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/FM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부가서비스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당사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FM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부가서비스 접목하여 추가 매출 확보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209933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58C73704-8B78-41C4-A767-96EF69A8E6E6}"/>
              </a:ext>
            </a:extLst>
          </p:cNvPr>
          <p:cNvSpPr/>
          <p:nvPr/>
        </p:nvSpPr>
        <p:spPr>
          <a:xfrm>
            <a:off x="3370378" y="208869"/>
            <a:ext cx="460695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나눔고딕"/>
              </a:rPr>
              <a:t>“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나눔고딕"/>
              </a:rPr>
              <a:t>고객의 숨겨진 니즈까지 충족 시킬 수 있는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나눔고딕"/>
              </a:rPr>
              <a:t>FM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나눔고딕"/>
              </a:rPr>
              <a:t>서비스 패키지 제공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나눔고딕"/>
              </a:rPr>
              <a:t>”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070471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5DE0B03-0D6B-4473-BB38-B6D02C0AC769}"/>
              </a:ext>
            </a:extLst>
          </p:cNvPr>
          <p:cNvSpPr/>
          <p:nvPr/>
        </p:nvSpPr>
        <p:spPr>
          <a:xfrm>
            <a:off x="485807" y="4480378"/>
            <a:ext cx="8850277" cy="1536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463">
              <a:solidFill>
                <a:prstClr val="white"/>
              </a:solidFill>
              <a:latin typeface="Arial"/>
              <a:ea typeface="나눔고딕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25EA974-F875-4BA8-83F9-E8638D63285E}"/>
              </a:ext>
            </a:extLst>
          </p:cNvPr>
          <p:cNvCxnSpPr/>
          <p:nvPr/>
        </p:nvCxnSpPr>
        <p:spPr>
          <a:xfrm>
            <a:off x="151861" y="1175619"/>
            <a:ext cx="96022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F40DB4B-8D70-4204-9096-20F56287A024}"/>
              </a:ext>
            </a:extLst>
          </p:cNvPr>
          <p:cNvSpPr txBox="1"/>
          <p:nvPr/>
        </p:nvSpPr>
        <p:spPr>
          <a:xfrm>
            <a:off x="571401" y="840772"/>
            <a:ext cx="3587239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차별화 종합 서비스 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To-Be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AA4DFD7-2701-4A40-A67C-32C1ACD0E8B8}"/>
              </a:ext>
            </a:extLst>
          </p:cNvPr>
          <p:cNvSpPr/>
          <p:nvPr/>
        </p:nvSpPr>
        <p:spPr>
          <a:xfrm>
            <a:off x="511653" y="2311258"/>
            <a:ext cx="3911967" cy="1983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1463" dirty="0">
              <a:solidFill>
                <a:prstClr val="black"/>
              </a:solidFill>
              <a:latin typeface="Arial"/>
              <a:ea typeface="나눔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6A4056-56DF-4273-8DB6-8ECDE4FCF501}"/>
              </a:ext>
            </a:extLst>
          </p:cNvPr>
          <p:cNvSpPr txBox="1"/>
          <p:nvPr/>
        </p:nvSpPr>
        <p:spPr>
          <a:xfrm>
            <a:off x="485808" y="4473472"/>
            <a:ext cx="348113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3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 </a:t>
            </a:r>
            <a:r>
              <a:rPr kumimoji="0" lang="en-US" altLang="ko-KR" sz="13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kumimoji="0" lang="ko-KR" altLang="en-US" sz="13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후 모습</a:t>
            </a:r>
            <a:endParaRPr kumimoji="0" lang="ko-KR" altLang="en-US" sz="1138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748DE2-78D8-4800-AB3F-5A7E53DBB8B1}"/>
              </a:ext>
            </a:extLst>
          </p:cNvPr>
          <p:cNvSpPr txBox="1"/>
          <p:nvPr/>
        </p:nvSpPr>
        <p:spPr>
          <a:xfrm>
            <a:off x="569916" y="4742598"/>
            <a:ext cx="8766168" cy="1217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고객이 필요로 하는 상품 추천을 가장 잘 해주는 기업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FM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전문 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MD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최다 보유 기업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3) FM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공급 업체가 가장 선호하는 협업 파트너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4)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건물관리 상품 외 헬스 케어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463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모빌리티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등의 상품을 결합한 종합 패키지</a:t>
            </a:r>
            <a:b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5)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새로운 상품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서비스를 가장 빠르게 발굴하고 가장 많은 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FM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상품을 보유한 기업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AA4DFD7-2701-4A40-A67C-32C1ACD0E8B8}"/>
              </a:ext>
            </a:extLst>
          </p:cNvPr>
          <p:cNvSpPr/>
          <p:nvPr/>
        </p:nvSpPr>
        <p:spPr>
          <a:xfrm>
            <a:off x="5146121" y="2311257"/>
            <a:ext cx="4191874" cy="1983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1463" dirty="0">
              <a:solidFill>
                <a:prstClr val="black"/>
              </a:solidFill>
              <a:latin typeface="Arial"/>
              <a:ea typeface="나눔고딕"/>
            </a:endParaRPr>
          </a:p>
        </p:txBody>
      </p:sp>
      <p:sp>
        <p:nvSpPr>
          <p:cNvPr id="23" name="btfpNumberBubble773230">
            <a:extLst>
              <a:ext uri="{FF2B5EF4-FFF2-40B4-BE49-F238E27FC236}">
                <a16:creationId xmlns:a16="http://schemas.microsoft.com/office/drawing/2014/main" id="{0A244F8A-9D76-42D3-B6CB-64D21E55C5FA}"/>
              </a:ext>
            </a:extLst>
          </p:cNvPr>
          <p:cNvSpPr/>
          <p:nvPr>
            <p:custDataLst>
              <p:tags r:id="rId1"/>
            </p:custDataLst>
          </p:nvPr>
        </p:nvSpPr>
        <p:spPr bwMode="gray">
          <a:xfrm>
            <a:off x="123664" y="857077"/>
            <a:ext cx="446252" cy="250287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42950" fontAlgn="auto">
              <a:spcAft>
                <a:spcPts val="0"/>
              </a:spcAft>
            </a:pPr>
            <a:r>
              <a:rPr kumimoji="0" lang="en-US" altLang="ko-KR" sz="1625" b="1" dirty="0">
                <a:solidFill>
                  <a:srgbClr val="CC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2-1</a:t>
            </a:r>
            <a:endParaRPr kumimoji="0" lang="ko-KR" altLang="en-US" sz="1625" b="1" dirty="0">
              <a:solidFill>
                <a:srgbClr val="CC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DD69BA-9218-4F53-9EA4-BFFEE40B68E6}"/>
              </a:ext>
            </a:extLst>
          </p:cNvPr>
          <p:cNvSpPr txBox="1"/>
          <p:nvPr/>
        </p:nvSpPr>
        <p:spPr>
          <a:xfrm>
            <a:off x="569916" y="1230345"/>
            <a:ext cx="8562957" cy="390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463" b="1" dirty="0">
                <a:solidFill>
                  <a:prstClr val="black"/>
                </a:solidFill>
                <a:latin typeface="Arial"/>
                <a:ea typeface="나눔고딕"/>
              </a:rPr>
              <a:t>슬로건 </a:t>
            </a:r>
            <a:r>
              <a:rPr kumimoji="0" lang="en-US" altLang="ko-KR" sz="1463" b="1" dirty="0">
                <a:solidFill>
                  <a:prstClr val="black"/>
                </a:solidFill>
                <a:latin typeface="Arial"/>
                <a:ea typeface="나눔고딕"/>
              </a:rPr>
              <a:t>: </a:t>
            </a:r>
            <a:r>
              <a:rPr kumimoji="0" lang="ko-KR" altLang="en-US" sz="1463" b="1" dirty="0">
                <a:solidFill>
                  <a:prstClr val="black"/>
                </a:solidFill>
                <a:latin typeface="Arial"/>
                <a:ea typeface="나눔고딕"/>
              </a:rPr>
              <a:t>고객의 숨겨진 니즈까지 충족 시킬 수 있는 </a:t>
            </a:r>
            <a:r>
              <a:rPr kumimoji="0" lang="en-US" altLang="ko-KR" sz="1463" b="1" dirty="0">
                <a:solidFill>
                  <a:prstClr val="black"/>
                </a:solidFill>
                <a:latin typeface="Arial"/>
                <a:ea typeface="나눔고딕"/>
              </a:rPr>
              <a:t>FM </a:t>
            </a:r>
            <a:r>
              <a:rPr kumimoji="0" lang="ko-KR" altLang="en-US" sz="1463" b="1" dirty="0">
                <a:solidFill>
                  <a:prstClr val="black"/>
                </a:solidFill>
                <a:latin typeface="Arial"/>
                <a:ea typeface="나눔고딕"/>
              </a:rPr>
              <a:t>서비스 패키지 제공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9850229-AFB2-42F9-9563-B1C14646F839}"/>
              </a:ext>
            </a:extLst>
          </p:cNvPr>
          <p:cNvSpPr/>
          <p:nvPr/>
        </p:nvSpPr>
        <p:spPr>
          <a:xfrm>
            <a:off x="6623907" y="1897461"/>
            <a:ext cx="1236300" cy="3174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u="sng" dirty="0">
                <a:solidFill>
                  <a:prstClr val="black"/>
                </a:solidFill>
                <a:latin typeface="Arial"/>
                <a:ea typeface="나눔고딕"/>
              </a:rPr>
              <a:t>To-Be image</a:t>
            </a:r>
          </a:p>
        </p:txBody>
      </p:sp>
      <p:pic>
        <p:nvPicPr>
          <p:cNvPr id="4100" name="Picture 4" descr="베라 조합 추천">
            <a:extLst>
              <a:ext uri="{FF2B5EF4-FFF2-40B4-BE49-F238E27FC236}">
                <a16:creationId xmlns:a16="http://schemas.microsoft.com/office/drawing/2014/main" id="{2A992E24-362E-4542-A866-339F9A8A03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32" b="26405"/>
          <a:stretch/>
        </p:blipFill>
        <p:spPr bwMode="auto">
          <a:xfrm>
            <a:off x="5780464" y="2340863"/>
            <a:ext cx="3091277" cy="1938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투게더 미니어처 - 아싸비어">
            <a:extLst>
              <a:ext uri="{FF2B5EF4-FFF2-40B4-BE49-F238E27FC236}">
                <a16:creationId xmlns:a16="http://schemas.microsoft.com/office/drawing/2014/main" id="{E8DC6DE7-AE42-491C-B17F-B265B756D1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89" t="22977" r="22266" b="22829"/>
          <a:stretch/>
        </p:blipFill>
        <p:spPr bwMode="auto">
          <a:xfrm>
            <a:off x="1422558" y="2340863"/>
            <a:ext cx="1884924" cy="1835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BF45EAF6-16DA-4419-A593-5A6F49BCDFC5}"/>
              </a:ext>
            </a:extLst>
          </p:cNvPr>
          <p:cNvSpPr/>
          <p:nvPr/>
        </p:nvSpPr>
        <p:spPr>
          <a:xfrm>
            <a:off x="1832426" y="1896336"/>
            <a:ext cx="1165705" cy="3174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u="sng" dirty="0">
                <a:solidFill>
                  <a:prstClr val="black"/>
                </a:solidFill>
                <a:latin typeface="Arial"/>
                <a:ea typeface="나눔고딕"/>
              </a:rPr>
              <a:t>As-is image</a:t>
            </a:r>
          </a:p>
        </p:txBody>
      </p:sp>
    </p:spTree>
    <p:extLst>
      <p:ext uri="{BB962C8B-B14F-4D97-AF65-F5344CB8AC3E}">
        <p14:creationId xmlns:p14="http://schemas.microsoft.com/office/powerpoint/2010/main" val="33473750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993"/>
</p:tagLst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서비스개발팀">
      <a:majorFont>
        <a:latin typeface="LG스마트체 Regular"/>
        <a:ea typeface="LG스마트체 Regular"/>
        <a:cs typeface=""/>
      </a:majorFont>
      <a:minorFont>
        <a:latin typeface="LG스마트체 Regular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6350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>
          <a:lnSpc>
            <a:spcPct val="120000"/>
          </a:lnSpc>
          <a:spcBef>
            <a:spcPts val="600"/>
          </a:spcBef>
          <a:defRPr sz="1100" dirty="0" smtClean="0">
            <a:solidFill>
              <a:schemeClr val="tx1"/>
            </a:solidFill>
            <a:latin typeface="+mn-ea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latinLnBrk="0">
          <a:lnSpc>
            <a:spcPct val="120000"/>
          </a:lnSpc>
          <a:spcBef>
            <a:spcPts val="600"/>
          </a:spcBef>
          <a:defRPr sz="1200" dirty="0" smtClean="0">
            <a:latin typeface="+mn-lt"/>
            <a:ea typeface="+mn-ea"/>
            <a:cs typeface="Arial" pitchFamily="34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Arial"/>
        <a:ea typeface="나눔고딕"/>
        <a:cs typeface=""/>
      </a:majorFont>
      <a:minorFont>
        <a:latin typeface="Arial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31211</TotalTime>
  <Words>1851</Words>
  <Application>Microsoft Office PowerPoint</Application>
  <PresentationFormat>A4 용지(210x297mm)</PresentationFormat>
  <Paragraphs>159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</vt:i4>
      </vt:variant>
    </vt:vector>
  </HeadingPairs>
  <TitlesOfParts>
    <vt:vector size="13" baseType="lpstr">
      <vt:lpstr>LG스마트체 Regular</vt:lpstr>
      <vt:lpstr>LG스마트체 SemiBold</vt:lpstr>
      <vt:lpstr>굴림</vt:lpstr>
      <vt:lpstr>나눔고딕</vt:lpstr>
      <vt:lpstr>맑은 고딕</vt:lpstr>
      <vt:lpstr>Arial</vt:lpstr>
      <vt:lpstr>기본 디자인</vt:lpstr>
      <vt:lpstr>Office 테마</vt:lpstr>
      <vt:lpstr>PR  (5년후의 모습)</vt:lpstr>
      <vt:lpstr>PR  (5년후의 모습)</vt:lpstr>
      <vt:lpstr>PR  (5년후의 모습)</vt:lpstr>
      <vt:lpstr>(차별화종합서비스) 린 캔버스 작성</vt:lpstr>
      <vt:lpstr>PowerPoint 프레젠테이션</vt:lpstr>
    </vt:vector>
  </TitlesOfParts>
  <Manager>류창우</Manager>
  <Company>SERVEONE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Template - 기본</dc:title>
  <dc:creator>외부사업담당</dc:creator>
  <cp:lastModifiedBy>Administrator</cp:lastModifiedBy>
  <cp:revision>2714</cp:revision>
  <cp:lastPrinted>2017-07-06T08:43:05Z</cp:lastPrinted>
  <dcterms:created xsi:type="dcterms:W3CDTF">2010-05-06T04:51:51Z</dcterms:created>
  <dcterms:modified xsi:type="dcterms:W3CDTF">2022-10-11T05:18:56Z</dcterms:modified>
</cp:coreProperties>
</file>