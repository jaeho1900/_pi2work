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2" r:id="rId3"/>
    <p:sldId id="264" r:id="rId4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7" userDrawn="1">
          <p15:clr>
            <a:srgbClr val="A4A3A4"/>
          </p15:clr>
        </p15:guide>
        <p15:guide id="2" pos="2132" userDrawn="1">
          <p15:clr>
            <a:srgbClr val="A4A3A4"/>
          </p15:clr>
        </p15:guide>
        <p15:guide id="3" orient="horz" pos="3929" userDrawn="1">
          <p15:clr>
            <a:srgbClr val="A4A3A4"/>
          </p15:clr>
        </p15:guide>
        <p15:guide id="4" pos="204" userDrawn="1">
          <p15:clr>
            <a:srgbClr val="A4A3A4"/>
          </p15:clr>
        </p15:guide>
        <p15:guide id="5" orient="horz" pos="845" userDrawn="1">
          <p15:clr>
            <a:srgbClr val="A4A3A4"/>
          </p15:clr>
        </p15:guide>
        <p15:guide id="6" orient="horz" pos="3997" userDrawn="1">
          <p15:clr>
            <a:srgbClr val="A4A3A4"/>
          </p15:clr>
        </p15:guide>
        <p15:guide id="7" pos="1542" userDrawn="1">
          <p15:clr>
            <a:srgbClr val="A4A3A4"/>
          </p15:clr>
        </p15:guide>
        <p15:guide id="8" pos="2880" userDrawn="1">
          <p15:clr>
            <a:srgbClr val="A4A3A4"/>
          </p15:clr>
        </p15:guide>
        <p15:guide id="9" pos="5624" userDrawn="1">
          <p15:clr>
            <a:srgbClr val="A4A3A4"/>
          </p15:clr>
        </p15:guide>
        <p15:guide id="10" orient="horz" pos="1162" userDrawn="1">
          <p15:clr>
            <a:srgbClr val="A4A3A4"/>
          </p15:clr>
        </p15:guide>
        <p15:guide id="11" orient="horz" pos="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660"/>
  </p:normalViewPr>
  <p:slideViewPr>
    <p:cSldViewPr snapToGrid="0">
      <p:cViewPr>
        <p:scale>
          <a:sx n="150" d="100"/>
          <a:sy n="150" d="100"/>
        </p:scale>
        <p:origin x="240" y="-192"/>
      </p:cViewPr>
      <p:guideLst>
        <p:guide orient="horz" pos="527"/>
        <p:guide pos="2132"/>
        <p:guide orient="horz" pos="3929"/>
        <p:guide pos="204"/>
        <p:guide orient="horz" pos="845"/>
        <p:guide orient="horz" pos="3997"/>
        <p:guide pos="1542"/>
        <p:guide pos="2880"/>
        <p:guide pos="5624"/>
        <p:guide orient="horz" pos="1162"/>
        <p:guide orient="horz" pos="6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35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09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91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18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008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51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14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938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01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57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393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9A86C-19E5-4384-B432-4894CE112E5E}" type="datetimeFigureOut">
              <a:rPr lang="ko-KR" altLang="en-US" smtClean="0"/>
              <a:t>2023-01-02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60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Agile NPD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(New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Product Development)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Process_ver1.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8656470" y="214888"/>
            <a:ext cx="48603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PD</a:t>
            </a:r>
            <a:r>
              <a:rPr lang="ko-KR" altLang="en-US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endParaRPr lang="ko-KR" altLang="en-US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377249" y="1432332"/>
            <a:ext cx="8549208" cy="271865"/>
            <a:chOff x="458930" y="5492825"/>
            <a:chExt cx="8549208" cy="271865"/>
          </a:xfrm>
        </p:grpSpPr>
        <p:sp>
          <p:nvSpPr>
            <p:cNvPr id="79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58930" y="5492825"/>
              <a:ext cx="237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 문제 발견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0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2870350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해결방안 탐색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1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930511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 개발</a:t>
              </a:r>
              <a:r>
                <a:rPr lang="en-US" altLang="ko-KR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출시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2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6992138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판매</a:t>
              </a:r>
              <a:r>
                <a:rPr lang="en-US" altLang="ko-KR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운영관리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413034" y="5445467"/>
            <a:ext cx="7416000" cy="317471"/>
            <a:chOff x="494716" y="6023283"/>
            <a:chExt cx="7302929" cy="317471"/>
          </a:xfrm>
        </p:grpSpPr>
        <p:grpSp>
          <p:nvGrpSpPr>
            <p:cNvPr id="100" name="그룹 99"/>
            <p:cNvGrpSpPr/>
            <p:nvPr/>
          </p:nvGrpSpPr>
          <p:grpSpPr>
            <a:xfrm>
              <a:off x="494716" y="6023283"/>
              <a:ext cx="1958662" cy="307276"/>
              <a:chOff x="494716" y="6023283"/>
              <a:chExt cx="1958662" cy="307276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494716" y="6023283"/>
                <a:ext cx="1958662" cy="0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904041" y="6058696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Design</a:t>
                </a:r>
                <a:r>
                  <a:rPr lang="ko-KR" altLang="en-US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Thinking</a:t>
                </a:r>
              </a:p>
            </p:txBody>
          </p:sp>
        </p:grpSp>
        <p:grpSp>
          <p:nvGrpSpPr>
            <p:cNvPr id="101" name="그룹 100"/>
            <p:cNvGrpSpPr/>
            <p:nvPr/>
          </p:nvGrpSpPr>
          <p:grpSpPr>
            <a:xfrm>
              <a:off x="2614081" y="6030227"/>
              <a:ext cx="1618729" cy="309609"/>
              <a:chOff x="2614081" y="6030227"/>
              <a:chExt cx="1618729" cy="309609"/>
            </a:xfrm>
          </p:grpSpPr>
          <p:cxnSp>
            <p:nvCxnSpPr>
              <p:cNvPr id="90" name="직선 연결선 89"/>
              <p:cNvCxnSpPr/>
              <p:nvPr/>
            </p:nvCxnSpPr>
            <p:spPr>
              <a:xfrm>
                <a:off x="2614081" y="6030227"/>
                <a:ext cx="1618729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2853439" y="6067973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Lean</a:t>
                </a:r>
              </a:p>
            </p:txBody>
          </p:sp>
        </p:grpSp>
        <p:grpSp>
          <p:nvGrpSpPr>
            <p:cNvPr id="102" name="그룹 101"/>
            <p:cNvGrpSpPr/>
            <p:nvPr/>
          </p:nvGrpSpPr>
          <p:grpSpPr>
            <a:xfrm>
              <a:off x="4388549" y="6023601"/>
              <a:ext cx="1618729" cy="312443"/>
              <a:chOff x="4388549" y="6023601"/>
              <a:chExt cx="1618729" cy="312443"/>
            </a:xfrm>
          </p:grpSpPr>
          <p:cxnSp>
            <p:nvCxnSpPr>
              <p:cNvPr id="91" name="직선 연결선 90"/>
              <p:cNvCxnSpPr/>
              <p:nvPr/>
            </p:nvCxnSpPr>
            <p:spPr>
              <a:xfrm>
                <a:off x="4388549" y="6023601"/>
                <a:ext cx="1618729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4627907" y="6064181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Agile</a:t>
                </a:r>
              </a:p>
            </p:txBody>
          </p:sp>
        </p:grpSp>
        <p:grpSp>
          <p:nvGrpSpPr>
            <p:cNvPr id="103" name="그룹 102"/>
            <p:cNvGrpSpPr/>
            <p:nvPr/>
          </p:nvGrpSpPr>
          <p:grpSpPr>
            <a:xfrm>
              <a:off x="6178916" y="6024929"/>
              <a:ext cx="1618729" cy="315825"/>
              <a:chOff x="6178916" y="6024929"/>
              <a:chExt cx="1618729" cy="31582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178916" y="6024929"/>
                <a:ext cx="1618729" cy="0"/>
              </a:xfrm>
              <a:prstGeom prst="line">
                <a:avLst/>
              </a:prstGeom>
              <a:ln w="571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6418273" y="6068891"/>
                <a:ext cx="1169886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Growth Hacking</a:t>
                </a:r>
              </a:p>
            </p:txBody>
          </p:sp>
        </p:grpSp>
      </p:grpSp>
      <p:grpSp>
        <p:nvGrpSpPr>
          <p:cNvPr id="128" name="그룹 127"/>
          <p:cNvGrpSpPr/>
          <p:nvPr/>
        </p:nvGrpSpPr>
        <p:grpSpPr>
          <a:xfrm>
            <a:off x="0" y="2059361"/>
            <a:ext cx="9231668" cy="3214559"/>
            <a:chOff x="0" y="1844675"/>
            <a:chExt cx="9231668" cy="3214559"/>
          </a:xfrm>
        </p:grpSpPr>
        <p:grpSp>
          <p:nvGrpSpPr>
            <p:cNvPr id="120" name="그룹 119"/>
            <p:cNvGrpSpPr/>
            <p:nvPr/>
          </p:nvGrpSpPr>
          <p:grpSpPr>
            <a:xfrm>
              <a:off x="0" y="1844675"/>
              <a:ext cx="9231668" cy="3214559"/>
              <a:chOff x="81681" y="2191909"/>
              <a:chExt cx="9231668" cy="3214559"/>
            </a:xfrm>
          </p:grpSpPr>
          <p:grpSp>
            <p:nvGrpSpPr>
              <p:cNvPr id="77" name="그룹 76"/>
              <p:cNvGrpSpPr/>
              <p:nvPr/>
            </p:nvGrpSpPr>
            <p:grpSpPr>
              <a:xfrm>
                <a:off x="81681" y="4232733"/>
                <a:ext cx="9000000" cy="1173735"/>
                <a:chOff x="81681" y="4232733"/>
                <a:chExt cx="9000000" cy="1173735"/>
              </a:xfrm>
            </p:grpSpPr>
            <p:cxnSp>
              <p:nvCxnSpPr>
                <p:cNvPr id="74" name="직선 연결선 73"/>
                <p:cNvCxnSpPr/>
                <p:nvPr/>
              </p:nvCxnSpPr>
              <p:spPr>
                <a:xfrm>
                  <a:off x="81681" y="5401936"/>
                  <a:ext cx="9000000" cy="0"/>
                </a:xfrm>
                <a:prstGeom prst="line">
                  <a:avLst/>
                </a:prstGeom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직선 연결선 74"/>
                <p:cNvCxnSpPr/>
                <p:nvPr/>
              </p:nvCxnSpPr>
              <p:spPr>
                <a:xfrm>
                  <a:off x="2886984" y="4232733"/>
                  <a:ext cx="0" cy="114506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직선 연결선 75"/>
                <p:cNvCxnSpPr/>
                <p:nvPr/>
              </p:nvCxnSpPr>
              <p:spPr>
                <a:xfrm>
                  <a:off x="6951426" y="4261408"/>
                  <a:ext cx="0" cy="114506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" name="그룹 87"/>
              <p:cNvGrpSpPr/>
              <p:nvPr/>
            </p:nvGrpSpPr>
            <p:grpSpPr>
              <a:xfrm>
                <a:off x="143123" y="2410335"/>
                <a:ext cx="9000877" cy="2677304"/>
                <a:chOff x="143123" y="2410335"/>
                <a:chExt cx="9000877" cy="2677304"/>
              </a:xfrm>
            </p:grpSpPr>
            <p:grpSp>
              <p:nvGrpSpPr>
                <p:cNvPr id="78" name="그룹 77"/>
                <p:cNvGrpSpPr/>
                <p:nvPr/>
              </p:nvGrpSpPr>
              <p:grpSpPr>
                <a:xfrm>
                  <a:off x="143123" y="2410335"/>
                  <a:ext cx="9000877" cy="2677304"/>
                  <a:chOff x="143123" y="2410335"/>
                  <a:chExt cx="9000877" cy="2677304"/>
                </a:xfrm>
              </p:grpSpPr>
              <p:grpSp>
                <p:nvGrpSpPr>
                  <p:cNvPr id="69" name="그룹 68"/>
                  <p:cNvGrpSpPr/>
                  <p:nvPr/>
                </p:nvGrpSpPr>
                <p:grpSpPr>
                  <a:xfrm>
                    <a:off x="143123" y="2410335"/>
                    <a:ext cx="9000877" cy="2677304"/>
                    <a:chOff x="143123" y="2410335"/>
                    <a:chExt cx="9000877" cy="2677304"/>
                  </a:xfrm>
                </p:grpSpPr>
                <p:grpSp>
                  <p:nvGrpSpPr>
                    <p:cNvPr id="28" name="그룹 27"/>
                    <p:cNvGrpSpPr/>
                    <p:nvPr/>
                  </p:nvGrpSpPr>
                  <p:grpSpPr>
                    <a:xfrm>
                      <a:off x="143123" y="2751152"/>
                      <a:ext cx="8833900" cy="2336487"/>
                      <a:chOff x="-570050" y="3391357"/>
                      <a:chExt cx="10187056" cy="2539119"/>
                    </a:xfrm>
                  </p:grpSpPr>
                  <p:sp>
                    <p:nvSpPr>
                      <p:cNvPr id="8" name="타원 7"/>
                      <p:cNvSpPr/>
                      <p:nvPr/>
                    </p:nvSpPr>
                    <p:spPr>
                      <a:xfrm>
                        <a:off x="2593354" y="3391357"/>
                        <a:ext cx="2329732" cy="2329732"/>
                      </a:xfrm>
                      <a:prstGeom prst="ellipse">
                        <a:avLst/>
                      </a:prstGeom>
                      <a:noFill/>
                      <a:ln w="76200">
                        <a:solidFill>
                          <a:schemeClr val="accent4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9" name="타원 8"/>
                      <p:cNvSpPr/>
                      <p:nvPr/>
                    </p:nvSpPr>
                    <p:spPr>
                      <a:xfrm>
                        <a:off x="4932363" y="3400633"/>
                        <a:ext cx="2329732" cy="2329732"/>
                      </a:xfrm>
                      <a:prstGeom prst="ellipse">
                        <a:avLst/>
                      </a:prstGeom>
                      <a:noFill/>
                      <a:ln w="76200"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grpSp>
                    <p:nvGrpSpPr>
                      <p:cNvPr id="14" name="그룹 13"/>
                      <p:cNvGrpSpPr/>
                      <p:nvPr/>
                    </p:nvGrpSpPr>
                    <p:grpSpPr>
                      <a:xfrm>
                        <a:off x="-570050" y="3392685"/>
                        <a:ext cx="3176177" cy="2537791"/>
                        <a:chOff x="669125" y="3480149"/>
                        <a:chExt cx="3176177" cy="2537791"/>
                      </a:xfrm>
                    </p:grpSpPr>
                    <p:sp>
                      <p:nvSpPr>
                        <p:cNvPr id="10" name="타원 9"/>
                        <p:cNvSpPr/>
                        <p:nvPr/>
                      </p:nvSpPr>
                      <p:spPr>
                        <a:xfrm>
                          <a:off x="1496171" y="3480149"/>
                          <a:ext cx="2329732" cy="2329732"/>
                        </a:xfrm>
                        <a:prstGeom prst="ellipse">
                          <a:avLst/>
                        </a:prstGeom>
                        <a:noFill/>
                        <a:ln w="76200">
                          <a:solidFill>
                            <a:srgbClr val="C0000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11" name="자유형 10"/>
                        <p:cNvSpPr/>
                        <p:nvPr/>
                      </p:nvSpPr>
                      <p:spPr>
                        <a:xfrm>
                          <a:off x="669125" y="4261900"/>
                          <a:ext cx="906451" cy="1280166"/>
                        </a:xfrm>
                        <a:custGeom>
                          <a:avLst/>
                          <a:gdLst>
                            <a:gd name="connsiteX0" fmla="*/ 818985 w 818985"/>
                            <a:gd name="connsiteY0" fmla="*/ 0 h 1152940"/>
                            <a:gd name="connsiteX1" fmla="*/ 731520 w 818985"/>
                            <a:gd name="connsiteY1" fmla="*/ 254442 h 1152940"/>
                            <a:gd name="connsiteX2" fmla="*/ 620202 w 818985"/>
                            <a:gd name="connsiteY2" fmla="*/ 755374 h 1152940"/>
                            <a:gd name="connsiteX3" fmla="*/ 0 w 818985"/>
                            <a:gd name="connsiteY3" fmla="*/ 1152940 h 115294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</a:cxnLst>
                          <a:rect l="l" t="t" r="r" b="b"/>
                          <a:pathLst>
                            <a:path w="818985" h="1152940">
                              <a:moveTo>
                                <a:pt x="818985" y="0"/>
                              </a:moveTo>
                              <a:cubicBezTo>
                                <a:pt x="791817" y="64273"/>
                                <a:pt x="764650" y="128546"/>
                                <a:pt x="731520" y="254442"/>
                              </a:cubicBezTo>
                              <a:cubicBezTo>
                                <a:pt x="698390" y="380338"/>
                                <a:pt x="742122" y="605624"/>
                                <a:pt x="620202" y="755374"/>
                              </a:cubicBezTo>
                              <a:cubicBezTo>
                                <a:pt x="498282" y="905124"/>
                                <a:pt x="84814" y="1133062"/>
                                <a:pt x="0" y="1152940"/>
                              </a:cubicBezTo>
                            </a:path>
                          </a:pathLst>
                        </a:custGeom>
                        <a:noFill/>
                        <a:ln w="76200">
                          <a:solidFill>
                            <a:srgbClr val="C0000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  <p:sp>
                      <p:nvSpPr>
                        <p:cNvPr id="13" name="타원 12"/>
                        <p:cNvSpPr/>
                        <p:nvPr/>
                      </p:nvSpPr>
                      <p:spPr>
                        <a:xfrm>
                          <a:off x="1491716" y="3688207"/>
                          <a:ext cx="2353586" cy="2329733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ko-KR" altLang="en-US"/>
                        </a:p>
                      </p:txBody>
                    </p:sp>
                  </p:grpSp>
                  <p:sp>
                    <p:nvSpPr>
                      <p:cNvPr id="16" name="타원 15"/>
                      <p:cNvSpPr/>
                      <p:nvPr/>
                    </p:nvSpPr>
                    <p:spPr>
                      <a:xfrm>
                        <a:off x="1679311" y="4173384"/>
                        <a:ext cx="898214" cy="898213"/>
                      </a:xfrm>
                      <a:prstGeom prst="ellipse">
                        <a:avLst/>
                      </a:prstGeom>
                      <a:noFill/>
                      <a:ln w="76200">
                        <a:solidFill>
                          <a:srgbClr val="C00000"/>
                        </a:solidFill>
                        <a:prstDash val="sysDot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23" name="타원 22"/>
                      <p:cNvSpPr/>
                      <p:nvPr/>
                    </p:nvSpPr>
                    <p:spPr>
                      <a:xfrm>
                        <a:off x="3410017" y="3595228"/>
                        <a:ext cx="588397" cy="536017"/>
                      </a:xfrm>
                      <a:prstGeom prst="ellipse">
                        <a:avLst/>
                      </a:prstGeom>
                      <a:noFill/>
                      <a:ln w="76200"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26" name="타원 25"/>
                      <p:cNvSpPr/>
                      <p:nvPr/>
                    </p:nvSpPr>
                    <p:spPr>
                      <a:xfrm>
                        <a:off x="7287274" y="3400633"/>
                        <a:ext cx="2329732" cy="2329732"/>
                      </a:xfrm>
                      <a:prstGeom prst="ellipse">
                        <a:avLst/>
                      </a:prstGeom>
                      <a:noFill/>
                      <a:ln w="76200">
                        <a:solidFill>
                          <a:schemeClr val="accent5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</p:grpSp>
                <p:pic>
                  <p:nvPicPr>
                    <p:cNvPr id="12" name="그림 11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2723" t="83759" r="92702" b="4347"/>
                    <a:stretch/>
                  </p:blipFill>
                  <p:spPr>
                    <a:xfrm>
                      <a:off x="273934" y="4127712"/>
                      <a:ext cx="612743" cy="588601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45" name="그림 44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57298" t="75411" r="38242" b="12863"/>
                    <a:stretch/>
                  </p:blipFill>
                  <p:spPr>
                    <a:xfrm>
                      <a:off x="4898285" y="4399147"/>
                      <a:ext cx="582627" cy="566443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46" name="그림 45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9324" t="71921" r="26093" b="16018"/>
                    <a:stretch/>
                  </p:blipFill>
                  <p:spPr>
                    <a:xfrm>
                      <a:off x="6211799" y="4393835"/>
                      <a:ext cx="598810" cy="582627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47" name="그림 46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73174" t="50256" r="22181" b="37599"/>
                    <a:stretch/>
                  </p:blipFill>
                  <p:spPr>
                    <a:xfrm>
                      <a:off x="6644968" y="3599688"/>
                      <a:ext cx="606903" cy="586673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48" name="그림 47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7424" t="25574" r="28055" b="61862"/>
                    <a:stretch/>
                  </p:blipFill>
                  <p:spPr>
                    <a:xfrm>
                      <a:off x="6196107" y="2649154"/>
                      <a:ext cx="590719" cy="606904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49" name="그림 48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54739" t="33308" r="40678" b="54295"/>
                    <a:stretch/>
                  </p:blipFill>
                  <p:spPr>
                    <a:xfrm>
                      <a:off x="4896314" y="2871933"/>
                      <a:ext cx="598811" cy="598811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50" name="그림 49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30098" t="54695" r="65443" b="32992"/>
                    <a:stretch/>
                  </p:blipFill>
                  <p:spPr>
                    <a:xfrm>
                      <a:off x="2611548" y="3615450"/>
                      <a:ext cx="582625" cy="594765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51" name="그림 50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23456" t="25937" r="72141" b="61750"/>
                    <a:stretch/>
                  </p:blipFill>
                  <p:spPr>
                    <a:xfrm>
                      <a:off x="2326987" y="2734228"/>
                      <a:ext cx="575239" cy="594765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52" name="그림 51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13678" t="26859" r="81895" b="60654"/>
                    <a:stretch/>
                  </p:blipFill>
                  <p:spPr>
                    <a:xfrm>
                      <a:off x="1630017" y="2410335"/>
                      <a:ext cx="578264" cy="603210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53" name="그림 52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943" t="69520" r="88451" b="18586"/>
                    <a:stretch/>
                  </p:blipFill>
                  <p:spPr>
                    <a:xfrm>
                      <a:off x="580443" y="3440100"/>
                      <a:ext cx="601767" cy="574535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54" name="그림 53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8473" t="47826" r="87024" b="40001"/>
                    <a:stretch/>
                  </p:blipFill>
                  <p:spPr>
                    <a:xfrm>
                      <a:off x="898497" y="2751152"/>
                      <a:ext cx="588396" cy="588045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55" name="그림 54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94273" t="46263" r="896" b="41508"/>
                    <a:stretch/>
                  </p:blipFill>
                  <p:spPr>
                    <a:xfrm>
                      <a:off x="8512821" y="4088624"/>
                      <a:ext cx="631179" cy="590719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56" name="그림 55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87347" t="24011" r="8131" b="63928"/>
                    <a:stretch/>
                  </p:blipFill>
                  <p:spPr>
                    <a:xfrm>
                      <a:off x="8436263" y="2795060"/>
                      <a:ext cx="590720" cy="582628"/>
                    </a:xfrm>
                    <a:prstGeom prst="ellipse">
                      <a:avLst/>
                    </a:prstGeom>
                  </p:spPr>
                </p:pic>
                <p:pic>
                  <p:nvPicPr>
                    <p:cNvPr id="57" name="그림 56"/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77448" t="28897" r="17968" b="58706"/>
                    <a:stretch/>
                  </p:blipFill>
                  <p:spPr>
                    <a:xfrm>
                      <a:off x="7175664" y="2633395"/>
                      <a:ext cx="598811" cy="598811"/>
                    </a:xfrm>
                    <a:prstGeom prst="ellipse">
                      <a:avLst/>
                    </a:prstGeom>
                  </p:spPr>
                </p:pic>
              </p:grpSp>
              <p:sp>
                <p:nvSpPr>
                  <p:cNvPr id="72" name="모서리가 둥근 직사각형 71"/>
                  <p:cNvSpPr/>
                  <p:nvPr/>
                </p:nvSpPr>
                <p:spPr>
                  <a:xfrm rot="18900000">
                    <a:off x="4143952" y="4390449"/>
                    <a:ext cx="828000" cy="262393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 b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a:t>Build</a:t>
                    </a:r>
                    <a:endParaRPr lang="ko-KR" altLang="en-US" sz="1200" b="1" dirty="0">
                      <a:solidFill>
                        <a:schemeClr val="accent6">
                          <a:lumMod val="50000"/>
                        </a:schemeClr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70" name="모서리가 둥근 직사각형 69"/>
                  <p:cNvSpPr/>
                  <p:nvPr/>
                </p:nvSpPr>
                <p:spPr>
                  <a:xfrm>
                    <a:off x="3538331" y="2631882"/>
                    <a:ext cx="612251" cy="262393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 b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a:t>Learn</a:t>
                    </a:r>
                    <a:endParaRPr lang="ko-KR" altLang="en-US" sz="1200" b="1" dirty="0">
                      <a:solidFill>
                        <a:schemeClr val="accent6">
                          <a:lumMod val="50000"/>
                        </a:schemeClr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  <p:sp>
                <p:nvSpPr>
                  <p:cNvPr id="73" name="모서리가 둥근 직사각형 72"/>
                  <p:cNvSpPr/>
                  <p:nvPr/>
                </p:nvSpPr>
                <p:spPr>
                  <a:xfrm rot="1800000">
                    <a:off x="2997766" y="4547688"/>
                    <a:ext cx="828000" cy="262393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accent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 b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a:t>Measure</a:t>
                    </a:r>
                    <a:endParaRPr lang="ko-KR" altLang="en-US" sz="1200" b="1" dirty="0">
                      <a:solidFill>
                        <a:schemeClr val="accent6">
                          <a:lumMod val="50000"/>
                        </a:schemeClr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endParaRPr>
                  </a:p>
                </p:txBody>
              </p:sp>
            </p:grpSp>
            <p:sp>
              <p:nvSpPr>
                <p:cNvPr id="83" name="오른쪽 화살표 82"/>
                <p:cNvSpPr/>
                <p:nvPr/>
              </p:nvSpPr>
              <p:spPr>
                <a:xfrm rot="1800000">
                  <a:off x="4174430" y="2703446"/>
                  <a:ext cx="198783" cy="230587"/>
                </a:xfrm>
                <a:prstGeom prst="rightArrow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4" name="오른쪽 화살표 83"/>
                <p:cNvSpPr/>
                <p:nvPr/>
              </p:nvSpPr>
              <p:spPr>
                <a:xfrm rot="9900000">
                  <a:off x="4048535" y="4748257"/>
                  <a:ext cx="198783" cy="230587"/>
                </a:xfrm>
                <a:prstGeom prst="rightArrow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5" name="오른쪽 화살표 84"/>
                <p:cNvSpPr/>
                <p:nvPr/>
              </p:nvSpPr>
              <p:spPr>
                <a:xfrm rot="14400000">
                  <a:off x="2904870" y="4208894"/>
                  <a:ext cx="198783" cy="230587"/>
                </a:xfrm>
                <a:prstGeom prst="rightArrow">
                  <a:avLst/>
                </a:prstGeom>
                <a:solidFill>
                  <a:schemeClr val="accent4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6" name="오른쪽 화살표 85"/>
                <p:cNvSpPr/>
                <p:nvPr/>
              </p:nvSpPr>
              <p:spPr>
                <a:xfrm rot="9900000">
                  <a:off x="8199117" y="4724402"/>
                  <a:ext cx="198783" cy="230587"/>
                </a:xfrm>
                <a:prstGeom prst="rightArrow">
                  <a:avLst/>
                </a:pr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7" name="오른쪽 화살표 86"/>
                <p:cNvSpPr/>
                <p:nvPr/>
              </p:nvSpPr>
              <p:spPr>
                <a:xfrm rot="13500000">
                  <a:off x="7150870" y="4463335"/>
                  <a:ext cx="198783" cy="230587"/>
                </a:xfrm>
                <a:prstGeom prst="rightArrow">
                  <a:avLst/>
                </a:pr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04" name="모서리가 둥근 직사각형 103"/>
              <p:cNvSpPr/>
              <p:nvPr/>
            </p:nvSpPr>
            <p:spPr>
              <a:xfrm>
                <a:off x="750863" y="4350688"/>
                <a:ext cx="612251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Need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5" name="모서리가 둥근 직사각형 104"/>
              <p:cNvSpPr/>
              <p:nvPr/>
            </p:nvSpPr>
            <p:spPr>
              <a:xfrm>
                <a:off x="1046387" y="3612543"/>
                <a:ext cx="909635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Emphasize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6" name="모서리가 둥근 직사각형 105"/>
              <p:cNvSpPr/>
              <p:nvPr/>
            </p:nvSpPr>
            <p:spPr>
              <a:xfrm>
                <a:off x="1238544" y="3073181"/>
                <a:ext cx="796992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Define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7" name="모서리가 둥근 직사각형 106"/>
              <p:cNvSpPr/>
              <p:nvPr/>
            </p:nvSpPr>
            <p:spPr>
              <a:xfrm>
                <a:off x="1470453" y="2191909"/>
                <a:ext cx="930839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Ideate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8" name="모서리가 둥근 직사각형 107"/>
              <p:cNvSpPr/>
              <p:nvPr/>
            </p:nvSpPr>
            <p:spPr>
              <a:xfrm>
                <a:off x="2453711" y="2535141"/>
                <a:ext cx="930839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Prototype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9" name="모서리가 둥근 직사각형 108"/>
              <p:cNvSpPr/>
              <p:nvPr/>
            </p:nvSpPr>
            <p:spPr>
              <a:xfrm>
                <a:off x="1993862" y="3745066"/>
                <a:ext cx="930839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Test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0" name="모서리가 둥근 직사각형 109"/>
              <p:cNvSpPr/>
              <p:nvPr/>
            </p:nvSpPr>
            <p:spPr>
              <a:xfrm>
                <a:off x="3384550" y="3045349"/>
                <a:ext cx="930839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Pivot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1" name="모서리가 둥근 직사각형 110"/>
              <p:cNvSpPr/>
              <p:nvPr/>
            </p:nvSpPr>
            <p:spPr>
              <a:xfrm>
                <a:off x="5199339" y="3419034"/>
                <a:ext cx="930839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Sprint Planning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2" name="모서리가 둥근 직사각형 111"/>
              <p:cNvSpPr/>
              <p:nvPr/>
            </p:nvSpPr>
            <p:spPr>
              <a:xfrm>
                <a:off x="5505182" y="3014842"/>
                <a:ext cx="930839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Execution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3" name="모서리가 둥근 직사각형 112"/>
              <p:cNvSpPr/>
              <p:nvPr/>
            </p:nvSpPr>
            <p:spPr>
              <a:xfrm>
                <a:off x="5804963" y="4104171"/>
                <a:ext cx="930839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Shippable</a:t>
                </a:r>
              </a:p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Increment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4" name="모서리가 둥근 직사각형 113"/>
              <p:cNvSpPr/>
              <p:nvPr/>
            </p:nvSpPr>
            <p:spPr>
              <a:xfrm>
                <a:off x="5040313" y="4145252"/>
                <a:ext cx="930839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Review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5" name="모서리가 둥근 직사각형 114"/>
              <p:cNvSpPr/>
              <p:nvPr/>
            </p:nvSpPr>
            <p:spPr>
              <a:xfrm>
                <a:off x="7037415" y="2315128"/>
                <a:ext cx="930839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Target</a:t>
                </a:r>
              </a:p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Customers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6" name="모서리가 둥근 직사각형 115"/>
              <p:cNvSpPr/>
              <p:nvPr/>
            </p:nvSpPr>
            <p:spPr>
              <a:xfrm>
                <a:off x="8382510" y="2459577"/>
                <a:ext cx="930839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Growth</a:t>
                </a:r>
              </a:p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Channels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7" name="모서리가 둥근 직사각형 116"/>
              <p:cNvSpPr/>
              <p:nvPr/>
            </p:nvSpPr>
            <p:spPr>
              <a:xfrm>
                <a:off x="7930612" y="3796722"/>
                <a:ext cx="1133876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Offer &amp;</a:t>
                </a:r>
              </a:p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Enhancement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8" name="모서리가 둥근 직사각형 117"/>
              <p:cNvSpPr/>
              <p:nvPr/>
            </p:nvSpPr>
            <p:spPr>
              <a:xfrm rot="20435400">
                <a:off x="7637739" y="4537518"/>
                <a:ext cx="1133876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Pirate Metrics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9" name="모서리가 둥근 직사각형 118"/>
              <p:cNvSpPr/>
              <p:nvPr/>
            </p:nvSpPr>
            <p:spPr>
              <a:xfrm rot="2389386">
                <a:off x="7002958" y="4340063"/>
                <a:ext cx="1133876" cy="262393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Innovation</a:t>
                </a:r>
              </a:p>
              <a:p>
                <a:r>
                  <a:rPr lang="en-US" altLang="ko-KR" sz="1050" b="1" dirty="0" smtClean="0">
                    <a:solidFill>
                      <a:schemeClr val="accent6">
                        <a:lumMod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Accounting</a:t>
                </a:r>
                <a:endParaRPr lang="ko-KR" altLang="en-US" sz="1050" b="1" dirty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125" name="그림 124"/>
            <p:cNvPicPr>
              <a:picLocks noChangeAspect="1"/>
            </p:cNvPicPr>
            <p:nvPr/>
          </p:nvPicPr>
          <p:blipFill rotWithShape="1">
            <a:blip r:embed="rId2"/>
            <a:srcRect l="30098" t="54695" r="65443" b="32992"/>
            <a:stretch/>
          </p:blipFill>
          <p:spPr>
            <a:xfrm>
              <a:off x="4550823" y="3253639"/>
              <a:ext cx="582625" cy="594765"/>
            </a:xfrm>
            <a:prstGeom prst="ellipse">
              <a:avLst/>
            </a:prstGeom>
          </p:spPr>
        </p:pic>
        <p:sp>
          <p:nvSpPr>
            <p:cNvPr id="126" name="모서리가 둥근 직사각형 125"/>
            <p:cNvSpPr/>
            <p:nvPr/>
          </p:nvSpPr>
          <p:spPr>
            <a:xfrm>
              <a:off x="3925186" y="3319644"/>
              <a:ext cx="930839" cy="262393"/>
            </a:xfrm>
            <a:prstGeom prst="round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b="1" dirty="0" smtClean="0">
                  <a:solidFill>
                    <a:schemeClr val="accent6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Test</a:t>
              </a:r>
              <a:endParaRPr lang="ko-KR" altLang="en-US" sz="1050" b="1" dirty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29" name="그룹 128"/>
          <p:cNvGrpSpPr/>
          <p:nvPr/>
        </p:nvGrpSpPr>
        <p:grpSpPr>
          <a:xfrm>
            <a:off x="365910" y="1792853"/>
            <a:ext cx="8568000" cy="217318"/>
            <a:chOff x="827086" y="1834935"/>
            <a:chExt cx="8054319" cy="305897"/>
          </a:xfrm>
        </p:grpSpPr>
        <p:grpSp>
          <p:nvGrpSpPr>
            <p:cNvPr id="130" name="그룹 129"/>
            <p:cNvGrpSpPr/>
            <p:nvPr/>
          </p:nvGrpSpPr>
          <p:grpSpPr>
            <a:xfrm>
              <a:off x="827086" y="1842167"/>
              <a:ext cx="8054319" cy="182508"/>
              <a:chOff x="827086" y="1842167"/>
              <a:chExt cx="8054319" cy="182508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827086" y="1947218"/>
                <a:ext cx="8054319" cy="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>
                <a:off x="827088" y="1843200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>
                <a:off x="3112155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>
                <a:off x="5017030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>
                <a:off x="6954866" y="1842167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>
                <a:off x="8876638" y="1844675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0E99F1C-30DB-48FD-8054-69DB86526E27}"/>
                </a:ext>
              </a:extLst>
            </p:cNvPr>
            <p:cNvSpPr txBox="1"/>
            <p:nvPr/>
          </p:nvSpPr>
          <p:spPr>
            <a:xfrm>
              <a:off x="1243125" y="1837574"/>
              <a:ext cx="1461835" cy="303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Customer-Problem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FDDD1E1-C344-4055-A5C0-5BAD62E8B2BA}"/>
                </a:ext>
              </a:extLst>
            </p:cNvPr>
            <p:cNvSpPr txBox="1"/>
            <p:nvPr/>
          </p:nvSpPr>
          <p:spPr>
            <a:xfrm>
              <a:off x="3336410" y="1837510"/>
              <a:ext cx="1440000" cy="303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Customer-Solution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BC17E81-50C9-4F73-B8A2-8CB1417691C8}"/>
                </a:ext>
              </a:extLst>
            </p:cNvPr>
            <p:cNvSpPr txBox="1"/>
            <p:nvPr/>
          </p:nvSpPr>
          <p:spPr>
            <a:xfrm>
              <a:off x="5342469" y="1834935"/>
              <a:ext cx="1285200" cy="303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Product-Market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6B70A5A-EF0B-479E-8122-A523E2D0841E}"/>
                </a:ext>
              </a:extLst>
            </p:cNvPr>
            <p:cNvSpPr txBox="1"/>
            <p:nvPr/>
          </p:nvSpPr>
          <p:spPr>
            <a:xfrm>
              <a:off x="7499881" y="1834935"/>
              <a:ext cx="913725" cy="2533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Scale up / Retire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68301" y="848417"/>
            <a:ext cx="5303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en-US" altLang="ko-KR" sz="1400" b="1" u="sng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Design Thinking + Learn + Agile + Growth Hacking</a:t>
            </a:r>
            <a:endParaRPr lang="ko-KR" altLang="en-US" sz="1400" b="1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0010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Agile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NPD : What to do 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8656470" y="214888"/>
            <a:ext cx="48603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PD</a:t>
            </a:r>
            <a:r>
              <a:rPr lang="ko-KR" altLang="en-US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endParaRPr lang="ko-KR" altLang="en-US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1" name="직사각형 310"/>
          <p:cNvSpPr/>
          <p:nvPr/>
        </p:nvSpPr>
        <p:spPr>
          <a:xfrm>
            <a:off x="935551" y="2815704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시장 및 </a:t>
            </a:r>
            <a:r>
              <a:rPr lang="en-US" altLang="ko-KR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Trend </a:t>
            </a:r>
            <a:r>
              <a:rPr lang="ko-KR" altLang="en-US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조사</a:t>
            </a:r>
            <a:endParaRPr lang="ko-KR" altLang="en-US" sz="8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855996" y="2815704"/>
            <a:ext cx="1939342" cy="752825"/>
            <a:chOff x="1110438" y="2147807"/>
            <a:chExt cx="1939342" cy="752825"/>
          </a:xfrm>
        </p:grpSpPr>
        <p:sp>
          <p:nvSpPr>
            <p:cNvPr id="312" name="직사각형 311"/>
            <p:cNvSpPr/>
            <p:nvPr/>
          </p:nvSpPr>
          <p:spPr>
            <a:xfrm>
              <a:off x="1110438" y="2377412"/>
              <a:ext cx="193934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시장 트렌드 조사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/</a:t>
              </a: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분석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경쟁사 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트렌드 </a:t>
              </a: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조사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/</a:t>
              </a: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분석</a:t>
              </a: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물건 정보 조사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/</a:t>
              </a: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분석</a:t>
              </a:r>
              <a:endPara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endPara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13" name="직사각형 312"/>
            <p:cNvSpPr/>
            <p:nvPr/>
          </p:nvSpPr>
          <p:spPr>
            <a:xfrm>
              <a:off x="1182041" y="2147807"/>
              <a:ext cx="1656000" cy="2142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시장 </a:t>
              </a:r>
              <a:r>
                <a:rPr lang="en-US" altLang="ko-KR" sz="900" b="1" dirty="0" smtClean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Trend </a:t>
              </a:r>
              <a:r>
                <a:rPr lang="ko-KR" altLang="en-US" sz="900" b="1" dirty="0" smtClean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조사</a:t>
              </a:r>
              <a:endParaRPr lang="ko-KR" altLang="en-US" sz="9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857321" y="4933475"/>
            <a:ext cx="1939342" cy="645104"/>
            <a:chOff x="1111763" y="2904506"/>
            <a:chExt cx="1939342" cy="645104"/>
          </a:xfrm>
        </p:grpSpPr>
        <p:sp>
          <p:nvSpPr>
            <p:cNvPr id="314" name="직사각형 313"/>
            <p:cNvSpPr/>
            <p:nvPr/>
          </p:nvSpPr>
          <p:spPr>
            <a:xfrm>
              <a:off x="1183366" y="2904506"/>
              <a:ext cx="1656000" cy="2142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잠재고객 발굴 및 정의</a:t>
              </a:r>
              <a:endParaRPr lang="ko-KR" altLang="en-US" sz="9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15" name="직사각형 314"/>
            <p:cNvSpPr/>
            <p:nvPr/>
          </p:nvSpPr>
          <p:spPr>
            <a:xfrm>
              <a:off x="1111763" y="3134112"/>
              <a:ext cx="1939342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잠재고객 발굴</a:t>
              </a:r>
              <a:endPara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네트워크 채널 발굴</a:t>
              </a:r>
              <a:endPara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정의 </a:t>
              </a:r>
              <a:endPara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581671" y="1234447"/>
            <a:ext cx="7850340" cy="721567"/>
            <a:chOff x="836113" y="1298064"/>
            <a:chExt cx="7850340" cy="721567"/>
          </a:xfrm>
        </p:grpSpPr>
        <p:sp>
          <p:nvSpPr>
            <p:cNvPr id="319" name="타원 318"/>
            <p:cNvSpPr/>
            <p:nvPr/>
          </p:nvSpPr>
          <p:spPr>
            <a:xfrm>
              <a:off x="3270208" y="1298064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0" name="타원 319"/>
            <p:cNvSpPr/>
            <p:nvPr/>
          </p:nvSpPr>
          <p:spPr>
            <a:xfrm>
              <a:off x="5083879" y="1300700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21" name="그룹 320"/>
            <p:cNvGrpSpPr/>
            <p:nvPr/>
          </p:nvGrpSpPr>
          <p:grpSpPr>
            <a:xfrm>
              <a:off x="836113" y="1298441"/>
              <a:ext cx="2443895" cy="721190"/>
              <a:chOff x="659956" y="3480149"/>
              <a:chExt cx="3185346" cy="2537791"/>
            </a:xfrm>
          </p:grpSpPr>
          <p:sp>
            <p:nvSpPr>
              <p:cNvPr id="330" name="타원 329"/>
              <p:cNvSpPr/>
              <p:nvPr/>
            </p:nvSpPr>
            <p:spPr>
              <a:xfrm>
                <a:off x="1496171" y="3480149"/>
                <a:ext cx="2329732" cy="2329732"/>
              </a:xfrm>
              <a:prstGeom prst="ellipse">
                <a:avLst/>
              </a:pr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1" name="자유형 330"/>
              <p:cNvSpPr/>
              <p:nvPr/>
            </p:nvSpPr>
            <p:spPr>
              <a:xfrm>
                <a:off x="659956" y="4261900"/>
                <a:ext cx="906451" cy="1280166"/>
              </a:xfrm>
              <a:custGeom>
                <a:avLst/>
                <a:gdLst>
                  <a:gd name="connsiteX0" fmla="*/ 818985 w 818985"/>
                  <a:gd name="connsiteY0" fmla="*/ 0 h 1152940"/>
                  <a:gd name="connsiteX1" fmla="*/ 731520 w 818985"/>
                  <a:gd name="connsiteY1" fmla="*/ 254442 h 1152940"/>
                  <a:gd name="connsiteX2" fmla="*/ 620202 w 818985"/>
                  <a:gd name="connsiteY2" fmla="*/ 755374 h 1152940"/>
                  <a:gd name="connsiteX3" fmla="*/ 0 w 818985"/>
                  <a:gd name="connsiteY3" fmla="*/ 1152940 h 1152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8985" h="1152940">
                    <a:moveTo>
                      <a:pt x="818985" y="0"/>
                    </a:moveTo>
                    <a:cubicBezTo>
                      <a:pt x="791817" y="64273"/>
                      <a:pt x="764650" y="128546"/>
                      <a:pt x="731520" y="254442"/>
                    </a:cubicBezTo>
                    <a:cubicBezTo>
                      <a:pt x="698390" y="380338"/>
                      <a:pt x="742122" y="605624"/>
                      <a:pt x="620202" y="755374"/>
                    </a:cubicBezTo>
                    <a:cubicBezTo>
                      <a:pt x="498282" y="905124"/>
                      <a:pt x="84814" y="1133062"/>
                      <a:pt x="0" y="1152940"/>
                    </a:cubicBezTo>
                  </a:path>
                </a:pathLst>
              </a:cu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2" name="타원 331"/>
              <p:cNvSpPr/>
              <p:nvPr/>
            </p:nvSpPr>
            <p:spPr>
              <a:xfrm>
                <a:off x="1491716" y="3688207"/>
                <a:ext cx="2353586" cy="2329733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27" name="그룹 326"/>
            <p:cNvGrpSpPr/>
            <p:nvPr/>
          </p:nvGrpSpPr>
          <p:grpSpPr>
            <a:xfrm>
              <a:off x="3193413" y="1607556"/>
              <a:ext cx="136342" cy="67217"/>
              <a:chOff x="3732422" y="4567836"/>
              <a:chExt cx="177706" cy="236527"/>
            </a:xfrm>
          </p:grpSpPr>
          <p:sp>
            <p:nvSpPr>
              <p:cNvPr id="328" name="타원 327"/>
              <p:cNvSpPr/>
              <p:nvPr/>
            </p:nvSpPr>
            <p:spPr>
              <a:xfrm>
                <a:off x="3732422" y="4567836"/>
                <a:ext cx="177706" cy="236527"/>
              </a:xfrm>
              <a:prstGeom prst="ellipse">
                <a:avLst/>
              </a:pr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9" name="타원 328"/>
              <p:cNvSpPr/>
              <p:nvPr/>
            </p:nvSpPr>
            <p:spPr>
              <a:xfrm>
                <a:off x="3784918" y="4649744"/>
                <a:ext cx="75366" cy="75363"/>
              </a:xfrm>
              <a:prstGeom prst="ellipse">
                <a:avLst/>
              </a:prstGeom>
              <a:noFill/>
              <a:ln w="571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24" name="타원 323"/>
            <p:cNvSpPr/>
            <p:nvPr/>
          </p:nvSpPr>
          <p:spPr>
            <a:xfrm>
              <a:off x="6899011" y="1300700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4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3339481" y="1429709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해결방안 탐색</a:t>
            </a:r>
            <a:endParaRPr lang="en-US" altLang="ko-KR" sz="12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8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5153152" y="1429709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개발</a:t>
            </a:r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출시</a:t>
            </a:r>
            <a:endParaRPr lang="en-US" altLang="ko-KR" sz="12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9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1198402" y="1429709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문제 발견</a:t>
            </a:r>
            <a:endParaRPr lang="en-US" altLang="ko-KR" sz="12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0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6968284" y="1429709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판매</a:t>
            </a:r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운영관리</a:t>
            </a:r>
            <a:endParaRPr lang="en-US" altLang="ko-KR" sz="12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988FDAA1-28D2-4DFD-B444-13BD6E1A727D}"/>
              </a:ext>
            </a:extLst>
          </p:cNvPr>
          <p:cNvSpPr txBox="1"/>
          <p:nvPr/>
        </p:nvSpPr>
        <p:spPr>
          <a:xfrm>
            <a:off x="823683" y="1940321"/>
            <a:ext cx="1916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고객과 사용자의 문제를 수집하고 </a:t>
            </a:r>
            <a:endParaRPr lang="en-US" altLang="ko-KR" sz="7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진짜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문제를 발견</a:t>
            </a:r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확인하는 단계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852791B3-4688-4624-9AFA-DD0AC812AB11}"/>
              </a:ext>
            </a:extLst>
          </p:cNvPr>
          <p:cNvSpPr txBox="1"/>
          <p:nvPr/>
        </p:nvSpPr>
        <p:spPr>
          <a:xfrm>
            <a:off x="2934482" y="1945089"/>
            <a:ext cx="19237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진짜 문제를 해결할 수 있는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아이디어를 도출하고 구체화하여  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고객에게 확인하는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78B07862-205B-4959-9A2C-0B6F9DBCBD6C}"/>
              </a:ext>
            </a:extLst>
          </p:cNvPr>
          <p:cNvSpPr txBox="1"/>
          <p:nvPr/>
        </p:nvSpPr>
        <p:spPr>
          <a:xfrm>
            <a:off x="4677921" y="1945481"/>
            <a:ext cx="20580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지속적인 고객 피드백과 </a:t>
            </a:r>
            <a:endParaRPr lang="en-US" altLang="ko-KR" sz="7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상품성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개선을 통해 </a:t>
            </a:r>
            <a:endParaRPr lang="en-US" altLang="ko-KR" sz="7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완전한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 출시를 준비하는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2C2AAD4F-9FDB-46FA-9198-4AB964CC10DE}"/>
              </a:ext>
            </a:extLst>
          </p:cNvPr>
          <p:cNvSpPr txBox="1"/>
          <p:nvPr/>
        </p:nvSpPr>
        <p:spPr>
          <a:xfrm>
            <a:off x="6639554" y="1937530"/>
            <a:ext cx="17490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프로덕트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목표 달성 및 유지를 </a:t>
            </a:r>
            <a:r>
              <a:rPr lang="ko-KR" altLang="en-US" sz="7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통해</a:t>
            </a:r>
            <a:endParaRPr lang="en-US" altLang="ko-KR" sz="7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비즈니스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성과를 극대화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상황에 따라 </a:t>
            </a:r>
            <a:r>
              <a:rPr lang="ko-KR" altLang="en-US" sz="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프로덕트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종료 결정</a:t>
            </a:r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572646" y="2500524"/>
            <a:ext cx="7885112" cy="201930"/>
            <a:chOff x="827088" y="1834935"/>
            <a:chExt cx="7885112" cy="284236"/>
          </a:xfrm>
        </p:grpSpPr>
        <p:grpSp>
          <p:nvGrpSpPr>
            <p:cNvPr id="10" name="그룹 9"/>
            <p:cNvGrpSpPr/>
            <p:nvPr/>
          </p:nvGrpSpPr>
          <p:grpSpPr>
            <a:xfrm>
              <a:off x="827088" y="1842167"/>
              <a:ext cx="7885112" cy="182508"/>
              <a:chOff x="827088" y="1842167"/>
              <a:chExt cx="7885112" cy="182508"/>
            </a:xfrm>
          </p:grpSpPr>
          <p:cxnSp>
            <p:nvCxnSpPr>
              <p:cNvPr id="341" name="직선 연결선 340"/>
              <p:cNvCxnSpPr/>
              <p:nvPr/>
            </p:nvCxnSpPr>
            <p:spPr>
              <a:xfrm>
                <a:off x="827088" y="1947218"/>
                <a:ext cx="7884000" cy="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/>
              <p:cNvCxnSpPr/>
              <p:nvPr/>
            </p:nvCxnSpPr>
            <p:spPr>
              <a:xfrm>
                <a:off x="827088" y="1843200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직선 연결선 341"/>
              <p:cNvCxnSpPr/>
              <p:nvPr/>
            </p:nvCxnSpPr>
            <p:spPr>
              <a:xfrm>
                <a:off x="3276600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직선 연결선 342"/>
              <p:cNvCxnSpPr/>
              <p:nvPr/>
            </p:nvCxnSpPr>
            <p:spPr>
              <a:xfrm>
                <a:off x="5076825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직선 연결선 343"/>
              <p:cNvCxnSpPr/>
              <p:nvPr/>
            </p:nvCxnSpPr>
            <p:spPr>
              <a:xfrm>
                <a:off x="6880123" y="1842167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직선 연결선 344"/>
              <p:cNvCxnSpPr/>
              <p:nvPr/>
            </p:nvCxnSpPr>
            <p:spPr>
              <a:xfrm>
                <a:off x="8712200" y="1844675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E0E99F1C-30DB-48FD-8054-69DB86526E27}"/>
                </a:ext>
              </a:extLst>
            </p:cNvPr>
            <p:cNvSpPr txBox="1"/>
            <p:nvPr/>
          </p:nvSpPr>
          <p:spPr>
            <a:xfrm>
              <a:off x="1310395" y="1837574"/>
              <a:ext cx="1461835" cy="281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Customer-Problem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FFDDD1E1-C344-4055-A5C0-5BAD62E8B2BA}"/>
                </a:ext>
              </a:extLst>
            </p:cNvPr>
            <p:cNvSpPr txBox="1"/>
            <p:nvPr/>
          </p:nvSpPr>
          <p:spPr>
            <a:xfrm>
              <a:off x="3463476" y="1837509"/>
              <a:ext cx="1440000" cy="281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Customer-Solution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FBC17E81-50C9-4F73-B8A2-8CB1417691C8}"/>
                </a:ext>
              </a:extLst>
            </p:cNvPr>
            <p:cNvSpPr txBox="1"/>
            <p:nvPr/>
          </p:nvSpPr>
          <p:spPr>
            <a:xfrm>
              <a:off x="5342469" y="1834935"/>
              <a:ext cx="1285200" cy="281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Product-Market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A6B70A5A-EF0B-479E-8122-A523E2D0841E}"/>
                </a:ext>
              </a:extLst>
            </p:cNvPr>
            <p:cNvSpPr txBox="1"/>
            <p:nvPr/>
          </p:nvSpPr>
          <p:spPr>
            <a:xfrm>
              <a:off x="7342914" y="1834935"/>
              <a:ext cx="853200" cy="281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Scale up / Retire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53" name="직사각형 352"/>
          <p:cNvSpPr/>
          <p:nvPr/>
        </p:nvSpPr>
        <p:spPr>
          <a:xfrm>
            <a:off x="3093732" y="2820621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시장 및 </a:t>
            </a:r>
            <a:r>
              <a:rPr lang="en-US" altLang="ko-KR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Trend </a:t>
            </a:r>
            <a:r>
              <a:rPr lang="ko-KR" altLang="en-US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조사</a:t>
            </a:r>
            <a:endParaRPr lang="ko-KR" altLang="en-US" sz="8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4" name="직사각형 353"/>
          <p:cNvSpPr/>
          <p:nvPr/>
        </p:nvSpPr>
        <p:spPr>
          <a:xfrm>
            <a:off x="3014177" y="3050226"/>
            <a:ext cx="1939342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페르소나 설정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5" name="직사각형 354"/>
          <p:cNvSpPr/>
          <p:nvPr/>
        </p:nvSpPr>
        <p:spPr>
          <a:xfrm>
            <a:off x="3085780" y="2820621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대상 고객 설정</a:t>
            </a:r>
            <a:endParaRPr lang="ko-KR" altLang="en-US" sz="9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6" name="직사각형 355"/>
          <p:cNvSpPr/>
          <p:nvPr/>
        </p:nvSpPr>
        <p:spPr>
          <a:xfrm>
            <a:off x="3087105" y="3362638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 </a:t>
            </a:r>
            <a:r>
              <a:rPr lang="ko-KR" altLang="en-US" sz="9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컨셉 수립</a:t>
            </a:r>
            <a:endParaRPr lang="ko-KR" altLang="en-US" sz="9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7" name="직사각형 356"/>
          <p:cNvSpPr/>
          <p:nvPr/>
        </p:nvSpPr>
        <p:spPr>
          <a:xfrm>
            <a:off x="3023453" y="3624048"/>
            <a:ext cx="19393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 시장 분석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컨셉 계획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8" name="직사각형 357"/>
          <p:cNvSpPr/>
          <p:nvPr/>
        </p:nvSpPr>
        <p:spPr>
          <a:xfrm>
            <a:off x="3084786" y="4059260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솔루션 발굴</a:t>
            </a:r>
            <a:endParaRPr lang="ko-KR" altLang="en-US" sz="9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9" name="직사각형 358"/>
          <p:cNvSpPr/>
          <p:nvPr/>
        </p:nvSpPr>
        <p:spPr>
          <a:xfrm>
            <a:off x="3084786" y="4911379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9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개발 계획 수립</a:t>
            </a:r>
            <a:endParaRPr lang="ko-KR" altLang="en-US" sz="9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0" name="직사각형 359"/>
          <p:cNvSpPr/>
          <p:nvPr/>
        </p:nvSpPr>
        <p:spPr>
          <a:xfrm>
            <a:off x="4905326" y="2825540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시장 및 </a:t>
            </a:r>
            <a:r>
              <a:rPr lang="en-US" altLang="ko-KR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Trend </a:t>
            </a:r>
            <a:r>
              <a:rPr lang="ko-KR" altLang="en-US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조사</a:t>
            </a:r>
            <a:endParaRPr lang="ko-KR" altLang="en-US" sz="8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1" name="직사각형 360"/>
          <p:cNvSpPr/>
          <p:nvPr/>
        </p:nvSpPr>
        <p:spPr>
          <a:xfrm>
            <a:off x="4825771" y="3055145"/>
            <a:ext cx="19393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고도화 및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협업</a:t>
            </a:r>
            <a:endParaRPr lang="en-US" altLang="ko-KR" sz="7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검증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Test 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500" dirty="0" err="1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PoC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500" dirty="0" smtClean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2" name="직사각형 361"/>
          <p:cNvSpPr/>
          <p:nvPr/>
        </p:nvSpPr>
        <p:spPr>
          <a:xfrm>
            <a:off x="4897374" y="2825540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9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개발</a:t>
            </a:r>
            <a:endParaRPr lang="ko-KR" altLang="en-US" sz="9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3" name="직사각형 362"/>
          <p:cNvSpPr/>
          <p:nvPr/>
        </p:nvSpPr>
        <p:spPr>
          <a:xfrm>
            <a:off x="4898699" y="3498253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9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출시 준비</a:t>
            </a:r>
            <a:endParaRPr lang="ko-KR" altLang="en-US" sz="9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4" name="직사각형 363"/>
          <p:cNvSpPr/>
          <p:nvPr/>
        </p:nvSpPr>
        <p:spPr>
          <a:xfrm>
            <a:off x="4835047" y="3759663"/>
            <a:ext cx="193934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영업계획 수립</a:t>
            </a:r>
            <a:r>
              <a:rPr lang="en-US" altLang="ko-KR" sz="5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5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판매계획</a:t>
            </a:r>
            <a:r>
              <a:rPr lang="en-US" altLang="ko-KR" sz="5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5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가격정책 </a:t>
            </a:r>
            <a:r>
              <a:rPr lang="ko-KR" altLang="en-US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dirty="0" smtClean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홍보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마케팅전략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홍보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,PR)</a:t>
            </a:r>
            <a:endParaRPr lang="en-US" altLang="ko-KR" sz="500" dirty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품질관리 계획 수립</a:t>
            </a:r>
            <a:r>
              <a:rPr lang="en-US" altLang="ko-KR" sz="5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500" dirty="0" err="1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QC,VoC</a:t>
            </a:r>
            <a:r>
              <a:rPr lang="en-US" altLang="ko-KR" sz="5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500" dirty="0" err="1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관리지표</a:t>
            </a:r>
            <a:r>
              <a:rPr lang="en-US" altLang="ko-KR" sz="5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출시</a:t>
            </a:r>
            <a:endParaRPr lang="ko-KR" altLang="en-US" sz="7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7" name="직사각형 366"/>
          <p:cNvSpPr/>
          <p:nvPr/>
        </p:nvSpPr>
        <p:spPr>
          <a:xfrm>
            <a:off x="6713840" y="2823619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시장 및 </a:t>
            </a:r>
            <a:r>
              <a:rPr lang="en-US" altLang="ko-KR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Trend </a:t>
            </a:r>
            <a:r>
              <a:rPr lang="ko-KR" altLang="en-US" sz="800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조사</a:t>
            </a:r>
            <a:endParaRPr lang="ko-KR" altLang="en-US" sz="8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8" name="직사각형 367"/>
          <p:cNvSpPr/>
          <p:nvPr/>
        </p:nvSpPr>
        <p:spPr>
          <a:xfrm>
            <a:off x="6634285" y="3053224"/>
            <a:ext cx="1939342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영업지원 전략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9" name="직사각형 368"/>
          <p:cNvSpPr/>
          <p:nvPr/>
        </p:nvSpPr>
        <p:spPr>
          <a:xfrm>
            <a:off x="6705888" y="2823619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9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9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Sales</a:t>
            </a:r>
            <a:endParaRPr lang="ko-KR" altLang="en-US" sz="9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0" name="직사각형 369"/>
          <p:cNvSpPr/>
          <p:nvPr/>
        </p:nvSpPr>
        <p:spPr>
          <a:xfrm>
            <a:off x="6707213" y="3492857"/>
            <a:ext cx="1656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9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관리 및 운영</a:t>
            </a:r>
            <a:endParaRPr lang="ko-KR" altLang="en-US" sz="9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1" name="직사각형 370"/>
          <p:cNvSpPr/>
          <p:nvPr/>
        </p:nvSpPr>
        <p:spPr>
          <a:xfrm>
            <a:off x="6643561" y="3754267"/>
            <a:ext cx="19393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품질관리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 err="1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리텐션관리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4365449" y="1089526"/>
            <a:ext cx="898312" cy="558297"/>
            <a:chOff x="4619891" y="628358"/>
            <a:chExt cx="898312" cy="558297"/>
          </a:xfrm>
        </p:grpSpPr>
        <p:sp>
          <p:nvSpPr>
            <p:cNvPr id="372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619891" y="628358"/>
              <a:ext cx="898312" cy="271863"/>
            </a:xfrm>
            <a:prstGeom prst="homePlate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accent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MVP </a:t>
              </a:r>
              <a:r>
                <a:rPr lang="ko-KR" altLang="en-US" sz="1000" b="1" dirty="0" smtClean="0">
                  <a:solidFill>
                    <a:schemeClr val="accent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출시</a:t>
              </a:r>
              <a:endParaRPr lang="en-US" altLang="ko-KR" sz="1000" b="1" dirty="0" smtClean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3" name="별: 꼭짓점 5개 18">
              <a:extLst>
                <a:ext uri="{FF2B5EF4-FFF2-40B4-BE49-F238E27FC236}">
                  <a16:creationId xmlns:a16="http://schemas.microsoft.com/office/drawing/2014/main" id="{97B0AC14-7AC5-4B43-B263-272020C210DC}"/>
                </a:ext>
              </a:extLst>
            </p:cNvPr>
            <p:cNvSpPr/>
            <p:nvPr/>
          </p:nvSpPr>
          <p:spPr>
            <a:xfrm>
              <a:off x="4951352" y="960318"/>
              <a:ext cx="235390" cy="226337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6600"/>
                </a:solidFill>
              </a:endParaRPr>
            </a:p>
          </p:txBody>
        </p:sp>
      </p:grpSp>
      <p:grpSp>
        <p:nvGrpSpPr>
          <p:cNvPr id="375" name="그룹 374"/>
          <p:cNvGrpSpPr/>
          <p:nvPr/>
        </p:nvGrpSpPr>
        <p:grpSpPr>
          <a:xfrm>
            <a:off x="6173452" y="1091535"/>
            <a:ext cx="898312" cy="558297"/>
            <a:chOff x="4619891" y="628358"/>
            <a:chExt cx="898312" cy="558297"/>
          </a:xfrm>
        </p:grpSpPr>
        <p:sp>
          <p:nvSpPr>
            <p:cNvPr id="376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619891" y="628358"/>
              <a:ext cx="898312" cy="271863"/>
            </a:xfrm>
            <a:prstGeom prst="homePlate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완제품출시</a:t>
              </a:r>
              <a:endParaRPr lang="en-US" altLang="ko-KR" sz="10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7" name="별: 꼭짓점 5개 18">
              <a:extLst>
                <a:ext uri="{FF2B5EF4-FFF2-40B4-BE49-F238E27FC236}">
                  <a16:creationId xmlns:a16="http://schemas.microsoft.com/office/drawing/2014/main" id="{97B0AC14-7AC5-4B43-B263-272020C210DC}"/>
                </a:ext>
              </a:extLst>
            </p:cNvPr>
            <p:cNvSpPr/>
            <p:nvPr/>
          </p:nvSpPr>
          <p:spPr>
            <a:xfrm>
              <a:off x="4951352" y="960318"/>
              <a:ext cx="235390" cy="226337"/>
            </a:xfrm>
            <a:prstGeom prst="star5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6600"/>
                </a:solidFill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858648" y="4278569"/>
            <a:ext cx="1939342" cy="529427"/>
            <a:chOff x="1113090" y="3565792"/>
            <a:chExt cx="1939342" cy="529427"/>
          </a:xfrm>
        </p:grpSpPr>
        <p:sp>
          <p:nvSpPr>
            <p:cNvPr id="316" name="직사각형 315"/>
            <p:cNvSpPr/>
            <p:nvPr/>
          </p:nvSpPr>
          <p:spPr>
            <a:xfrm>
              <a:off x="1181047" y="3565792"/>
              <a:ext cx="1656000" cy="2142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</a:t>
              </a:r>
              <a:r>
                <a:rPr lang="en-US" altLang="ko-KR" sz="900" b="1" dirty="0" smtClean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insight</a:t>
              </a:r>
              <a:r>
                <a:rPr lang="ko-KR" altLang="en-US" sz="900" b="1" dirty="0" smtClean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분석</a:t>
              </a:r>
              <a:endParaRPr lang="ko-KR" altLang="en-US" sz="9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78" name="직사각형 377"/>
            <p:cNvSpPr/>
            <p:nvPr/>
          </p:nvSpPr>
          <p:spPr>
            <a:xfrm>
              <a:off x="1113090" y="3787442"/>
              <a:ext cx="193934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Needs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및 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Pain-point </a:t>
              </a: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분석</a:t>
              </a:r>
              <a:endPara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err="1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인사이트</a:t>
              </a: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도출 </a:t>
              </a:r>
              <a:endParaRPr lang="ko-KR" altLang="en-US" sz="7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859974" y="5642400"/>
            <a:ext cx="1939342" cy="535532"/>
            <a:chOff x="1114416" y="4314537"/>
            <a:chExt cx="1939342" cy="535532"/>
          </a:xfrm>
        </p:grpSpPr>
        <p:sp>
          <p:nvSpPr>
            <p:cNvPr id="317" name="직사각형 316"/>
            <p:cNvSpPr/>
            <p:nvPr/>
          </p:nvSpPr>
          <p:spPr>
            <a:xfrm>
              <a:off x="1181047" y="4314537"/>
              <a:ext cx="1656000" cy="2142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문제 및 가치 정의</a:t>
              </a:r>
              <a:endParaRPr lang="ko-KR" altLang="en-US" sz="9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79" name="직사각형 378"/>
            <p:cNvSpPr/>
            <p:nvPr/>
          </p:nvSpPr>
          <p:spPr>
            <a:xfrm>
              <a:off x="1114416" y="4542292"/>
              <a:ext cx="193934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문제 정의</a:t>
              </a:r>
              <a:endPara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가치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(value) </a:t>
              </a: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정의</a:t>
              </a:r>
              <a:endPara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380" name="직사각형 379"/>
          <p:cNvSpPr/>
          <p:nvPr/>
        </p:nvSpPr>
        <p:spPr>
          <a:xfrm>
            <a:off x="3022158" y="4288867"/>
            <a:ext cx="193934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Ideation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500" dirty="0" err="1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씨드큐브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오픈이노베이션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D.T)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솔루션 탐색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협업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500" dirty="0" err="1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파트너사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,MOU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프로토타입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endParaRPr lang="ko-KR" altLang="en-US" sz="700" dirty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1" name="직사각형 380"/>
          <p:cNvSpPr/>
          <p:nvPr/>
        </p:nvSpPr>
        <p:spPr>
          <a:xfrm>
            <a:off x="3022158" y="5139660"/>
            <a:ext cx="1939342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backlog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작성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고객여정지도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500" dirty="0" err="1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워킹스켈레톤</a:t>
            </a:r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400" b="1" dirty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이해관계자 정의 및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참여</a:t>
            </a:r>
            <a:endParaRPr lang="en-US" altLang="ko-KR" sz="600" dirty="0" smtClean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사업성 분석</a:t>
            </a:r>
            <a:r>
              <a:rPr lang="en-US" altLang="ko-KR" sz="6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(Capex</a:t>
            </a:r>
            <a:r>
              <a:rPr lang="ko-KR" altLang="en-US" sz="6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r>
              <a:rPr lang="en-US" altLang="ko-KR" sz="6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dirty="0" smtClean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MVP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382" name="그룹 381"/>
          <p:cNvGrpSpPr/>
          <p:nvPr/>
        </p:nvGrpSpPr>
        <p:grpSpPr>
          <a:xfrm>
            <a:off x="857323" y="3540595"/>
            <a:ext cx="1939342" cy="645103"/>
            <a:chOff x="1110438" y="2147807"/>
            <a:chExt cx="1939342" cy="645103"/>
          </a:xfrm>
        </p:grpSpPr>
        <p:sp>
          <p:nvSpPr>
            <p:cNvPr id="383" name="직사각형 382"/>
            <p:cNvSpPr/>
            <p:nvPr/>
          </p:nvSpPr>
          <p:spPr>
            <a:xfrm>
              <a:off x="1110438" y="2377412"/>
              <a:ext cx="1939342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인터뷰</a:t>
              </a:r>
              <a:r>
                <a:rPr lang="en-US" altLang="ko-KR" sz="500" dirty="0" smtClean="0">
                  <a:solidFill>
                    <a:schemeClr val="accent6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ko-KR" altLang="en-US" sz="500" dirty="0" smtClean="0">
                  <a:solidFill>
                    <a:schemeClr val="accent6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건물주</a:t>
              </a:r>
              <a:r>
                <a:rPr lang="en-US" altLang="ko-KR" sz="500" dirty="0" smtClean="0">
                  <a:solidFill>
                    <a:schemeClr val="accent6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/</a:t>
              </a:r>
              <a:r>
                <a:rPr lang="ko-KR" altLang="en-US" sz="500" dirty="0" smtClean="0">
                  <a:solidFill>
                    <a:schemeClr val="accent6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이용자</a:t>
              </a:r>
              <a:r>
                <a:rPr lang="en-US" altLang="ko-KR" sz="500" dirty="0" smtClean="0">
                  <a:solidFill>
                    <a:schemeClr val="accent6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/</a:t>
              </a:r>
              <a:r>
                <a:rPr lang="ko-KR" altLang="en-US" sz="500" dirty="0" smtClean="0">
                  <a:solidFill>
                    <a:schemeClr val="accent6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이해관계자 등</a:t>
              </a:r>
              <a:r>
                <a:rPr lang="en-US" altLang="ko-KR" sz="500" dirty="0" smtClean="0">
                  <a:solidFill>
                    <a:schemeClr val="accent6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  <a:endParaRPr lang="en-US" altLang="ko-KR" sz="5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및 이용자 조사</a:t>
              </a:r>
              <a:endPara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</a:t>
              </a:r>
              <a:r>
                <a:rPr lang="en-US" altLang="ko-KR" sz="700" dirty="0" err="1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VoC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및 </a:t>
              </a:r>
              <a:r>
                <a:rPr lang="en-US" altLang="ko-KR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Pain-point </a:t>
              </a: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조사</a:t>
              </a:r>
              <a:endPara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384" name="직사각형 383"/>
            <p:cNvSpPr/>
            <p:nvPr/>
          </p:nvSpPr>
          <p:spPr>
            <a:xfrm>
              <a:off x="1182041" y="2147807"/>
              <a:ext cx="1656000" cy="2142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smtClean="0">
                  <a:solidFill>
                    <a:schemeClr val="tx1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고객 정보 수집</a:t>
              </a:r>
              <a:endParaRPr lang="ko-KR" altLang="en-US" sz="9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783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Agile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NPD : How to do 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8656470" y="214888"/>
            <a:ext cx="48603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PD</a:t>
            </a:r>
            <a:r>
              <a:rPr lang="ko-KR" altLang="en-US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endParaRPr lang="ko-KR" altLang="en-US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2" name="직사각형 311"/>
          <p:cNvSpPr/>
          <p:nvPr/>
        </p:nvSpPr>
        <p:spPr>
          <a:xfrm>
            <a:off x="267601" y="1614073"/>
            <a:ext cx="1939342" cy="112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시장 트렌드 조사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경제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사회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기술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,ESG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관련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Desk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esearch</a:t>
            </a: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전문가 인터뷰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경쟁사 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트렌드 조사</a:t>
            </a: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주요 플레이어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인터뷰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물건 정보 조사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endParaRPr lang="en-US" altLang="ko-KR" sz="800" b="1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사업장 정보 및 시세 분석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endParaRPr lang="en-US" altLang="ko-KR" sz="7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3" name="직사각형 312"/>
          <p:cNvSpPr/>
          <p:nvPr/>
        </p:nvSpPr>
        <p:spPr>
          <a:xfrm>
            <a:off x="339204" y="1384468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시장 </a:t>
            </a:r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Trend 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조사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4" name="직사각형 313"/>
          <p:cNvSpPr/>
          <p:nvPr/>
        </p:nvSpPr>
        <p:spPr>
          <a:xfrm>
            <a:off x="340529" y="4427304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잠재고객 발굴 및 정의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5" name="직사각형 314"/>
          <p:cNvSpPr/>
          <p:nvPr/>
        </p:nvSpPr>
        <p:spPr>
          <a:xfrm>
            <a:off x="268926" y="4648959"/>
            <a:ext cx="1939342" cy="1032142"/>
          </a:xfrm>
          <a:prstGeom prst="rect">
            <a:avLst/>
          </a:prstGeom>
        </p:spPr>
        <p:txBody>
          <a:bodyPr wrap="square" tIns="46800" anchor="ctr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잠재고객 발굴</a:t>
            </a:r>
            <a:endParaRPr lang="en-US" altLang="ko-KR" sz="8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유형별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 err="1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건물별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 err="1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특성별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 dirty="0" err="1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고객군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발굴 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네트워크 채널 발굴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플랫폼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부동산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인적 네트워크 등 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정의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End user,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서비스플랫폼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Provider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정의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L.SA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4" name="직사각형 353"/>
          <p:cNvSpPr/>
          <p:nvPr/>
        </p:nvSpPr>
        <p:spPr>
          <a:xfrm>
            <a:off x="2433734" y="1603088"/>
            <a:ext cx="193934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페르소나 설정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페르소나 고객여정지도 작성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ABC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5" name="직사각형 354"/>
          <p:cNvSpPr/>
          <p:nvPr/>
        </p:nvSpPr>
        <p:spPr>
          <a:xfrm>
            <a:off x="2497386" y="1381434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대상 고객 설정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6" name="직사각형 355"/>
          <p:cNvSpPr/>
          <p:nvPr/>
        </p:nvSpPr>
        <p:spPr>
          <a:xfrm>
            <a:off x="2498711" y="2034767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 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컨셉 수립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7" name="직사각형 356"/>
          <p:cNvSpPr/>
          <p:nvPr/>
        </p:nvSpPr>
        <p:spPr>
          <a:xfrm>
            <a:off x="2435059" y="2252871"/>
            <a:ext cx="1939342" cy="946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 시장 분석</a:t>
            </a:r>
            <a:endParaRPr lang="en-US" altLang="ko-KR" sz="9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- 3-Circle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SWOT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컨셉 계획 수립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컨셉 작성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솔루션 가설 설정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비지니스캔버스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FAQ </a:t>
            </a:r>
          </a:p>
        </p:txBody>
      </p:sp>
      <p:sp>
        <p:nvSpPr>
          <p:cNvPr id="358" name="직사각형 357"/>
          <p:cNvSpPr/>
          <p:nvPr/>
        </p:nvSpPr>
        <p:spPr>
          <a:xfrm>
            <a:off x="2496392" y="3365035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솔루션 발굴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9" name="직사각형 358"/>
          <p:cNvSpPr/>
          <p:nvPr/>
        </p:nvSpPr>
        <p:spPr>
          <a:xfrm>
            <a:off x="2496392" y="4769108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MVP 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1" name="직사각형 360"/>
          <p:cNvSpPr/>
          <p:nvPr/>
        </p:nvSpPr>
        <p:spPr>
          <a:xfrm>
            <a:off x="4571330" y="1602603"/>
            <a:ext cx="1939342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고도화 및 협업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추가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release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협의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유관 부서 개발 협업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(TF,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협의체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검증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Test</a:t>
            </a:r>
            <a:r>
              <a:rPr lang="en-US" altLang="ko-KR" sz="6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6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PoC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상품성 검증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비용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사용성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6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제공방식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구매조건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피드백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develop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backl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og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업데이트</a:t>
            </a:r>
            <a:endParaRPr lang="ko-KR" altLang="en-US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2" name="직사각형 361"/>
          <p:cNvSpPr/>
          <p:nvPr/>
        </p:nvSpPr>
        <p:spPr>
          <a:xfrm>
            <a:off x="4642933" y="1386353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개발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3" name="직사각형 362"/>
          <p:cNvSpPr/>
          <p:nvPr/>
        </p:nvSpPr>
        <p:spPr>
          <a:xfrm>
            <a:off x="4644258" y="2641142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출시 준비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4" name="직사각형 363"/>
          <p:cNvSpPr/>
          <p:nvPr/>
        </p:nvSpPr>
        <p:spPr>
          <a:xfrm>
            <a:off x="4580605" y="2862295"/>
            <a:ext cx="2280269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영업계획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판매계획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(forecast)</a:t>
            </a: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세일즈 프로모션 정책 수립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판매채널 선정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지역본부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영업팀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플랫폼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네트워크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홍보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마케팅 전략 수립</a:t>
            </a:r>
            <a:endParaRPr lang="en-US" altLang="ko-KR" sz="6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커뮤니케이션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방향성 수립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슬로건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채널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상품 설명서 및 홍보물 제작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품질관리 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계획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endParaRPr lang="en-US" altLang="ko-KR" sz="6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QC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</a:t>
            </a:r>
            <a:r>
              <a:rPr lang="en-US" altLang="ko-KR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VoC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프로세스 및 관리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유지보수 프로세스 구축 및 관리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 지표 설정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(S&amp;OP)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출시</a:t>
            </a:r>
            <a:endParaRPr lang="ko-KR" altLang="en-US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8" name="직사각형 367"/>
          <p:cNvSpPr/>
          <p:nvPr/>
        </p:nvSpPr>
        <p:spPr>
          <a:xfrm>
            <a:off x="6713801" y="1612184"/>
            <a:ext cx="193934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영업지원 전략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판매 가능 고객 발굴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세일즈 프로모션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실행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결합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기간 할인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채널별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판매현황 및 예상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추가 매출 분석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9" name="직사각형 368"/>
          <p:cNvSpPr/>
          <p:nvPr/>
        </p:nvSpPr>
        <p:spPr>
          <a:xfrm>
            <a:off x="6785404" y="1376477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Sales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0" name="직사각형 369"/>
          <p:cNvSpPr/>
          <p:nvPr/>
        </p:nvSpPr>
        <p:spPr>
          <a:xfrm>
            <a:off x="6786729" y="2302605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관리 및 운영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1" name="직사각형 370"/>
          <p:cNvSpPr/>
          <p:nvPr/>
        </p:nvSpPr>
        <p:spPr>
          <a:xfrm>
            <a:off x="6723076" y="2529509"/>
            <a:ext cx="2420923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품질관리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프로덕트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개선 사항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리스트업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품질관리 계획 수립 및 운영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리텐션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관리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고객유지활동 계획 수립 및 운영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고객피드백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모니터링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재계약 관리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336320" y="761802"/>
            <a:ext cx="8473673" cy="655243"/>
            <a:chOff x="336320" y="817459"/>
            <a:chExt cx="8473673" cy="655243"/>
          </a:xfrm>
        </p:grpSpPr>
        <p:sp>
          <p:nvSpPr>
            <p:cNvPr id="184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2464878" y="817459"/>
              <a:ext cx="2088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해결방안 탐색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8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593436" y="817459"/>
              <a:ext cx="2088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 개발</a:t>
              </a:r>
              <a:r>
                <a:rPr lang="en-US" altLang="ko-KR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출시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9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336320" y="817459"/>
              <a:ext cx="2088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 문제 발견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0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6721993" y="817459"/>
              <a:ext cx="2088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판매</a:t>
              </a:r>
              <a:r>
                <a:rPr lang="en-US" altLang="ko-KR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운영관리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342057" y="1101097"/>
              <a:ext cx="8444133" cy="159540"/>
              <a:chOff x="342057" y="1498664"/>
              <a:chExt cx="8444133" cy="159540"/>
            </a:xfrm>
          </p:grpSpPr>
          <p:grpSp>
            <p:nvGrpSpPr>
              <p:cNvPr id="3" name="그룹 2"/>
              <p:cNvGrpSpPr/>
              <p:nvPr/>
            </p:nvGrpSpPr>
            <p:grpSpPr>
              <a:xfrm>
                <a:off x="342057" y="1527655"/>
                <a:ext cx="8444133" cy="130549"/>
                <a:chOff x="342057" y="1519704"/>
                <a:chExt cx="8444133" cy="130549"/>
              </a:xfrm>
            </p:grpSpPr>
            <p:cxnSp>
              <p:nvCxnSpPr>
                <p:cNvPr id="341" name="직선 연결선 340"/>
                <p:cNvCxnSpPr/>
                <p:nvPr/>
              </p:nvCxnSpPr>
              <p:spPr>
                <a:xfrm>
                  <a:off x="342057" y="1594335"/>
                  <a:ext cx="8442942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직선 연결선 8"/>
                <p:cNvCxnSpPr/>
                <p:nvPr/>
              </p:nvCxnSpPr>
              <p:spPr>
                <a:xfrm>
                  <a:off x="342057" y="1520438"/>
                  <a:ext cx="0" cy="12787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직선 연결선 341"/>
                <p:cNvCxnSpPr/>
                <p:nvPr/>
              </p:nvCxnSpPr>
              <p:spPr>
                <a:xfrm>
                  <a:off x="2453090" y="1521051"/>
                  <a:ext cx="0" cy="12787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직선 연결선 343"/>
                <p:cNvCxnSpPr/>
                <p:nvPr/>
              </p:nvCxnSpPr>
              <p:spPr>
                <a:xfrm>
                  <a:off x="6675156" y="1519704"/>
                  <a:ext cx="0" cy="12787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직선 연결선 344"/>
                <p:cNvCxnSpPr/>
                <p:nvPr/>
              </p:nvCxnSpPr>
              <p:spPr>
                <a:xfrm>
                  <a:off x="8786190" y="1521486"/>
                  <a:ext cx="0" cy="12787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직선 연결선 77"/>
                <p:cNvCxnSpPr/>
                <p:nvPr/>
              </p:nvCxnSpPr>
              <p:spPr>
                <a:xfrm>
                  <a:off x="4587976" y="1522376"/>
                  <a:ext cx="0" cy="12787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E0E99F1C-30DB-48FD-8054-69DB86526E27}"/>
                  </a:ext>
                </a:extLst>
              </p:cNvPr>
              <p:cNvSpPr txBox="1"/>
              <p:nvPr/>
            </p:nvSpPr>
            <p:spPr>
              <a:xfrm>
                <a:off x="732406" y="1500539"/>
                <a:ext cx="1296000" cy="1421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Customer-Problem Fit </a:t>
                </a:r>
                <a:r>
                  <a:rPr lang="ko-KR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검증</a:t>
                </a: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FFDDD1E1-C344-4055-A5C0-5BAD62E8B2BA}"/>
                  </a:ext>
                </a:extLst>
              </p:cNvPr>
              <p:cNvSpPr txBox="1"/>
              <p:nvPr/>
            </p:nvSpPr>
            <p:spPr>
              <a:xfrm>
                <a:off x="2863207" y="1500493"/>
                <a:ext cx="1296000" cy="1421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Customer-Solution Fit </a:t>
                </a:r>
                <a:r>
                  <a:rPr lang="ko-KR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검증</a:t>
                </a: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FBC17E81-50C9-4F73-B8A2-8CB1417691C8}"/>
                  </a:ext>
                </a:extLst>
              </p:cNvPr>
              <p:cNvSpPr txBox="1"/>
              <p:nvPr/>
            </p:nvSpPr>
            <p:spPr>
              <a:xfrm>
                <a:off x="5058294" y="1498664"/>
                <a:ext cx="1152000" cy="1421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Product-Market Fit </a:t>
                </a:r>
                <a:r>
                  <a:rPr lang="ko-KR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검증</a:t>
                </a:r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A6B70A5A-EF0B-479E-8122-A523E2D0841E}"/>
                  </a:ext>
                </a:extLst>
              </p:cNvPr>
              <p:cNvSpPr txBox="1"/>
              <p:nvPr/>
            </p:nvSpPr>
            <p:spPr>
              <a:xfrm>
                <a:off x="7319827" y="1498664"/>
                <a:ext cx="864000" cy="1421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Scale up / Retire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4093653" y="1083317"/>
              <a:ext cx="961999" cy="389385"/>
              <a:chOff x="4619891" y="979957"/>
              <a:chExt cx="898312" cy="389385"/>
            </a:xfrm>
          </p:grpSpPr>
          <p:sp>
            <p:nvSpPr>
              <p:cNvPr id="372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4619891" y="1097479"/>
                <a:ext cx="8983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 smtClean="0">
                    <a:solidFill>
                      <a:schemeClr val="accent2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MVP </a:t>
                </a:r>
                <a:r>
                  <a:rPr lang="ko-KR" altLang="en-US" sz="900" b="1" dirty="0" smtClean="0">
                    <a:solidFill>
                      <a:schemeClr val="accent2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출시</a:t>
                </a:r>
                <a:endParaRPr lang="en-US" altLang="ko-KR" sz="900" b="1" dirty="0" smtClean="0">
                  <a:solidFill>
                    <a:schemeClr val="accent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3" name="별: 꼭짓점 5개 18">
                <a:extLst>
                  <a:ext uri="{FF2B5EF4-FFF2-40B4-BE49-F238E27FC236}">
                    <a16:creationId xmlns:a16="http://schemas.microsoft.com/office/drawing/2014/main" id="{97B0AC14-7AC5-4B43-B263-272020C210DC}"/>
                  </a:ext>
                </a:extLst>
              </p:cNvPr>
              <p:cNvSpPr/>
              <p:nvPr/>
            </p:nvSpPr>
            <p:spPr>
              <a:xfrm>
                <a:off x="4986627" y="979957"/>
                <a:ext cx="194537" cy="187055"/>
              </a:xfrm>
              <a:prstGeom prst="star5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rgbClr val="006600"/>
                  </a:solidFill>
                </a:endParaRPr>
              </a:p>
            </p:txBody>
          </p:sp>
        </p:grpSp>
        <p:grpSp>
          <p:nvGrpSpPr>
            <p:cNvPr id="375" name="그룹 374"/>
            <p:cNvGrpSpPr/>
            <p:nvPr/>
          </p:nvGrpSpPr>
          <p:grpSpPr>
            <a:xfrm>
              <a:off x="6220666" y="1089539"/>
              <a:ext cx="961999" cy="377221"/>
              <a:chOff x="4619891" y="976220"/>
              <a:chExt cx="898312" cy="377221"/>
            </a:xfrm>
          </p:grpSpPr>
          <p:sp>
            <p:nvSpPr>
              <p:cNvPr id="376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4619891" y="1081578"/>
                <a:ext cx="8983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solidFill>
                      <a:srgbClr val="C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완제품 출시</a:t>
                </a:r>
                <a:endParaRPr lang="en-US" altLang="ko-KR" sz="900" b="1" dirty="0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7" name="별: 꼭짓점 5개 18">
                <a:extLst>
                  <a:ext uri="{FF2B5EF4-FFF2-40B4-BE49-F238E27FC236}">
                    <a16:creationId xmlns:a16="http://schemas.microsoft.com/office/drawing/2014/main" id="{97B0AC14-7AC5-4B43-B263-272020C210DC}"/>
                  </a:ext>
                </a:extLst>
              </p:cNvPr>
              <p:cNvSpPr/>
              <p:nvPr/>
            </p:nvSpPr>
            <p:spPr>
              <a:xfrm>
                <a:off x="4951352" y="976220"/>
                <a:ext cx="194977" cy="187200"/>
              </a:xfrm>
              <a:prstGeom prst="star5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006600"/>
                  </a:solidFill>
                </a:endParaRPr>
              </a:p>
            </p:txBody>
          </p:sp>
        </p:grpSp>
      </p:grpSp>
      <p:sp>
        <p:nvSpPr>
          <p:cNvPr id="316" name="직사각형 315"/>
          <p:cNvSpPr/>
          <p:nvPr/>
        </p:nvSpPr>
        <p:spPr>
          <a:xfrm>
            <a:off x="338210" y="3680955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</a:t>
            </a:r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insight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분석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8" name="직사각형 377"/>
          <p:cNvSpPr/>
          <p:nvPr/>
        </p:nvSpPr>
        <p:spPr>
          <a:xfrm>
            <a:off x="270253" y="3902605"/>
            <a:ext cx="193934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Needs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</a:t>
            </a: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Pain-point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퀕트릭스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고객행동분석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인사이트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도출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7" name="직사각형 316"/>
          <p:cNvSpPr/>
          <p:nvPr/>
        </p:nvSpPr>
        <p:spPr>
          <a:xfrm>
            <a:off x="338210" y="5721919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문제 및 가치 정의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9" name="직사각형 378"/>
          <p:cNvSpPr/>
          <p:nvPr/>
        </p:nvSpPr>
        <p:spPr>
          <a:xfrm>
            <a:off x="271579" y="5949674"/>
            <a:ext cx="193934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문제 정의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Design Thinking workshop</a:t>
            </a:r>
          </a:p>
          <a:p>
            <a:r>
              <a:rPr lang="en-US" altLang="ko-KR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고객여정지도 작성</a:t>
            </a:r>
            <a:endParaRPr lang="en-US" altLang="ko-KR" sz="700" dirty="0" smtClean="0">
              <a:solidFill>
                <a:schemeClr val="tx1">
                  <a:lumMod val="50000"/>
                  <a:lumOff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카노모델</a:t>
            </a:r>
            <a:endParaRPr lang="en-US" altLang="ko-KR" sz="700" dirty="0" smtClean="0">
              <a:solidFill>
                <a:schemeClr val="tx1">
                  <a:lumMod val="50000"/>
                  <a:lumOff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가치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(value)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정의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문제 </a:t>
            </a:r>
            <a:r>
              <a:rPr lang="en-US" altLang="ko-KR" sz="7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</a:t>
            </a:r>
            <a:r>
              <a:rPr lang="ko-KR" altLang="en-US" sz="7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작성</a:t>
            </a:r>
            <a:endParaRPr lang="en-US" altLang="ko-KR" sz="700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0" name="직사각형 379"/>
          <p:cNvSpPr/>
          <p:nvPr/>
        </p:nvSpPr>
        <p:spPr>
          <a:xfrm>
            <a:off x="2433764" y="3584937"/>
            <a:ext cx="1939342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Ideation</a:t>
            </a: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씨드큐브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오픈이노베이션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err="1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프로토타입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개발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스케치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스토리보드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b="1" dirty="0" err="1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목업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개발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카카오오븐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피그마</a:t>
            </a:r>
            <a:r>
              <a:rPr lang="en-US" altLang="ko-KR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endParaRPr lang="en-US" altLang="ko-KR" sz="700" dirty="0" smtClean="0">
              <a:solidFill>
                <a:schemeClr val="tx1">
                  <a:lumMod val="50000"/>
                  <a:lumOff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솔루션 개발 방향 확정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자체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협업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벤더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POOL,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플랫폼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MOU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1" name="직사각형 380"/>
          <p:cNvSpPr/>
          <p:nvPr/>
        </p:nvSpPr>
        <p:spPr>
          <a:xfrm>
            <a:off x="2433764" y="4997389"/>
            <a:ext cx="1939342" cy="176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backlog 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작성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워킹스켈레톤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이해관계자 정의 및 </a:t>
            </a:r>
            <a:r>
              <a:rPr lang="ko-KR" altLang="en-US" sz="9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r>
              <a:rPr lang="en-US" altLang="ko-KR" sz="9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협의</a:t>
            </a:r>
            <a:endParaRPr lang="en-US" altLang="ko-KR" sz="9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이해관계자 맵</a:t>
            </a: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만다라트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분석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상품 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리스크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(RM,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구매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재무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사업성 </a:t>
            </a: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endParaRPr lang="en-US" altLang="ko-KR" sz="9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Capex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Pricing, BEP,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ROI</a:t>
            </a: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MVP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Front end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지역본부 설명회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3" name="직사각형 382"/>
          <p:cNvSpPr/>
          <p:nvPr/>
        </p:nvSpPr>
        <p:spPr>
          <a:xfrm>
            <a:off x="268928" y="2943263"/>
            <a:ext cx="1939342" cy="630942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인터뷰</a:t>
            </a:r>
            <a:endParaRPr lang="en-US" altLang="ko-KR" sz="600" dirty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건물주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이용자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이해관계자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IDI, FGI, FGD</a:t>
            </a: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및 이용자 조사</a:t>
            </a:r>
            <a:endParaRPr lang="en-US" altLang="ko-KR" sz="8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퀄트릭스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파인애플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Research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업체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활용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</a:t>
            </a:r>
            <a:r>
              <a:rPr lang="en-US" altLang="ko-KR" sz="700" b="1" dirty="0" err="1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VoC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Pain-point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조사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4" name="직사각형 383"/>
          <p:cNvSpPr/>
          <p:nvPr/>
        </p:nvSpPr>
        <p:spPr>
          <a:xfrm>
            <a:off x="340531" y="2681854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정보 수집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287520"/>
              </p:ext>
            </p:extLst>
          </p:nvPr>
        </p:nvGraphicFramePr>
        <p:xfrm>
          <a:off x="5565667" y="5080245"/>
          <a:ext cx="3415989" cy="16489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833815">
                  <a:extLst>
                    <a:ext uri="{9D8B030D-6E8A-4147-A177-3AD203B41FA5}">
                      <a16:colId xmlns:a16="http://schemas.microsoft.com/office/drawing/2014/main" val="4187331244"/>
                    </a:ext>
                  </a:extLst>
                </a:gridCol>
                <a:gridCol w="586597">
                  <a:extLst>
                    <a:ext uri="{9D8B030D-6E8A-4147-A177-3AD203B41FA5}">
                      <a16:colId xmlns:a16="http://schemas.microsoft.com/office/drawing/2014/main" val="2709555191"/>
                    </a:ext>
                  </a:extLst>
                </a:gridCol>
                <a:gridCol w="776377">
                  <a:extLst>
                    <a:ext uri="{9D8B030D-6E8A-4147-A177-3AD203B41FA5}">
                      <a16:colId xmlns:a16="http://schemas.microsoft.com/office/drawing/2014/main" val="3188573936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17392314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014507141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25839134"/>
                    </a:ext>
                  </a:extLst>
                </a:gridCol>
              </a:tblGrid>
              <a:tr h="2061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 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기준</a:t>
                      </a:r>
                      <a:endParaRPr lang="en-US" altLang="ko-KR" sz="700" b="1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en-US" altLang="ko-KR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564473"/>
                  </a:ext>
                </a:extLst>
              </a:tr>
              <a:tr h="2061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Customer</a:t>
                      </a:r>
                      <a:r>
                        <a:rPr lang="en-US" sz="6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Desirability</a:t>
                      </a:r>
                      <a:r>
                        <a:rPr lang="en-US" sz="6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sz="6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6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6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가치</a:t>
                      </a:r>
                      <a:r>
                        <a:rPr lang="en-US" altLang="ko-KR" sz="6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6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욕구</a:t>
                      </a:r>
                      <a:r>
                        <a:rPr lang="en-US" altLang="ko-KR" sz="6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문제정의</a:t>
                      </a:r>
                      <a:endParaRPr lang="en-US" altLang="ko-KR" sz="6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</a:t>
                      </a:r>
                      <a:r>
                        <a:rPr lang="ko-KR" altLang="en-US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문제 </a:t>
                      </a:r>
                      <a:r>
                        <a:rPr lang="en-US" altLang="ko-K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map </a:t>
                      </a:r>
                      <a:r>
                        <a:rPr lang="ko-KR" altLang="en-US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 </a:t>
                      </a:r>
                      <a:endParaRPr lang="en-US" altLang="ko-KR" sz="6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4943293"/>
                  </a:ext>
                </a:extLst>
              </a:tr>
              <a:tr h="2061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검증 </a:t>
                      </a:r>
                      <a:endParaRPr lang="en-US" altLang="ko-KR" sz="6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인터뷰 </a:t>
                      </a:r>
                      <a:r>
                        <a:rPr lang="en-US" altLang="ko-KR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min</a:t>
                      </a:r>
                      <a:r>
                        <a:rPr lang="en-US" altLang="ko-KR" sz="6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en-US" altLang="ko-KR" sz="6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600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6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277532"/>
                  </a:ext>
                </a:extLst>
              </a:tr>
              <a:tr h="2061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Economical Viability</a:t>
                      </a:r>
                      <a:br>
                        <a:rPr 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경제적 지속 가능성</a:t>
                      </a:r>
                      <a:r>
                        <a:rPr lang="en-US" altLang="ko-KR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물리</a:t>
                      </a:r>
                      <a:r>
                        <a:rPr lang="en-US" altLang="ko-KR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안전성</a:t>
                      </a:r>
                      <a:endParaRPr lang="en-US" altLang="ko-KR" sz="6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RISK</a:t>
                      </a:r>
                      <a:r>
                        <a:rPr lang="ko-KR" altLang="en-US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hedge</a:t>
                      </a:r>
                      <a:endParaRPr lang="en-US" altLang="ko-KR" sz="6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7198019"/>
                  </a:ext>
                </a:extLst>
              </a:tr>
              <a:tr h="2061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재무 수익성</a:t>
                      </a:r>
                      <a:endParaRPr lang="en-US" altLang="ko-KR" sz="6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EBITA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744130"/>
                  </a:ext>
                </a:extLst>
              </a:tr>
              <a:tr h="20612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6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Technical </a:t>
                      </a:r>
                      <a:r>
                        <a:rPr lang="ko-KR" altLang="en-US" sz="6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Feasibility</a:t>
                      </a:r>
                      <a:endParaRPr lang="en-US" altLang="ko-KR" sz="6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6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(기술적 실현 가능성)</a:t>
                      </a:r>
                      <a:r>
                        <a:rPr lang="en-US" altLang="ko-KR" sz="6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6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 do </a:t>
                      </a:r>
                      <a:r>
                        <a:rPr lang="ko-KR" altLang="en-US" sz="6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이행율</a:t>
                      </a:r>
                      <a:endParaRPr lang="en-US" altLang="ko-KR" sz="6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100% </a:t>
                      </a:r>
                      <a:r>
                        <a:rPr lang="ko-KR" altLang="en-US" sz="6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이행 여부</a:t>
                      </a:r>
                      <a:endParaRPr lang="en-US" altLang="ko-KR" sz="6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100%</a:t>
                      </a:r>
                      <a:endParaRPr kumimoji="0" lang="en-US" altLang="ko-KR" sz="7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1379309"/>
                  </a:ext>
                </a:extLst>
              </a:tr>
              <a:tr h="2061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완성도</a:t>
                      </a:r>
                      <a:endParaRPr lang="en-US" altLang="ko-KR" sz="6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5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오류 </a:t>
                      </a:r>
                      <a:r>
                        <a:rPr lang="ko-KR" altLang="en-US" sz="5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실행율</a:t>
                      </a:r>
                      <a:endParaRPr lang="ko-KR" altLang="en-US" sz="5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0%</a:t>
                      </a:r>
                      <a:endParaRPr lang="ko-KR" altLang="en-US" sz="6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4631415"/>
                  </a:ext>
                </a:extLst>
              </a:tr>
              <a:tr h="2061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 </a:t>
                      </a:r>
                      <a:r>
                        <a:rPr lang="ko-KR" altLang="en-US" sz="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보안성</a:t>
                      </a:r>
                      <a:endParaRPr lang="en-US" altLang="ko-KR" sz="600" b="0" i="0" u="none" strike="noStrike" dirty="0" smtClean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</a:t>
                      </a:r>
                      <a:r>
                        <a:rPr lang="ko-KR" altLang="en-US" sz="6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팀 가이드 준수 </a:t>
                      </a:r>
                      <a:endParaRPr lang="ko-KR" altLang="en-US" sz="6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0169590"/>
                  </a:ext>
                </a:extLst>
              </a:tr>
            </a:tbl>
          </a:graphicData>
        </a:graphic>
      </p:graphicFrame>
      <p:sp>
        <p:nvSpPr>
          <p:cNvPr id="58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5446203" y="4802782"/>
            <a:ext cx="1805497" cy="271863"/>
          </a:xfrm>
          <a:prstGeom prst="homePlate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9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단계별 </a:t>
            </a:r>
            <a:r>
              <a:rPr lang="en-US" altLang="ko-KR" sz="9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Gate </a:t>
            </a:r>
            <a:r>
              <a:rPr lang="ko-KR" altLang="en-US" sz="9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통과 기준 </a:t>
            </a:r>
            <a:endParaRPr lang="en-US" altLang="ko-KR" sz="900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14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1700</TotalTime>
  <Words>1018</Words>
  <Application>Microsoft Office PowerPoint</Application>
  <PresentationFormat>화면 슬라이드 쇼(4:3)</PresentationFormat>
  <Paragraphs>259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LG스마트체 Regular</vt:lpstr>
      <vt:lpstr>나눔고딕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301</cp:revision>
  <cp:lastPrinted>2022-12-23T03:34:47Z</cp:lastPrinted>
  <dcterms:created xsi:type="dcterms:W3CDTF">2022-11-29T06:03:49Z</dcterms:created>
  <dcterms:modified xsi:type="dcterms:W3CDTF">2023-01-02T08:18:58Z</dcterms:modified>
</cp:coreProperties>
</file>