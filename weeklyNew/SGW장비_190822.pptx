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4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C5003D"/>
    <a:srgbClr val="3333CC"/>
    <a:srgbClr val="777777"/>
    <a:srgbClr val="659AD5"/>
    <a:srgbClr val="FFFFFF"/>
    <a:srgbClr val="DDDDDD"/>
    <a:srgbClr val="333399"/>
    <a:srgbClr val="82B6D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4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53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91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44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78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8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03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38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91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2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57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F5D45-81E9-4313-AC33-DFAA97164F4B}" type="datetimeFigureOut">
              <a:rPr lang="ko-KR" altLang="en-US" smtClean="0"/>
              <a:t>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BA3D5-DAB1-420B-9560-CBF8A254B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C5003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</a:t>
            </a:r>
            <a:r>
              <a:rPr lang="en-US" altLang="ko-KR" dirty="0" err="1">
                <a:solidFill>
                  <a:srgbClr val="77777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xpert</a:t>
            </a:r>
            <a:r>
              <a:rPr lang="ko-KR" altLang="en-US" sz="5400" dirty="0"/>
              <a:t>용 </a:t>
            </a:r>
            <a:br>
              <a:rPr lang="en-US" altLang="ko-KR" sz="5400" dirty="0"/>
            </a:br>
            <a:r>
              <a:rPr lang="ko-KR" altLang="en-US" sz="5400" dirty="0"/>
              <a:t>신규 </a:t>
            </a:r>
            <a:r>
              <a:rPr lang="en-US" altLang="ko-KR" sz="5400" dirty="0"/>
              <a:t>RMS </a:t>
            </a:r>
            <a:r>
              <a:rPr lang="ko-KR" altLang="en-US" sz="5400" dirty="0"/>
              <a:t>장비 소개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838050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SGW2, SED2, SGW-P</a:t>
            </a:r>
          </a:p>
          <a:p>
            <a:endParaRPr lang="en-US" altLang="ko-KR" sz="2800" dirty="0"/>
          </a:p>
          <a:p>
            <a:r>
              <a:rPr lang="ko-KR" altLang="en-US" sz="2800" dirty="0"/>
              <a:t>㈜에이투유정보통신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649" y="6224436"/>
            <a:ext cx="1751351" cy="467027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205100" y="3668713"/>
            <a:ext cx="11781800" cy="0"/>
          </a:xfrm>
          <a:prstGeom prst="line">
            <a:avLst/>
          </a:prstGeom>
          <a:ln w="825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14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3103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신규 </a:t>
            </a:r>
            <a:r>
              <a:rPr lang="en-US" altLang="ko-KR" sz="2400" dirty="0"/>
              <a:t>RMS</a:t>
            </a:r>
            <a:r>
              <a:rPr lang="ko-KR" altLang="en-US" sz="2400" dirty="0"/>
              <a:t>장비 소개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기존</a:t>
            </a:r>
            <a:r>
              <a:rPr lang="en-US" altLang="ko-KR" dirty="0"/>
              <a:t> RMS</a:t>
            </a:r>
            <a:r>
              <a:rPr lang="ko-KR" altLang="en-US" dirty="0"/>
              <a:t>용 게이트웨이</a:t>
            </a:r>
            <a:r>
              <a:rPr lang="en-US" altLang="ko-KR" dirty="0"/>
              <a:t>,</a:t>
            </a:r>
            <a:r>
              <a:rPr lang="ko-KR" altLang="en-US" dirty="0" err="1"/>
              <a:t>엔드디바이스</a:t>
            </a:r>
            <a:r>
              <a:rPr lang="en-US" altLang="ko-KR" dirty="0"/>
              <a:t>, </a:t>
            </a:r>
            <a:r>
              <a:rPr lang="ko-KR" altLang="en-US" dirty="0" err="1"/>
              <a:t>스타벅스용</a:t>
            </a:r>
            <a:r>
              <a:rPr lang="ko-KR" altLang="en-US" dirty="0"/>
              <a:t> 게이트웨이 후속 모델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최대 </a:t>
            </a:r>
            <a:r>
              <a:rPr lang="en-US" altLang="ko-KR" dirty="0"/>
              <a:t>16 </a:t>
            </a:r>
            <a:r>
              <a:rPr lang="ko-KR" altLang="en-US" dirty="0"/>
              <a:t>채널의 </a:t>
            </a:r>
            <a:r>
              <a:rPr lang="en-US" altLang="ko-KR" dirty="0"/>
              <a:t>IO </a:t>
            </a:r>
            <a:r>
              <a:rPr lang="ko-KR" altLang="en-US" dirty="0"/>
              <a:t>지원</a:t>
            </a:r>
            <a:r>
              <a:rPr lang="en-US" altLang="ko-KR" dirty="0"/>
              <a:t>(IO </a:t>
            </a:r>
            <a:r>
              <a:rPr lang="ko-KR" altLang="en-US" dirty="0"/>
              <a:t>보드 모듈화로 스마트 </a:t>
            </a:r>
            <a:r>
              <a:rPr lang="ko-KR" altLang="en-US" dirty="0" err="1"/>
              <a:t>엔드디바이스</a:t>
            </a:r>
            <a:r>
              <a:rPr lang="en-US" altLang="ko-KR" dirty="0"/>
              <a:t>2</a:t>
            </a:r>
            <a:r>
              <a:rPr lang="ko-KR" altLang="en-US" dirty="0"/>
              <a:t>와 부품 공용화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새롭게</a:t>
            </a:r>
            <a:r>
              <a:rPr lang="en-US" altLang="ko-KR" dirty="0"/>
              <a:t> </a:t>
            </a:r>
            <a:r>
              <a:rPr lang="ko-KR" altLang="en-US" dirty="0"/>
              <a:t>설계된 </a:t>
            </a:r>
            <a:r>
              <a:rPr lang="en-US" altLang="ko-KR" dirty="0"/>
              <a:t>IO </a:t>
            </a:r>
            <a:r>
              <a:rPr lang="ko-KR" altLang="en-US" dirty="0"/>
              <a:t>모듈</a:t>
            </a:r>
            <a:r>
              <a:rPr lang="en-US" altLang="ko-KR" dirty="0"/>
              <a:t>(</a:t>
            </a:r>
            <a:r>
              <a:rPr lang="ko-KR" altLang="en-US" dirty="0"/>
              <a:t>각 </a:t>
            </a:r>
            <a:r>
              <a:rPr lang="en-US" altLang="ko-KR" dirty="0"/>
              <a:t>4CH)</a:t>
            </a:r>
            <a:endParaRPr lang="ko-KR" altLang="en-US" dirty="0"/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10DE53A-B5F5-4108-8A62-B18922EF86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583" y="1987110"/>
            <a:ext cx="8447307" cy="4106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C0890B-4988-4C0A-81BF-F4E2CD9AAC49}"/>
              </a:ext>
            </a:extLst>
          </p:cNvPr>
          <p:cNvSpPr txBox="1"/>
          <p:nvPr/>
        </p:nvSpPr>
        <p:spPr>
          <a:xfrm>
            <a:off x="3586480" y="6220896"/>
            <a:ext cx="543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왼쪽부터 </a:t>
            </a:r>
            <a:r>
              <a:rPr lang="en-US" altLang="ko-KR" dirty="0"/>
              <a:t>SGW2, SED2,</a:t>
            </a:r>
            <a:r>
              <a:rPr lang="ko-KR" altLang="en-US" dirty="0"/>
              <a:t> 매장형 게이트웨이</a:t>
            </a:r>
            <a:r>
              <a:rPr lang="en-US" altLang="ko-KR" dirty="0"/>
              <a:t>(SGW-P)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09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4007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스마트게이트웨이</a:t>
            </a:r>
            <a:r>
              <a:rPr lang="en-US" altLang="ko-KR" sz="2400" dirty="0"/>
              <a:t>2 - SGW2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기존</a:t>
            </a:r>
            <a:r>
              <a:rPr lang="en-US" altLang="ko-KR" dirty="0"/>
              <a:t> RMS</a:t>
            </a:r>
            <a:r>
              <a:rPr lang="ko-KR" altLang="en-US" dirty="0"/>
              <a:t>용</a:t>
            </a:r>
            <a:r>
              <a:rPr lang="en-US" altLang="ko-KR" dirty="0"/>
              <a:t>, </a:t>
            </a:r>
            <a:r>
              <a:rPr lang="ko-KR" altLang="en-US" dirty="0" err="1"/>
              <a:t>수퍼용</a:t>
            </a:r>
            <a:r>
              <a:rPr lang="en-US" altLang="ko-KR" dirty="0"/>
              <a:t> </a:t>
            </a:r>
            <a:r>
              <a:rPr lang="ko-KR" altLang="en-US" dirty="0"/>
              <a:t>게이트웨이 후속 모델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전원</a:t>
            </a:r>
            <a:r>
              <a:rPr lang="en-US" altLang="ko-KR" dirty="0"/>
              <a:t>: 100-240VAC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전원</a:t>
            </a:r>
            <a:r>
              <a:rPr lang="en-US" altLang="ko-KR" dirty="0"/>
              <a:t>: 12VDC(500mA), 24VDC(500mA)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보조 전원</a:t>
            </a:r>
            <a:r>
              <a:rPr lang="en-US" altLang="ko-KR" dirty="0"/>
              <a:t>: 1 x 18650 </a:t>
            </a:r>
            <a:r>
              <a:rPr lang="ko-KR" altLang="en-US" dirty="0"/>
              <a:t>충전지</a:t>
            </a:r>
            <a:r>
              <a:rPr lang="en-US" altLang="ko-KR" dirty="0"/>
              <a:t>(Li-ion</a:t>
            </a:r>
            <a:r>
              <a:rPr lang="ko-KR" altLang="en-US" dirty="0"/>
              <a:t> </a:t>
            </a:r>
            <a:r>
              <a:rPr lang="en-US" altLang="ko-KR" dirty="0"/>
              <a:t>2600mA)- </a:t>
            </a:r>
            <a:r>
              <a:rPr lang="ko-KR" altLang="en-US" dirty="0"/>
              <a:t>정전 시 </a:t>
            </a:r>
            <a:r>
              <a:rPr lang="en-US" altLang="ko-KR" dirty="0"/>
              <a:t>5</a:t>
            </a:r>
            <a:r>
              <a:rPr lang="ko-KR" altLang="en-US" dirty="0"/>
              <a:t>분 이상 동작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최대 </a:t>
            </a:r>
            <a:r>
              <a:rPr lang="en-US" altLang="ko-KR" dirty="0"/>
              <a:t>16 </a:t>
            </a:r>
            <a:r>
              <a:rPr lang="ko-KR" altLang="en-US" dirty="0"/>
              <a:t>채널의 </a:t>
            </a:r>
            <a:r>
              <a:rPr lang="en-US" altLang="ko-KR" dirty="0"/>
              <a:t>IO: DI/DO/AI(</a:t>
            </a:r>
            <a:r>
              <a:rPr lang="ko-KR" altLang="en-US" dirty="0"/>
              <a:t>전압</a:t>
            </a:r>
            <a:r>
              <a:rPr lang="en-US" altLang="ko-KR" dirty="0"/>
              <a:t>/</a:t>
            </a:r>
            <a:r>
              <a:rPr lang="ko-KR" altLang="en-US" dirty="0"/>
              <a:t>전류</a:t>
            </a:r>
            <a:r>
              <a:rPr lang="en-US" altLang="ko-KR" dirty="0"/>
              <a:t>)/AO(</a:t>
            </a:r>
            <a:r>
              <a:rPr lang="ko-KR" altLang="en-US" dirty="0"/>
              <a:t>전압</a:t>
            </a:r>
            <a:r>
              <a:rPr lang="en-US" altLang="ko-KR" dirty="0"/>
              <a:t>/</a:t>
            </a:r>
            <a:r>
              <a:rPr lang="ko-KR" altLang="en-US" dirty="0"/>
              <a:t>전류</a:t>
            </a:r>
            <a:r>
              <a:rPr lang="en-US" altLang="ko-KR" dirty="0"/>
              <a:t>)/RTD(PT100/PT1000)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1 x RS-485(Modbus)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1 x RJ45(Gigabit Ethernet)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Wi-Fi(IEEE802.11b/g/n/ac), Bluetooth 4.2, Bluetooth 2.0(Option), Wi-SUN/LECIM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케이스</a:t>
            </a:r>
            <a:r>
              <a:rPr lang="en-US" altLang="ko-KR" dirty="0"/>
              <a:t> </a:t>
            </a:r>
            <a:r>
              <a:rPr lang="ko-KR" altLang="en-US" dirty="0"/>
              <a:t>내부에 </a:t>
            </a:r>
            <a:r>
              <a:rPr lang="en-US" altLang="ko-KR" dirty="0"/>
              <a:t>LTE</a:t>
            </a:r>
            <a:r>
              <a:rPr lang="ko-KR" altLang="en-US" dirty="0"/>
              <a:t>라우터 장착 가능</a:t>
            </a:r>
            <a:r>
              <a:rPr lang="en-US" altLang="ko-KR" dirty="0"/>
              <a:t> 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EEA031-8A86-44E7-B197-A72079944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694" y="3429000"/>
            <a:ext cx="6131706" cy="322154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B54120F-3A53-4934-8B38-E367C5CC499A}"/>
              </a:ext>
            </a:extLst>
          </p:cNvPr>
          <p:cNvSpPr/>
          <p:nvPr/>
        </p:nvSpPr>
        <p:spPr>
          <a:xfrm>
            <a:off x="7276763" y="3430830"/>
            <a:ext cx="302715" cy="3661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①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7E8E47-E479-4E2F-BFFB-09BC0882D8E6}"/>
              </a:ext>
            </a:extLst>
          </p:cNvPr>
          <p:cNvSpPr/>
          <p:nvPr/>
        </p:nvSpPr>
        <p:spPr>
          <a:xfrm>
            <a:off x="6573570" y="3613893"/>
            <a:ext cx="307397" cy="36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②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483F3E-01B8-419C-9BC4-A0C04B207AFF}"/>
              </a:ext>
            </a:extLst>
          </p:cNvPr>
          <p:cNvSpPr/>
          <p:nvPr/>
        </p:nvSpPr>
        <p:spPr>
          <a:xfrm>
            <a:off x="5173898" y="3919814"/>
            <a:ext cx="307397" cy="36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③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BC0CAC-2C8C-4F2A-A52C-8D8D2DAEAC14}"/>
              </a:ext>
            </a:extLst>
          </p:cNvPr>
          <p:cNvSpPr/>
          <p:nvPr/>
        </p:nvSpPr>
        <p:spPr>
          <a:xfrm>
            <a:off x="6997582" y="3627851"/>
            <a:ext cx="307397" cy="36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④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E3B45B-4385-4818-908A-54185590FFC2}"/>
              </a:ext>
            </a:extLst>
          </p:cNvPr>
          <p:cNvSpPr/>
          <p:nvPr/>
        </p:nvSpPr>
        <p:spPr>
          <a:xfrm>
            <a:off x="6727268" y="4606745"/>
            <a:ext cx="307397" cy="36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⑤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ED1645-BF53-4B91-9821-033CE65A4A7E}"/>
              </a:ext>
            </a:extLst>
          </p:cNvPr>
          <p:cNvSpPr/>
          <p:nvPr/>
        </p:nvSpPr>
        <p:spPr>
          <a:xfrm>
            <a:off x="6573569" y="5039770"/>
            <a:ext cx="307397" cy="36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⑥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520C53-37CE-43BF-BEB9-0432C80D7B9D}"/>
              </a:ext>
            </a:extLst>
          </p:cNvPr>
          <p:cNvSpPr/>
          <p:nvPr/>
        </p:nvSpPr>
        <p:spPr>
          <a:xfrm>
            <a:off x="6573568" y="5537016"/>
            <a:ext cx="307397" cy="36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ct val="120000"/>
              </a:lnSpc>
            </a:pPr>
            <a:r>
              <a:rPr lang="ko-KR" altLang="en-US" sz="1600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⑦</a:t>
            </a:r>
            <a:endParaRPr lang="en-US" altLang="ko-KR" sz="1600" b="1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BE815-6C4F-4217-A29C-D123D91844F9}"/>
              </a:ext>
            </a:extLst>
          </p:cNvPr>
          <p:cNvSpPr txBox="1"/>
          <p:nvPr/>
        </p:nvSpPr>
        <p:spPr>
          <a:xfrm>
            <a:off x="570209" y="3919814"/>
            <a:ext cx="3903942" cy="24429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10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defRPr>
            </a:lvl1pPr>
          </a:lstStyle>
          <a:p>
            <a:pPr marL="0" indent="0">
              <a:buNone/>
            </a:pPr>
            <a:r>
              <a:rPr lang="ko-KR" altLang="en-US" sz="1200" b="1" dirty="0"/>
              <a:t>내부 명칭</a:t>
            </a:r>
            <a:endParaRPr lang="en-US" altLang="ko-KR" sz="1200" b="1" dirty="0"/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① 무선 안테나</a:t>
            </a:r>
            <a:endParaRPr lang="en-US" altLang="ko-KR" sz="1200" b="1" dirty="0"/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② </a:t>
            </a:r>
            <a:r>
              <a:rPr lang="ko-KR" altLang="en-US" sz="1200" b="1" dirty="0" err="1"/>
              <a:t>통신모듈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(AXM100 )</a:t>
            </a:r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③</a:t>
            </a:r>
            <a:r>
              <a:rPr lang="en-US" altLang="ko-KR" sz="1200" b="1" dirty="0"/>
              <a:t> SGW</a:t>
            </a:r>
            <a:r>
              <a:rPr lang="ko-KR" altLang="en-US" sz="1200" b="1" dirty="0"/>
              <a:t>전원 </a:t>
            </a:r>
            <a:r>
              <a:rPr lang="en-US" altLang="ko-KR" sz="1200" b="1" dirty="0"/>
              <a:t>( 220V )</a:t>
            </a:r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④ 비상 배터리 </a:t>
            </a:r>
            <a:endParaRPr lang="en-US" altLang="ko-KR" sz="1200" b="1" dirty="0"/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⑤ 메인 </a:t>
            </a:r>
            <a:r>
              <a:rPr lang="en-US" altLang="ko-KR" sz="1200" b="1" dirty="0"/>
              <a:t>CPU</a:t>
            </a:r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⑥ </a:t>
            </a:r>
            <a:r>
              <a:rPr lang="en-US" altLang="ko-KR" sz="12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HDMI</a:t>
            </a:r>
            <a:r>
              <a:rPr lang="ko-KR" altLang="en-US" sz="12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 단자</a:t>
            </a:r>
            <a:endParaRPr lang="en-US" altLang="ko-KR" sz="12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</a:endParaRPr>
          </a:p>
          <a:p>
            <a:pPr marL="0" indent="0" latinLnBrk="1">
              <a:lnSpc>
                <a:spcPct val="120000"/>
              </a:lnSpc>
              <a:buNone/>
            </a:pPr>
            <a:r>
              <a:rPr lang="ko-KR" altLang="en-US" sz="1200" b="1" dirty="0"/>
              <a:t>⑦ 가변형 </a:t>
            </a:r>
            <a:r>
              <a:rPr lang="ko-KR" altLang="en-US" sz="1200" b="1" dirty="0" err="1"/>
              <a:t>단자대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기본 </a:t>
            </a:r>
            <a:r>
              <a:rPr lang="en-US" altLang="ko-KR" sz="1200" b="1" dirty="0"/>
              <a:t>8EA</a:t>
            </a:r>
            <a:r>
              <a:rPr lang="en-US" altLang="ko-KR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 + </a:t>
            </a:r>
            <a:r>
              <a:rPr lang="ko-KR" altLang="en-US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추가옵션</a:t>
            </a:r>
            <a:r>
              <a:rPr lang="en-US" altLang="ko-KR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)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최대 </a:t>
            </a:r>
            <a:r>
              <a:rPr lang="en-US" altLang="ko-KR" sz="1200" b="1" dirty="0"/>
              <a:t>16EA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C9F13A0-123D-49FA-9B2D-D9FBBC62B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97763">
            <a:off x="9092350" y="685052"/>
            <a:ext cx="2587687" cy="19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9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스마트엔드디바이스</a:t>
            </a:r>
            <a:r>
              <a:rPr lang="en-US" altLang="ko-KR" sz="2400" dirty="0"/>
              <a:t>2 - SED2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기존</a:t>
            </a:r>
            <a:r>
              <a:rPr lang="en-US" altLang="ko-KR" dirty="0"/>
              <a:t> RMS</a:t>
            </a:r>
            <a:r>
              <a:rPr lang="ko-KR" altLang="en-US" dirty="0"/>
              <a:t>용</a:t>
            </a:r>
            <a:r>
              <a:rPr lang="en-US" altLang="ko-KR" dirty="0"/>
              <a:t>, </a:t>
            </a:r>
            <a:r>
              <a:rPr lang="ko-KR" altLang="en-US" dirty="0" err="1"/>
              <a:t>수퍼용</a:t>
            </a:r>
            <a:r>
              <a:rPr lang="en-US" altLang="ko-KR" dirty="0"/>
              <a:t> </a:t>
            </a:r>
            <a:r>
              <a:rPr lang="ko-KR" altLang="en-US" dirty="0" err="1"/>
              <a:t>엔드디바이스</a:t>
            </a:r>
            <a:r>
              <a:rPr lang="ko-KR" altLang="en-US" dirty="0"/>
              <a:t> 후속 모델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전원</a:t>
            </a:r>
            <a:r>
              <a:rPr lang="en-US" altLang="ko-KR" dirty="0"/>
              <a:t>: 100-240VAC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전원</a:t>
            </a:r>
            <a:r>
              <a:rPr lang="en-US" altLang="ko-KR" dirty="0"/>
              <a:t>: 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보조 전원</a:t>
            </a:r>
            <a:r>
              <a:rPr lang="en-US" altLang="ko-KR" dirty="0"/>
              <a:t>: 1 x 18650 </a:t>
            </a:r>
            <a:r>
              <a:rPr lang="ko-KR" altLang="en-US" dirty="0"/>
              <a:t>충전지</a:t>
            </a:r>
            <a:r>
              <a:rPr lang="en-US" altLang="ko-KR" dirty="0"/>
              <a:t>(Li-ion</a:t>
            </a:r>
            <a:r>
              <a:rPr lang="ko-KR" altLang="en-US" dirty="0"/>
              <a:t> </a:t>
            </a:r>
            <a:r>
              <a:rPr lang="en-US" altLang="ko-KR" dirty="0"/>
              <a:t>2600mA)- </a:t>
            </a:r>
            <a:r>
              <a:rPr lang="ko-KR" altLang="en-US" dirty="0"/>
              <a:t>정전 시 </a:t>
            </a:r>
            <a:r>
              <a:rPr lang="en-US" altLang="ko-KR" dirty="0"/>
              <a:t>10</a:t>
            </a:r>
            <a:r>
              <a:rPr lang="ko-KR" altLang="en-US" dirty="0"/>
              <a:t>분 이상 동작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최대 </a:t>
            </a:r>
            <a:r>
              <a:rPr lang="en-US" altLang="ko-KR" dirty="0"/>
              <a:t>16 </a:t>
            </a:r>
            <a:r>
              <a:rPr lang="ko-KR" altLang="en-US" dirty="0"/>
              <a:t>채널의 </a:t>
            </a:r>
            <a:r>
              <a:rPr lang="en-US" altLang="ko-KR" dirty="0"/>
              <a:t>IO: DI/DO/AI(</a:t>
            </a:r>
            <a:r>
              <a:rPr lang="ko-KR" altLang="en-US" dirty="0"/>
              <a:t>전압</a:t>
            </a:r>
            <a:r>
              <a:rPr lang="en-US" altLang="ko-KR" dirty="0"/>
              <a:t>/</a:t>
            </a:r>
            <a:r>
              <a:rPr lang="ko-KR" altLang="en-US" dirty="0"/>
              <a:t>전류</a:t>
            </a:r>
            <a:r>
              <a:rPr lang="en-US" altLang="ko-KR" dirty="0"/>
              <a:t>)/AO(</a:t>
            </a:r>
            <a:r>
              <a:rPr lang="ko-KR" altLang="en-US" dirty="0"/>
              <a:t>전압</a:t>
            </a:r>
            <a:r>
              <a:rPr lang="en-US" altLang="ko-KR" dirty="0"/>
              <a:t>/</a:t>
            </a:r>
            <a:r>
              <a:rPr lang="ko-KR" altLang="en-US" dirty="0"/>
              <a:t>전류</a:t>
            </a:r>
            <a:r>
              <a:rPr lang="en-US" altLang="ko-KR" dirty="0"/>
              <a:t>)/RTD(PT100/PT1000)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1 x RS-485(Modbus)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Bluetooth 2.0(Option), Wi-SUN/LECIM 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B21D93-8304-42BD-AD67-25C514CFE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998" y="3927688"/>
            <a:ext cx="4281098" cy="222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8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5205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매장형 </a:t>
            </a:r>
            <a:r>
              <a:rPr lang="ko-KR" altLang="en-US" sz="2400" dirty="0" err="1"/>
              <a:t>스마트게이트웨이</a:t>
            </a:r>
            <a:r>
              <a:rPr lang="ko-KR" altLang="en-US" sz="2400" dirty="0"/>
              <a:t> </a:t>
            </a:r>
            <a:r>
              <a:rPr lang="en-US" altLang="ko-KR" sz="2400" dirty="0"/>
              <a:t>– SGW-P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매장형</a:t>
            </a:r>
            <a:r>
              <a:rPr lang="en-US" altLang="ko-KR" dirty="0"/>
              <a:t> </a:t>
            </a:r>
            <a:r>
              <a:rPr lang="ko-KR" altLang="en-US" dirty="0"/>
              <a:t>게이트웨이</a:t>
            </a:r>
            <a:r>
              <a:rPr lang="en-US" altLang="ko-KR" dirty="0"/>
              <a:t>,</a:t>
            </a:r>
            <a:r>
              <a:rPr lang="ko-KR" altLang="en-US" dirty="0"/>
              <a:t> 기존</a:t>
            </a:r>
            <a:r>
              <a:rPr lang="en-US" altLang="ko-KR" dirty="0"/>
              <a:t> </a:t>
            </a:r>
            <a:r>
              <a:rPr lang="ko-KR" altLang="en-US" dirty="0" err="1"/>
              <a:t>스타벅스용</a:t>
            </a:r>
            <a:r>
              <a:rPr lang="ko-KR" altLang="en-US" dirty="0"/>
              <a:t> 게이트웨이 후속 모델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전원</a:t>
            </a:r>
            <a:r>
              <a:rPr lang="en-US" altLang="ko-KR" dirty="0"/>
              <a:t>: 5VDC/3A </a:t>
            </a:r>
            <a:r>
              <a:rPr lang="ko-KR" altLang="en-US" dirty="0" err="1"/>
              <a:t>어뎁터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전원</a:t>
            </a:r>
            <a:r>
              <a:rPr lang="en-US" altLang="ko-KR" dirty="0"/>
              <a:t>: 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보조 전원</a:t>
            </a:r>
            <a:r>
              <a:rPr lang="en-US" altLang="ko-KR" dirty="0"/>
              <a:t>: 1 x 18650 </a:t>
            </a:r>
            <a:r>
              <a:rPr lang="ko-KR" altLang="en-US" dirty="0"/>
              <a:t>충전지</a:t>
            </a:r>
            <a:r>
              <a:rPr lang="en-US" altLang="ko-KR" dirty="0"/>
              <a:t>(Li-ion</a:t>
            </a:r>
            <a:r>
              <a:rPr lang="ko-KR" altLang="en-US" dirty="0"/>
              <a:t> </a:t>
            </a:r>
            <a:r>
              <a:rPr lang="en-US" altLang="ko-KR" dirty="0"/>
              <a:t>2600mA)- </a:t>
            </a:r>
            <a:r>
              <a:rPr lang="ko-KR" altLang="en-US" dirty="0"/>
              <a:t>정전 시 </a:t>
            </a:r>
            <a:r>
              <a:rPr lang="en-US" altLang="ko-KR" dirty="0"/>
              <a:t>5</a:t>
            </a:r>
            <a:r>
              <a:rPr lang="ko-KR" altLang="en-US" dirty="0"/>
              <a:t>분 이상 동작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DI x 2CH, DO x 2CH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1 x RS-485(Modbus)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Bluetooth 2.0(Option), Wi-SUN/LECIM, HOSEO</a:t>
            </a:r>
            <a:r>
              <a:rPr lang="ko-KR" altLang="en-US" dirty="0"/>
              <a:t>모뎀</a:t>
            </a:r>
            <a:r>
              <a:rPr lang="en-US" altLang="ko-KR" dirty="0"/>
              <a:t> 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C5CEEDC-40A1-43FE-84CA-1095A5F15F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232" y="3977275"/>
            <a:ext cx="2544629" cy="192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4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IO</a:t>
            </a:r>
            <a:r>
              <a:rPr lang="ko-KR" altLang="en-US" sz="2400" dirty="0"/>
              <a:t> 모듈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IO</a:t>
            </a:r>
            <a:r>
              <a:rPr lang="ko-KR" altLang="en-US" dirty="0"/>
              <a:t>모듈은 게이트웨이와 </a:t>
            </a:r>
            <a:r>
              <a:rPr lang="ko-KR" altLang="en-US" dirty="0" err="1"/>
              <a:t>엔드디바이스에서</a:t>
            </a:r>
            <a:r>
              <a:rPr lang="ko-KR" altLang="en-US" dirty="0"/>
              <a:t> 공용으로 사용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DI, DO, AI, AO, RTD </a:t>
            </a:r>
            <a:r>
              <a:rPr lang="ko-KR" altLang="en-US" dirty="0"/>
              <a:t>등 </a:t>
            </a:r>
            <a:r>
              <a:rPr lang="en-US" altLang="ko-KR" dirty="0"/>
              <a:t>5</a:t>
            </a:r>
            <a:r>
              <a:rPr lang="ko-KR" altLang="en-US" dirty="0"/>
              <a:t>종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모든 모듈은 각각 </a:t>
            </a:r>
            <a:r>
              <a:rPr lang="en-US" altLang="ko-KR" dirty="0"/>
              <a:t>4</a:t>
            </a:r>
            <a:r>
              <a:rPr lang="ko-KR" altLang="en-US" dirty="0"/>
              <a:t>개의 입</a:t>
            </a:r>
            <a:r>
              <a:rPr lang="en-US" altLang="ko-KR" dirty="0"/>
              <a:t>/</a:t>
            </a:r>
            <a:r>
              <a:rPr lang="ko-KR" altLang="en-US" dirty="0"/>
              <a:t>출력 채널로 구성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각 기기 당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IO</a:t>
            </a:r>
            <a:r>
              <a:rPr lang="ko-KR" altLang="en-US" dirty="0"/>
              <a:t>모듈 슬롯이 있어 최대 </a:t>
            </a:r>
            <a:r>
              <a:rPr lang="en-US" altLang="ko-KR" dirty="0"/>
              <a:t>16</a:t>
            </a:r>
            <a:r>
              <a:rPr lang="ko-KR" altLang="en-US" dirty="0"/>
              <a:t>개 </a:t>
            </a:r>
            <a:r>
              <a:rPr lang="en-US" altLang="ko-KR" dirty="0"/>
              <a:t>IO</a:t>
            </a:r>
            <a:r>
              <a:rPr lang="ko-KR" altLang="en-US" dirty="0"/>
              <a:t>채널 확장 가능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임의의 </a:t>
            </a:r>
            <a:r>
              <a:rPr lang="en-US" altLang="ko-KR" dirty="0"/>
              <a:t>IO</a:t>
            </a:r>
            <a:r>
              <a:rPr lang="ko-KR" altLang="en-US" dirty="0"/>
              <a:t>모듈을 임의의 슬롯에 장착 가능</a:t>
            </a:r>
            <a:r>
              <a:rPr lang="en-US" altLang="ko-KR" dirty="0"/>
              <a:t>(</a:t>
            </a:r>
            <a:r>
              <a:rPr lang="ko-KR" altLang="en-US" dirty="0"/>
              <a:t>자동 인식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813BEA8-AC89-4745-96C6-B7ACDAAB5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598" y="2720169"/>
            <a:ext cx="4765153" cy="31829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FBDE4-5ABC-4222-8A57-F18C9684812F}"/>
              </a:ext>
            </a:extLst>
          </p:cNvPr>
          <p:cNvSpPr txBox="1"/>
          <p:nvPr/>
        </p:nvSpPr>
        <p:spPr>
          <a:xfrm>
            <a:off x="3036246" y="6036230"/>
            <a:ext cx="4765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왼쪽 상단부터 </a:t>
            </a:r>
            <a:r>
              <a:rPr lang="en-US" altLang="ko-KR" sz="1600" dirty="0"/>
              <a:t>RTD, AO, AI, DI, DO(Relay) module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80138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2201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IO</a:t>
            </a:r>
            <a:r>
              <a:rPr lang="ko-KR" altLang="en-US" sz="2400" dirty="0"/>
              <a:t> 모듈</a:t>
            </a:r>
            <a:r>
              <a:rPr lang="en-US" altLang="ko-KR" sz="2400" dirty="0"/>
              <a:t>-AI/AO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AI </a:t>
            </a:r>
            <a:r>
              <a:rPr lang="ko-KR" altLang="en-US" dirty="0"/>
              <a:t>모듈 </a:t>
            </a:r>
            <a:r>
              <a:rPr lang="en-US" altLang="ko-KR" dirty="0"/>
              <a:t>- </a:t>
            </a:r>
            <a:r>
              <a:rPr lang="ko-KR" altLang="en-US" dirty="0"/>
              <a:t>아날로그 전압</a:t>
            </a:r>
            <a:r>
              <a:rPr lang="en-US" altLang="ko-KR" dirty="0"/>
              <a:t>/</a:t>
            </a:r>
            <a:r>
              <a:rPr lang="ko-KR" altLang="en-US" dirty="0"/>
              <a:t>전류 입력 모듈</a:t>
            </a:r>
            <a:r>
              <a:rPr lang="en-US" altLang="ko-KR" dirty="0"/>
              <a:t>(</a:t>
            </a:r>
            <a:r>
              <a:rPr lang="ko-KR" altLang="en-US" dirty="0"/>
              <a:t>전압</a:t>
            </a:r>
            <a:r>
              <a:rPr lang="en-US" altLang="ko-KR" dirty="0"/>
              <a:t>/</a:t>
            </a:r>
            <a:r>
              <a:rPr lang="ko-KR" altLang="en-US" dirty="0"/>
              <a:t>전류 변경은 점퍼로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r>
              <a:rPr lang="en-US" altLang="ko-KR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입력 전압</a:t>
            </a:r>
            <a:r>
              <a:rPr lang="en-US" altLang="ko-KR" dirty="0"/>
              <a:t>: 0 ~ 12VDC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전류</a:t>
            </a:r>
            <a:r>
              <a:rPr lang="en-US" altLang="ko-KR" dirty="0"/>
              <a:t>: 4 ~ 20mA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AO </a:t>
            </a:r>
            <a:r>
              <a:rPr lang="ko-KR" altLang="en-US" dirty="0"/>
              <a:t>모듈 </a:t>
            </a:r>
            <a:r>
              <a:rPr lang="en-US" altLang="ko-KR" dirty="0"/>
              <a:t>- </a:t>
            </a:r>
            <a:r>
              <a:rPr lang="ko-KR" altLang="en-US" dirty="0"/>
              <a:t>아날로그 전압</a:t>
            </a:r>
            <a:r>
              <a:rPr lang="en-US" altLang="ko-KR" dirty="0"/>
              <a:t>/</a:t>
            </a:r>
            <a:r>
              <a:rPr lang="ko-KR" altLang="en-US" dirty="0"/>
              <a:t>전류 출력 모듈</a:t>
            </a:r>
            <a:r>
              <a:rPr lang="en-US" altLang="ko-KR" dirty="0"/>
              <a:t> (</a:t>
            </a:r>
            <a:r>
              <a:rPr lang="ko-KR" altLang="en-US" dirty="0"/>
              <a:t>전압</a:t>
            </a:r>
            <a:r>
              <a:rPr lang="en-US" altLang="ko-KR" dirty="0"/>
              <a:t>/</a:t>
            </a:r>
            <a:r>
              <a:rPr lang="ko-KR" altLang="en-US" dirty="0"/>
              <a:t>전류 변경은 점퍼로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r>
              <a:rPr lang="en-US" altLang="ko-KR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출력 전압</a:t>
            </a:r>
            <a:r>
              <a:rPr lang="en-US" altLang="ko-KR" dirty="0"/>
              <a:t>: 0 ~ 24VDC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전류</a:t>
            </a:r>
            <a:r>
              <a:rPr lang="en-US" altLang="ko-KR" dirty="0"/>
              <a:t>: 4 ~ 20mA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FBDE4-5ABC-4222-8A57-F18C9684812F}"/>
              </a:ext>
            </a:extLst>
          </p:cNvPr>
          <p:cNvSpPr txBox="1"/>
          <p:nvPr/>
        </p:nvSpPr>
        <p:spPr>
          <a:xfrm>
            <a:off x="3299362" y="5795598"/>
            <a:ext cx="125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AO module</a:t>
            </a:r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C5D80B-75A8-4BDF-99EB-5C47033257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85" y="3233279"/>
            <a:ext cx="2551900" cy="24721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3DB2C0-28AE-47CB-8C14-D6A32BAE13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969" y="3233280"/>
            <a:ext cx="2863670" cy="24721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FF32AF-2DDB-4121-9C64-FB04ED792F58}"/>
              </a:ext>
            </a:extLst>
          </p:cNvPr>
          <p:cNvSpPr txBox="1"/>
          <p:nvPr/>
        </p:nvSpPr>
        <p:spPr>
          <a:xfrm>
            <a:off x="6589720" y="5795598"/>
            <a:ext cx="1156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AI module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487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2244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IO</a:t>
            </a:r>
            <a:r>
              <a:rPr lang="ko-KR" altLang="en-US" sz="2400" dirty="0"/>
              <a:t> 모듈</a:t>
            </a:r>
            <a:r>
              <a:rPr lang="en-US" altLang="ko-KR" sz="2400" dirty="0"/>
              <a:t>-DI/DO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DI </a:t>
            </a:r>
            <a:r>
              <a:rPr lang="ko-KR" altLang="en-US" dirty="0"/>
              <a:t>모듈 </a:t>
            </a:r>
            <a:r>
              <a:rPr lang="en-US" altLang="ko-KR" dirty="0"/>
              <a:t>– </a:t>
            </a:r>
            <a:r>
              <a:rPr lang="ko-KR" altLang="en-US" dirty="0"/>
              <a:t>디지털</a:t>
            </a:r>
            <a:r>
              <a:rPr lang="en-US" altLang="ko-KR" dirty="0"/>
              <a:t> </a:t>
            </a:r>
            <a:r>
              <a:rPr lang="ko-KR" altLang="en-US" dirty="0"/>
              <a:t>전압 입력 모듈</a:t>
            </a:r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/>
              <a:t>입력 전압</a:t>
            </a:r>
            <a:r>
              <a:rPr lang="en-US" altLang="ko-KR" dirty="0"/>
              <a:t>: 0 ~ 24VDC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Logic</a:t>
            </a:r>
            <a:r>
              <a:rPr lang="ko-KR" altLang="en-US" dirty="0"/>
              <a:t> </a:t>
            </a:r>
            <a:r>
              <a:rPr lang="en-US" altLang="ko-KR" dirty="0"/>
              <a:t>High</a:t>
            </a:r>
            <a:r>
              <a:rPr lang="ko-KR" altLang="en-US" dirty="0"/>
              <a:t> </a:t>
            </a:r>
            <a:r>
              <a:rPr lang="en-US" altLang="ko-KR" dirty="0"/>
              <a:t>level: 3.6V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DO </a:t>
            </a:r>
            <a:r>
              <a:rPr lang="ko-KR" altLang="en-US" dirty="0"/>
              <a:t>모듈 </a:t>
            </a:r>
            <a:r>
              <a:rPr lang="en-US" altLang="ko-KR" dirty="0"/>
              <a:t>– </a:t>
            </a:r>
            <a:r>
              <a:rPr lang="ko-KR" altLang="en-US" dirty="0"/>
              <a:t>디지털 출력 모듈</a:t>
            </a:r>
            <a:r>
              <a:rPr lang="en-US" altLang="ko-KR" dirty="0"/>
              <a:t>(Relay </a:t>
            </a:r>
            <a:r>
              <a:rPr lang="ko-KR" altLang="en-US" dirty="0"/>
              <a:t>모듈</a:t>
            </a:r>
            <a:r>
              <a:rPr lang="en-US" altLang="ko-KR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Relay </a:t>
            </a:r>
            <a:r>
              <a:rPr lang="ko-KR" altLang="en-US" dirty="0"/>
              <a:t>사양</a:t>
            </a:r>
            <a:r>
              <a:rPr lang="en-US" altLang="ko-KR" dirty="0"/>
              <a:t>: COM/NO/NC 250V 6A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FBDE4-5ABC-4222-8A57-F18C9684812F}"/>
              </a:ext>
            </a:extLst>
          </p:cNvPr>
          <p:cNvSpPr txBox="1"/>
          <p:nvPr/>
        </p:nvSpPr>
        <p:spPr>
          <a:xfrm>
            <a:off x="3342804" y="5795598"/>
            <a:ext cx="1168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DI module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FF32AF-2DDB-4121-9C64-FB04ED792F58}"/>
              </a:ext>
            </a:extLst>
          </p:cNvPr>
          <p:cNvSpPr txBox="1"/>
          <p:nvPr/>
        </p:nvSpPr>
        <p:spPr>
          <a:xfrm>
            <a:off x="6532013" y="5795598"/>
            <a:ext cx="1271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DO module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135DF2-D0C3-493F-BC09-2F16D60CD1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501" y="3233279"/>
            <a:ext cx="2784913" cy="24721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4D595B-C525-454B-80FD-0BFDFA3214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964" y="3233279"/>
            <a:ext cx="2736741" cy="247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07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1921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IO</a:t>
            </a:r>
            <a:r>
              <a:rPr lang="ko-KR" altLang="en-US" sz="2400" dirty="0"/>
              <a:t> 모듈</a:t>
            </a:r>
            <a:r>
              <a:rPr lang="en-US" altLang="ko-KR" sz="2400" dirty="0"/>
              <a:t>-RTD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7810" y="954858"/>
            <a:ext cx="10022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RTD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PT100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PT1000</a:t>
            </a:r>
          </a:p>
        </p:txBody>
      </p: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FBDE4-5ABC-4222-8A57-F18C9684812F}"/>
              </a:ext>
            </a:extLst>
          </p:cNvPr>
          <p:cNvSpPr txBox="1"/>
          <p:nvPr/>
        </p:nvSpPr>
        <p:spPr>
          <a:xfrm>
            <a:off x="4953144" y="5733865"/>
            <a:ext cx="1341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RTD module</a:t>
            </a:r>
            <a:endParaRPr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64221E-F309-4F17-86B8-75D650F01E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053" y="3096920"/>
            <a:ext cx="2825318" cy="247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1694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장비 연결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4F8140-474E-4A7E-B57C-6E1BFE61C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461" y="2006248"/>
            <a:ext cx="974011" cy="1422752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3249544-DD7F-4068-B68D-EC597FD9AA9F}"/>
              </a:ext>
            </a:extLst>
          </p:cNvPr>
          <p:cNvCxnSpPr>
            <a:cxnSpLocks/>
          </p:cNvCxnSpPr>
          <p:nvPr/>
        </p:nvCxnSpPr>
        <p:spPr>
          <a:xfrm>
            <a:off x="7988968" y="1199697"/>
            <a:ext cx="0" cy="87775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5E63A5-26A5-48B4-AF6F-C995F80CCCC7}"/>
              </a:ext>
            </a:extLst>
          </p:cNvPr>
          <p:cNvSpPr txBox="1"/>
          <p:nvPr/>
        </p:nvSpPr>
        <p:spPr>
          <a:xfrm>
            <a:off x="7594274" y="830365"/>
            <a:ext cx="99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220VAC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0262E-E9A9-4726-8D11-C561AFB209C9}"/>
              </a:ext>
            </a:extLst>
          </p:cNvPr>
          <p:cNvSpPr txBox="1"/>
          <p:nvPr/>
        </p:nvSpPr>
        <p:spPr>
          <a:xfrm>
            <a:off x="6991712" y="166968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SGW2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F2941A-1D7F-4DE8-9023-B2EB76891B4C}"/>
              </a:ext>
            </a:extLst>
          </p:cNvPr>
          <p:cNvSpPr txBox="1"/>
          <p:nvPr/>
        </p:nvSpPr>
        <p:spPr>
          <a:xfrm>
            <a:off x="8607178" y="2695832"/>
            <a:ext cx="2439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LTE Router(</a:t>
            </a:r>
            <a:r>
              <a:rPr lang="ko-KR" altLang="en-US" dirty="0"/>
              <a:t>내부 장착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4D6EC6-790A-44C1-A923-8D79A58B1861}"/>
              </a:ext>
            </a:extLst>
          </p:cNvPr>
          <p:cNvSpPr/>
          <p:nvPr/>
        </p:nvSpPr>
        <p:spPr>
          <a:xfrm>
            <a:off x="7369843" y="3864857"/>
            <a:ext cx="438150" cy="4762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scene3d>
            <a:camera prst="isometricLeftDown"/>
            <a:lightRig rig="threePt" dir="t"/>
          </a:scene3d>
          <a:sp3d extrusionH="158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963805-DB58-4F3D-A1D2-178D3647A86F}"/>
              </a:ext>
            </a:extLst>
          </p:cNvPr>
          <p:cNvSpPr/>
          <p:nvPr/>
        </p:nvSpPr>
        <p:spPr>
          <a:xfrm>
            <a:off x="6289072" y="4655898"/>
            <a:ext cx="438150" cy="4762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scene3d>
            <a:camera prst="isometricLeftDown"/>
            <a:lightRig rig="threePt" dir="t"/>
          </a:scene3d>
          <a:sp3d extrusionH="158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F3CA182-D994-42B2-B0A5-EDDC88920694}"/>
              </a:ext>
            </a:extLst>
          </p:cNvPr>
          <p:cNvSpPr/>
          <p:nvPr/>
        </p:nvSpPr>
        <p:spPr>
          <a:xfrm>
            <a:off x="6302916" y="5383848"/>
            <a:ext cx="438150" cy="4762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scene3d>
            <a:camera prst="isometricLeftDown"/>
            <a:lightRig rig="threePt" dir="t"/>
          </a:scene3d>
          <a:sp3d extrusionH="158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0D4252-B7F5-43F3-9787-11B0B3FF4F68}"/>
              </a:ext>
            </a:extLst>
          </p:cNvPr>
          <p:cNvSpPr txBox="1"/>
          <p:nvPr/>
        </p:nvSpPr>
        <p:spPr>
          <a:xfrm>
            <a:off x="6903337" y="3222296"/>
            <a:ext cx="848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RS-485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94E9BE-BFEF-4CC8-A9F7-D455732F0629}"/>
              </a:ext>
            </a:extLst>
          </p:cNvPr>
          <p:cNvSpPr txBox="1"/>
          <p:nvPr/>
        </p:nvSpPr>
        <p:spPr>
          <a:xfrm>
            <a:off x="5845731" y="3698094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Modbus</a:t>
            </a:r>
            <a:r>
              <a:rPr lang="ko-KR" altLang="en-US" dirty="0"/>
              <a:t>장비</a:t>
            </a:r>
            <a:endParaRPr lang="en-US" altLang="ko-KR" dirty="0"/>
          </a:p>
          <a:p>
            <a:r>
              <a:rPr lang="en-US" altLang="ko-KR" dirty="0"/>
              <a:t>(Ex: </a:t>
            </a:r>
            <a:r>
              <a:rPr lang="ko-KR" altLang="en-US" dirty="0"/>
              <a:t>전력량계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669574E-4FDE-4144-8DC3-A1F33CBC1316}"/>
              </a:ext>
            </a:extLst>
          </p:cNvPr>
          <p:cNvCxnSpPr>
            <a:cxnSpLocks/>
          </p:cNvCxnSpPr>
          <p:nvPr/>
        </p:nvCxnSpPr>
        <p:spPr>
          <a:xfrm>
            <a:off x="7795961" y="3028422"/>
            <a:ext cx="0" cy="877756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5F1A96A-46DB-405C-A1DE-6A3D5B65D152}"/>
              </a:ext>
            </a:extLst>
          </p:cNvPr>
          <p:cNvCxnSpPr>
            <a:cxnSpLocks/>
          </p:cNvCxnSpPr>
          <p:nvPr/>
        </p:nvCxnSpPr>
        <p:spPr>
          <a:xfrm>
            <a:off x="8086156" y="3209522"/>
            <a:ext cx="0" cy="1629178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F918958-0ECF-47B5-A8A9-6BA3CEEFC04E}"/>
              </a:ext>
            </a:extLst>
          </p:cNvPr>
          <p:cNvSpPr txBox="1"/>
          <p:nvPr/>
        </p:nvSpPr>
        <p:spPr>
          <a:xfrm>
            <a:off x="4339588" y="4609872"/>
            <a:ext cx="2113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4-20mA </a:t>
            </a:r>
            <a:r>
              <a:rPr lang="ko-KR" altLang="en-US" dirty="0"/>
              <a:t>출력장비</a:t>
            </a:r>
            <a:endParaRPr lang="en-US" altLang="ko-KR" dirty="0"/>
          </a:p>
          <a:p>
            <a:r>
              <a:rPr lang="en-US" altLang="ko-KR" dirty="0"/>
              <a:t>(Ex: CO2 </a:t>
            </a:r>
            <a:r>
              <a:rPr lang="ko-KR" altLang="en-US" dirty="0"/>
              <a:t>센서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AE22DCB-D464-4459-8A2F-F569FE99608C}"/>
              </a:ext>
            </a:extLst>
          </p:cNvPr>
          <p:cNvCxnSpPr>
            <a:cxnSpLocks/>
          </p:cNvCxnSpPr>
          <p:nvPr/>
        </p:nvCxnSpPr>
        <p:spPr>
          <a:xfrm>
            <a:off x="8238556" y="3290721"/>
            <a:ext cx="0" cy="2338554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0E83FEF-F2D9-41A4-BB19-BED68BFB3590}"/>
              </a:ext>
            </a:extLst>
          </p:cNvPr>
          <p:cNvSpPr txBox="1"/>
          <p:nvPr/>
        </p:nvSpPr>
        <p:spPr>
          <a:xfrm>
            <a:off x="4313582" y="5425754"/>
            <a:ext cx="2113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4-20mA </a:t>
            </a:r>
            <a:r>
              <a:rPr lang="ko-KR" altLang="en-US" dirty="0"/>
              <a:t>입력장비</a:t>
            </a:r>
            <a:endParaRPr lang="en-US" altLang="ko-KR" dirty="0"/>
          </a:p>
          <a:p>
            <a:r>
              <a:rPr lang="en-US" altLang="ko-KR" dirty="0"/>
              <a:t>(Ex:</a:t>
            </a:r>
            <a:r>
              <a:rPr lang="ko-KR" altLang="en-US" dirty="0" err="1"/>
              <a:t>댐퍼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F9A02AB-AF8A-4731-9A5D-AB95E94C0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472" y="1710416"/>
            <a:ext cx="531122" cy="77581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A288A5-BAEF-4E3E-8A61-BBC553BE5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418" y="3032847"/>
            <a:ext cx="531122" cy="77581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0625D24-B517-451A-B709-83147756A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68" y="3804899"/>
            <a:ext cx="531122" cy="7758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64225AF-E9FC-443F-9978-2FDACE88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1" y="1415096"/>
            <a:ext cx="531122" cy="77581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D3CDFCB-902A-4052-90CC-679C526C0FAD}"/>
              </a:ext>
            </a:extLst>
          </p:cNvPr>
          <p:cNvSpPr txBox="1"/>
          <p:nvPr/>
        </p:nvSpPr>
        <p:spPr>
          <a:xfrm>
            <a:off x="4203033" y="136003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332C7C-887F-4835-AFC4-9DEBABAB847B}"/>
              </a:ext>
            </a:extLst>
          </p:cNvPr>
          <p:cNvSpPr txBox="1"/>
          <p:nvPr/>
        </p:nvSpPr>
        <p:spPr>
          <a:xfrm>
            <a:off x="2479608" y="119969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BA5ABD-6508-4F27-89C2-183A34F8D165}"/>
              </a:ext>
            </a:extLst>
          </p:cNvPr>
          <p:cNvSpPr txBox="1"/>
          <p:nvPr/>
        </p:nvSpPr>
        <p:spPr>
          <a:xfrm>
            <a:off x="2445178" y="3406459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ACC8FE-5DD8-4F7A-B81D-F72FAAE8BA78}"/>
              </a:ext>
            </a:extLst>
          </p:cNvPr>
          <p:cNvSpPr txBox="1"/>
          <p:nvPr/>
        </p:nvSpPr>
        <p:spPr>
          <a:xfrm>
            <a:off x="4155825" y="280181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A8E98B78-E496-4774-8C33-DCA73A5ABD75}"/>
              </a:ext>
            </a:extLst>
          </p:cNvPr>
          <p:cNvSpPr/>
          <p:nvPr/>
        </p:nvSpPr>
        <p:spPr>
          <a:xfrm>
            <a:off x="3371509" y="1966719"/>
            <a:ext cx="4647972" cy="2451827"/>
          </a:xfrm>
          <a:prstGeom prst="arc">
            <a:avLst>
              <a:gd name="adj1" fmla="val 14124525"/>
              <a:gd name="adj2" fmla="val 20007782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582534-C6D5-4C65-BF34-6FA71BC83370}"/>
              </a:ext>
            </a:extLst>
          </p:cNvPr>
          <p:cNvSpPr txBox="1"/>
          <p:nvPr/>
        </p:nvSpPr>
        <p:spPr>
          <a:xfrm>
            <a:off x="5566423" y="154323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LECIM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47" name="원호 46">
            <a:extLst>
              <a:ext uri="{FF2B5EF4-FFF2-40B4-BE49-F238E27FC236}">
                <a16:creationId xmlns:a16="http://schemas.microsoft.com/office/drawing/2014/main" id="{91BB2B2E-BBA0-4457-93C0-CEAC0EE91786}"/>
              </a:ext>
            </a:extLst>
          </p:cNvPr>
          <p:cNvSpPr/>
          <p:nvPr/>
        </p:nvSpPr>
        <p:spPr>
          <a:xfrm>
            <a:off x="4428217" y="2591945"/>
            <a:ext cx="4669119" cy="2451827"/>
          </a:xfrm>
          <a:prstGeom prst="arc">
            <a:avLst>
              <a:gd name="adj1" fmla="val 11824768"/>
              <a:gd name="adj2" fmla="val 17907430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>
            <a:extLst>
              <a:ext uri="{FF2B5EF4-FFF2-40B4-BE49-F238E27FC236}">
                <a16:creationId xmlns:a16="http://schemas.microsoft.com/office/drawing/2014/main" id="{958BA90B-FD40-4BC9-B451-1EA62996B7A2}"/>
              </a:ext>
            </a:extLst>
          </p:cNvPr>
          <p:cNvSpPr/>
          <p:nvPr/>
        </p:nvSpPr>
        <p:spPr>
          <a:xfrm>
            <a:off x="2115480" y="1697258"/>
            <a:ext cx="2001511" cy="2451827"/>
          </a:xfrm>
          <a:prstGeom prst="arc">
            <a:avLst>
              <a:gd name="adj1" fmla="val 15052399"/>
              <a:gd name="adj2" fmla="val 18444358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원호 49">
            <a:extLst>
              <a:ext uri="{FF2B5EF4-FFF2-40B4-BE49-F238E27FC236}">
                <a16:creationId xmlns:a16="http://schemas.microsoft.com/office/drawing/2014/main" id="{B9AC0963-CF21-45A9-AD83-08D312E7C9EA}"/>
              </a:ext>
            </a:extLst>
          </p:cNvPr>
          <p:cNvSpPr/>
          <p:nvPr/>
        </p:nvSpPr>
        <p:spPr>
          <a:xfrm>
            <a:off x="2724002" y="3485384"/>
            <a:ext cx="2001511" cy="2451827"/>
          </a:xfrm>
          <a:prstGeom prst="arc">
            <a:avLst>
              <a:gd name="adj1" fmla="val 13081018"/>
              <a:gd name="adj2" fmla="val 16814317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49BC23B-ECB3-4056-8B6D-3FB201468F7A}"/>
              </a:ext>
            </a:extLst>
          </p:cNvPr>
          <p:cNvCxnSpPr>
            <a:cxnSpLocks/>
          </p:cNvCxnSpPr>
          <p:nvPr/>
        </p:nvCxnSpPr>
        <p:spPr>
          <a:xfrm>
            <a:off x="6741066" y="4838700"/>
            <a:ext cx="134509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70435CF-A497-436A-891C-18AB80CDF7A6}"/>
              </a:ext>
            </a:extLst>
          </p:cNvPr>
          <p:cNvSpPr txBox="1"/>
          <p:nvPr/>
        </p:nvSpPr>
        <p:spPr>
          <a:xfrm>
            <a:off x="7126302" y="4491875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</a:rPr>
              <a:t>AI </a:t>
            </a:r>
            <a:r>
              <a:rPr lang="ko-KR" altLang="en-US" sz="1600" dirty="0">
                <a:solidFill>
                  <a:schemeClr val="accent2"/>
                </a:solidFill>
              </a:rPr>
              <a:t>모듈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8091885-8CB2-40BE-8B5A-5F2CB1677219}"/>
              </a:ext>
            </a:extLst>
          </p:cNvPr>
          <p:cNvCxnSpPr>
            <a:cxnSpLocks/>
          </p:cNvCxnSpPr>
          <p:nvPr/>
        </p:nvCxnSpPr>
        <p:spPr>
          <a:xfrm flipH="1" flipV="1">
            <a:off x="6762776" y="5596701"/>
            <a:ext cx="1485737" cy="713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EC160F0-A66A-4072-B4C8-C495C9310B02}"/>
              </a:ext>
            </a:extLst>
          </p:cNvPr>
          <p:cNvSpPr txBox="1"/>
          <p:nvPr/>
        </p:nvSpPr>
        <p:spPr>
          <a:xfrm>
            <a:off x="7126302" y="5210535"/>
            <a:ext cx="95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2"/>
                </a:solidFill>
              </a:rPr>
              <a:t>AO </a:t>
            </a:r>
            <a:r>
              <a:rPr lang="ko-KR" altLang="en-US" sz="1600" dirty="0">
                <a:solidFill>
                  <a:schemeClr val="accent2"/>
                </a:solidFill>
              </a:rPr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28407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9AE607CB-FBDC-403A-99F1-9198355AF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135" y="5074337"/>
            <a:ext cx="974011" cy="1422752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BB86CD95-DD54-4438-8063-E168D2F6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466" y="4362961"/>
            <a:ext cx="974011" cy="14227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4300" y="156754"/>
            <a:ext cx="3642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장비 연결</a:t>
            </a:r>
            <a:r>
              <a:rPr lang="en-US" altLang="ko-KR" sz="2400" dirty="0"/>
              <a:t>2 – SGW2 </a:t>
            </a:r>
            <a:r>
              <a:rPr lang="ko-KR" altLang="en-US" sz="2400" dirty="0"/>
              <a:t>확장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4F8140-474E-4A7E-B57C-6E1BFE61C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461" y="2006248"/>
            <a:ext cx="974011" cy="14227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40262E-E9A9-4726-8D11-C561AFB209C9}"/>
              </a:ext>
            </a:extLst>
          </p:cNvPr>
          <p:cNvSpPr txBox="1"/>
          <p:nvPr/>
        </p:nvSpPr>
        <p:spPr>
          <a:xfrm>
            <a:off x="6991712" y="166968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SGW2</a:t>
            </a:r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8286EFC-81E2-499B-A338-B1E0FC19386A}"/>
              </a:ext>
            </a:extLst>
          </p:cNvPr>
          <p:cNvCxnSpPr>
            <a:cxnSpLocks/>
          </p:cNvCxnSpPr>
          <p:nvPr/>
        </p:nvCxnSpPr>
        <p:spPr>
          <a:xfrm>
            <a:off x="8086156" y="1666875"/>
            <a:ext cx="0" cy="45975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1901C7E-58EE-4E4A-9B6C-CA1FC537085B}"/>
              </a:ext>
            </a:extLst>
          </p:cNvPr>
          <p:cNvCxnSpPr>
            <a:cxnSpLocks/>
          </p:cNvCxnSpPr>
          <p:nvPr/>
        </p:nvCxnSpPr>
        <p:spPr>
          <a:xfrm>
            <a:off x="8753190" y="2077453"/>
            <a:ext cx="0" cy="2503264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3698E70-FA16-45E4-A332-31AC08193BE9}"/>
              </a:ext>
            </a:extLst>
          </p:cNvPr>
          <p:cNvCxnSpPr>
            <a:cxnSpLocks/>
          </p:cNvCxnSpPr>
          <p:nvPr/>
        </p:nvCxnSpPr>
        <p:spPr>
          <a:xfrm>
            <a:off x="8086156" y="1666875"/>
            <a:ext cx="667034" cy="43145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58818E3-6CA8-40AC-B699-7D2785DB2750}"/>
              </a:ext>
            </a:extLst>
          </p:cNvPr>
          <p:cNvSpPr txBox="1"/>
          <p:nvPr/>
        </p:nvSpPr>
        <p:spPr>
          <a:xfrm>
            <a:off x="8487451" y="1390106"/>
            <a:ext cx="2607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네트워크</a:t>
            </a:r>
            <a:r>
              <a:rPr lang="en-US" altLang="ko-KR" dirty="0"/>
              <a:t> </a:t>
            </a:r>
            <a:r>
              <a:rPr lang="ko-KR" altLang="en-US" dirty="0"/>
              <a:t>허브</a:t>
            </a:r>
            <a:endParaRPr lang="en-US" altLang="ko-KR" dirty="0"/>
          </a:p>
          <a:p>
            <a:r>
              <a:rPr lang="en-US" altLang="ko-KR" dirty="0"/>
              <a:t>  (</a:t>
            </a:r>
            <a:r>
              <a:rPr lang="ko-KR" altLang="en-US" dirty="0"/>
              <a:t>내부 </a:t>
            </a:r>
            <a:r>
              <a:rPr lang="en-US" altLang="ko-KR" dirty="0"/>
              <a:t>LTE</a:t>
            </a:r>
            <a:r>
              <a:rPr lang="ko-KR" altLang="en-US" dirty="0"/>
              <a:t>라우터 연결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F9A02AB-AF8A-4731-9A5D-AB95E94C0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472" y="1710416"/>
            <a:ext cx="531122" cy="77581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A288A5-BAEF-4E3E-8A61-BBC553BE5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418" y="3032847"/>
            <a:ext cx="531122" cy="77581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0625D24-B517-451A-B709-83147756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968" y="3804899"/>
            <a:ext cx="531122" cy="7758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64225AF-E9FC-443F-9978-2FDACE88F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1" y="1415096"/>
            <a:ext cx="531122" cy="77581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D3CDFCB-902A-4052-90CC-679C526C0FAD}"/>
              </a:ext>
            </a:extLst>
          </p:cNvPr>
          <p:cNvSpPr txBox="1"/>
          <p:nvPr/>
        </p:nvSpPr>
        <p:spPr>
          <a:xfrm>
            <a:off x="4203033" y="136003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332C7C-887F-4835-AFC4-9DEBABAB847B}"/>
              </a:ext>
            </a:extLst>
          </p:cNvPr>
          <p:cNvSpPr txBox="1"/>
          <p:nvPr/>
        </p:nvSpPr>
        <p:spPr>
          <a:xfrm>
            <a:off x="2479608" y="119969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BA5ABD-6508-4F27-89C2-183A34F8D165}"/>
              </a:ext>
            </a:extLst>
          </p:cNvPr>
          <p:cNvSpPr txBox="1"/>
          <p:nvPr/>
        </p:nvSpPr>
        <p:spPr>
          <a:xfrm>
            <a:off x="2445178" y="3406459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ACC8FE-5DD8-4F7A-B81D-F72FAAE8BA78}"/>
              </a:ext>
            </a:extLst>
          </p:cNvPr>
          <p:cNvSpPr txBox="1"/>
          <p:nvPr/>
        </p:nvSpPr>
        <p:spPr>
          <a:xfrm>
            <a:off x="4155825" y="280181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A8E98B78-E496-4774-8C33-DCA73A5ABD75}"/>
              </a:ext>
            </a:extLst>
          </p:cNvPr>
          <p:cNvSpPr/>
          <p:nvPr/>
        </p:nvSpPr>
        <p:spPr>
          <a:xfrm>
            <a:off x="3371509" y="1966719"/>
            <a:ext cx="4647972" cy="2451827"/>
          </a:xfrm>
          <a:prstGeom prst="arc">
            <a:avLst>
              <a:gd name="adj1" fmla="val 14124525"/>
              <a:gd name="adj2" fmla="val 20007782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582534-C6D5-4C65-BF34-6FA71BC83370}"/>
              </a:ext>
            </a:extLst>
          </p:cNvPr>
          <p:cNvSpPr txBox="1"/>
          <p:nvPr/>
        </p:nvSpPr>
        <p:spPr>
          <a:xfrm>
            <a:off x="5566423" y="154323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LECIM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47" name="원호 46">
            <a:extLst>
              <a:ext uri="{FF2B5EF4-FFF2-40B4-BE49-F238E27FC236}">
                <a16:creationId xmlns:a16="http://schemas.microsoft.com/office/drawing/2014/main" id="{91BB2B2E-BBA0-4457-93C0-CEAC0EE91786}"/>
              </a:ext>
            </a:extLst>
          </p:cNvPr>
          <p:cNvSpPr/>
          <p:nvPr/>
        </p:nvSpPr>
        <p:spPr>
          <a:xfrm>
            <a:off x="4428217" y="2591945"/>
            <a:ext cx="4669119" cy="2451827"/>
          </a:xfrm>
          <a:prstGeom prst="arc">
            <a:avLst>
              <a:gd name="adj1" fmla="val 11824768"/>
              <a:gd name="adj2" fmla="val 17907430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>
            <a:extLst>
              <a:ext uri="{FF2B5EF4-FFF2-40B4-BE49-F238E27FC236}">
                <a16:creationId xmlns:a16="http://schemas.microsoft.com/office/drawing/2014/main" id="{958BA90B-FD40-4BC9-B451-1EA62996B7A2}"/>
              </a:ext>
            </a:extLst>
          </p:cNvPr>
          <p:cNvSpPr/>
          <p:nvPr/>
        </p:nvSpPr>
        <p:spPr>
          <a:xfrm>
            <a:off x="2115480" y="1697258"/>
            <a:ext cx="2001511" cy="2451827"/>
          </a:xfrm>
          <a:prstGeom prst="arc">
            <a:avLst>
              <a:gd name="adj1" fmla="val 15052399"/>
              <a:gd name="adj2" fmla="val 18444358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원호 49">
            <a:extLst>
              <a:ext uri="{FF2B5EF4-FFF2-40B4-BE49-F238E27FC236}">
                <a16:creationId xmlns:a16="http://schemas.microsoft.com/office/drawing/2014/main" id="{B9AC0963-CF21-45A9-AD83-08D312E7C9EA}"/>
              </a:ext>
            </a:extLst>
          </p:cNvPr>
          <p:cNvSpPr/>
          <p:nvPr/>
        </p:nvSpPr>
        <p:spPr>
          <a:xfrm>
            <a:off x="2724002" y="3485384"/>
            <a:ext cx="2001511" cy="2451827"/>
          </a:xfrm>
          <a:prstGeom prst="arc">
            <a:avLst>
              <a:gd name="adj1" fmla="val 13081018"/>
              <a:gd name="adj2" fmla="val 16814317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6A22070-2023-4B9A-BA2A-6FBB3E945637}"/>
              </a:ext>
            </a:extLst>
          </p:cNvPr>
          <p:cNvSpPr/>
          <p:nvPr/>
        </p:nvSpPr>
        <p:spPr>
          <a:xfrm>
            <a:off x="8200598" y="1722241"/>
            <a:ext cx="438150" cy="4762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scene3d>
            <a:camera prst="isometricLeftDown"/>
            <a:lightRig rig="threePt" dir="t"/>
          </a:scene3d>
          <a:sp3d extrusionH="158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CDED70-AC68-4CC7-9F48-3C7DE425760D}"/>
              </a:ext>
            </a:extLst>
          </p:cNvPr>
          <p:cNvSpPr txBox="1"/>
          <p:nvPr/>
        </p:nvSpPr>
        <p:spPr>
          <a:xfrm>
            <a:off x="7781140" y="399362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SGW2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07E2A7-311F-4476-99B0-2CEE2A910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204" y="4069530"/>
            <a:ext cx="3330529" cy="2097971"/>
          </a:xfrm>
          <a:prstGeom prst="rect">
            <a:avLst/>
          </a:prstGeom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05995D1-1739-41AF-BFBB-7B95EF3DF4D2}"/>
              </a:ext>
            </a:extLst>
          </p:cNvPr>
          <p:cNvCxnSpPr>
            <a:cxnSpLocks/>
          </p:cNvCxnSpPr>
          <p:nvPr/>
        </p:nvCxnSpPr>
        <p:spPr>
          <a:xfrm>
            <a:off x="10173302" y="2923171"/>
            <a:ext cx="0" cy="2503264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37BAD290-5DD5-460C-9B44-A17A9779F48F}"/>
              </a:ext>
            </a:extLst>
          </p:cNvPr>
          <p:cNvCxnSpPr>
            <a:cxnSpLocks/>
          </p:cNvCxnSpPr>
          <p:nvPr/>
        </p:nvCxnSpPr>
        <p:spPr>
          <a:xfrm>
            <a:off x="8665472" y="1939002"/>
            <a:ext cx="1507830" cy="975292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0235A1F-FD5C-428B-ADB5-0F66953A2D15}"/>
              </a:ext>
            </a:extLst>
          </p:cNvPr>
          <p:cNvSpPr txBox="1"/>
          <p:nvPr/>
        </p:nvSpPr>
        <p:spPr>
          <a:xfrm>
            <a:off x="9336191" y="467444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SGW2</a:t>
            </a:r>
            <a:endParaRPr lang="ko-KR" altLang="en-US" dirty="0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7C2835F7-D59C-4978-B64B-19A617D2CB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0609"/>
          <a:stretch/>
        </p:blipFill>
        <p:spPr>
          <a:xfrm>
            <a:off x="7080687" y="5629469"/>
            <a:ext cx="2348436" cy="1174449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125DCBB-1CB4-41E7-9AA9-F41BEE6A73AA}"/>
              </a:ext>
            </a:extLst>
          </p:cNvPr>
          <p:cNvSpPr txBox="1"/>
          <p:nvPr/>
        </p:nvSpPr>
        <p:spPr>
          <a:xfrm>
            <a:off x="9930910" y="2482023"/>
            <a:ext cx="1259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LAN cable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02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4300" y="156754"/>
            <a:ext cx="5586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장비 연결</a:t>
            </a:r>
            <a:r>
              <a:rPr lang="en-US" altLang="ko-KR" sz="2400" dirty="0"/>
              <a:t>3 – SED2 </a:t>
            </a:r>
            <a:r>
              <a:rPr lang="ko-KR" altLang="en-US" sz="2400" dirty="0"/>
              <a:t>유선</a:t>
            </a:r>
            <a:r>
              <a:rPr lang="en-US" altLang="ko-KR" sz="2400" dirty="0"/>
              <a:t>(RS-485) </a:t>
            </a:r>
            <a:r>
              <a:rPr lang="ko-KR" altLang="en-US" sz="2400" dirty="0"/>
              <a:t>확장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47" y="6497698"/>
            <a:ext cx="799553" cy="35274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-9525" y="23813"/>
            <a:ext cx="12201525" cy="0"/>
          </a:xfrm>
          <a:prstGeom prst="line">
            <a:avLst/>
          </a:prstGeom>
          <a:ln w="57150">
            <a:solidFill>
              <a:srgbClr val="C500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ìì¤ì¤ìì´ ì½í¼ë ì´ì">
            <a:extLst>
              <a:ext uri="{FF2B5EF4-FFF2-40B4-BE49-F238E27FC236}">
                <a16:creationId xmlns:a16="http://schemas.microsoft.com/office/drawing/2014/main" id="{882E1015-41F7-4385-8ACF-C9279CECF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6405562"/>
            <a:ext cx="143827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4F8140-474E-4A7E-B57C-6E1BFE61C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461" y="2006248"/>
            <a:ext cx="974011" cy="14227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40262E-E9A9-4726-8D11-C561AFB209C9}"/>
              </a:ext>
            </a:extLst>
          </p:cNvPr>
          <p:cNvSpPr txBox="1"/>
          <p:nvPr/>
        </p:nvSpPr>
        <p:spPr>
          <a:xfrm>
            <a:off x="6991712" y="166968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SGW2</a:t>
            </a:r>
            <a:endParaRPr lang="ko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F9A02AB-AF8A-4731-9A5D-AB95E94C0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472" y="1710416"/>
            <a:ext cx="531122" cy="77581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A288A5-BAEF-4E3E-8A61-BBC553BE5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418" y="3032847"/>
            <a:ext cx="531122" cy="77581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0625D24-B517-451A-B709-83147756A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68" y="3804899"/>
            <a:ext cx="531122" cy="7758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64225AF-E9FC-443F-9978-2FDACE88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1" y="1415096"/>
            <a:ext cx="531122" cy="77581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D3CDFCB-902A-4052-90CC-679C526C0FAD}"/>
              </a:ext>
            </a:extLst>
          </p:cNvPr>
          <p:cNvSpPr txBox="1"/>
          <p:nvPr/>
        </p:nvSpPr>
        <p:spPr>
          <a:xfrm>
            <a:off x="4203033" y="1360035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332C7C-887F-4835-AFC4-9DEBABAB847B}"/>
              </a:ext>
            </a:extLst>
          </p:cNvPr>
          <p:cNvSpPr txBox="1"/>
          <p:nvPr/>
        </p:nvSpPr>
        <p:spPr>
          <a:xfrm>
            <a:off x="2479608" y="1199697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BA5ABD-6508-4F27-89C2-183A34F8D165}"/>
              </a:ext>
            </a:extLst>
          </p:cNvPr>
          <p:cNvSpPr txBox="1"/>
          <p:nvPr/>
        </p:nvSpPr>
        <p:spPr>
          <a:xfrm>
            <a:off x="2445178" y="3406459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ACC8FE-5DD8-4F7A-B81D-F72FAAE8BA78}"/>
              </a:ext>
            </a:extLst>
          </p:cNvPr>
          <p:cNvSpPr txBox="1"/>
          <p:nvPr/>
        </p:nvSpPr>
        <p:spPr>
          <a:xfrm>
            <a:off x="4155825" y="2801810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SED2</a:t>
            </a:r>
            <a:endParaRPr lang="ko-KR" altLang="en-US" dirty="0"/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A8E98B78-E496-4774-8C33-DCA73A5ABD75}"/>
              </a:ext>
            </a:extLst>
          </p:cNvPr>
          <p:cNvSpPr/>
          <p:nvPr/>
        </p:nvSpPr>
        <p:spPr>
          <a:xfrm>
            <a:off x="3371509" y="1966719"/>
            <a:ext cx="4647972" cy="2451827"/>
          </a:xfrm>
          <a:prstGeom prst="arc">
            <a:avLst>
              <a:gd name="adj1" fmla="val 14124525"/>
              <a:gd name="adj2" fmla="val 20007782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582534-C6D5-4C65-BF34-6FA71BC83370}"/>
              </a:ext>
            </a:extLst>
          </p:cNvPr>
          <p:cNvSpPr txBox="1"/>
          <p:nvPr/>
        </p:nvSpPr>
        <p:spPr>
          <a:xfrm>
            <a:off x="5566423" y="154323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LECIM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49" name="원호 48">
            <a:extLst>
              <a:ext uri="{FF2B5EF4-FFF2-40B4-BE49-F238E27FC236}">
                <a16:creationId xmlns:a16="http://schemas.microsoft.com/office/drawing/2014/main" id="{958BA90B-FD40-4BC9-B451-1EA62996B7A2}"/>
              </a:ext>
            </a:extLst>
          </p:cNvPr>
          <p:cNvSpPr/>
          <p:nvPr/>
        </p:nvSpPr>
        <p:spPr>
          <a:xfrm>
            <a:off x="2115480" y="1697258"/>
            <a:ext cx="2001511" cy="2451827"/>
          </a:xfrm>
          <a:prstGeom prst="arc">
            <a:avLst>
              <a:gd name="adj1" fmla="val 15052399"/>
              <a:gd name="adj2" fmla="val 18444358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원호 49">
            <a:extLst>
              <a:ext uri="{FF2B5EF4-FFF2-40B4-BE49-F238E27FC236}">
                <a16:creationId xmlns:a16="http://schemas.microsoft.com/office/drawing/2014/main" id="{B9AC0963-CF21-45A9-AD83-08D312E7C9EA}"/>
              </a:ext>
            </a:extLst>
          </p:cNvPr>
          <p:cNvSpPr/>
          <p:nvPr/>
        </p:nvSpPr>
        <p:spPr>
          <a:xfrm>
            <a:off x="2724002" y="3485384"/>
            <a:ext cx="2001511" cy="2451827"/>
          </a:xfrm>
          <a:prstGeom prst="arc">
            <a:avLst>
              <a:gd name="adj1" fmla="val 13081018"/>
              <a:gd name="adj2" fmla="val 16814317"/>
            </a:avLst>
          </a:prstGeom>
          <a:ln w="19050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BC832C-C84E-4BD8-BE2C-DC74A2C34565}"/>
              </a:ext>
            </a:extLst>
          </p:cNvPr>
          <p:cNvSpPr txBox="1"/>
          <p:nvPr/>
        </p:nvSpPr>
        <p:spPr>
          <a:xfrm>
            <a:off x="6903337" y="3222296"/>
            <a:ext cx="848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RS-485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AC2D507-ADA2-4D57-9FB3-EB76C76310B0}"/>
              </a:ext>
            </a:extLst>
          </p:cNvPr>
          <p:cNvCxnSpPr>
            <a:cxnSpLocks/>
          </p:cNvCxnSpPr>
          <p:nvPr/>
        </p:nvCxnSpPr>
        <p:spPr>
          <a:xfrm>
            <a:off x="7795961" y="3028422"/>
            <a:ext cx="0" cy="60153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8A37038-715F-4141-9E2E-1A22FB5CF6FC}"/>
              </a:ext>
            </a:extLst>
          </p:cNvPr>
          <p:cNvCxnSpPr>
            <a:cxnSpLocks/>
          </p:cNvCxnSpPr>
          <p:nvPr/>
        </p:nvCxnSpPr>
        <p:spPr>
          <a:xfrm flipH="1">
            <a:off x="4500540" y="3629953"/>
            <a:ext cx="330902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98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</TotalTime>
  <Words>645</Words>
  <Application>Microsoft Office PowerPoint</Application>
  <PresentationFormat>와이드스크린</PresentationFormat>
  <Paragraphs>117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LG스마트체2.0 Regular</vt:lpstr>
      <vt:lpstr>맑은 고딕</vt:lpstr>
      <vt:lpstr>Arial</vt:lpstr>
      <vt:lpstr>Tahoma</vt:lpstr>
      <vt:lpstr>Wingdings</vt:lpstr>
      <vt:lpstr>Office 테마</vt:lpstr>
      <vt:lpstr>atxpert용  신규 RMS 장비 소개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clark</dc:creator>
  <cp:lastModifiedBy>Ucjh</cp:lastModifiedBy>
  <cp:revision>119</cp:revision>
  <dcterms:created xsi:type="dcterms:W3CDTF">2016-10-31T05:54:25Z</dcterms:created>
  <dcterms:modified xsi:type="dcterms:W3CDTF">2022-11-21T04:48:08Z</dcterms:modified>
</cp:coreProperties>
</file>