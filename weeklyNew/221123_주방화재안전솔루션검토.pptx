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622" r:id="rId2"/>
    <p:sldId id="624" r:id="rId3"/>
    <p:sldId id="623" r:id="rId4"/>
    <p:sldId id="620" r:id="rId5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6600"/>
    <a:srgbClr val="0099CC"/>
    <a:srgbClr val="3399FF"/>
    <a:srgbClr val="FF9999"/>
    <a:srgbClr val="FF9966"/>
    <a:srgbClr val="CCCCCC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1" autoAdjust="0"/>
    <p:restoredTop sz="90146" autoAdjust="0"/>
  </p:normalViewPr>
  <p:slideViewPr>
    <p:cSldViewPr>
      <p:cViewPr varScale="1">
        <p:scale>
          <a:sx n="98" d="100"/>
          <a:sy n="98" d="100"/>
        </p:scale>
        <p:origin x="1656" y="96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581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101394"/>
            <a:ext cx="5749782" cy="490067"/>
          </a:xfrm>
        </p:spPr>
        <p:txBody>
          <a:bodyPr/>
          <a:lstStyle/>
          <a:p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Ⅰ.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주방자동 소화장치 관련 법</a:t>
            </a:r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안</a:t>
            </a:r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)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검토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115869-BA6F-404B-8537-7A6D6D47590E}"/>
              </a:ext>
            </a:extLst>
          </p:cNvPr>
          <p:cNvSpPr/>
          <p:nvPr/>
        </p:nvSpPr>
        <p:spPr>
          <a:xfrm>
            <a:off x="621730" y="1488025"/>
            <a:ext cx="1468388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의무 설치 대상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CB64B7-813E-480A-8A8E-FAAE50AC93F4}"/>
              </a:ext>
            </a:extLst>
          </p:cNvPr>
          <p:cNvSpPr/>
          <p:nvPr/>
        </p:nvSpPr>
        <p:spPr>
          <a:xfrm>
            <a:off x="621730" y="1844824"/>
            <a:ext cx="8813204" cy="21082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ko-KR" sz="1200" u="sng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 설치 및 관리에 관한 법률 시행령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시행예정일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’24. 12. 01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5]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소화설비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자동소화장치를 설치하여야 하는 특정소방대상물은 다음의 어느 하나에 해당하는 것으로 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2)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상업용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주방자동소화장치를 설치해야 하는 것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판매시설 중 「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유통산업발전법」제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호에 해당하는 </a:t>
            </a:r>
            <a:r>
              <a:rPr lang="ko-KR" altLang="en-US" sz="12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대규모점포에 입점해 있는 일반음식점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「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식품위생법」제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따른 </a:t>
            </a:r>
            <a:r>
              <a:rPr lang="ko-KR" altLang="en-US" sz="12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집단급식소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56AE79-C0F3-4A89-AAE1-F74894128A22}"/>
              </a:ext>
            </a:extLst>
          </p:cNvPr>
          <p:cNvSpPr/>
          <p:nvPr/>
        </p:nvSpPr>
        <p:spPr>
          <a:xfrm>
            <a:off x="546398" y="4559272"/>
            <a:ext cx="881320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화재예방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설치ㆍ유지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안전관리에 관한 법률 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소방시설기준 적용의 특례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소방본부장이나 소방서장은 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 전단에 따른 대통령령 또는 화재안전기준이 변경되어 그 기준이 강화되는 경우 </a:t>
            </a:r>
            <a:b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기존의 특정소방대상물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건축물의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신축ㆍ개축ㆍ재축ㆍ이전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대수선 중인 특정소방대상물을 포함한다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소방시설에 대하여는 </a:t>
            </a:r>
            <a:b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전의 대통령령 또는 화재안전기준을 적용한다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2B145-069B-497C-85EE-AE97FE0E9B6A}"/>
              </a:ext>
            </a:extLst>
          </p:cNvPr>
          <p:cNvSpPr/>
          <p:nvPr/>
        </p:nvSpPr>
        <p:spPr>
          <a:xfrm>
            <a:off x="486734" y="818611"/>
            <a:ext cx="88132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법규에서는 자진 설치 설비였던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상업용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주방자동 소화장치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의무 설치 대상으로 변경 예정임</a:t>
            </a:r>
          </a:p>
        </p:txBody>
      </p:sp>
    </p:spTree>
    <p:extLst>
      <p:ext uri="{BB962C8B-B14F-4D97-AF65-F5344CB8AC3E}">
        <p14:creationId xmlns:p14="http://schemas.microsoft.com/office/powerpoint/2010/main" val="254032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2B145-069B-497C-85EE-AE97FE0E9B6A}"/>
              </a:ext>
            </a:extLst>
          </p:cNvPr>
          <p:cNvSpPr/>
          <p:nvPr/>
        </p:nvSpPr>
        <p:spPr>
          <a:xfrm>
            <a:off x="486734" y="818611"/>
            <a:ext cx="88132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‘21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안전팀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공지 이후 안전 활동을 강화하여 운영 중임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BEFFEA6-B112-4933-B4B5-3A1221F2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6" y="79164"/>
            <a:ext cx="5749782" cy="490067"/>
          </a:xfrm>
        </p:spPr>
        <p:txBody>
          <a:bodyPr/>
          <a:lstStyle/>
          <a:p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Ⅱ. S&amp;I 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주방 화재 대비 안전 가이드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10C5E-B971-4F41-A3E9-2D0E57049410}"/>
              </a:ext>
            </a:extLst>
          </p:cNvPr>
          <p:cNvSpPr/>
          <p:nvPr/>
        </p:nvSpPr>
        <p:spPr>
          <a:xfrm>
            <a:off x="621730" y="1488025"/>
            <a:ext cx="1468388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운용 지침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8A91A4-CBEF-4425-B643-D48ECBFE7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30" y="1962317"/>
            <a:ext cx="2813388" cy="407707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FC00054-BD51-4BD2-B0B3-64B4DAB55763}"/>
              </a:ext>
            </a:extLst>
          </p:cNvPr>
          <p:cNvSpPr/>
          <p:nvPr/>
        </p:nvSpPr>
        <p:spPr>
          <a:xfrm>
            <a:off x="3994382" y="4727294"/>
            <a:ext cx="52898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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상업용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주방자동 소화장치 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미설치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사업장 고객사에 설치 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제안토록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공지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48CE5E-EAC7-423F-A0F1-350EA69E9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137" y="1843114"/>
            <a:ext cx="5145493" cy="286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7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2B145-069B-497C-85EE-AE97FE0E9B6A}"/>
              </a:ext>
            </a:extLst>
          </p:cNvPr>
          <p:cNvSpPr/>
          <p:nvPr/>
        </p:nvSpPr>
        <p:spPr>
          <a:xfrm>
            <a:off x="272480" y="820602"/>
            <a:ext cx="88132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가스를 사용하는 주방 조리기구의 발화점을 모니터링하여 화재를 예방할 수 있는 솔루션을 제공함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BEFFEA6-B112-4933-B4B5-3A1221F2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Ⅲ. 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주방 화재 예방 </a:t>
            </a:r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IoT 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솔루션 제공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E79121-EB0C-4897-8CAC-C5007F8E51F2}"/>
              </a:ext>
            </a:extLst>
          </p:cNvPr>
          <p:cNvSpPr/>
          <p:nvPr/>
        </p:nvSpPr>
        <p:spPr>
          <a:xfrm>
            <a:off x="1502092" y="5539544"/>
            <a:ext cx="242179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조리기구 발화점 감시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6964E8E-006B-45A3-BA10-06AAC8B949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51"/>
          <a:stretch/>
        </p:blipFill>
        <p:spPr>
          <a:xfrm>
            <a:off x="383368" y="1864740"/>
            <a:ext cx="3546925" cy="3096344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FDE8894-8A9E-4571-B477-9B87CDDBCAF1}"/>
              </a:ext>
            </a:extLst>
          </p:cNvPr>
          <p:cNvSpPr/>
          <p:nvPr/>
        </p:nvSpPr>
        <p:spPr>
          <a:xfrm>
            <a:off x="442972" y="1513936"/>
            <a:ext cx="2664296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IoT 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주방화재 예방솔루션 구성도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AE6AE3B-5E72-4AF6-B37C-6028E73F8382}"/>
              </a:ext>
            </a:extLst>
          </p:cNvPr>
          <p:cNvGrpSpPr/>
          <p:nvPr/>
        </p:nvGrpSpPr>
        <p:grpSpPr>
          <a:xfrm>
            <a:off x="5392295" y="2074395"/>
            <a:ext cx="3953193" cy="2964080"/>
            <a:chOff x="2911833" y="2207491"/>
            <a:chExt cx="3953193" cy="296408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A925F39-B830-4558-857C-496113E9AD05}"/>
                </a:ext>
              </a:extLst>
            </p:cNvPr>
            <p:cNvGrpSpPr/>
            <p:nvPr/>
          </p:nvGrpSpPr>
          <p:grpSpPr>
            <a:xfrm>
              <a:off x="2936776" y="2348880"/>
              <a:ext cx="3506079" cy="2822691"/>
              <a:chOff x="2936776" y="2348880"/>
              <a:chExt cx="3506079" cy="2822691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0D2926D-02D5-42F5-92A1-E7D87CC82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6776" y="2348880"/>
                <a:ext cx="3506079" cy="2822691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56F722E-4D8A-400B-8163-394A8967B98E}"/>
                  </a:ext>
                </a:extLst>
              </p:cNvPr>
              <p:cNvSpPr/>
              <p:nvPr/>
            </p:nvSpPr>
            <p:spPr>
              <a:xfrm rot="16200000">
                <a:off x="5956171" y="4249688"/>
                <a:ext cx="720080" cy="23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ko-KR" altLang="en-US" sz="900" dirty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소화약제</a:t>
                </a: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13A31079-717D-401D-A2ED-4576172ED13F}"/>
                  </a:ext>
                </a:extLst>
              </p:cNvPr>
              <p:cNvSpPr/>
              <p:nvPr/>
            </p:nvSpPr>
            <p:spPr>
              <a:xfrm rot="16200000">
                <a:off x="2778567" y="3587209"/>
                <a:ext cx="1123313" cy="23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ko-KR" altLang="en-US" sz="90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가스밸브자동차단</a:t>
                </a:r>
                <a:endPara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D07DF7AC-3A3D-4E87-92FA-2F5C3D0B9B27}"/>
                </a:ext>
              </a:extLst>
            </p:cNvPr>
            <p:cNvSpPr/>
            <p:nvPr/>
          </p:nvSpPr>
          <p:spPr>
            <a:xfrm>
              <a:off x="3140364" y="2207491"/>
              <a:ext cx="3491345" cy="2678545"/>
            </a:xfrm>
            <a:custGeom>
              <a:avLst/>
              <a:gdLst>
                <a:gd name="connsiteX0" fmla="*/ 0 w 3491345"/>
                <a:gd name="connsiteY0" fmla="*/ 0 h 2678545"/>
                <a:gd name="connsiteX1" fmla="*/ 3491345 w 3491345"/>
                <a:gd name="connsiteY1" fmla="*/ 0 h 2678545"/>
                <a:gd name="connsiteX2" fmla="*/ 3491345 w 3491345"/>
                <a:gd name="connsiteY2" fmla="*/ 2678545 h 2678545"/>
                <a:gd name="connsiteX3" fmla="*/ 2623127 w 3491345"/>
                <a:gd name="connsiteY3" fmla="*/ 2678545 h 2678545"/>
                <a:gd name="connsiteX4" fmla="*/ 2623127 w 3491345"/>
                <a:gd name="connsiteY4" fmla="*/ 1847273 h 2678545"/>
                <a:gd name="connsiteX5" fmla="*/ 46181 w 3491345"/>
                <a:gd name="connsiteY5" fmla="*/ 1034473 h 2678545"/>
                <a:gd name="connsiteX6" fmla="*/ 46181 w 3491345"/>
                <a:gd name="connsiteY6" fmla="*/ 9236 h 2678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91345" h="2678545">
                  <a:moveTo>
                    <a:pt x="0" y="0"/>
                  </a:moveTo>
                  <a:lnTo>
                    <a:pt x="3491345" y="0"/>
                  </a:lnTo>
                  <a:lnTo>
                    <a:pt x="3491345" y="2678545"/>
                  </a:lnTo>
                  <a:lnTo>
                    <a:pt x="2623127" y="2678545"/>
                  </a:lnTo>
                  <a:lnTo>
                    <a:pt x="2623127" y="1847273"/>
                  </a:lnTo>
                  <a:lnTo>
                    <a:pt x="46181" y="1034473"/>
                  </a:lnTo>
                  <a:lnTo>
                    <a:pt x="46181" y="9236"/>
                  </a:lnTo>
                </a:path>
              </a:pathLst>
            </a:custGeom>
            <a:noFill/>
            <a:ln w="6350">
              <a:solidFill>
                <a:srgbClr val="FF66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11690B7-0FD4-477E-998C-D4657AD7A264}"/>
                </a:ext>
              </a:extLst>
            </p:cNvPr>
            <p:cNvSpPr/>
            <p:nvPr/>
          </p:nvSpPr>
          <p:spPr>
            <a:xfrm>
              <a:off x="2936776" y="2924944"/>
              <a:ext cx="702351" cy="1637820"/>
            </a:xfrm>
            <a:prstGeom prst="rect">
              <a:avLst/>
            </a:prstGeom>
            <a:noFill/>
            <a:ln w="6350">
              <a:solidFill>
                <a:srgbClr val="0099FF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2CB66B7-A07E-4450-913A-1C2EC0831D2E}"/>
                </a:ext>
              </a:extLst>
            </p:cNvPr>
            <p:cNvSpPr/>
            <p:nvPr/>
          </p:nvSpPr>
          <p:spPr>
            <a:xfrm>
              <a:off x="6144946" y="2225414"/>
              <a:ext cx="72008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F4E4E39-ED30-4A33-A0F2-07CF80A0FFD7}"/>
                </a:ext>
              </a:extLst>
            </p:cNvPr>
            <p:cNvSpPr/>
            <p:nvPr/>
          </p:nvSpPr>
          <p:spPr>
            <a:xfrm>
              <a:off x="2911833" y="4298107"/>
              <a:ext cx="72008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900" dirty="0">
                  <a:solidFill>
                    <a:srgbClr val="0099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옵션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2B1F8C-A44F-40F4-8F06-E70DEBB18D8B}"/>
              </a:ext>
            </a:extLst>
          </p:cNvPr>
          <p:cNvSpPr/>
          <p:nvPr/>
        </p:nvSpPr>
        <p:spPr>
          <a:xfrm>
            <a:off x="5155063" y="1484784"/>
            <a:ext cx="2664296" cy="356799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상업용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주방자동 소화장치 구성도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8BE32D-4EA9-4AD9-99AA-28644CAEBB0E}"/>
              </a:ext>
            </a:extLst>
          </p:cNvPr>
          <p:cNvSpPr/>
          <p:nvPr/>
        </p:nvSpPr>
        <p:spPr>
          <a:xfrm>
            <a:off x="5155063" y="1848716"/>
            <a:ext cx="4104456" cy="3096344"/>
          </a:xfrm>
          <a:prstGeom prst="roundRect">
            <a:avLst>
              <a:gd name="adj" fmla="val 3244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722FE10-7E68-4CBD-9421-A6FEBC8275A1}"/>
              </a:ext>
            </a:extLst>
          </p:cNvPr>
          <p:cNvCxnSpPr/>
          <p:nvPr/>
        </p:nvCxnSpPr>
        <p:spPr>
          <a:xfrm>
            <a:off x="3728864" y="1864740"/>
            <a:ext cx="1953707" cy="927108"/>
          </a:xfrm>
          <a:prstGeom prst="line">
            <a:avLst/>
          </a:prstGeom>
          <a:ln>
            <a:solidFill>
              <a:srgbClr val="0099FF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BB188D4-84E9-43E8-AB43-189F51783220}"/>
              </a:ext>
            </a:extLst>
          </p:cNvPr>
          <p:cNvCxnSpPr>
            <a:cxnSpLocks/>
          </p:cNvCxnSpPr>
          <p:nvPr/>
        </p:nvCxnSpPr>
        <p:spPr>
          <a:xfrm flipV="1">
            <a:off x="3765213" y="4436801"/>
            <a:ext cx="1957035" cy="470359"/>
          </a:xfrm>
          <a:prstGeom prst="line">
            <a:avLst/>
          </a:prstGeom>
          <a:ln>
            <a:solidFill>
              <a:srgbClr val="0099FF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8A742B-6607-4BCD-B0D3-A9F2E9CD7DB7}"/>
              </a:ext>
            </a:extLst>
          </p:cNvPr>
          <p:cNvSpPr/>
          <p:nvPr/>
        </p:nvSpPr>
        <p:spPr>
          <a:xfrm>
            <a:off x="3508826" y="5539544"/>
            <a:ext cx="242179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차 </a:t>
            </a:r>
            <a:r>
              <a:rPr lang="ko-KR" altLang="en-US" sz="1100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경보음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방출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59AF332-ED87-4A19-B0D0-2F9A365A96AD}"/>
              </a:ext>
            </a:extLst>
          </p:cNvPr>
          <p:cNvSpPr/>
          <p:nvPr/>
        </p:nvSpPr>
        <p:spPr>
          <a:xfrm>
            <a:off x="5305686" y="5454906"/>
            <a:ext cx="20555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2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차 </a:t>
            </a:r>
            <a:r>
              <a:rPr lang="ko-KR" altLang="en-US" sz="1100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경보음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방출 및 </a:t>
            </a:r>
            <a:b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</a:b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가스밸브차단</a:t>
            </a:r>
          </a:p>
        </p:txBody>
      </p:sp>
      <p:sp>
        <p:nvSpPr>
          <p:cNvPr id="36" name="화살표: 오각형 35">
            <a:extLst>
              <a:ext uri="{FF2B5EF4-FFF2-40B4-BE49-F238E27FC236}">
                <a16:creationId xmlns:a16="http://schemas.microsoft.com/office/drawing/2014/main" id="{7E9F6AD7-01A0-42B9-A3EE-1086CED6E815}"/>
              </a:ext>
            </a:extLst>
          </p:cNvPr>
          <p:cNvSpPr/>
          <p:nvPr/>
        </p:nvSpPr>
        <p:spPr>
          <a:xfrm>
            <a:off x="1424608" y="5467173"/>
            <a:ext cx="1913726" cy="406352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69634EA0-97C1-4725-ACBF-F2737EBC3397}"/>
              </a:ext>
            </a:extLst>
          </p:cNvPr>
          <p:cNvSpPr/>
          <p:nvPr/>
        </p:nvSpPr>
        <p:spPr>
          <a:xfrm>
            <a:off x="3410343" y="5467173"/>
            <a:ext cx="1686674" cy="406352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916E4CB8-30E1-4D15-B375-B2D8688A0F8F}"/>
              </a:ext>
            </a:extLst>
          </p:cNvPr>
          <p:cNvSpPr/>
          <p:nvPr/>
        </p:nvSpPr>
        <p:spPr>
          <a:xfrm>
            <a:off x="5169024" y="5467173"/>
            <a:ext cx="1790612" cy="406352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9D3583B-990D-489A-A9C3-8FFBD50F365C}"/>
              </a:ext>
            </a:extLst>
          </p:cNvPr>
          <p:cNvSpPr/>
          <p:nvPr/>
        </p:nvSpPr>
        <p:spPr>
          <a:xfrm>
            <a:off x="3459761" y="6114015"/>
            <a:ext cx="51812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지정 사용자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소방안전관리자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급식매니저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에게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SMS/Call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제공</a:t>
            </a:r>
            <a:endParaRPr lang="ko-KR" altLang="en-US" sz="12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CC1B35E-3B78-444C-8177-274F0999342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5" t="8759" r="25276" b="72439"/>
          <a:stretch/>
        </p:blipFill>
        <p:spPr>
          <a:xfrm>
            <a:off x="3943080" y="2994294"/>
            <a:ext cx="938555" cy="6766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2B3ED1C-51D4-402B-99F3-C9F6600D6DED}"/>
              </a:ext>
            </a:extLst>
          </p:cNvPr>
          <p:cNvSpPr/>
          <p:nvPr/>
        </p:nvSpPr>
        <p:spPr>
          <a:xfrm>
            <a:off x="442972" y="5225347"/>
            <a:ext cx="8816547" cy="1354096"/>
          </a:xfrm>
          <a:prstGeom prst="roundRect">
            <a:avLst>
              <a:gd name="adj" fmla="val 4052"/>
            </a:avLst>
          </a:prstGeom>
          <a:noFill/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5" name="화살표: 오각형 34">
            <a:extLst>
              <a:ext uri="{FF2B5EF4-FFF2-40B4-BE49-F238E27FC236}">
                <a16:creationId xmlns:a16="http://schemas.microsoft.com/office/drawing/2014/main" id="{B145A8AC-092D-4221-9E00-1134B7B6658E}"/>
              </a:ext>
            </a:extLst>
          </p:cNvPr>
          <p:cNvSpPr/>
          <p:nvPr/>
        </p:nvSpPr>
        <p:spPr>
          <a:xfrm>
            <a:off x="3410342" y="6041644"/>
            <a:ext cx="5086092" cy="406352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047AD5A6-BF8D-4774-89B5-B1A6ADF4EBEE}"/>
              </a:ext>
            </a:extLst>
          </p:cNvPr>
          <p:cNvSpPr/>
          <p:nvPr/>
        </p:nvSpPr>
        <p:spPr>
          <a:xfrm>
            <a:off x="3942536" y="5801154"/>
            <a:ext cx="216024" cy="255879"/>
          </a:xfrm>
          <a:prstGeom prst="downArrow">
            <a:avLst/>
          </a:prstGeom>
          <a:solidFill>
            <a:srgbClr val="C0000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1" name="화살표: 아래쪽 40">
            <a:extLst>
              <a:ext uri="{FF2B5EF4-FFF2-40B4-BE49-F238E27FC236}">
                <a16:creationId xmlns:a16="http://schemas.microsoft.com/office/drawing/2014/main" id="{59D1EDA4-F184-4E07-88B0-2679FF120EA2}"/>
              </a:ext>
            </a:extLst>
          </p:cNvPr>
          <p:cNvSpPr/>
          <p:nvPr/>
        </p:nvSpPr>
        <p:spPr>
          <a:xfrm>
            <a:off x="5991639" y="5815100"/>
            <a:ext cx="216024" cy="255879"/>
          </a:xfrm>
          <a:prstGeom prst="downArrow">
            <a:avLst/>
          </a:prstGeom>
          <a:solidFill>
            <a:srgbClr val="C0000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3F5D8E4-BB8A-4BAE-8D62-B79487542C3B}"/>
              </a:ext>
            </a:extLst>
          </p:cNvPr>
          <p:cNvSpPr/>
          <p:nvPr/>
        </p:nvSpPr>
        <p:spPr>
          <a:xfrm>
            <a:off x="7134612" y="5467174"/>
            <a:ext cx="20555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발생 원인 및 조치 내용</a:t>
            </a:r>
            <a:b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</a:br>
            <a: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Database 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화</a:t>
            </a:r>
          </a:p>
        </p:txBody>
      </p:sp>
      <p:sp>
        <p:nvSpPr>
          <p:cNvPr id="43" name="화살표: 오각형 42">
            <a:extLst>
              <a:ext uri="{FF2B5EF4-FFF2-40B4-BE49-F238E27FC236}">
                <a16:creationId xmlns:a16="http://schemas.microsoft.com/office/drawing/2014/main" id="{0E6FF433-56FD-4996-9BD5-9657A9F04801}"/>
              </a:ext>
            </a:extLst>
          </p:cNvPr>
          <p:cNvSpPr/>
          <p:nvPr/>
        </p:nvSpPr>
        <p:spPr>
          <a:xfrm>
            <a:off x="6997950" y="5479441"/>
            <a:ext cx="1790612" cy="406352"/>
          </a:xfrm>
          <a:prstGeom prst="homePlate">
            <a:avLst>
              <a:gd name="adj" fmla="val 42582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화살표: 아래쪽 43">
            <a:extLst>
              <a:ext uri="{FF2B5EF4-FFF2-40B4-BE49-F238E27FC236}">
                <a16:creationId xmlns:a16="http://schemas.microsoft.com/office/drawing/2014/main" id="{C617A858-5614-4AAD-A1F0-66A85AA20CE9}"/>
              </a:ext>
            </a:extLst>
          </p:cNvPr>
          <p:cNvSpPr/>
          <p:nvPr/>
        </p:nvSpPr>
        <p:spPr>
          <a:xfrm rot="10800000">
            <a:off x="7722957" y="5810301"/>
            <a:ext cx="216024" cy="255879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E2EC5D-2B6D-4E48-80FD-789B6929214D}"/>
              </a:ext>
            </a:extLst>
          </p:cNvPr>
          <p:cNvSpPr/>
          <p:nvPr/>
        </p:nvSpPr>
        <p:spPr>
          <a:xfrm>
            <a:off x="427274" y="5225346"/>
            <a:ext cx="733389" cy="1354095"/>
          </a:xfrm>
          <a:prstGeom prst="roundRect">
            <a:avLst>
              <a:gd name="adj" fmla="val 9816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기능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50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DBBDAF5-515F-4092-9D7D-17832D6BA923}"/>
              </a:ext>
            </a:extLst>
          </p:cNvPr>
          <p:cNvSpPr txBox="1"/>
          <p:nvPr/>
        </p:nvSpPr>
        <p:spPr>
          <a:xfrm>
            <a:off x="848544" y="7305199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 </a:t>
            </a:r>
            <a:r>
              <a:rPr kumimoji="0" lang="en-US" altLang="ko-KR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 업체가 가장 선호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빠르게 발굴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35022B-E97A-4483-A665-CDFD96B595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331A79-ADAB-4A35-B7FF-BE12BB0AF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30216"/>
              </p:ext>
            </p:extLst>
          </p:nvPr>
        </p:nvGraphicFramePr>
        <p:xfrm>
          <a:off x="410103" y="1897273"/>
          <a:ext cx="9073008" cy="3547951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3661646151"/>
                    </a:ext>
                  </a:extLst>
                </a:gridCol>
                <a:gridCol w="3187897">
                  <a:extLst>
                    <a:ext uri="{9D8B030D-6E8A-4147-A177-3AD203B41FA5}">
                      <a16:colId xmlns:a16="http://schemas.microsoft.com/office/drawing/2014/main" val="2859522672"/>
                    </a:ext>
                  </a:extLst>
                </a:gridCol>
                <a:gridCol w="703633">
                  <a:extLst>
                    <a:ext uri="{9D8B030D-6E8A-4147-A177-3AD203B41FA5}">
                      <a16:colId xmlns:a16="http://schemas.microsoft.com/office/drawing/2014/main" val="940125553"/>
                    </a:ext>
                  </a:extLst>
                </a:gridCol>
                <a:gridCol w="824569">
                  <a:extLst>
                    <a:ext uri="{9D8B030D-6E8A-4147-A177-3AD203B41FA5}">
                      <a16:colId xmlns:a16="http://schemas.microsoft.com/office/drawing/2014/main" val="2404938743"/>
                    </a:ext>
                  </a:extLst>
                </a:gridCol>
                <a:gridCol w="868546">
                  <a:extLst>
                    <a:ext uri="{9D8B030D-6E8A-4147-A177-3AD203B41FA5}">
                      <a16:colId xmlns:a16="http://schemas.microsoft.com/office/drawing/2014/main" val="3093988627"/>
                    </a:ext>
                  </a:extLst>
                </a:gridCol>
                <a:gridCol w="1616155">
                  <a:extLst>
                    <a:ext uri="{9D8B030D-6E8A-4147-A177-3AD203B41FA5}">
                      <a16:colId xmlns:a16="http://schemas.microsoft.com/office/drawing/2014/main" val="502463730"/>
                    </a:ext>
                  </a:extLst>
                </a:gridCol>
              </a:tblGrid>
              <a:tr h="3225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센터명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공사명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공사일자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매입계약금액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협력업체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717439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전자서초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'22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년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전자서초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 사원식당 주방 가스 차단밸브 설치 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2022-09-17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4,610,000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가스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보문엔지니어링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14004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전자양재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사원식당 주방 가스 자동차단밸브 수선공사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2022-09-02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1,896,000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가스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보문엔지니어링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317898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전자가산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연구동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주방 국솥 화재예방시스템 구축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2022-08-24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4,260,000 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기타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그립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050848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전자가산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주방용 소화장치 설비 보수의 件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2022-08-20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4,067,000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서울방재전문기술단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764294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GS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타워운영센터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[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임대수선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]GS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타워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상업용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주방 자동소화장치 설치공사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2022-08-13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15,243,000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서울방재전문기술단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44281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SP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안전보건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DP2_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서측부지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_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주방자동소화장치 소모품 교체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2022-08-01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8,864,000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서울방재전문기술단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603978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전자서초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LG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 서초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 사원식당 주방 자동 소화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설비 부속품 교체공사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2022-07-23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5,030,000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8721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전자양재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주방 자동소화설비 부속품 교체공사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2022-07-22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2,390,000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259797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U+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안양운영센터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U+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안양사옥 식당 가스차단장치 교체 공사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누설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2022-03-18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1,142,000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가스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보문엔지니어링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048491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DGIST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상업용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주방자동소화장치 설치 건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2021-11-15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28,574,000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참조은이엔지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443087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0F434B7-3476-445F-8705-919185FF3DBA}"/>
              </a:ext>
            </a:extLst>
          </p:cNvPr>
          <p:cNvSpPr/>
          <p:nvPr/>
        </p:nvSpPr>
        <p:spPr>
          <a:xfrm>
            <a:off x="404779" y="1540474"/>
            <a:ext cx="1468388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공사 관리 현황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E22193-9D39-4564-8D6C-C870A0A48143}"/>
              </a:ext>
            </a:extLst>
          </p:cNvPr>
          <p:cNvSpPr/>
          <p:nvPr/>
        </p:nvSpPr>
        <p:spPr>
          <a:xfrm>
            <a:off x="7868721" y="1629913"/>
            <a:ext cx="173458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’21.6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 ’22.10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0FDDE1-9375-469C-A2DA-5EE2DAE2E09E}"/>
              </a:ext>
            </a:extLst>
          </p:cNvPr>
          <p:cNvSpPr/>
          <p:nvPr/>
        </p:nvSpPr>
        <p:spPr>
          <a:xfrm>
            <a:off x="344487" y="812004"/>
            <a:ext cx="91386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대형 운영센터 중심으로 자진설치 및 유지보수 중이며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LG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전자는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주방가스자동차단밸브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기능을 추가하여 안전을 강화함</a:t>
            </a:r>
          </a:p>
        </p:txBody>
      </p:sp>
      <p:sp>
        <p:nvSpPr>
          <p:cNvPr id="11" name="제목 5">
            <a:extLst>
              <a:ext uri="{FF2B5EF4-FFF2-40B4-BE49-F238E27FC236}">
                <a16:creationId xmlns:a16="http://schemas.microsoft.com/office/drawing/2014/main" id="{190CFA5C-7CB8-42BD-BCF0-4E31E29E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6" y="79164"/>
            <a:ext cx="5749782" cy="490067"/>
          </a:xfrm>
        </p:spPr>
        <p:txBody>
          <a:bodyPr/>
          <a:lstStyle/>
          <a:p>
            <a:r>
              <a:rPr lang="en-US" altLang="ko-KR" b="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</a:t>
            </a:r>
            <a:r>
              <a:rPr lang="ko-KR" altLang="en-US" b="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참고</a:t>
            </a:r>
            <a:r>
              <a:rPr lang="en-US" altLang="ko-KR" b="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) </a:t>
            </a:r>
            <a:r>
              <a:rPr lang="ko-KR" altLang="en-US" b="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주방 화재 예방 시스템 관련 공사 현황</a:t>
            </a:r>
          </a:p>
        </p:txBody>
      </p:sp>
    </p:spTree>
    <p:extLst>
      <p:ext uri="{BB962C8B-B14F-4D97-AF65-F5344CB8AC3E}">
        <p14:creationId xmlns:p14="http://schemas.microsoft.com/office/powerpoint/2010/main" val="379891376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30292</TotalTime>
  <Words>549</Words>
  <Application>Microsoft Office PowerPoint</Application>
  <PresentationFormat>A4 용지(210x297mm)</PresentationFormat>
  <Paragraphs>107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LG스마트체 Regular</vt:lpstr>
      <vt:lpstr>LG스마트체 SemiBold</vt:lpstr>
      <vt:lpstr>Malgun Gothic Semilight</vt:lpstr>
      <vt:lpstr>굴림</vt:lpstr>
      <vt:lpstr>Malgun Gothic</vt:lpstr>
      <vt:lpstr>Malgun Gothic</vt:lpstr>
      <vt:lpstr>Arial</vt:lpstr>
      <vt:lpstr>Wingdings</vt:lpstr>
      <vt:lpstr>기본 디자인</vt:lpstr>
      <vt:lpstr>Ⅰ. 주방자동 소화장치 관련 법(안) 검토</vt:lpstr>
      <vt:lpstr>Ⅱ. S&amp;I 주방 화재 대비 안전 가이드</vt:lpstr>
      <vt:lpstr>Ⅲ. 주방 화재 예방 IoT 솔루션 제공</vt:lpstr>
      <vt:lpstr>(참고) 주방 화재 예방 시스템 관련 공사 현황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2700</cp:revision>
  <cp:lastPrinted>2017-07-06T08:43:05Z</cp:lastPrinted>
  <dcterms:created xsi:type="dcterms:W3CDTF">2010-05-06T04:51:51Z</dcterms:created>
  <dcterms:modified xsi:type="dcterms:W3CDTF">2022-12-06T06:42:20Z</dcterms:modified>
</cp:coreProperties>
</file>