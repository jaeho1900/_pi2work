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80" r:id="rId3"/>
    <p:sldId id="279" r:id="rId4"/>
    <p:sldId id="274" r:id="rId5"/>
    <p:sldId id="263" r:id="rId6"/>
    <p:sldId id="272" r:id="rId7"/>
    <p:sldId id="277" r:id="rId8"/>
    <p:sldId id="278" r:id="rId9"/>
    <p:sldId id="281" r:id="rId1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08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5" pos="1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EFF1F5"/>
    <a:srgbClr val="69809F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161" autoAdjust="0"/>
  </p:normalViewPr>
  <p:slideViewPr>
    <p:cSldViewPr snapToGrid="0">
      <p:cViewPr varScale="1">
        <p:scale>
          <a:sx n="96" d="100"/>
          <a:sy n="96" d="100"/>
        </p:scale>
        <p:origin x="108" y="150"/>
      </p:cViewPr>
      <p:guideLst>
        <p:guide orient="horz" pos="2160"/>
        <p:guide pos="3120"/>
        <p:guide pos="308"/>
        <p:guide pos="398"/>
        <p:guide pos="14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C0B2D-7CC6-4DD1-9E85-D6335CE662F2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04D3D-BACA-405C-9829-D831E3EC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71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2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0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5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56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834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31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4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3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6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9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5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25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40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3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A0C25-1B6F-47BB-8135-C607813A3A4A}" type="datetimeFigureOut">
              <a:rPr lang="ko-KR" altLang="en-US" smtClean="0"/>
              <a:t>23-01-09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1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ESS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화재 확산 방지 솔루션 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전기차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‧ESS </a:t>
            </a:r>
            <a:r>
              <a:rPr lang="ko-KR" altLang="en-US" sz="14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불나면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몸부터 피하라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7AD1AA-B951-44D3-9E73-1DA75B75D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29" y="1775704"/>
            <a:ext cx="4749745" cy="3997702"/>
          </a:xfrm>
          <a:prstGeom prst="rect">
            <a:avLst/>
          </a:prstGeom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CA26B607-E2B8-422C-83F2-7A7C25AB7E23}"/>
              </a:ext>
            </a:extLst>
          </p:cNvPr>
          <p:cNvSpPr/>
          <p:nvPr/>
        </p:nvSpPr>
        <p:spPr>
          <a:xfrm>
            <a:off x="443179" y="1491356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사고 원인 및 현황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6491077C-E02E-4F0A-A515-35E0734A8A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4" t="19065" r="95261" b="76604"/>
          <a:stretch/>
        </p:blipFill>
        <p:spPr>
          <a:xfrm>
            <a:off x="335323" y="1517152"/>
            <a:ext cx="199506" cy="232756"/>
          </a:xfrm>
          <a:prstGeom prst="rect">
            <a:avLst/>
          </a:prstGeom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43F2FCDE-92EB-4318-B820-DC73D7BFB26E}"/>
              </a:ext>
            </a:extLst>
          </p:cNvPr>
          <p:cNvSpPr/>
          <p:nvPr/>
        </p:nvSpPr>
        <p:spPr>
          <a:xfrm>
            <a:off x="6015890" y="1497197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Pain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Point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9E5B528C-98E2-4D34-9767-9276E43FA8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4" t="19065" r="95261" b="76604"/>
          <a:stretch/>
        </p:blipFill>
        <p:spPr>
          <a:xfrm>
            <a:off x="5908034" y="1522993"/>
            <a:ext cx="199506" cy="232756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E3DF560-7098-44D5-84D1-929CB108408A}"/>
              </a:ext>
            </a:extLst>
          </p:cNvPr>
          <p:cNvSpPr/>
          <p:nvPr/>
        </p:nvSpPr>
        <p:spPr>
          <a:xfrm>
            <a:off x="5908034" y="1876679"/>
            <a:ext cx="3778031" cy="25391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복합 재난에 따른 진화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현장 접근 어려움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11925C4-93B1-4FFD-B0F6-3D591AE1EE87}"/>
              </a:ext>
            </a:extLst>
          </p:cNvPr>
          <p:cNvGrpSpPr/>
          <p:nvPr/>
        </p:nvGrpSpPr>
        <p:grpSpPr>
          <a:xfrm>
            <a:off x="10775563" y="2390570"/>
            <a:ext cx="3044757" cy="1383985"/>
            <a:chOff x="5908034" y="4378403"/>
            <a:chExt cx="3044757" cy="138398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05E87AA-32D6-402B-B950-C67C3C617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00003" y="4894807"/>
              <a:ext cx="722499" cy="68762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7E56322-2188-4993-BBA3-1D4D61AFD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7576328" y="4811735"/>
              <a:ext cx="849120" cy="820680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BBA2768-C425-4CB6-AECE-A94B50A9D9E2}"/>
                </a:ext>
              </a:extLst>
            </p:cNvPr>
            <p:cNvSpPr/>
            <p:nvPr/>
          </p:nvSpPr>
          <p:spPr>
            <a:xfrm>
              <a:off x="5908034" y="4378403"/>
              <a:ext cx="3044757" cy="1383985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57F1494E-6FB5-466A-8C62-9188F2F86D12}"/>
                </a:ext>
              </a:extLst>
            </p:cNvPr>
            <p:cNvSpPr/>
            <p:nvPr/>
          </p:nvSpPr>
          <p:spPr>
            <a:xfrm>
              <a:off x="6368866" y="4518905"/>
              <a:ext cx="984771" cy="2539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914400" latinLnBrk="1"/>
              <a:r>
                <a:rPr lang="ko-KR" altLang="en-US" sz="105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화염 및 폭발</a:t>
              </a:r>
              <a:endPara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FBBA8CE-DEA0-42D1-8BF5-6E08B7FE82A4}"/>
                </a:ext>
              </a:extLst>
            </p:cNvPr>
            <p:cNvSpPr/>
            <p:nvPr/>
          </p:nvSpPr>
          <p:spPr>
            <a:xfrm>
              <a:off x="7660163" y="4518905"/>
              <a:ext cx="822005" cy="2539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914400" latinLnBrk="1"/>
              <a:r>
                <a:rPr lang="ko-KR" altLang="en-US" sz="105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독성가스</a:t>
              </a:r>
              <a:endPara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DE89B47-62B2-496D-AD8A-1EE3E1FD3A7F}"/>
              </a:ext>
            </a:extLst>
          </p:cNvPr>
          <p:cNvSpPr/>
          <p:nvPr/>
        </p:nvSpPr>
        <p:spPr>
          <a:xfrm>
            <a:off x="5908034" y="2883100"/>
            <a:ext cx="3778031" cy="57708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맹독성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불화수소 외 다수의 유독가스 생성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방출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1MWh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당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0.2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억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~ 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억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mg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생성되며 이는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미국산업안전보건연구원의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유해물질노출기준값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m3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당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0.025g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의 최대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800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만배에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해당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F17F698-265C-43A0-93C1-C494FEFA05CE}"/>
              </a:ext>
            </a:extLst>
          </p:cNvPr>
          <p:cNvSpPr/>
          <p:nvPr/>
        </p:nvSpPr>
        <p:spPr>
          <a:xfrm>
            <a:off x="5831767" y="3644582"/>
            <a:ext cx="3778031" cy="122341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- 2019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년 미국 애리조나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화재진화 당시 폭발사고로 소방관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4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명의 중상을 입었으며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- 2021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4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월에는 중국 베이징 쇼핑몰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화재로 소방관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명이 사망하고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같은해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독일에선 특수복을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갖춰입은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소방대원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12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명이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불산에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노출되는 사고가 발생</a:t>
            </a:r>
          </a:p>
          <a:p>
            <a:pPr defTabSz="914400" latinLnBrk="1"/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447D48-0514-4944-B0E6-5C3D3F058E8D}"/>
              </a:ext>
            </a:extLst>
          </p:cNvPr>
          <p:cNvSpPr/>
          <p:nvPr/>
        </p:nvSpPr>
        <p:spPr>
          <a:xfrm>
            <a:off x="534829" y="5773406"/>
            <a:ext cx="4953000" cy="25391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출처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산업통상자원부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민관합동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화재사고 원인조사 위원회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’ 2019.6.11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보도자료</a:t>
            </a:r>
          </a:p>
        </p:txBody>
      </p:sp>
      <p:sp>
        <p:nvSpPr>
          <p:cNvPr id="16" name="실행 단추: 도움말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E93CA12-914B-42EA-BDAF-FEED5FAD2423}"/>
              </a:ext>
            </a:extLst>
          </p:cNvPr>
          <p:cNvSpPr/>
          <p:nvPr/>
        </p:nvSpPr>
        <p:spPr>
          <a:xfrm>
            <a:off x="6081218" y="4996299"/>
            <a:ext cx="496111" cy="807604"/>
          </a:xfrm>
          <a:prstGeom prst="actionButtonHelp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EC1228F-39B7-42DF-A653-8D61AC54495D}"/>
              </a:ext>
            </a:extLst>
          </p:cNvPr>
          <p:cNvGrpSpPr/>
          <p:nvPr/>
        </p:nvGrpSpPr>
        <p:grpSpPr>
          <a:xfrm>
            <a:off x="6816888" y="5173520"/>
            <a:ext cx="1990228" cy="287522"/>
            <a:chOff x="12285405" y="3340438"/>
            <a:chExt cx="3507681" cy="385491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E04FCDA-10BF-4AB9-AA47-ACAC9AA7C5E9}"/>
                </a:ext>
              </a:extLst>
            </p:cNvPr>
            <p:cNvSpPr txBox="1"/>
            <p:nvPr/>
          </p:nvSpPr>
          <p:spPr>
            <a:xfrm>
              <a:off x="12285405" y="3354547"/>
              <a:ext cx="3507681" cy="371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20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화재 확산은 </a:t>
              </a:r>
              <a:r>
                <a:rPr lang="en-US" altLang="ko-KR" sz="120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?</a:t>
              </a:r>
            </a:p>
          </p:txBody>
        </p:sp>
        <p:pic>
          <p:nvPicPr>
            <p:cNvPr id="108" name="그래픽 657">
              <a:extLst>
                <a:ext uri="{FF2B5EF4-FFF2-40B4-BE49-F238E27FC236}">
                  <a16:creationId xmlns:a16="http://schemas.microsoft.com/office/drawing/2014/main" id="{A0CF9A86-3318-4E6C-8333-CB4B4D995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580303" y="3340438"/>
              <a:ext cx="108624" cy="96567"/>
            </a:xfrm>
            <a:prstGeom prst="rect">
              <a:avLst/>
            </a:prstGeom>
          </p:spPr>
        </p:pic>
        <p:pic>
          <p:nvPicPr>
            <p:cNvPr id="109" name="그래픽 658">
              <a:extLst>
                <a:ext uri="{FF2B5EF4-FFF2-40B4-BE49-F238E27FC236}">
                  <a16:creationId xmlns:a16="http://schemas.microsoft.com/office/drawing/2014/main" id="{FE819AD6-D429-4E5C-94D9-5F9B8E23D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15539592" y="3352022"/>
              <a:ext cx="108624" cy="96567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2F4A390-833B-4C3B-A81E-1BDBD45DFAF2}"/>
              </a:ext>
            </a:extLst>
          </p:cNvPr>
          <p:cNvSpPr/>
          <p:nvPr/>
        </p:nvSpPr>
        <p:spPr>
          <a:xfrm>
            <a:off x="5942664" y="2396324"/>
            <a:ext cx="3778031" cy="25391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- 1,000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℃ 넘는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열폭주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배터리폭발 및 고전압 감전 위험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47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ESS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화재 확산 방지 솔루션 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전기차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‧ESS </a:t>
            </a:r>
            <a:r>
              <a:rPr lang="ko-KR" altLang="en-US" sz="14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불나면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몸부터 피하라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</a:p>
        </p:txBody>
      </p:sp>
      <p:sp>
        <p:nvSpPr>
          <p:cNvPr id="27" name="사각형: 둥근 모서리 161">
            <a:extLst>
              <a:ext uri="{FF2B5EF4-FFF2-40B4-BE49-F238E27FC236}">
                <a16:creationId xmlns:a16="http://schemas.microsoft.com/office/drawing/2014/main" id="{3B17A571-2069-4FE0-A3D3-ABB43C58917F}"/>
              </a:ext>
            </a:extLst>
          </p:cNvPr>
          <p:cNvSpPr/>
          <p:nvPr/>
        </p:nvSpPr>
        <p:spPr>
          <a:xfrm flipH="1">
            <a:off x="208641" y="2290870"/>
            <a:ext cx="9217025" cy="1834453"/>
          </a:xfrm>
          <a:prstGeom prst="roundRect">
            <a:avLst>
              <a:gd name="adj" fmla="val 34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1524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EB8F930-5383-4CA4-846E-50F8CAE2BCCF}"/>
              </a:ext>
            </a:extLst>
          </p:cNvPr>
          <p:cNvGrpSpPr/>
          <p:nvPr/>
        </p:nvGrpSpPr>
        <p:grpSpPr>
          <a:xfrm>
            <a:off x="322914" y="1414394"/>
            <a:ext cx="5116307" cy="293285"/>
            <a:chOff x="573784" y="2158310"/>
            <a:chExt cx="6281588" cy="360083"/>
          </a:xfrm>
        </p:grpSpPr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E0A44A1C-19DF-4BAE-9AA6-CE09AEE86A2E}"/>
                </a:ext>
              </a:extLst>
            </p:cNvPr>
            <p:cNvSpPr txBox="1"/>
            <p:nvPr/>
          </p:nvSpPr>
          <p:spPr>
            <a:xfrm>
              <a:off x="740697" y="2158310"/>
              <a:ext cx="6114675" cy="36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RMS x 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</a:t>
              </a:r>
              <a:r>
                <a:rPr lang="ko-KR" altLang="en-US" sz="11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가드케이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1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파이어커버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오토시스템 </a:t>
              </a: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화재 확산 방지 솔루션</a:t>
              </a: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’</a:t>
              </a:r>
              <a:endPara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0" name="Group 27">
              <a:extLst>
                <a:ext uri="{FF2B5EF4-FFF2-40B4-BE49-F238E27FC236}">
                  <a16:creationId xmlns:a16="http://schemas.microsoft.com/office/drawing/2014/main" id="{C2879C90-B47F-4ACB-8370-CB466CDE03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31" name="Freeform 28">
                <a:extLst>
                  <a:ext uri="{FF2B5EF4-FFF2-40B4-BE49-F238E27FC236}">
                    <a16:creationId xmlns:a16="http://schemas.microsoft.com/office/drawing/2014/main" id="{E075B1D3-B413-4DD3-BF65-9D0513492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Freeform 29">
                <a:extLst>
                  <a:ext uri="{FF2B5EF4-FFF2-40B4-BE49-F238E27FC236}">
                    <a16:creationId xmlns:a16="http://schemas.microsoft.com/office/drawing/2014/main" id="{7989B16F-E8DE-4829-9E8F-8B7BEFD90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30">
                <a:extLst>
                  <a:ext uri="{FF2B5EF4-FFF2-40B4-BE49-F238E27FC236}">
                    <a16:creationId xmlns:a16="http://schemas.microsoft.com/office/drawing/2014/main" id="{E4E9F76C-0BFB-47D8-A21E-D6055E2F5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EBDF549-3BA1-43DA-B3B5-8E8BB44BD071}"/>
              </a:ext>
            </a:extLst>
          </p:cNvPr>
          <p:cNvGrpSpPr/>
          <p:nvPr/>
        </p:nvGrpSpPr>
        <p:grpSpPr>
          <a:xfrm>
            <a:off x="362219" y="2316995"/>
            <a:ext cx="2680921" cy="283347"/>
            <a:chOff x="3383406" y="4342029"/>
            <a:chExt cx="2703964" cy="28345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CCEA4F-D118-4CF1-AD6B-0532A42ED965}"/>
                </a:ext>
              </a:extLst>
            </p:cNvPr>
            <p:cNvSpPr txBox="1"/>
            <p:nvPr/>
          </p:nvSpPr>
          <p:spPr>
            <a:xfrm>
              <a:off x="3502699" y="4342029"/>
              <a:ext cx="2584671" cy="283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운영 예상 시나리오</a:t>
              </a:r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43605C6E-16E4-46EA-8EA2-59A557F1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3406" y="4437730"/>
              <a:ext cx="120319" cy="120320"/>
            </a:xfrm>
            <a:custGeom>
              <a:avLst/>
              <a:gdLst>
                <a:gd name="T0" fmla="*/ 50 w 61"/>
                <a:gd name="T1" fmla="*/ 0 h 61"/>
                <a:gd name="T2" fmla="*/ 11 w 61"/>
                <a:gd name="T3" fmla="*/ 0 h 61"/>
                <a:gd name="T4" fmla="*/ 0 w 61"/>
                <a:gd name="T5" fmla="*/ 11 h 61"/>
                <a:gd name="T6" fmla="*/ 0 w 61"/>
                <a:gd name="T7" fmla="*/ 50 h 61"/>
                <a:gd name="T8" fmla="*/ 11 w 61"/>
                <a:gd name="T9" fmla="*/ 61 h 61"/>
                <a:gd name="T10" fmla="*/ 50 w 61"/>
                <a:gd name="T11" fmla="*/ 61 h 61"/>
                <a:gd name="T12" fmla="*/ 61 w 61"/>
                <a:gd name="T13" fmla="*/ 50 h 61"/>
                <a:gd name="T14" fmla="*/ 61 w 61"/>
                <a:gd name="T15" fmla="*/ 11 h 61"/>
                <a:gd name="T16" fmla="*/ 50 w 61"/>
                <a:gd name="T17" fmla="*/ 0 h 61"/>
                <a:gd name="T18" fmla="*/ 25 w 61"/>
                <a:gd name="T19" fmla="*/ 51 h 61"/>
                <a:gd name="T20" fmla="*/ 19 w 61"/>
                <a:gd name="T21" fmla="*/ 45 h 61"/>
                <a:gd name="T22" fmla="*/ 34 w 61"/>
                <a:gd name="T23" fmla="*/ 30 h 61"/>
                <a:gd name="T24" fmla="*/ 19 w 61"/>
                <a:gd name="T25" fmla="*/ 16 h 61"/>
                <a:gd name="T26" fmla="*/ 25 w 61"/>
                <a:gd name="T27" fmla="*/ 9 h 61"/>
                <a:gd name="T28" fmla="*/ 46 w 61"/>
                <a:gd name="T29" fmla="*/ 30 h 61"/>
                <a:gd name="T30" fmla="*/ 25 w 61"/>
                <a:gd name="T31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1">
                  <a:moveTo>
                    <a:pt x="5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6"/>
                    <a:pt x="5" y="61"/>
                    <a:pt x="11" y="61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56" y="61"/>
                    <a:pt x="61" y="56"/>
                    <a:pt x="61" y="5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5"/>
                    <a:pt x="56" y="0"/>
                    <a:pt x="50" y="0"/>
                  </a:cubicBezTo>
                  <a:close/>
                  <a:moveTo>
                    <a:pt x="25" y="51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46" y="30"/>
                    <a:pt x="46" y="30"/>
                    <a:pt x="46" y="30"/>
                  </a:cubicBezTo>
                  <a:lnTo>
                    <a:pt x="25" y="51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242C38"/>
                </a:gs>
                <a:gs pos="100000">
                  <a:srgbClr val="404E62"/>
                </a:gs>
                <a:gs pos="50000">
                  <a:srgbClr val="404E62"/>
                </a:gs>
                <a:gs pos="45000">
                  <a:srgbClr val="242C38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E42326B-1F1F-4227-80D2-669A7CAEBC7B}"/>
              </a:ext>
            </a:extLst>
          </p:cNvPr>
          <p:cNvGrpSpPr/>
          <p:nvPr/>
        </p:nvGrpSpPr>
        <p:grpSpPr>
          <a:xfrm>
            <a:off x="154700" y="2841573"/>
            <a:ext cx="617635" cy="224626"/>
            <a:chOff x="3191893" y="6444349"/>
            <a:chExt cx="699876" cy="268425"/>
          </a:xfrm>
        </p:grpSpPr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7B2C531F-4824-41CF-BDF1-88749E251514}"/>
                </a:ext>
              </a:extLst>
            </p:cNvPr>
            <p:cNvSpPr/>
            <p:nvPr/>
          </p:nvSpPr>
          <p:spPr>
            <a:xfrm rot="16200000">
              <a:off x="3194053" y="6643174"/>
              <a:ext cx="67574" cy="71625"/>
            </a:xfrm>
            <a:prstGeom prst="triangle">
              <a:avLst/>
            </a:prstGeom>
            <a:solidFill>
              <a:srgbClr val="33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F02210A-457E-43A1-9FD9-A82B9D365409}"/>
                </a:ext>
              </a:extLst>
            </p:cNvPr>
            <p:cNvSpPr/>
            <p:nvPr/>
          </p:nvSpPr>
          <p:spPr>
            <a:xfrm>
              <a:off x="3191893" y="6444349"/>
              <a:ext cx="699876" cy="234386"/>
            </a:xfrm>
            <a:prstGeom prst="rect">
              <a:avLst/>
            </a:prstGeom>
            <a:solidFill>
              <a:srgbClr val="88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 defTabSz="914400" latinLnBrk="1">
                <a:defRPr/>
              </a:pPr>
              <a:r>
                <a:rPr lang="en-US" altLang="ko-KR" sz="1000" i="1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As-is</a:t>
              </a:r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8ABB17E-5502-46DD-976C-03583D0952C2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2610213" y="2964795"/>
            <a:ext cx="557143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41" name="Text Box 7">
            <a:extLst>
              <a:ext uri="{FF2B5EF4-FFF2-40B4-BE49-F238E27FC236}">
                <a16:creationId xmlns:a16="http://schemas.microsoft.com/office/drawing/2014/main" id="{094B8813-6358-44D9-88C3-B30E206B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084" y="2779395"/>
            <a:ext cx="83412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화재 경보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A43D8CA6-7AF7-47C6-A7A7-E5DA7CB8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626" y="2788955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현장 출동</a:t>
            </a:r>
            <a:r>
              <a:rPr lang="en-US" altLang="ko-KR" spc="-50" dirty="0">
                <a:latin typeface="Arial Narrow" panose="020B0606020202030204" pitchFamily="34" charset="0"/>
              </a:rPr>
              <a:t>/</a:t>
            </a:r>
            <a:r>
              <a:rPr lang="ko-KR" altLang="en-US" spc="-50" dirty="0">
                <a:latin typeface="Arial Narrow" panose="020B0606020202030204" pitchFamily="34" charset="0"/>
              </a:rPr>
              <a:t>확인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C52514CA-BD24-48CB-8BA1-8FD1E3AA1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829" y="2779395"/>
            <a:ext cx="78323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비상 방송 안내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en-US" altLang="ko-KR" spc="-50" dirty="0">
                <a:latin typeface="Arial Narrow" panose="020B0606020202030204" pitchFamily="34" charset="0"/>
              </a:rPr>
              <a:t>/ </a:t>
            </a:r>
            <a:r>
              <a:rPr lang="ko-KR" altLang="en-US" spc="-50" dirty="0">
                <a:latin typeface="Arial Narrow" panose="020B0606020202030204" pitchFamily="34" charset="0"/>
              </a:rPr>
              <a:t>화재 신고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51DCB5F6-8694-4282-8C01-D17E513BE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631" y="2779395"/>
            <a:ext cx="783240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현장 접근 통제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5" name="Text Box 7">
            <a:extLst>
              <a:ext uri="{FF2B5EF4-FFF2-40B4-BE49-F238E27FC236}">
                <a16:creationId xmlns:a16="http://schemas.microsoft.com/office/drawing/2014/main" id="{89C35316-D75F-4FEC-8565-99F7CD68A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1650" y="2779395"/>
            <a:ext cx="95952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소방관 도착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en-US" altLang="ko-KR" spc="-50" dirty="0">
                <a:latin typeface="Arial Narrow" panose="020B0606020202030204" pitchFamily="34" charset="0"/>
              </a:rPr>
              <a:t>/ </a:t>
            </a:r>
            <a:r>
              <a:rPr lang="ko-KR" altLang="en-US" spc="-50" dirty="0">
                <a:latin typeface="Arial Narrow" panose="020B0606020202030204" pitchFamily="34" charset="0"/>
              </a:rPr>
              <a:t>요청 사항 지원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0F09CA2-AC11-4692-AA41-0F25C1DA2F62}"/>
              </a:ext>
            </a:extLst>
          </p:cNvPr>
          <p:cNvGrpSpPr/>
          <p:nvPr/>
        </p:nvGrpSpPr>
        <p:grpSpPr>
          <a:xfrm>
            <a:off x="2648676" y="4622870"/>
            <a:ext cx="3244546" cy="109314"/>
            <a:chOff x="929869" y="2610319"/>
            <a:chExt cx="4265782" cy="111126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B7F268F-0802-4F68-9878-42A4552E1B61}"/>
                </a:ext>
              </a:extLst>
            </p:cNvPr>
            <p:cNvCxnSpPr/>
            <p:nvPr/>
          </p:nvCxnSpPr>
          <p:spPr>
            <a:xfrm flipV="1">
              <a:off x="929869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63F87D8-3758-45AD-8E83-D37C15790B7B}"/>
                </a:ext>
              </a:extLst>
            </p:cNvPr>
            <p:cNvCxnSpPr>
              <a:cxnSpLocks/>
            </p:cNvCxnSpPr>
            <p:nvPr/>
          </p:nvCxnSpPr>
          <p:spPr>
            <a:xfrm>
              <a:off x="929869" y="2665882"/>
              <a:ext cx="4265782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C43475-9EE0-4137-8E78-45C5A41B06FB}"/>
              </a:ext>
            </a:extLst>
          </p:cNvPr>
          <p:cNvSpPr/>
          <p:nvPr/>
        </p:nvSpPr>
        <p:spPr>
          <a:xfrm>
            <a:off x="4042943" y="4611929"/>
            <a:ext cx="55603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조리 중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E382790-9B28-457F-BDAB-6AE61B4510B7}"/>
              </a:ext>
            </a:extLst>
          </p:cNvPr>
          <p:cNvGrpSpPr/>
          <p:nvPr/>
        </p:nvGrpSpPr>
        <p:grpSpPr>
          <a:xfrm>
            <a:off x="5893222" y="4622870"/>
            <a:ext cx="3296384" cy="111126"/>
            <a:chOff x="4851763" y="2610319"/>
            <a:chExt cx="3289955" cy="111126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CD86BC7-E83A-4A34-9B41-B13D57011927}"/>
                </a:ext>
              </a:extLst>
            </p:cNvPr>
            <p:cNvCxnSpPr/>
            <p:nvPr/>
          </p:nvCxnSpPr>
          <p:spPr>
            <a:xfrm flipV="1">
              <a:off x="4855837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78790AC-B095-4FE7-BF00-246C99B56B0B}"/>
                </a:ext>
              </a:extLst>
            </p:cNvPr>
            <p:cNvCxnSpPr>
              <a:cxnSpLocks/>
            </p:cNvCxnSpPr>
            <p:nvPr/>
          </p:nvCxnSpPr>
          <p:spPr>
            <a:xfrm>
              <a:off x="4851763" y="2665882"/>
              <a:ext cx="3289955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E08B32-0902-4CDC-BC57-CD2E243C55E5}"/>
              </a:ext>
            </a:extLst>
          </p:cNvPr>
          <p:cNvSpPr/>
          <p:nvPr/>
        </p:nvSpPr>
        <p:spPr>
          <a:xfrm>
            <a:off x="7013707" y="4610380"/>
            <a:ext cx="107489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화재 안전관리 매뉴얼 시행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56E92EB-2E8F-4497-8DB2-20F5F89947B7}"/>
              </a:ext>
            </a:extLst>
          </p:cNvPr>
          <p:cNvGrpSpPr/>
          <p:nvPr/>
        </p:nvGrpSpPr>
        <p:grpSpPr>
          <a:xfrm>
            <a:off x="1802452" y="4610035"/>
            <a:ext cx="839537" cy="133008"/>
            <a:chOff x="6026944" y="2596573"/>
            <a:chExt cx="1228457" cy="133008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845EC27-5ED2-435B-8090-26CC552257AF}"/>
                </a:ext>
              </a:extLst>
            </p:cNvPr>
            <p:cNvGrpSpPr/>
            <p:nvPr/>
          </p:nvGrpSpPr>
          <p:grpSpPr>
            <a:xfrm>
              <a:off x="6026944" y="2610319"/>
              <a:ext cx="1228457" cy="111126"/>
              <a:chOff x="5355163" y="2610319"/>
              <a:chExt cx="1307697" cy="11112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233AB624-3256-42DA-9748-E830BA5933C4}"/>
                  </a:ext>
                </a:extLst>
              </p:cNvPr>
              <p:cNvCxnSpPr/>
              <p:nvPr/>
            </p:nvCxnSpPr>
            <p:spPr>
              <a:xfrm flipV="1">
                <a:off x="5355163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BC268BE0-016A-4C1B-901C-7E8AB2F85F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3585" y="2665882"/>
                <a:ext cx="1299275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2AAAC22-A77C-41AA-B90F-F4EAD0B4CD28}"/>
                </a:ext>
              </a:extLst>
            </p:cNvPr>
            <p:cNvSpPr/>
            <p:nvPr/>
          </p:nvSpPr>
          <p:spPr>
            <a:xfrm>
              <a:off x="6235318" y="2596573"/>
              <a:ext cx="721605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조리 준비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E37B82F-F78B-4B54-B47F-DE869AE166DC}"/>
              </a:ext>
            </a:extLst>
          </p:cNvPr>
          <p:cNvGrpSpPr/>
          <p:nvPr/>
        </p:nvGrpSpPr>
        <p:grpSpPr>
          <a:xfrm>
            <a:off x="729890" y="2681880"/>
            <a:ext cx="527444" cy="527444"/>
            <a:chOff x="8951947" y="1068920"/>
            <a:chExt cx="759048" cy="75904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BB298EE-7F8B-42F9-AC7C-C497283965EC}"/>
                </a:ext>
              </a:extLst>
            </p:cNvPr>
            <p:cNvGrpSpPr/>
            <p:nvPr/>
          </p:nvGrpSpPr>
          <p:grpSpPr>
            <a:xfrm>
              <a:off x="8951947" y="1068920"/>
              <a:ext cx="759048" cy="759048"/>
              <a:chOff x="7169179" y="1547603"/>
              <a:chExt cx="759048" cy="759048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34F90C4D-BF76-4D07-BB59-912EB7136330}"/>
                  </a:ext>
                </a:extLst>
              </p:cNvPr>
              <p:cNvSpPr/>
              <p:nvPr/>
            </p:nvSpPr>
            <p:spPr>
              <a:xfrm>
                <a:off x="7169179" y="1547603"/>
                <a:ext cx="759048" cy="759048"/>
              </a:xfrm>
              <a:prstGeom prst="ellipse">
                <a:avLst/>
              </a:prstGeom>
              <a:solidFill>
                <a:srgbClr val="8898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E65238F9-584E-486D-9B75-CBC3B1D7AF39}"/>
                  </a:ext>
                </a:extLst>
              </p:cNvPr>
              <p:cNvSpPr/>
              <p:nvPr/>
            </p:nvSpPr>
            <p:spPr>
              <a:xfrm>
                <a:off x="7206587" y="1583249"/>
                <a:ext cx="684000" cy="6840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6AE8322C-1DFA-4DF8-9A30-524764FAE432}"/>
                </a:ext>
              </a:extLst>
            </p:cNvPr>
            <p:cNvSpPr txBox="1"/>
            <p:nvPr/>
          </p:nvSpPr>
          <p:spPr>
            <a:xfrm>
              <a:off x="9051312" y="1145480"/>
              <a:ext cx="565649" cy="593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발화</a:t>
              </a:r>
              <a:endPara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endParaRPr>
            </a:p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소화</a:t>
              </a:r>
            </a:p>
          </p:txBody>
        </p:sp>
      </p:grp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C6CE822-85F5-490B-9FC1-864B35400273}"/>
              </a:ext>
            </a:extLst>
          </p:cNvPr>
          <p:cNvCxnSpPr>
            <a:cxnSpLocks/>
          </p:cNvCxnSpPr>
          <p:nvPr/>
        </p:nvCxnSpPr>
        <p:spPr>
          <a:xfrm flipV="1">
            <a:off x="2541561" y="5298721"/>
            <a:ext cx="5640089" cy="8965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5" name="Text Box 7">
            <a:extLst>
              <a:ext uri="{FF2B5EF4-FFF2-40B4-BE49-F238E27FC236}">
                <a16:creationId xmlns:a16="http://schemas.microsoft.com/office/drawing/2014/main" id="{72E418E9-7D84-4959-B570-1A011445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633" y="5113374"/>
            <a:ext cx="815580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 점화</a:t>
            </a:r>
          </a:p>
        </p:txBody>
      </p:sp>
      <p:sp>
        <p:nvSpPr>
          <p:cNvPr id="66" name="Text Box 7">
            <a:extLst>
              <a:ext uri="{FF2B5EF4-FFF2-40B4-BE49-F238E27FC236}">
                <a16:creationId xmlns:a16="http://schemas.microsoft.com/office/drawing/2014/main" id="{DB37D6F6-6AAD-4415-82E9-6B9037B90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725" y="5113374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발화점 감시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17C1044-D9D5-4BF5-BED2-2C55D9F9E5AA}"/>
              </a:ext>
            </a:extLst>
          </p:cNvPr>
          <p:cNvGrpSpPr/>
          <p:nvPr/>
        </p:nvGrpSpPr>
        <p:grpSpPr>
          <a:xfrm>
            <a:off x="154700" y="5049176"/>
            <a:ext cx="1102634" cy="527444"/>
            <a:chOff x="290539" y="3325695"/>
            <a:chExt cx="1102634" cy="527444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F7AD1E98-3661-49B2-B3C9-DF514DCD81E7}"/>
                </a:ext>
              </a:extLst>
            </p:cNvPr>
            <p:cNvGrpSpPr/>
            <p:nvPr/>
          </p:nvGrpSpPr>
          <p:grpSpPr>
            <a:xfrm>
              <a:off x="290539" y="3471717"/>
              <a:ext cx="617629" cy="224629"/>
              <a:chOff x="3191892" y="6444349"/>
              <a:chExt cx="699868" cy="268428"/>
            </a:xfrm>
          </p:grpSpPr>
          <p:sp>
            <p:nvSpPr>
              <p:cNvPr id="74" name="이등변 삼각형 73">
                <a:extLst>
                  <a:ext uri="{FF2B5EF4-FFF2-40B4-BE49-F238E27FC236}">
                    <a16:creationId xmlns:a16="http://schemas.microsoft.com/office/drawing/2014/main" id="{1344CA6C-9579-450E-A8C5-3103543A5EF0}"/>
                  </a:ext>
                </a:extLst>
              </p:cNvPr>
              <p:cNvSpPr/>
              <p:nvPr/>
            </p:nvSpPr>
            <p:spPr>
              <a:xfrm rot="16200000">
                <a:off x="3194045" y="6643178"/>
                <a:ext cx="67574" cy="71624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D52A308-3E39-4997-8730-3042476BB1D5}"/>
                  </a:ext>
                </a:extLst>
              </p:cNvPr>
              <p:cNvSpPr/>
              <p:nvPr/>
            </p:nvSpPr>
            <p:spPr>
              <a:xfrm>
                <a:off x="3191892" y="6444349"/>
                <a:ext cx="699868" cy="234386"/>
              </a:xfrm>
              <a:prstGeom prst="rect">
                <a:avLst/>
              </a:prstGeom>
              <a:solidFill>
                <a:srgbClr val="0423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To-be</a:t>
                </a: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825B5BE4-8B59-44C7-9A94-18846DEE48A9}"/>
                </a:ext>
              </a:extLst>
            </p:cNvPr>
            <p:cNvGrpSpPr/>
            <p:nvPr/>
          </p:nvGrpSpPr>
          <p:grpSpPr>
            <a:xfrm>
              <a:off x="865729" y="3325695"/>
              <a:ext cx="527444" cy="527444"/>
              <a:chOff x="8951947" y="1068920"/>
              <a:chExt cx="759048" cy="759048"/>
            </a:xfrm>
          </p:grpSpPr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7F968CEF-F157-4473-911A-73BC938940FB}"/>
                  </a:ext>
                </a:extLst>
              </p:cNvPr>
              <p:cNvGrpSpPr/>
              <p:nvPr/>
            </p:nvGrpSpPr>
            <p:grpSpPr>
              <a:xfrm>
                <a:off x="8951947" y="1068920"/>
                <a:ext cx="759048" cy="759048"/>
                <a:chOff x="7169179" y="1547603"/>
                <a:chExt cx="759048" cy="759048"/>
              </a:xfrm>
            </p:grpSpPr>
            <p:sp>
              <p:nvSpPr>
                <p:cNvPr id="72" name="타원 71">
                  <a:extLst>
                    <a:ext uri="{FF2B5EF4-FFF2-40B4-BE49-F238E27FC236}">
                      <a16:creationId xmlns:a16="http://schemas.microsoft.com/office/drawing/2014/main" id="{7EB7AF44-804F-4424-B4D5-083D7CBC1510}"/>
                    </a:ext>
                  </a:extLst>
                </p:cNvPr>
                <p:cNvSpPr/>
                <p:nvPr/>
              </p:nvSpPr>
              <p:spPr>
                <a:xfrm>
                  <a:off x="7169179" y="1547603"/>
                  <a:ext cx="759048" cy="759048"/>
                </a:xfrm>
                <a:prstGeom prst="ellipse">
                  <a:avLst/>
                </a:prstGeom>
                <a:solidFill>
                  <a:srgbClr val="0423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73" name="타원 72">
                  <a:extLst>
                    <a:ext uri="{FF2B5EF4-FFF2-40B4-BE49-F238E27FC236}">
                      <a16:creationId xmlns:a16="http://schemas.microsoft.com/office/drawing/2014/main" id="{23441986-E61B-41FC-A6D2-830E914BE15B}"/>
                    </a:ext>
                  </a:extLst>
                </p:cNvPr>
                <p:cNvSpPr/>
                <p:nvPr/>
              </p:nvSpPr>
              <p:spPr>
                <a:xfrm>
                  <a:off x="7206587" y="1583249"/>
                  <a:ext cx="684000" cy="684000"/>
                </a:xfrm>
                <a:prstGeom prst="ellipse">
                  <a:avLst/>
                </a:prstGeom>
                <a:noFill/>
                <a:ln w="6350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sp>
            <p:nvSpPr>
              <p:cNvPr id="71" name="TextBox 17">
                <a:extLst>
                  <a:ext uri="{FF2B5EF4-FFF2-40B4-BE49-F238E27FC236}">
                    <a16:creationId xmlns:a16="http://schemas.microsoft.com/office/drawing/2014/main" id="{14238D11-A73E-4848-954B-5D5BEFF4A776}"/>
                  </a:ext>
                </a:extLst>
              </p:cNvPr>
              <p:cNvSpPr txBox="1"/>
              <p:nvPr/>
            </p:nvSpPr>
            <p:spPr>
              <a:xfrm>
                <a:off x="9038660" y="1175375"/>
                <a:ext cx="565650" cy="5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사전</a:t>
                </a:r>
                <a:endPara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예방</a:t>
                </a:r>
              </a:p>
            </p:txBody>
          </p:sp>
        </p:grpSp>
      </p:grpSp>
      <p:sp>
        <p:nvSpPr>
          <p:cNvPr id="80" name="Text Box 7">
            <a:extLst>
              <a:ext uri="{FF2B5EF4-FFF2-40B4-BE49-F238E27FC236}">
                <a16:creationId xmlns:a16="http://schemas.microsoft.com/office/drawing/2014/main" id="{571B5569-3D91-4CC9-B859-154A406A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597" y="5113374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1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방출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81" name="Text Box 7">
            <a:extLst>
              <a:ext uri="{FF2B5EF4-FFF2-40B4-BE49-F238E27FC236}">
                <a16:creationId xmlns:a16="http://schemas.microsoft.com/office/drawing/2014/main" id="{EFBF25B9-E6A5-48B0-97FD-6A7BF98FE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40" y="5113374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2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및 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가스밸브자동차단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82" name="Text Box 7">
            <a:extLst>
              <a:ext uri="{FF2B5EF4-FFF2-40B4-BE49-F238E27FC236}">
                <a16:creationId xmlns:a16="http://schemas.microsoft.com/office/drawing/2014/main" id="{A77D96FA-498E-47A1-8905-91FAEAB1C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715" y="2788955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소화기</a:t>
            </a:r>
            <a:r>
              <a:rPr lang="en-US" altLang="ko-KR" spc="-50" dirty="0">
                <a:latin typeface="Arial Narrow" panose="020B0606020202030204" pitchFamily="34" charset="0"/>
              </a:rPr>
              <a:t>/</a:t>
            </a:r>
            <a:r>
              <a:rPr lang="ko-KR" altLang="en-US" spc="-50" dirty="0">
                <a:latin typeface="Arial Narrow" panose="020B0606020202030204" pitchFamily="34" charset="0"/>
              </a:rPr>
              <a:t>소화전 등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ko-KR" altLang="en-US" spc="-50" dirty="0">
                <a:latin typeface="Arial Narrow" panose="020B0606020202030204" pitchFamily="34" charset="0"/>
              </a:rPr>
              <a:t>초동 진화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83" name="Text Box 7">
            <a:extLst>
              <a:ext uri="{FF2B5EF4-FFF2-40B4-BE49-F238E27FC236}">
                <a16:creationId xmlns:a16="http://schemas.microsoft.com/office/drawing/2014/main" id="{6078AA83-90A7-4789-9DDB-498852644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921" y="5113374"/>
            <a:ext cx="175194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발생 원인 및 조치 내용 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Database 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화</a:t>
            </a:r>
          </a:p>
        </p:txBody>
      </p:sp>
      <p:sp>
        <p:nvSpPr>
          <p:cNvPr id="84" name="Text Box 7">
            <a:extLst>
              <a:ext uri="{FF2B5EF4-FFF2-40B4-BE49-F238E27FC236}">
                <a16:creationId xmlns:a16="http://schemas.microsoft.com/office/drawing/2014/main" id="{BAB3548B-C25D-430D-88E5-E1DAF9069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1390" y="5113374"/>
            <a:ext cx="959528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추가 예방 조치</a:t>
            </a:r>
            <a:b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</a:b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(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조리방식 변경 등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)</a:t>
            </a:r>
          </a:p>
        </p:txBody>
      </p:sp>
      <p:pic>
        <p:nvPicPr>
          <p:cNvPr id="86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FE5A53B5-724A-4178-B601-04E3CBDA4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918" y="4996813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88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296B075B-CDB7-4966-82EB-5AB9D2B43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45" y="4996813"/>
            <a:ext cx="211875" cy="319303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89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A4635022-1F38-4101-A644-409E82C1C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033" y="4996813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91" name="Text Box 7">
            <a:extLst>
              <a:ext uri="{FF2B5EF4-FFF2-40B4-BE49-F238E27FC236}">
                <a16:creationId xmlns:a16="http://schemas.microsoft.com/office/drawing/2014/main" id="{51752F96-BD21-476F-A2C8-6F85B66DE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23" y="2788955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 err="1">
                <a:latin typeface="Arial Narrow" panose="020B0606020202030204" pitchFamily="34" charset="0"/>
              </a:rPr>
              <a:t>소화수</a:t>
            </a:r>
            <a:r>
              <a:rPr lang="en-US" altLang="ko-KR" spc="-50" dirty="0">
                <a:latin typeface="Arial Narrow" panose="020B0606020202030204" pitchFamily="34" charset="0"/>
              </a:rPr>
              <a:t>(</a:t>
            </a:r>
            <a:r>
              <a:rPr lang="ko-KR" altLang="en-US" spc="-50" dirty="0">
                <a:latin typeface="Arial Narrow" panose="020B0606020202030204" pitchFamily="34" charset="0"/>
              </a:rPr>
              <a:t>약제</a:t>
            </a:r>
            <a:r>
              <a:rPr lang="en-US" altLang="ko-KR" spc="-50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spc="-50" dirty="0">
                <a:latin typeface="Arial Narrow" panose="020B0606020202030204" pitchFamily="34" charset="0"/>
              </a:rPr>
              <a:t>방출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04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자유형: 도형 33">
            <a:extLst>
              <a:ext uri="{FF2B5EF4-FFF2-40B4-BE49-F238E27FC236}">
                <a16:creationId xmlns:a16="http://schemas.microsoft.com/office/drawing/2014/main" id="{8CABE9D1-49D7-42F1-ADC6-E1B638434FE2}"/>
              </a:ext>
            </a:extLst>
          </p:cNvPr>
          <p:cNvSpPr/>
          <p:nvPr/>
        </p:nvSpPr>
        <p:spPr>
          <a:xfrm flipV="1">
            <a:off x="3464253" y="5663381"/>
            <a:ext cx="1970116" cy="156118"/>
          </a:xfrm>
          <a:custGeom>
            <a:avLst/>
            <a:gdLst>
              <a:gd name="connsiteX0" fmla="*/ 0 w 792480"/>
              <a:gd name="connsiteY0" fmla="*/ 0 h 152400"/>
              <a:gd name="connsiteX1" fmla="*/ 0 w 792480"/>
              <a:gd name="connsiteY1" fmla="*/ 152400 h 152400"/>
              <a:gd name="connsiteX2" fmla="*/ 792480 w 792480"/>
              <a:gd name="connsiteY2" fmla="*/ 152400 h 152400"/>
              <a:gd name="connsiteX3" fmla="*/ 792480 w 792480"/>
              <a:gd name="connsiteY3" fmla="*/ 762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480" h="152400">
                <a:moveTo>
                  <a:pt x="0" y="0"/>
                </a:moveTo>
                <a:lnTo>
                  <a:pt x="0" y="152400"/>
                </a:lnTo>
                <a:lnTo>
                  <a:pt x="792480" y="152400"/>
                </a:lnTo>
                <a:lnTo>
                  <a:pt x="792480" y="7620"/>
                </a:lnTo>
              </a:path>
            </a:pathLst>
          </a:custGeom>
          <a:noFill/>
          <a:ln w="12700">
            <a:solidFill>
              <a:schemeClr val="accent4">
                <a:lumMod val="50000"/>
              </a:schemeClr>
            </a:solidFill>
            <a:prstDash val="sysDash"/>
            <a:tailEnd type="none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ESS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화재 확산 방지 솔루션 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內 조리기구 화재와 관련한 고객 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개선하고 시설물의 안전 향상을 위한 서비스를 제안함</a:t>
            </a:r>
            <a:endParaRPr lang="en-US" altLang="ko-KR" sz="14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3179" y="1491356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조리기구 화재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Point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695" y="1836360"/>
            <a:ext cx="4505184" cy="90024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식용류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등 기름을 사용하는 조리기구는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발연점을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넘으면 자연 발화되어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위험이 상존함에도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대부분 경험과 감각에 의존하여 조리 기구 온도가 관리됨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위주의 화재 대처로 인한 직접적인 피해보다 음식물 오염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 청소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 원인 규명과 보고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약제 재충전 등 후속 조치에 따른 간접 피해가 큼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604" t="19065" r="95261" b="76604"/>
          <a:stretch/>
        </p:blipFill>
        <p:spPr>
          <a:xfrm>
            <a:off x="335323" y="1517152"/>
            <a:ext cx="199506" cy="232756"/>
          </a:xfrm>
          <a:prstGeom prst="rect">
            <a:avLst/>
          </a:prstGeom>
        </p:spPr>
      </p:pic>
      <p:sp>
        <p:nvSpPr>
          <p:cNvPr id="18" name="사각형: 둥근 모서리 161">
            <a:extLst>
              <a:ext uri="{FF2B5EF4-FFF2-40B4-BE49-F238E27FC236}">
                <a16:creationId xmlns:a16="http://schemas.microsoft.com/office/drawing/2014/main" id="{6E19D037-B450-42E8-A1F9-3A425FC82A24}"/>
              </a:ext>
            </a:extLst>
          </p:cNvPr>
          <p:cNvSpPr/>
          <p:nvPr/>
        </p:nvSpPr>
        <p:spPr>
          <a:xfrm flipH="1">
            <a:off x="389264" y="3682193"/>
            <a:ext cx="9217025" cy="1834453"/>
          </a:xfrm>
          <a:prstGeom prst="roundRect">
            <a:avLst>
              <a:gd name="adj" fmla="val 34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1524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690776-AB6F-47E3-9A76-EA08D6C51782}"/>
              </a:ext>
            </a:extLst>
          </p:cNvPr>
          <p:cNvGrpSpPr/>
          <p:nvPr/>
        </p:nvGrpSpPr>
        <p:grpSpPr>
          <a:xfrm>
            <a:off x="392317" y="3299912"/>
            <a:ext cx="3759017" cy="292516"/>
            <a:chOff x="573784" y="2158310"/>
            <a:chExt cx="4615164" cy="359139"/>
          </a:xfrm>
        </p:grpSpPr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5B80F974-61DA-4B0C-81A1-C0D4CF521538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RMS x 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 주방 화재 예방 솔루션</a:t>
              </a:r>
            </a:p>
          </p:txBody>
        </p:sp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A14B6DBC-BCA7-49CA-AF08-47A70A841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B4F97440-14AC-412A-AA0B-4A532BDE6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29">
                <a:extLst>
                  <a:ext uri="{FF2B5EF4-FFF2-40B4-BE49-F238E27FC236}">
                    <a16:creationId xmlns:a16="http://schemas.microsoft.com/office/drawing/2014/main" id="{4BF8206D-CE93-48F4-A62E-FA1ACE23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30">
                <a:extLst>
                  <a:ext uri="{FF2B5EF4-FFF2-40B4-BE49-F238E27FC236}">
                    <a16:creationId xmlns:a16="http://schemas.microsoft.com/office/drawing/2014/main" id="{9AD5ACCD-868B-4D48-94C1-B3981C751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32C85E5-DB30-420F-9F45-FA617E59B7A6}"/>
              </a:ext>
            </a:extLst>
          </p:cNvPr>
          <p:cNvGrpSpPr/>
          <p:nvPr/>
        </p:nvGrpSpPr>
        <p:grpSpPr>
          <a:xfrm>
            <a:off x="542842" y="3708318"/>
            <a:ext cx="2680921" cy="283347"/>
            <a:chOff x="3383406" y="4342029"/>
            <a:chExt cx="2703964" cy="28345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A1D4A9-ADFD-418E-9243-67E79881B479}"/>
                </a:ext>
              </a:extLst>
            </p:cNvPr>
            <p:cNvSpPr txBox="1"/>
            <p:nvPr/>
          </p:nvSpPr>
          <p:spPr>
            <a:xfrm>
              <a:off x="3502699" y="4342029"/>
              <a:ext cx="2584671" cy="283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운영 예상 시나리오</a:t>
              </a: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DBA7E4E1-3C74-422F-84ED-123C93957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3406" y="4437730"/>
              <a:ext cx="120319" cy="120320"/>
            </a:xfrm>
            <a:custGeom>
              <a:avLst/>
              <a:gdLst>
                <a:gd name="T0" fmla="*/ 50 w 61"/>
                <a:gd name="T1" fmla="*/ 0 h 61"/>
                <a:gd name="T2" fmla="*/ 11 w 61"/>
                <a:gd name="T3" fmla="*/ 0 h 61"/>
                <a:gd name="T4" fmla="*/ 0 w 61"/>
                <a:gd name="T5" fmla="*/ 11 h 61"/>
                <a:gd name="T6" fmla="*/ 0 w 61"/>
                <a:gd name="T7" fmla="*/ 50 h 61"/>
                <a:gd name="T8" fmla="*/ 11 w 61"/>
                <a:gd name="T9" fmla="*/ 61 h 61"/>
                <a:gd name="T10" fmla="*/ 50 w 61"/>
                <a:gd name="T11" fmla="*/ 61 h 61"/>
                <a:gd name="T12" fmla="*/ 61 w 61"/>
                <a:gd name="T13" fmla="*/ 50 h 61"/>
                <a:gd name="T14" fmla="*/ 61 w 61"/>
                <a:gd name="T15" fmla="*/ 11 h 61"/>
                <a:gd name="T16" fmla="*/ 50 w 61"/>
                <a:gd name="T17" fmla="*/ 0 h 61"/>
                <a:gd name="T18" fmla="*/ 25 w 61"/>
                <a:gd name="T19" fmla="*/ 51 h 61"/>
                <a:gd name="T20" fmla="*/ 19 w 61"/>
                <a:gd name="T21" fmla="*/ 45 h 61"/>
                <a:gd name="T22" fmla="*/ 34 w 61"/>
                <a:gd name="T23" fmla="*/ 30 h 61"/>
                <a:gd name="T24" fmla="*/ 19 w 61"/>
                <a:gd name="T25" fmla="*/ 16 h 61"/>
                <a:gd name="T26" fmla="*/ 25 w 61"/>
                <a:gd name="T27" fmla="*/ 9 h 61"/>
                <a:gd name="T28" fmla="*/ 46 w 61"/>
                <a:gd name="T29" fmla="*/ 30 h 61"/>
                <a:gd name="T30" fmla="*/ 25 w 61"/>
                <a:gd name="T31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1">
                  <a:moveTo>
                    <a:pt x="5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6"/>
                    <a:pt x="5" y="61"/>
                    <a:pt x="11" y="61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56" y="61"/>
                    <a:pt x="61" y="56"/>
                    <a:pt x="61" y="5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5"/>
                    <a:pt x="56" y="0"/>
                    <a:pt x="50" y="0"/>
                  </a:cubicBezTo>
                  <a:close/>
                  <a:moveTo>
                    <a:pt x="25" y="51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46" y="30"/>
                    <a:pt x="46" y="30"/>
                    <a:pt x="46" y="30"/>
                  </a:cubicBezTo>
                  <a:lnTo>
                    <a:pt x="25" y="51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242C38"/>
                </a:gs>
                <a:gs pos="100000">
                  <a:srgbClr val="404E62"/>
                </a:gs>
                <a:gs pos="50000">
                  <a:srgbClr val="404E62"/>
                </a:gs>
                <a:gs pos="45000">
                  <a:srgbClr val="242C38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5CB377-76BA-46F9-87DC-84E4F4B48D7F}"/>
              </a:ext>
            </a:extLst>
          </p:cNvPr>
          <p:cNvGrpSpPr/>
          <p:nvPr/>
        </p:nvGrpSpPr>
        <p:grpSpPr>
          <a:xfrm>
            <a:off x="335323" y="4232896"/>
            <a:ext cx="617635" cy="224626"/>
            <a:chOff x="3191893" y="6444349"/>
            <a:chExt cx="699876" cy="268425"/>
          </a:xfrm>
        </p:grpSpPr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E825E747-74E3-4BA7-8119-8416C62C9663}"/>
                </a:ext>
              </a:extLst>
            </p:cNvPr>
            <p:cNvSpPr/>
            <p:nvPr/>
          </p:nvSpPr>
          <p:spPr>
            <a:xfrm rot="16200000">
              <a:off x="3194053" y="6643174"/>
              <a:ext cx="67574" cy="71625"/>
            </a:xfrm>
            <a:prstGeom prst="triangle">
              <a:avLst/>
            </a:prstGeom>
            <a:solidFill>
              <a:srgbClr val="33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29DDE03-B3A2-4D55-AAAB-E1BCE199E92F}"/>
                </a:ext>
              </a:extLst>
            </p:cNvPr>
            <p:cNvSpPr/>
            <p:nvPr/>
          </p:nvSpPr>
          <p:spPr>
            <a:xfrm>
              <a:off x="3191893" y="6444349"/>
              <a:ext cx="699876" cy="234386"/>
            </a:xfrm>
            <a:prstGeom prst="rect">
              <a:avLst/>
            </a:prstGeom>
            <a:solidFill>
              <a:srgbClr val="88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 defTabSz="914400" latinLnBrk="1">
                <a:defRPr/>
              </a:pPr>
              <a:r>
                <a:rPr lang="en-US" altLang="ko-KR" sz="1000" i="1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As-is</a:t>
              </a: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8023452-E4C1-43AF-B790-6F568B29126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2790836" y="4356118"/>
            <a:ext cx="557143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3" name="Text Box 7">
            <a:extLst>
              <a:ext uri="{FF2B5EF4-FFF2-40B4-BE49-F238E27FC236}">
                <a16:creationId xmlns:a16="http://schemas.microsoft.com/office/drawing/2014/main" id="{C6A62ADF-74EB-4BC8-BA6E-8953A8A92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707" y="4170718"/>
            <a:ext cx="83412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가스 점화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19673493-0C10-470C-804D-904CFBBF2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9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발화점 초과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2D63EF70-27FC-4F5C-BE3A-BB67CE38B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452" y="4170718"/>
            <a:ext cx="78323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화재 경보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0" name="Text Box 7">
            <a:extLst>
              <a:ext uri="{FF2B5EF4-FFF2-40B4-BE49-F238E27FC236}">
                <a16:creationId xmlns:a16="http://schemas.microsoft.com/office/drawing/2014/main" id="{B8DC5703-6585-4DF3-B550-2A3F86351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254" y="4170718"/>
            <a:ext cx="783240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소화기 사용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1DD5C740-8ED3-453B-8DCF-B8CFFEAA1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273" y="4170718"/>
            <a:ext cx="95952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대비 안내 등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574C7E-7921-4760-B28F-7FE818419D83}"/>
              </a:ext>
            </a:extLst>
          </p:cNvPr>
          <p:cNvGrpSpPr/>
          <p:nvPr/>
        </p:nvGrpSpPr>
        <p:grpSpPr>
          <a:xfrm>
            <a:off x="2829299" y="4004418"/>
            <a:ext cx="3244546" cy="109314"/>
            <a:chOff x="929869" y="2610319"/>
            <a:chExt cx="4265782" cy="111126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7C4D9B4-B7D7-415B-AD10-703FAD9F0722}"/>
                </a:ext>
              </a:extLst>
            </p:cNvPr>
            <p:cNvCxnSpPr/>
            <p:nvPr/>
          </p:nvCxnSpPr>
          <p:spPr>
            <a:xfrm flipV="1">
              <a:off x="929869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9081EF4-7F36-46B5-9865-7F1EAAE9DD26}"/>
                </a:ext>
              </a:extLst>
            </p:cNvPr>
            <p:cNvCxnSpPr>
              <a:cxnSpLocks/>
            </p:cNvCxnSpPr>
            <p:nvPr/>
          </p:nvCxnSpPr>
          <p:spPr>
            <a:xfrm>
              <a:off x="929869" y="2665882"/>
              <a:ext cx="4265782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DBA531-24D4-400A-9CF2-BE49C2A7AAFC}"/>
              </a:ext>
            </a:extLst>
          </p:cNvPr>
          <p:cNvSpPr/>
          <p:nvPr/>
        </p:nvSpPr>
        <p:spPr>
          <a:xfrm>
            <a:off x="4223566" y="3993477"/>
            <a:ext cx="55603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조리 중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753739D-BC0A-485A-A200-5310DFCB6971}"/>
              </a:ext>
            </a:extLst>
          </p:cNvPr>
          <p:cNvGrpSpPr/>
          <p:nvPr/>
        </p:nvGrpSpPr>
        <p:grpSpPr>
          <a:xfrm>
            <a:off x="6073845" y="4004418"/>
            <a:ext cx="3296384" cy="111126"/>
            <a:chOff x="4851763" y="2610319"/>
            <a:chExt cx="3289955" cy="111126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061EEA5-94E8-4B4D-BAD9-5A15E7BC0FCB}"/>
                </a:ext>
              </a:extLst>
            </p:cNvPr>
            <p:cNvCxnSpPr/>
            <p:nvPr/>
          </p:nvCxnSpPr>
          <p:spPr>
            <a:xfrm flipV="1">
              <a:off x="4855837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2590828-42C5-4470-9DA5-62D421F9A92C}"/>
                </a:ext>
              </a:extLst>
            </p:cNvPr>
            <p:cNvCxnSpPr>
              <a:cxnSpLocks/>
            </p:cNvCxnSpPr>
            <p:nvPr/>
          </p:nvCxnSpPr>
          <p:spPr>
            <a:xfrm>
              <a:off x="4851763" y="2665882"/>
              <a:ext cx="3289955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E47E6B-C4ED-490C-A4AD-DA03851367F4}"/>
              </a:ext>
            </a:extLst>
          </p:cNvPr>
          <p:cNvSpPr/>
          <p:nvPr/>
        </p:nvSpPr>
        <p:spPr>
          <a:xfrm>
            <a:off x="7194330" y="3991928"/>
            <a:ext cx="107489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화재 안전관리 매뉴얼 시행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0235A9A-79A8-4B05-B3F6-76332000E764}"/>
              </a:ext>
            </a:extLst>
          </p:cNvPr>
          <p:cNvGrpSpPr/>
          <p:nvPr/>
        </p:nvGrpSpPr>
        <p:grpSpPr>
          <a:xfrm>
            <a:off x="1983075" y="3991583"/>
            <a:ext cx="839537" cy="133008"/>
            <a:chOff x="6026944" y="2596573"/>
            <a:chExt cx="1228457" cy="133008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2B3ED06-892F-4974-935E-B35F288DBC5C}"/>
                </a:ext>
              </a:extLst>
            </p:cNvPr>
            <p:cNvGrpSpPr/>
            <p:nvPr/>
          </p:nvGrpSpPr>
          <p:grpSpPr>
            <a:xfrm>
              <a:off x="6026944" y="2610319"/>
              <a:ext cx="1228457" cy="111126"/>
              <a:chOff x="5355163" y="2610319"/>
              <a:chExt cx="1307697" cy="111126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7EA1442-2270-4320-85A6-C0AE0736F503}"/>
                  </a:ext>
                </a:extLst>
              </p:cNvPr>
              <p:cNvCxnSpPr/>
              <p:nvPr/>
            </p:nvCxnSpPr>
            <p:spPr>
              <a:xfrm flipV="1">
                <a:off x="5355163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E0B8B0E9-D120-46D8-A969-4D23701BB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3585" y="2665882"/>
                <a:ext cx="1299275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4A6BD31-775B-421F-87C1-7354F5B208FF}"/>
                </a:ext>
              </a:extLst>
            </p:cNvPr>
            <p:cNvSpPr/>
            <p:nvPr/>
          </p:nvSpPr>
          <p:spPr>
            <a:xfrm>
              <a:off x="6235318" y="2596573"/>
              <a:ext cx="721605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조리 준비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77D5E4-51B9-4E80-A9EC-E35E808380D9}"/>
              </a:ext>
            </a:extLst>
          </p:cNvPr>
          <p:cNvGrpSpPr/>
          <p:nvPr/>
        </p:nvGrpSpPr>
        <p:grpSpPr>
          <a:xfrm>
            <a:off x="910513" y="4073203"/>
            <a:ext cx="527444" cy="527444"/>
            <a:chOff x="8951947" y="1068920"/>
            <a:chExt cx="759048" cy="759048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B5F5A72D-99FF-4403-90D4-6C3E8B41725C}"/>
                </a:ext>
              </a:extLst>
            </p:cNvPr>
            <p:cNvGrpSpPr/>
            <p:nvPr/>
          </p:nvGrpSpPr>
          <p:grpSpPr>
            <a:xfrm>
              <a:off x="8951947" y="1068920"/>
              <a:ext cx="759048" cy="759048"/>
              <a:chOff x="7169179" y="1547603"/>
              <a:chExt cx="759048" cy="759048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F225CC92-7766-49B6-9143-473FD995CD51}"/>
                  </a:ext>
                </a:extLst>
              </p:cNvPr>
              <p:cNvSpPr/>
              <p:nvPr/>
            </p:nvSpPr>
            <p:spPr>
              <a:xfrm>
                <a:off x="7169179" y="1547603"/>
                <a:ext cx="759048" cy="759048"/>
              </a:xfrm>
              <a:prstGeom prst="ellipse">
                <a:avLst/>
              </a:prstGeom>
              <a:solidFill>
                <a:srgbClr val="8898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CBB72C64-B59D-492E-BD9B-DDD3D307EE35}"/>
                  </a:ext>
                </a:extLst>
              </p:cNvPr>
              <p:cNvSpPr/>
              <p:nvPr/>
            </p:nvSpPr>
            <p:spPr>
              <a:xfrm>
                <a:off x="7206587" y="1583249"/>
                <a:ext cx="684000" cy="6840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62" name="TextBox 17">
              <a:extLst>
                <a:ext uri="{FF2B5EF4-FFF2-40B4-BE49-F238E27FC236}">
                  <a16:creationId xmlns:a16="http://schemas.microsoft.com/office/drawing/2014/main" id="{45653325-AF8F-4463-BBBF-BFC86D2D5722}"/>
                </a:ext>
              </a:extLst>
            </p:cNvPr>
            <p:cNvSpPr txBox="1"/>
            <p:nvPr/>
          </p:nvSpPr>
          <p:spPr>
            <a:xfrm>
              <a:off x="9051312" y="1145480"/>
              <a:ext cx="565649" cy="593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발화</a:t>
              </a:r>
              <a:endPara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endParaRPr>
            </a:p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소화</a:t>
              </a:r>
            </a:p>
          </p:txBody>
        </p:sp>
      </p:grp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5C2E429-481C-452D-90EE-142BC20BF71F}"/>
              </a:ext>
            </a:extLst>
          </p:cNvPr>
          <p:cNvCxnSpPr>
            <a:cxnSpLocks/>
          </p:cNvCxnSpPr>
          <p:nvPr/>
        </p:nvCxnSpPr>
        <p:spPr>
          <a:xfrm flipV="1">
            <a:off x="2722184" y="5013644"/>
            <a:ext cx="5640089" cy="8965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7" name="Text Box 7">
            <a:extLst>
              <a:ext uri="{FF2B5EF4-FFF2-40B4-BE49-F238E27FC236}">
                <a16:creationId xmlns:a16="http://schemas.microsoft.com/office/drawing/2014/main" id="{A8F213BC-BC73-46EB-AF52-93301CF9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256" y="4828297"/>
            <a:ext cx="815580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 점화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105194F8-35A7-47BA-B4DD-99FC56F7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8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발화점 감시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299ABA8-F6F3-4F4B-BF92-5604B4195392}"/>
              </a:ext>
            </a:extLst>
          </p:cNvPr>
          <p:cNvGrpSpPr/>
          <p:nvPr/>
        </p:nvGrpSpPr>
        <p:grpSpPr>
          <a:xfrm>
            <a:off x="335323" y="4764099"/>
            <a:ext cx="1102634" cy="527444"/>
            <a:chOff x="290539" y="3325695"/>
            <a:chExt cx="1102634" cy="527444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D022534-7AC1-4F6B-B44C-980F33D64D0F}"/>
                </a:ext>
              </a:extLst>
            </p:cNvPr>
            <p:cNvGrpSpPr/>
            <p:nvPr/>
          </p:nvGrpSpPr>
          <p:grpSpPr>
            <a:xfrm>
              <a:off x="290539" y="3471717"/>
              <a:ext cx="617629" cy="224629"/>
              <a:chOff x="3191892" y="6444349"/>
              <a:chExt cx="699868" cy="268428"/>
            </a:xfrm>
          </p:grpSpPr>
          <p:sp>
            <p:nvSpPr>
              <p:cNvPr id="83" name="이등변 삼각형 82">
                <a:extLst>
                  <a:ext uri="{FF2B5EF4-FFF2-40B4-BE49-F238E27FC236}">
                    <a16:creationId xmlns:a16="http://schemas.microsoft.com/office/drawing/2014/main" id="{BBED8550-47E8-47A0-B232-0ADE7BBE20D5}"/>
                  </a:ext>
                </a:extLst>
              </p:cNvPr>
              <p:cNvSpPr/>
              <p:nvPr/>
            </p:nvSpPr>
            <p:spPr>
              <a:xfrm rot="16200000">
                <a:off x="3194045" y="6643178"/>
                <a:ext cx="67574" cy="71624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C76DE03C-0490-49B0-8338-896C70705B1B}"/>
                  </a:ext>
                </a:extLst>
              </p:cNvPr>
              <p:cNvSpPr/>
              <p:nvPr/>
            </p:nvSpPr>
            <p:spPr>
              <a:xfrm>
                <a:off x="3191892" y="6444349"/>
                <a:ext cx="699868" cy="234386"/>
              </a:xfrm>
              <a:prstGeom prst="rect">
                <a:avLst/>
              </a:prstGeom>
              <a:solidFill>
                <a:srgbClr val="0423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To-be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F937E4F-E3AD-4C2D-98A7-531D6DFA2DAA}"/>
                </a:ext>
              </a:extLst>
            </p:cNvPr>
            <p:cNvGrpSpPr/>
            <p:nvPr/>
          </p:nvGrpSpPr>
          <p:grpSpPr>
            <a:xfrm>
              <a:off x="865729" y="3325695"/>
              <a:ext cx="527444" cy="527444"/>
              <a:chOff x="8951947" y="1068920"/>
              <a:chExt cx="759048" cy="759048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E6F2222-0F2C-4EE5-8AA7-5A0175D33922}"/>
                  </a:ext>
                </a:extLst>
              </p:cNvPr>
              <p:cNvGrpSpPr/>
              <p:nvPr/>
            </p:nvGrpSpPr>
            <p:grpSpPr>
              <a:xfrm>
                <a:off x="8951947" y="1068920"/>
                <a:ext cx="759048" cy="759048"/>
                <a:chOff x="7169179" y="1547603"/>
                <a:chExt cx="759048" cy="759048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7BF67C8-2BEE-405A-8376-34087469B7D5}"/>
                    </a:ext>
                  </a:extLst>
                </p:cNvPr>
                <p:cNvSpPr/>
                <p:nvPr/>
              </p:nvSpPr>
              <p:spPr>
                <a:xfrm>
                  <a:off x="7169179" y="1547603"/>
                  <a:ext cx="759048" cy="759048"/>
                </a:xfrm>
                <a:prstGeom prst="ellipse">
                  <a:avLst/>
                </a:prstGeom>
                <a:solidFill>
                  <a:srgbClr val="0423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EC016F9-E041-4EF0-A92A-84B8237A85D2}"/>
                    </a:ext>
                  </a:extLst>
                </p:cNvPr>
                <p:cNvSpPr/>
                <p:nvPr/>
              </p:nvSpPr>
              <p:spPr>
                <a:xfrm>
                  <a:off x="7206587" y="1583249"/>
                  <a:ext cx="684000" cy="684000"/>
                </a:xfrm>
                <a:prstGeom prst="ellipse">
                  <a:avLst/>
                </a:prstGeom>
                <a:noFill/>
                <a:ln w="6350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sp>
            <p:nvSpPr>
              <p:cNvPr id="80" name="TextBox 17">
                <a:extLst>
                  <a:ext uri="{FF2B5EF4-FFF2-40B4-BE49-F238E27FC236}">
                    <a16:creationId xmlns:a16="http://schemas.microsoft.com/office/drawing/2014/main" id="{F8F8411D-AAA3-4FB2-9092-9118785106C4}"/>
                  </a:ext>
                </a:extLst>
              </p:cNvPr>
              <p:cNvSpPr txBox="1"/>
              <p:nvPr/>
            </p:nvSpPr>
            <p:spPr>
              <a:xfrm>
                <a:off x="9038660" y="1175375"/>
                <a:ext cx="565650" cy="5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사전</a:t>
                </a:r>
                <a:endPara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예방</a:t>
                </a: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DA38BFE7-695B-44D7-BD2B-2F39AEF6CC8C}"/>
              </a:ext>
            </a:extLst>
          </p:cNvPr>
          <p:cNvGrpSpPr/>
          <p:nvPr/>
        </p:nvGrpSpPr>
        <p:grpSpPr>
          <a:xfrm>
            <a:off x="3466514" y="5217525"/>
            <a:ext cx="1970116" cy="443330"/>
            <a:chOff x="7101840" y="3794760"/>
            <a:chExt cx="792480" cy="826367"/>
          </a:xfrm>
        </p:grpSpPr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B7910BE7-EBEC-4B12-BD25-F8FE4DCD227F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62" y="3794760"/>
              <a:ext cx="0" cy="826367"/>
            </a:xfrm>
            <a:prstGeom prst="straightConnector1">
              <a:avLst/>
            </a:pr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triangle"/>
            </a:ln>
          </p:spPr>
        </p:cxnSp>
        <p:sp>
          <p:nvSpPr>
            <p:cNvPr id="114" name="자유형: 도형 33">
              <a:extLst>
                <a:ext uri="{FF2B5EF4-FFF2-40B4-BE49-F238E27FC236}">
                  <a16:creationId xmlns:a16="http://schemas.microsoft.com/office/drawing/2014/main" id="{AEE7AB7D-F01D-41FA-A466-99076E9F4AD7}"/>
                </a:ext>
              </a:extLst>
            </p:cNvPr>
            <p:cNvSpPr/>
            <p:nvPr/>
          </p:nvSpPr>
          <p:spPr>
            <a:xfrm>
              <a:off x="7101840" y="3794760"/>
              <a:ext cx="792480" cy="233655"/>
            </a:xfrm>
            <a:custGeom>
              <a:avLst/>
              <a:gdLst>
                <a:gd name="connsiteX0" fmla="*/ 0 w 792480"/>
                <a:gd name="connsiteY0" fmla="*/ 0 h 152400"/>
                <a:gd name="connsiteX1" fmla="*/ 0 w 792480"/>
                <a:gd name="connsiteY1" fmla="*/ 152400 h 152400"/>
                <a:gd name="connsiteX2" fmla="*/ 792480 w 792480"/>
                <a:gd name="connsiteY2" fmla="*/ 152400 h 152400"/>
                <a:gd name="connsiteX3" fmla="*/ 792480 w 792480"/>
                <a:gd name="connsiteY3" fmla="*/ 762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2480" h="152400">
                  <a:moveTo>
                    <a:pt x="0" y="0"/>
                  </a:moveTo>
                  <a:lnTo>
                    <a:pt x="0" y="152400"/>
                  </a:lnTo>
                  <a:lnTo>
                    <a:pt x="792480" y="152400"/>
                  </a:lnTo>
                  <a:lnTo>
                    <a:pt x="792480" y="7620"/>
                  </a:lnTo>
                </a:path>
              </a:pathLst>
            </a:cu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none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2C7B5A3-5003-43AF-8EDF-6B449CC84B7E}"/>
              </a:ext>
            </a:extLst>
          </p:cNvPr>
          <p:cNvSpPr/>
          <p:nvPr/>
        </p:nvSpPr>
        <p:spPr>
          <a:xfrm>
            <a:off x="3224952" y="6284422"/>
            <a:ext cx="56825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지정 사용자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관제센터에 자동 알림 기능 제공</a:t>
            </a:r>
          </a:p>
        </p:txBody>
      </p:sp>
      <p:sp>
        <p:nvSpPr>
          <p:cNvPr id="99" name="Text Box 7">
            <a:extLst>
              <a:ext uri="{FF2B5EF4-FFF2-40B4-BE49-F238E27FC236}">
                <a16:creationId xmlns:a16="http://schemas.microsoft.com/office/drawing/2014/main" id="{D1D85FF0-4B2B-4B4C-B1F8-7B01FE44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220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1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방출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100" name="Text Box 7">
            <a:extLst>
              <a:ext uri="{FF2B5EF4-FFF2-40B4-BE49-F238E27FC236}">
                <a16:creationId xmlns:a16="http://schemas.microsoft.com/office/drawing/2014/main" id="{70BF5038-DEAC-4812-85EB-0E99578F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263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2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및 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가스밸브자동차단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86" name="Text Box 7">
            <a:extLst>
              <a:ext uri="{FF2B5EF4-FFF2-40B4-BE49-F238E27FC236}">
                <a16:creationId xmlns:a16="http://schemas.microsoft.com/office/drawing/2014/main" id="{89513D81-14C8-4C9A-BE3C-3AEBF8EA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338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04B703C1-EBE5-4240-9C0E-C0AA9AB2B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44" y="4828297"/>
            <a:ext cx="175194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발생 원인 및 조치 내용 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Database 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화</a:t>
            </a:r>
          </a:p>
        </p:txBody>
      </p:sp>
      <p:sp>
        <p:nvSpPr>
          <p:cNvPr id="89" name="Text Box 7">
            <a:extLst>
              <a:ext uri="{FF2B5EF4-FFF2-40B4-BE49-F238E27FC236}">
                <a16:creationId xmlns:a16="http://schemas.microsoft.com/office/drawing/2014/main" id="{B78C37AD-90BA-4EBD-961B-F6C1C14C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013" y="4828297"/>
            <a:ext cx="959528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추가 예방 조치</a:t>
            </a:r>
            <a:b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</a:b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(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조리방식 변경 등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)</a:t>
            </a:r>
          </a:p>
        </p:txBody>
      </p:sp>
      <p:pic>
        <p:nvPicPr>
          <p:cNvPr id="72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EA239D8-46EF-4F87-92B8-448B060B7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541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0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6436730-ACFF-4BF8-A829-AFC4594C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68" y="4711736"/>
            <a:ext cx="211875" cy="319303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1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30AC1979-740F-489C-97E9-06F3B71C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56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BF6422-4919-4066-8E94-DC12DFED6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777" y="5744671"/>
            <a:ext cx="2341067" cy="49991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0BDCC25-13BF-4A47-9745-2D966488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692" y="1374995"/>
            <a:ext cx="4651651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9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97C7840-B4B3-4B30-980D-442CC1E80B36}"/>
              </a:ext>
            </a:extLst>
          </p:cNvPr>
          <p:cNvSpPr/>
          <p:nvPr/>
        </p:nvSpPr>
        <p:spPr>
          <a:xfrm>
            <a:off x="250910" y="1201220"/>
            <a:ext cx="4579336" cy="5189389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50910" y="803652"/>
            <a:ext cx="3759017" cy="312393"/>
            <a:chOff x="573784" y="2158310"/>
            <a:chExt cx="4615164" cy="383543"/>
          </a:xfrm>
        </p:grpSpPr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‘ALLSAFER’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제품 사양</a:t>
              </a:r>
            </a:p>
          </p:txBody>
        </p:sp>
        <p:grpSp>
          <p:nvGrpSpPr>
            <p:cNvPr id="62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6BC731C-C2AA-4525-A74E-06E633259C3E}"/>
              </a:ext>
            </a:extLst>
          </p:cNvPr>
          <p:cNvCxnSpPr/>
          <p:nvPr/>
        </p:nvCxnSpPr>
        <p:spPr>
          <a:xfrm>
            <a:off x="4953000" y="1785303"/>
            <a:ext cx="0" cy="452537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5280403" y="3092896"/>
            <a:ext cx="4510478" cy="118856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이용 범위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가스용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주방조리기기를 사용하는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 특징 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적외선으로 온도 감지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내구성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안전성이 뛰어남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기준 설정 온도 초과 시 경고음 발생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과열상황 감지 시 자동 배관 차단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확장성 용이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1D294E-C124-4554-B37E-B4A6C332AE55}"/>
              </a:ext>
            </a:extLst>
          </p:cNvPr>
          <p:cNvSpPr txBox="1"/>
          <p:nvPr/>
        </p:nvSpPr>
        <p:spPr>
          <a:xfrm>
            <a:off x="5973302" y="1674861"/>
            <a:ext cx="1554913" cy="323165"/>
          </a:xfrm>
          <a:prstGeom prst="rect">
            <a:avLst/>
          </a:prstGeom>
          <a:noFill/>
          <a:ln>
            <a:solidFill>
              <a:srgbClr val="FF0000">
                <a:alpha val="0"/>
              </a:srgbClr>
            </a:solidFill>
          </a:ln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주방조리기기의 온도를 측정하여</a:t>
            </a:r>
            <a:endParaRPr kumimoji="0" lang="en-US" altLang="ko-KR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자동으로 가스밸브를 차단하는</a:t>
            </a:r>
            <a:endParaRPr kumimoji="0" lang="ko-KR" altLang="en-US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5468507" y="2183904"/>
            <a:ext cx="4339777" cy="686254"/>
            <a:chOff x="5325813" y="1649440"/>
            <a:chExt cx="4075323" cy="686254"/>
          </a:xfrm>
        </p:grpSpPr>
        <p:sp>
          <p:nvSpPr>
            <p:cNvPr id="211" name="TextBox 17">
              <a:extLst>
                <a:ext uri="{FF2B5EF4-FFF2-40B4-BE49-F238E27FC236}">
                  <a16:creationId xmlns:a16="http://schemas.microsoft.com/office/drawing/2014/main" id="{E2F50FF7-4A3E-4BC8-BDEB-C0F19670AEBD}"/>
                </a:ext>
              </a:extLst>
            </p:cNvPr>
            <p:cNvSpPr txBox="1"/>
            <p:nvPr/>
          </p:nvSpPr>
          <p:spPr>
            <a:xfrm>
              <a:off x="5325813" y="1651000"/>
              <a:ext cx="4075323" cy="68469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7000">
                  <a:srgbClr val="EDEDED"/>
                </a:gs>
                <a:gs pos="85000">
                  <a:srgbClr val="E5E5E5"/>
                </a:gs>
                <a:gs pos="100000">
                  <a:srgbClr val="E5E5E5"/>
                </a:gs>
              </a:gsLst>
              <a:lin ang="108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lvl="0">
                <a:lnSpc>
                  <a:spcPct val="150000"/>
                </a:lnSpc>
                <a:defRPr sz="1000" i="0" spc="-50">
                  <a:solidFill>
                    <a:prstClr val="black"/>
                  </a:solidFill>
                  <a:latin typeface="LG스마트체 Regular"/>
                  <a:ea typeface="LG스마트체 Regular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ko-KR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12" name="TextBox 17">
              <a:extLst>
                <a:ext uri="{FF2B5EF4-FFF2-40B4-BE49-F238E27FC236}">
                  <a16:creationId xmlns:a16="http://schemas.microsoft.com/office/drawing/2014/main" id="{70D96C7E-D116-451A-9B9F-31DAEE739075}"/>
                </a:ext>
              </a:extLst>
            </p:cNvPr>
            <p:cNvSpPr txBox="1"/>
            <p:nvPr/>
          </p:nvSpPr>
          <p:spPr>
            <a:xfrm>
              <a:off x="5414927" y="1649440"/>
              <a:ext cx="3986209" cy="67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직접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인명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재산 피해 방지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간접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근무자의 심적 안정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업장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손실 최소화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기업 이미지 개선</a:t>
              </a: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C4D3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안전사고 사전 대응 기업 이미지 개선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(ESG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기업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7F8B39B8-291F-4AD4-BC1E-7302C7A8F480}"/>
              </a:ext>
            </a:extLst>
          </p:cNvPr>
          <p:cNvGrpSpPr/>
          <p:nvPr/>
        </p:nvGrpSpPr>
        <p:grpSpPr>
          <a:xfrm>
            <a:off x="7548375" y="1710504"/>
            <a:ext cx="1990228" cy="287522"/>
            <a:chOff x="12285405" y="3340438"/>
            <a:chExt cx="3507681" cy="38549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2285405" y="3354547"/>
              <a:ext cx="3507681" cy="371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20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화재 예방 시스템</a:t>
              </a:r>
              <a:endParaRPr lang="en-US" altLang="ko-KR" sz="120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230" name="그래픽 657">
              <a:extLst>
                <a:ext uri="{FF2B5EF4-FFF2-40B4-BE49-F238E27FC236}">
                  <a16:creationId xmlns:a16="http://schemas.microsoft.com/office/drawing/2014/main" id="{F1CD6702-F81F-4DC3-AA7E-9E6EF9338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80303" y="3340438"/>
              <a:ext cx="108624" cy="96567"/>
            </a:xfrm>
            <a:prstGeom prst="rect">
              <a:avLst/>
            </a:prstGeom>
          </p:spPr>
        </p:pic>
        <p:pic>
          <p:nvPicPr>
            <p:cNvPr id="231" name="그래픽 658">
              <a:extLst>
                <a:ext uri="{FF2B5EF4-FFF2-40B4-BE49-F238E27FC236}">
                  <a16:creationId xmlns:a16="http://schemas.microsoft.com/office/drawing/2014/main" id="{36762E48-C6B8-40EF-8E7D-A2059824B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5539592" y="3352022"/>
              <a:ext cx="108624" cy="96567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86034" y="1129470"/>
            <a:ext cx="2494172" cy="261610"/>
            <a:chOff x="13078322" y="7024021"/>
            <a:chExt cx="1418166" cy="44433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주요 서비스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기능 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(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가스 차단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)</a:t>
              </a:r>
              <a:endParaRPr kumimoji="1" lang="ko-KR" altLang="en-US" sz="1100" dirty="0">
                <a:ln>
                  <a:solidFill>
                    <a:srgbClr val="8E969E">
                      <a:alpha val="0"/>
                    </a:srgb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91245" y="4564653"/>
            <a:ext cx="1442900" cy="261610"/>
            <a:chOff x="13078322" y="7024021"/>
            <a:chExt cx="1418166" cy="44433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추가 기능 반영사항 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/>
          <p:cNvSpPr/>
          <p:nvPr/>
        </p:nvSpPr>
        <p:spPr>
          <a:xfrm>
            <a:off x="5285613" y="4872242"/>
            <a:ext cx="4510478" cy="83925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RMS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연동 개발 및 추가 아이템 제안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 및 상태 변동 정보의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(’23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환경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온습도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CO2)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 기능 확장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방화취약구역 내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IoT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화재감지기 추가 설치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CBA5C79-4972-4360-900B-C3D6225DB574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AD4C59-F597-400C-8E51-4D0B0856B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10" y="4137072"/>
            <a:ext cx="2966104" cy="18966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9C48E6-F19F-48CC-90F5-A152EFF00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219" y="4137072"/>
            <a:ext cx="1613027" cy="1639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0607-CC2B-4E46-806A-612045956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053" y="4759602"/>
            <a:ext cx="439554" cy="839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20B945-FBC9-4EE2-9EBA-ED5E8D686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7447" y="4695458"/>
            <a:ext cx="719138" cy="585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7D3963-ECDC-49A0-9C8B-962EE906A8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683" y="5352610"/>
            <a:ext cx="632920" cy="5857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DA27CD-A271-4742-83A1-E875114250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404" y="1413256"/>
            <a:ext cx="3702348" cy="236688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8268FE7-F3AB-42A8-8B21-C777FCD5C5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108" y="1614344"/>
            <a:ext cx="413921" cy="4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3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1F19BC4-1F27-4B2A-B83B-A15F981C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927"/>
            <a:ext cx="9906000" cy="3581693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1420F46-797D-415C-BDCC-E63D8E2A7876}"/>
              </a:ext>
            </a:extLst>
          </p:cNvPr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0D4A5F-86CC-4C11-BEA2-38B255E90CE1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D8E306-F254-4778-B26F-12125EAF59B1}"/>
              </a:ext>
            </a:extLst>
          </p:cNvPr>
          <p:cNvGrpSpPr/>
          <p:nvPr/>
        </p:nvGrpSpPr>
        <p:grpSpPr>
          <a:xfrm>
            <a:off x="203130" y="919367"/>
            <a:ext cx="4291066" cy="311560"/>
            <a:chOff x="573784" y="2158310"/>
            <a:chExt cx="4615164" cy="382520"/>
          </a:xfrm>
        </p:grpSpPr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D9DAA5D6-49B0-4769-91C7-2A1E49626E83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설치 예시</a:t>
              </a:r>
            </a:p>
          </p:txBody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E6E37F1E-30B2-42CA-9BCE-308E84BF2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Freeform 28">
                <a:extLst>
                  <a:ext uri="{FF2B5EF4-FFF2-40B4-BE49-F238E27FC236}">
                    <a16:creationId xmlns:a16="http://schemas.microsoft.com/office/drawing/2014/main" id="{84D6AD1A-11E2-4E26-94BD-EDCF369C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29">
                <a:extLst>
                  <a:ext uri="{FF2B5EF4-FFF2-40B4-BE49-F238E27FC236}">
                    <a16:creationId xmlns:a16="http://schemas.microsoft.com/office/drawing/2014/main" id="{C4BC08B0-DAD4-4F5E-B77B-4D5582E56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C12DADEC-C509-4356-A8CB-EA352BD1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057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11923" y="673358"/>
            <a:ext cx="4291066" cy="311560"/>
            <a:chOff x="573784" y="2158310"/>
            <a:chExt cx="4615164" cy="382520"/>
          </a:xfrm>
        </p:grpSpPr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서비스 유형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8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4" name="그룹 143"/>
          <p:cNvGrpSpPr/>
          <p:nvPr/>
        </p:nvGrpSpPr>
        <p:grpSpPr>
          <a:xfrm>
            <a:off x="589194" y="1163825"/>
            <a:ext cx="4098422" cy="5099935"/>
            <a:chOff x="416630" y="1144053"/>
            <a:chExt cx="3029424" cy="5004006"/>
          </a:xfrm>
        </p:grpSpPr>
        <p:sp>
          <p:nvSpPr>
            <p:cNvPr id="16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480560" y="1144053"/>
              <a:ext cx="2965494" cy="500400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416630" y="1206896"/>
              <a:ext cx="617635" cy="271798"/>
              <a:chOff x="3191893" y="6444349"/>
              <a:chExt cx="699876" cy="268425"/>
            </a:xfrm>
          </p:grpSpPr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1</a:t>
                </a:r>
              </a:p>
            </p:txBody>
          </p:sp>
        </p:grpSp>
      </p:grpSp>
      <p:grpSp>
        <p:nvGrpSpPr>
          <p:cNvPr id="145" name="그룹 144"/>
          <p:cNvGrpSpPr/>
          <p:nvPr/>
        </p:nvGrpSpPr>
        <p:grpSpPr>
          <a:xfrm>
            <a:off x="5123709" y="1156856"/>
            <a:ext cx="4153181" cy="5106900"/>
            <a:chOff x="3635385" y="1133944"/>
            <a:chExt cx="3021319" cy="5010840"/>
          </a:xfrm>
        </p:grpSpPr>
        <p:sp>
          <p:nvSpPr>
            <p:cNvPr id="17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3690304" y="1133944"/>
              <a:ext cx="2966400" cy="5010840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3635385" y="1206896"/>
              <a:ext cx="617635" cy="271798"/>
              <a:chOff x="3191893" y="6444349"/>
              <a:chExt cx="699876" cy="268425"/>
            </a:xfrm>
          </p:grpSpPr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2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919625" y="4038146"/>
            <a:ext cx="3789183" cy="682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조리기구의 실시간 온도 확인 가능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디지털 수치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 관리자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의한 화재 예방 중심의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무상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A/S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337383" y="286417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6484593" y="1411223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1979146" y="1418192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5519652" y="4029570"/>
            <a:ext cx="3923496" cy="836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원격 모니터링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 서비스로 이중 안심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소유주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소방안전관리자와 경보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공유를 통한 합동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약정 기간동안 구독서비스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정기점검 및 유지관리비 포함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</a:t>
            </a:r>
            <a:b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투자 비용 및 추가 부담 완화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701639" y="1979551"/>
            <a:ext cx="2227744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운용만 가능한 단독형 서비스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1337383" y="1944986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010560" y="1972582"/>
            <a:ext cx="2592000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원격모니터링이 가능한 네트워크형 서비스</a:t>
            </a:r>
          </a:p>
        </p:txBody>
      </p:sp>
      <p:cxnSp>
        <p:nvCxnSpPr>
          <p:cNvPr id="190" name="직선 연결선 189"/>
          <p:cNvCxnSpPr/>
          <p:nvPr/>
        </p:nvCxnSpPr>
        <p:spPr>
          <a:xfrm>
            <a:off x="5886714" y="2846299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5931555" y="1938017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19625" y="5439524"/>
            <a:ext cx="3344644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회성 투자로 주방안전관리를 확보하고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곰탕 등 조리시간이 길어서 자리를 비우기 쉬운 음식점주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43300" y="5439524"/>
            <a:ext cx="3526519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전문조직에게 주방안전관리를 위탁하고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비상주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050" b="1" spc="-70" dirty="0" err="1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다빌딩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 중앙 조직에서 안전 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관리를 원하는 고객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133738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588269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2A78CB-0E91-493F-A63C-E68CEC4F2C5C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B3E6DE1-5980-45FA-8323-E86631371C3F}"/>
              </a:ext>
            </a:extLst>
          </p:cNvPr>
          <p:cNvGrpSpPr/>
          <p:nvPr/>
        </p:nvGrpSpPr>
        <p:grpSpPr>
          <a:xfrm>
            <a:off x="2077844" y="2267864"/>
            <a:ext cx="1190487" cy="539635"/>
            <a:chOff x="1550305" y="2188736"/>
            <a:chExt cx="1190487" cy="539635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X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651455D-137C-4D59-B00B-40B8DB54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36C8A6F-B912-475C-A903-3692BBC1DF1A}"/>
              </a:ext>
            </a:extLst>
          </p:cNvPr>
          <p:cNvGrpSpPr/>
          <p:nvPr/>
        </p:nvGrpSpPr>
        <p:grpSpPr>
          <a:xfrm>
            <a:off x="6559417" y="2223360"/>
            <a:ext cx="1190487" cy="539635"/>
            <a:chOff x="1550305" y="2188736"/>
            <a:chExt cx="1190487" cy="5396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B20FB2-E8C6-4430-A5ED-C96C835F8D71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BBBCD17-45EA-47AB-BE80-0C0708165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D335F49-6056-459F-9EE7-DC2F627CE8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65528" y="3093396"/>
            <a:ext cx="1469857" cy="62239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992A88-8F84-427F-9115-F833E1DD37F5}"/>
              </a:ext>
            </a:extLst>
          </p:cNvPr>
          <p:cNvGrpSpPr/>
          <p:nvPr/>
        </p:nvGrpSpPr>
        <p:grpSpPr>
          <a:xfrm>
            <a:off x="5924710" y="3027947"/>
            <a:ext cx="2663367" cy="831730"/>
            <a:chOff x="6012630" y="2948819"/>
            <a:chExt cx="2663367" cy="831730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396441" y="3123130"/>
              <a:ext cx="361182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altLang="ko-KR" sz="1400" b="1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+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789534" y="3441995"/>
              <a:ext cx="850365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소방안전관리자 </a:t>
              </a:r>
              <a:r>
                <a:rPr lang="en-US" altLang="ko-KR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 </a:t>
              </a: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관제센터</a:t>
              </a:r>
              <a:endParaRPr lang="en-US" altLang="ko-KR" sz="8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57AB87F-648F-4D1E-A427-A55F0457F537}"/>
                </a:ext>
              </a:extLst>
            </p:cNvPr>
            <p:cNvSpPr/>
            <p:nvPr/>
          </p:nvSpPr>
          <p:spPr>
            <a:xfrm>
              <a:off x="7715325" y="2957142"/>
              <a:ext cx="523432" cy="5234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321750" rIns="0" bIns="0" rtlCol="0" anchor="ctr"/>
            <a:lstStyle/>
            <a:p>
              <a:pPr algn="ctr"/>
              <a:endParaRPr lang="ko-KR" altLang="en-US" sz="800" b="1" spc="-4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C5DB6A10-0F2C-4196-92EB-5EAB39DC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534" y="3023494"/>
              <a:ext cx="375013" cy="375013"/>
            </a:xfrm>
            <a:prstGeom prst="rect">
              <a:avLst/>
            </a:prstGeom>
          </p:spPr>
        </p:pic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FC58B68-C20F-430F-99D9-BC5486A7F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2564" y="2948819"/>
              <a:ext cx="523433" cy="523433"/>
            </a:xfrm>
            <a:prstGeom prst="ellipse">
              <a:avLst/>
            </a:prstGeom>
            <a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a:blipFill>
            <a:ln w="15875">
              <a:gradFill flip="none" rotWithShape="1">
                <a:gsLst>
                  <a:gs pos="49000">
                    <a:srgbClr val="C00C3F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87D816EC-4A4D-4DFC-83FF-F667D7E01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012630" y="2960124"/>
              <a:ext cx="1419776" cy="622394"/>
            </a:xfrm>
            <a:prstGeom prst="rect">
              <a:avLst/>
            </a:prstGeom>
          </p:spPr>
        </p:pic>
      </p:grp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B05DF770-53D2-40D1-81DF-9ECDF815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90503"/>
              </p:ext>
            </p:extLst>
          </p:nvPr>
        </p:nvGraphicFramePr>
        <p:xfrm>
          <a:off x="5511141" y="4693305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※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계약 세부 조건은 사전 물량 조사 후 업체와 협의 예정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87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444773" y="872604"/>
            <a:ext cx="3759017" cy="312393"/>
            <a:chOff x="573784" y="2158310"/>
            <a:chExt cx="4615164" cy="359341"/>
          </a:xfrm>
        </p:grpSpPr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견적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)_ 1set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기준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10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5F37C5-A608-4264-B083-D062F1CE36DE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1)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세부 견적 내역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6FC8923-BDB2-490B-83C4-07F832C42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794493"/>
              </p:ext>
            </p:extLst>
          </p:nvPr>
        </p:nvGraphicFramePr>
        <p:xfrm>
          <a:off x="595298" y="1291837"/>
          <a:ext cx="6259512" cy="426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" name="Worksheet" r:id="rId3" imgW="7991431" imgH="5448398" progId="Excel.Sheet.12">
                  <p:embed/>
                </p:oleObj>
              </mc:Choice>
              <mc:Fallback>
                <p:oleObj name="Worksheet" r:id="rId3" imgW="7991431" imgH="544839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298" y="1291837"/>
                        <a:ext cx="6259512" cy="426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975496-B117-4C8C-8D12-CFCAB4C14DD2}"/>
              </a:ext>
            </a:extLst>
          </p:cNvPr>
          <p:cNvSpPr/>
          <p:nvPr/>
        </p:nvSpPr>
        <p:spPr>
          <a:xfrm>
            <a:off x="2329947" y="4416770"/>
            <a:ext cx="993530" cy="48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58DB4D-6BE7-428A-9E71-BA3C9FA9A5C6}"/>
              </a:ext>
            </a:extLst>
          </p:cNvPr>
          <p:cNvSpPr/>
          <p:nvPr/>
        </p:nvSpPr>
        <p:spPr>
          <a:xfrm>
            <a:off x="5323714" y="4416771"/>
            <a:ext cx="993530" cy="9319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95F2F-D551-4994-B783-6EF98A86C9F2}"/>
              </a:ext>
            </a:extLst>
          </p:cNvPr>
          <p:cNvSpPr txBox="1"/>
          <p:nvPr/>
        </p:nvSpPr>
        <p:spPr>
          <a:xfrm>
            <a:off x="6998662" y="2118517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ED7D3-CC7E-4938-B2EF-4BEA19386985}"/>
              </a:ext>
            </a:extLst>
          </p:cNvPr>
          <p:cNvSpPr txBox="1"/>
          <p:nvPr/>
        </p:nvSpPr>
        <p:spPr>
          <a:xfrm>
            <a:off x="7299228" y="2489765"/>
            <a:ext cx="2493265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2,461,000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178F30-6758-486E-8FA6-95E46206D13C}"/>
              </a:ext>
            </a:extLst>
          </p:cNvPr>
          <p:cNvSpPr txBox="1"/>
          <p:nvPr/>
        </p:nvSpPr>
        <p:spPr>
          <a:xfrm>
            <a:off x="7336087" y="3867300"/>
            <a:ext cx="2273906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6,840,000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452,000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497F2-B832-457F-BD9F-5E788E40E39D}"/>
              </a:ext>
            </a:extLst>
          </p:cNvPr>
          <p:cNvSpPr txBox="1"/>
          <p:nvPr/>
        </p:nvSpPr>
        <p:spPr>
          <a:xfrm>
            <a:off x="7189650" y="3528746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18AABBC-5681-4E93-8085-43531D5A9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28582"/>
              </p:ext>
            </p:extLst>
          </p:nvPr>
        </p:nvGraphicFramePr>
        <p:xfrm>
          <a:off x="6317259" y="79013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[</a:t>
                      </a:r>
                      <a:r>
                        <a:rPr lang="ko-KR" altLang="en-US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주방 화재 예방 솔루션 설치 현장</a:t>
                      </a: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]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전자가산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R&amp;D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캠퍼스운영센터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: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’22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년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8/30 ~ 9/16,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매입가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4,260,000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원 발주대행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171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2) </a:t>
            </a:r>
            <a:r>
              <a:rPr lang="ko-KR" altLang="en-US" sz="16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상업용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주방자동소화장치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7F9BBDE5-ED80-45D9-A77F-E6DDACCB74D4}"/>
              </a:ext>
            </a:extLst>
          </p:cNvPr>
          <p:cNvSpPr txBox="1"/>
          <p:nvPr/>
        </p:nvSpPr>
        <p:spPr>
          <a:xfrm>
            <a:off x="391572" y="752925"/>
            <a:ext cx="8445185" cy="3115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  <a:buClr>
                <a:schemeClr val="tx1"/>
              </a:buClr>
              <a:defRPr/>
            </a:pP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기존 법규에서는 자진 설치 설비였던 ‘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상업용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주방자동소화장치’의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의무 설치 대상을 명시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A801DD-1DE3-4CD0-B035-B5292DDF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685" y="3269616"/>
            <a:ext cx="3638550" cy="26574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FF5724-A9C7-4DD1-AAF2-0B53444AC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73" y="1384564"/>
            <a:ext cx="5990178" cy="188505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FFA4F7E-1DB6-471F-A919-FA59F534054B}"/>
              </a:ext>
            </a:extLst>
          </p:cNvPr>
          <p:cNvSpPr/>
          <p:nvPr/>
        </p:nvSpPr>
        <p:spPr>
          <a:xfrm>
            <a:off x="5519652" y="788512"/>
            <a:ext cx="3241593" cy="2759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참조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[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전사공지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소방관계법규 주요 개정내용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‘22.12.12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760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ESS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화재 확산 방지 솔루션 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8ABB17E-5502-46DD-976C-03583D0952C2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-6838762" y="2813057"/>
            <a:ext cx="557143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41" name="Text Box 7">
            <a:extLst>
              <a:ext uri="{FF2B5EF4-FFF2-40B4-BE49-F238E27FC236}">
                <a16:creationId xmlns:a16="http://schemas.microsoft.com/office/drawing/2014/main" id="{094B8813-6358-44D9-88C3-B30E206B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72891" y="2627657"/>
            <a:ext cx="83412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화재 경보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A43D8CA6-7AF7-47C6-A7A7-E5DA7CB8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534349" y="2637217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현장 출동</a:t>
            </a:r>
            <a:r>
              <a:rPr lang="en-US" altLang="ko-KR" spc="-50" dirty="0">
                <a:latin typeface="Arial Narrow" panose="020B0606020202030204" pitchFamily="34" charset="0"/>
              </a:rPr>
              <a:t>/</a:t>
            </a:r>
            <a:r>
              <a:rPr lang="ko-KR" altLang="en-US" spc="-50" dirty="0">
                <a:latin typeface="Arial Narrow" panose="020B0606020202030204" pitchFamily="34" charset="0"/>
              </a:rPr>
              <a:t>확인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C52514CA-BD24-48CB-8BA1-8FD1E3AA1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21146" y="2627657"/>
            <a:ext cx="78323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비상 방송 안내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en-US" altLang="ko-KR" spc="-50" dirty="0">
                <a:latin typeface="Arial Narrow" panose="020B0606020202030204" pitchFamily="34" charset="0"/>
              </a:rPr>
              <a:t>/ </a:t>
            </a:r>
            <a:r>
              <a:rPr lang="ko-KR" altLang="en-US" spc="-50" dirty="0">
                <a:latin typeface="Arial Narrow" panose="020B0606020202030204" pitchFamily="34" charset="0"/>
              </a:rPr>
              <a:t>화재 신고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51DCB5F6-8694-4282-8C01-D17E513BE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37344" y="2627657"/>
            <a:ext cx="783240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현장 접근 통제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5" name="Text Box 7">
            <a:extLst>
              <a:ext uri="{FF2B5EF4-FFF2-40B4-BE49-F238E27FC236}">
                <a16:creationId xmlns:a16="http://schemas.microsoft.com/office/drawing/2014/main" id="{89C35316-D75F-4FEC-8565-99F7CD68A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7325" y="2627657"/>
            <a:ext cx="95952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소방관 도착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en-US" altLang="ko-KR" spc="-50" dirty="0">
                <a:latin typeface="Arial Narrow" panose="020B0606020202030204" pitchFamily="34" charset="0"/>
              </a:rPr>
              <a:t>/ </a:t>
            </a:r>
            <a:r>
              <a:rPr lang="ko-KR" altLang="en-US" spc="-50" dirty="0">
                <a:latin typeface="Arial Narrow" panose="020B0606020202030204" pitchFamily="34" charset="0"/>
              </a:rPr>
              <a:t>요청 사항 지원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82" name="Text Box 7">
            <a:extLst>
              <a:ext uri="{FF2B5EF4-FFF2-40B4-BE49-F238E27FC236}">
                <a16:creationId xmlns:a16="http://schemas.microsoft.com/office/drawing/2014/main" id="{A77D96FA-498E-47A1-8905-91FAEAB1C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433260" y="2637217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소화기</a:t>
            </a:r>
            <a:r>
              <a:rPr lang="en-US" altLang="ko-KR" spc="-50" dirty="0">
                <a:latin typeface="Arial Narrow" panose="020B0606020202030204" pitchFamily="34" charset="0"/>
              </a:rPr>
              <a:t>/</a:t>
            </a:r>
            <a:r>
              <a:rPr lang="ko-KR" altLang="en-US" spc="-50" dirty="0">
                <a:latin typeface="Arial Narrow" panose="020B0606020202030204" pitchFamily="34" charset="0"/>
              </a:rPr>
              <a:t>소화전 등</a:t>
            </a:r>
            <a:endParaRPr lang="en-US" altLang="ko-KR" spc="-50" dirty="0">
              <a:latin typeface="Arial Narrow" panose="020B0606020202030204" pitchFamily="34" charset="0"/>
            </a:endParaRPr>
          </a:p>
          <a:p>
            <a:r>
              <a:rPr lang="ko-KR" altLang="en-US" spc="-50" dirty="0">
                <a:latin typeface="Arial Narrow" panose="020B0606020202030204" pitchFamily="34" charset="0"/>
              </a:rPr>
              <a:t>초동 진화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91" name="Text Box 7">
            <a:extLst>
              <a:ext uri="{FF2B5EF4-FFF2-40B4-BE49-F238E27FC236}">
                <a16:creationId xmlns:a16="http://schemas.microsoft.com/office/drawing/2014/main" id="{51752F96-BD21-476F-A2C8-6F85B66DE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497852" y="2637217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 err="1">
                <a:latin typeface="Arial Narrow" panose="020B0606020202030204" pitchFamily="34" charset="0"/>
              </a:rPr>
              <a:t>소화수</a:t>
            </a:r>
            <a:r>
              <a:rPr lang="en-US" altLang="ko-KR" spc="-50" dirty="0">
                <a:latin typeface="Arial Narrow" panose="020B0606020202030204" pitchFamily="34" charset="0"/>
              </a:rPr>
              <a:t>(</a:t>
            </a:r>
            <a:r>
              <a:rPr lang="ko-KR" altLang="en-US" spc="-50" dirty="0">
                <a:latin typeface="Arial Narrow" panose="020B0606020202030204" pitchFamily="34" charset="0"/>
              </a:rPr>
              <a:t>약제</a:t>
            </a:r>
            <a:r>
              <a:rPr lang="en-US" altLang="ko-KR" spc="-50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spc="-50" dirty="0">
                <a:latin typeface="Arial Narrow" panose="020B0606020202030204" pitchFamily="34" charset="0"/>
              </a:rPr>
              <a:t>방출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3E270287-E549-44B8-8C11-9357C32E1206}"/>
              </a:ext>
            </a:extLst>
          </p:cNvPr>
          <p:cNvCxnSpPr>
            <a:stCxn id="120" idx="2"/>
            <a:endCxn id="119" idx="0"/>
          </p:cNvCxnSpPr>
          <p:nvPr/>
        </p:nvCxnSpPr>
        <p:spPr>
          <a:xfrm>
            <a:off x="7289543" y="5815268"/>
            <a:ext cx="0" cy="440414"/>
          </a:xfrm>
          <a:prstGeom prst="straightConnector1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F07600F-1941-4276-82C5-8BD8BAE162A1}"/>
              </a:ext>
            </a:extLst>
          </p:cNvPr>
          <p:cNvSpPr/>
          <p:nvPr/>
        </p:nvSpPr>
        <p:spPr>
          <a:xfrm>
            <a:off x="6259850" y="6255682"/>
            <a:ext cx="2059385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사후 절차</a:t>
            </a:r>
            <a:br>
              <a:rPr lang="en-US" altLang="ko-KR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</a:br>
            <a:r>
              <a:rPr lang="en-US" altLang="ko-KR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(</a:t>
            </a:r>
            <a:r>
              <a:rPr lang="ko-KR" altLang="en-US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유관기관 조사 지원 등</a:t>
            </a:r>
            <a:r>
              <a:rPr lang="en-US" altLang="ko-KR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)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1F5265E-6ADC-453A-83E3-3560AC64882C}"/>
              </a:ext>
            </a:extLst>
          </p:cNvPr>
          <p:cNvSpPr/>
          <p:nvPr/>
        </p:nvSpPr>
        <p:spPr>
          <a:xfrm>
            <a:off x="6259850" y="5458998"/>
            <a:ext cx="2059385" cy="3562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1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화재 진압</a:t>
            </a:r>
            <a:endParaRPr lang="en-US" altLang="ko-KR" sz="1100" b="1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21" name="모서리가 둥근 직사각형 112">
            <a:extLst>
              <a:ext uri="{FF2B5EF4-FFF2-40B4-BE49-F238E27FC236}">
                <a16:creationId xmlns:a16="http://schemas.microsoft.com/office/drawing/2014/main" id="{9432B60F-CE5F-41A6-B338-BE797363F9E2}"/>
              </a:ext>
            </a:extLst>
          </p:cNvPr>
          <p:cNvSpPr/>
          <p:nvPr/>
        </p:nvSpPr>
        <p:spPr>
          <a:xfrm>
            <a:off x="69811" y="2712529"/>
            <a:ext cx="4551129" cy="3496832"/>
          </a:xfrm>
          <a:prstGeom prst="roundRect">
            <a:avLst>
              <a:gd name="adj" fmla="val 38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458C3A17-5CD1-437C-BFCB-83372DB970E8}"/>
              </a:ext>
            </a:extLst>
          </p:cNvPr>
          <p:cNvCxnSpPr>
            <a:cxnSpLocks/>
            <a:stCxn id="153" idx="2"/>
            <a:endCxn id="127" idx="0"/>
          </p:cNvCxnSpPr>
          <p:nvPr/>
        </p:nvCxnSpPr>
        <p:spPr>
          <a:xfrm>
            <a:off x="2389658" y="1854690"/>
            <a:ext cx="0" cy="205184"/>
          </a:xfrm>
          <a:prstGeom prst="straightConnector1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3083792F-8B46-4BB5-9694-55966E64AE7D}"/>
              </a:ext>
            </a:extLst>
          </p:cNvPr>
          <p:cNvCxnSpPr>
            <a:stCxn id="127" idx="2"/>
          </p:cNvCxnSpPr>
          <p:nvPr/>
        </p:nvCxnSpPr>
        <p:spPr>
          <a:xfrm>
            <a:off x="2389658" y="2347874"/>
            <a:ext cx="20196" cy="92401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87970C97-E485-450C-AD7E-37459AC8134B}"/>
              </a:ext>
            </a:extLst>
          </p:cNvPr>
          <p:cNvSpPr/>
          <p:nvPr/>
        </p:nvSpPr>
        <p:spPr>
          <a:xfrm>
            <a:off x="2471609" y="2384718"/>
            <a:ext cx="170741" cy="158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8743FDBE-2A66-4026-ABC7-808ED4238BBB}"/>
              </a:ext>
            </a:extLst>
          </p:cNvPr>
          <p:cNvSpPr/>
          <p:nvPr/>
        </p:nvSpPr>
        <p:spPr>
          <a:xfrm>
            <a:off x="2226922" y="2596427"/>
            <a:ext cx="142539" cy="1482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</a:p>
        </p:txBody>
      </p:sp>
      <p:sp>
        <p:nvSpPr>
          <p:cNvPr id="126" name="자유형 129">
            <a:extLst>
              <a:ext uri="{FF2B5EF4-FFF2-40B4-BE49-F238E27FC236}">
                <a16:creationId xmlns:a16="http://schemas.microsoft.com/office/drawing/2014/main" id="{116198A8-3D15-4C88-8F23-A672BD0B04BF}"/>
              </a:ext>
            </a:extLst>
          </p:cNvPr>
          <p:cNvSpPr/>
          <p:nvPr/>
        </p:nvSpPr>
        <p:spPr>
          <a:xfrm>
            <a:off x="2399914" y="2548726"/>
            <a:ext cx="3630204" cy="542887"/>
          </a:xfrm>
          <a:custGeom>
            <a:avLst/>
            <a:gdLst>
              <a:gd name="connsiteX0" fmla="*/ 0 w 2686050"/>
              <a:gd name="connsiteY0" fmla="*/ 66675 h 85725"/>
              <a:gd name="connsiteX1" fmla="*/ 0 w 2686050"/>
              <a:gd name="connsiteY1" fmla="*/ 0 h 85725"/>
              <a:gd name="connsiteX2" fmla="*/ 2686050 w 2686050"/>
              <a:gd name="connsiteY2" fmla="*/ 0 h 85725"/>
              <a:gd name="connsiteX3" fmla="*/ 2686050 w 2686050"/>
              <a:gd name="connsiteY3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6050" h="85725">
                <a:moveTo>
                  <a:pt x="0" y="66675"/>
                </a:moveTo>
                <a:lnTo>
                  <a:pt x="0" y="0"/>
                </a:lnTo>
                <a:lnTo>
                  <a:pt x="2686050" y="0"/>
                </a:lnTo>
                <a:lnTo>
                  <a:pt x="2686050" y="85725"/>
                </a:lnTo>
              </a:path>
            </a:pathLst>
          </a:cu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E91CEE1-E6D1-454D-B0DF-54E59342F0D7}"/>
              </a:ext>
            </a:extLst>
          </p:cNvPr>
          <p:cNvSpPr/>
          <p:nvPr/>
        </p:nvSpPr>
        <p:spPr>
          <a:xfrm>
            <a:off x="1741658" y="2059874"/>
            <a:ext cx="1296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화재 발생 여부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pic>
        <p:nvPicPr>
          <p:cNvPr id="128" name="Picture 8">
            <a:extLst>
              <a:ext uri="{FF2B5EF4-FFF2-40B4-BE49-F238E27FC236}">
                <a16:creationId xmlns:a16="http://schemas.microsoft.com/office/drawing/2014/main" id="{7894F2C8-8D4A-49A5-9816-FD812C427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8466" y="2831671"/>
            <a:ext cx="190002" cy="2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1E64827-D660-4BA2-92D2-64353BA37412}"/>
              </a:ext>
            </a:extLst>
          </p:cNvPr>
          <p:cNvGrpSpPr/>
          <p:nvPr/>
        </p:nvGrpSpPr>
        <p:grpSpPr>
          <a:xfrm>
            <a:off x="5440014" y="3242364"/>
            <a:ext cx="1188695" cy="497041"/>
            <a:chOff x="8114150" y="3876646"/>
            <a:chExt cx="1188695" cy="497041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9007BCBB-810C-421F-B118-2169C9C8BB17}"/>
                </a:ext>
              </a:extLst>
            </p:cNvPr>
            <p:cNvSpPr/>
            <p:nvPr/>
          </p:nvSpPr>
          <p:spPr>
            <a:xfrm>
              <a:off x="8114150" y="3876646"/>
              <a:ext cx="1188695" cy="49704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경보 및 비상방송 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중단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99C47CC9-A4B6-4C64-B2E3-95168E006302}"/>
                </a:ext>
              </a:extLst>
            </p:cNvPr>
            <p:cNvSpPr/>
            <p:nvPr/>
          </p:nvSpPr>
          <p:spPr>
            <a:xfrm>
              <a:off x="8119046" y="3877669"/>
              <a:ext cx="133551" cy="4922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0">
              <a:noFill/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방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재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실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84795510-8331-42EF-AEDA-A7F8A66B95B4}"/>
              </a:ext>
            </a:extLst>
          </p:cNvPr>
          <p:cNvGrpSpPr/>
          <p:nvPr/>
        </p:nvGrpSpPr>
        <p:grpSpPr>
          <a:xfrm>
            <a:off x="5440014" y="3863541"/>
            <a:ext cx="1188695" cy="497041"/>
            <a:chOff x="8114150" y="4473535"/>
            <a:chExt cx="1188695" cy="497041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0ACD3661-7E2C-4F83-8B15-CD833BC82706}"/>
                </a:ext>
              </a:extLst>
            </p:cNvPr>
            <p:cNvSpPr/>
            <p:nvPr/>
          </p:nvSpPr>
          <p:spPr>
            <a:xfrm>
              <a:off x="8114150" y="4473535"/>
              <a:ext cx="1188695" cy="49704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비화재보 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안내방송 송출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879FDC36-9BD6-4D80-A56B-28C7E5F19FE8}"/>
                </a:ext>
              </a:extLst>
            </p:cNvPr>
            <p:cNvSpPr/>
            <p:nvPr/>
          </p:nvSpPr>
          <p:spPr>
            <a:xfrm>
              <a:off x="8119813" y="4475916"/>
              <a:ext cx="133551" cy="4922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0">
              <a:noFill/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방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재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실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3D846C1-1C6F-44F3-BDE3-E1AC92185A87}"/>
              </a:ext>
            </a:extLst>
          </p:cNvPr>
          <p:cNvGrpSpPr/>
          <p:nvPr/>
        </p:nvGrpSpPr>
        <p:grpSpPr>
          <a:xfrm>
            <a:off x="5440014" y="4484718"/>
            <a:ext cx="1188695" cy="464684"/>
            <a:chOff x="8114150" y="5070425"/>
            <a:chExt cx="1188695" cy="464684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BE9FE8A9-4AF9-4310-A269-E9CDA34C29E6}"/>
                </a:ext>
              </a:extLst>
            </p:cNvPr>
            <p:cNvSpPr/>
            <p:nvPr/>
          </p:nvSpPr>
          <p:spPr>
            <a:xfrm>
              <a:off x="8114150" y="5070425"/>
              <a:ext cx="1188695" cy="4646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none" lIns="72000" tIns="0" rIns="72000" bIns="18000" anchor="ctr" anchorCtr="0">
              <a:noAutofit/>
            </a:bodyPr>
            <a:lstStyle/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 대피 유도 중단 및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 비화재보 안내 </a:t>
              </a:r>
              <a:r>
                <a:rPr lang="en-US" altLang="ko-KR" sz="9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 </a:t>
              </a: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D9E5DE8-F974-4490-9B90-FF74337E7A22}"/>
                </a:ext>
              </a:extLst>
            </p:cNvPr>
            <p:cNvSpPr/>
            <p:nvPr/>
          </p:nvSpPr>
          <p:spPr>
            <a:xfrm>
              <a:off x="8122914" y="5076456"/>
              <a:ext cx="129683" cy="4552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0">
              <a:noFill/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출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동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조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2D672904-CA92-46DD-96D1-B5011EB7C552}"/>
              </a:ext>
            </a:extLst>
          </p:cNvPr>
          <p:cNvGrpSpPr/>
          <p:nvPr/>
        </p:nvGrpSpPr>
        <p:grpSpPr>
          <a:xfrm>
            <a:off x="5440273" y="5067590"/>
            <a:ext cx="1180209" cy="619505"/>
            <a:chOff x="8114409" y="5737460"/>
            <a:chExt cx="1180209" cy="475494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CA367A78-D322-428E-9DEF-0471DD18AF02}"/>
                </a:ext>
              </a:extLst>
            </p:cNvPr>
            <p:cNvSpPr/>
            <p:nvPr/>
          </p:nvSpPr>
          <p:spPr>
            <a:xfrm>
              <a:off x="8114409" y="5737460"/>
              <a:ext cx="1180209" cy="46973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none" lIns="72000" tIns="18000" rIns="72000" bIns="18000" anchor="ctr" anchorCtr="0">
              <a:noAutofit/>
            </a:bodyPr>
            <a:lstStyle/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    원인파악 및  </a:t>
              </a:r>
              <a:br>
                <a:rPr lang="en-US" altLang="ko-KR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</a:b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소방시설 복구</a:t>
              </a:r>
              <a:r>
                <a:rPr lang="en-US" altLang="ko-KR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/</a:t>
              </a:r>
              <a:br>
                <a:rPr lang="en-US" altLang="ko-KR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</a:b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불편접수</a:t>
              </a:r>
              <a:r>
                <a:rPr lang="en-US" altLang="ko-KR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</a:t>
              </a: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및</a:t>
              </a:r>
              <a:r>
                <a:rPr lang="en-US" altLang="ko-KR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</a:t>
              </a:r>
              <a:r>
                <a:rPr lang="ko-KR" altLang="en-US" sz="105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처리</a:t>
              </a:r>
              <a:endPara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AE11B8BC-1C6D-4F1C-A027-EB402884B2B1}"/>
                </a:ext>
              </a:extLst>
            </p:cNvPr>
            <p:cNvSpPr/>
            <p:nvPr/>
          </p:nvSpPr>
          <p:spPr>
            <a:xfrm>
              <a:off x="8116531" y="5743220"/>
              <a:ext cx="133551" cy="4697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0">
              <a:noFill/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공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  <a:p>
              <a:pPr marL="228600" indent="-228600" algn="ctr"/>
              <a:r>
                <a:rPr lang="ko-KR" altLang="en-US" sz="800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통</a:t>
              </a:r>
              <a:endParaRPr lang="en-US" altLang="ko-KR" sz="8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</p:grpSp>
      <p:sp>
        <p:nvSpPr>
          <p:cNvPr id="144" name="이등변 삼각형 143">
            <a:extLst>
              <a:ext uri="{FF2B5EF4-FFF2-40B4-BE49-F238E27FC236}">
                <a16:creationId xmlns:a16="http://schemas.microsoft.com/office/drawing/2014/main" id="{C4EE8B14-C9A0-4DB9-88BB-137ABBA4AC03}"/>
              </a:ext>
            </a:extLst>
          </p:cNvPr>
          <p:cNvSpPr/>
          <p:nvPr/>
        </p:nvSpPr>
        <p:spPr>
          <a:xfrm rot="10800000">
            <a:off x="5958613" y="3770087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45" name="이등변 삼각형 144">
            <a:extLst>
              <a:ext uri="{FF2B5EF4-FFF2-40B4-BE49-F238E27FC236}">
                <a16:creationId xmlns:a16="http://schemas.microsoft.com/office/drawing/2014/main" id="{D989F64C-6508-45F3-9FBE-308E87177DC3}"/>
              </a:ext>
            </a:extLst>
          </p:cNvPr>
          <p:cNvSpPr/>
          <p:nvPr/>
        </p:nvSpPr>
        <p:spPr>
          <a:xfrm rot="10800000">
            <a:off x="5958613" y="4390535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46" name="이등변 삼각형 145">
            <a:extLst>
              <a:ext uri="{FF2B5EF4-FFF2-40B4-BE49-F238E27FC236}">
                <a16:creationId xmlns:a16="http://schemas.microsoft.com/office/drawing/2014/main" id="{0F02DA29-6F1B-476C-93B1-C53F7A1C00B2}"/>
              </a:ext>
            </a:extLst>
          </p:cNvPr>
          <p:cNvSpPr/>
          <p:nvPr/>
        </p:nvSpPr>
        <p:spPr>
          <a:xfrm rot="10800000">
            <a:off x="5958613" y="4965532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47" name="이등변 삼각형 146">
            <a:extLst>
              <a:ext uri="{FF2B5EF4-FFF2-40B4-BE49-F238E27FC236}">
                <a16:creationId xmlns:a16="http://schemas.microsoft.com/office/drawing/2014/main" id="{F9590DF1-4C44-4C67-A652-A1BA8DB71C7A}"/>
              </a:ext>
            </a:extLst>
          </p:cNvPr>
          <p:cNvSpPr/>
          <p:nvPr/>
        </p:nvSpPr>
        <p:spPr>
          <a:xfrm rot="10800000">
            <a:off x="5967118" y="3171631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01DA6288-8533-456D-A70A-E81F3B4E5F60}"/>
              </a:ext>
            </a:extLst>
          </p:cNvPr>
          <p:cNvSpPr/>
          <p:nvPr/>
        </p:nvSpPr>
        <p:spPr>
          <a:xfrm>
            <a:off x="5537818" y="2858270"/>
            <a:ext cx="970190" cy="29603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비화재</a:t>
            </a:r>
            <a:endParaRPr lang="en-US" altLang="ko-KR" sz="11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pic>
        <p:nvPicPr>
          <p:cNvPr id="152" name="Picture 8">
            <a:extLst>
              <a:ext uri="{FF2B5EF4-FFF2-40B4-BE49-F238E27FC236}">
                <a16:creationId xmlns:a16="http://schemas.microsoft.com/office/drawing/2014/main" id="{B502CCF8-BF0A-47D3-A444-DA0D1F443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9005" y="2808034"/>
            <a:ext cx="190002" cy="2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5E72014-11B7-48FC-B089-32F48C451DC6}"/>
              </a:ext>
            </a:extLst>
          </p:cNvPr>
          <p:cNvSpPr/>
          <p:nvPr/>
        </p:nvSpPr>
        <p:spPr>
          <a:xfrm>
            <a:off x="1741658" y="1566690"/>
            <a:ext cx="129600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현장 출동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73CB5D13-90A4-4602-9935-9C8BE5B245F2}"/>
              </a:ext>
            </a:extLst>
          </p:cNvPr>
          <p:cNvSpPr/>
          <p:nvPr/>
        </p:nvSpPr>
        <p:spPr>
          <a:xfrm>
            <a:off x="1741658" y="1053325"/>
            <a:ext cx="1296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100" b="1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화재 신호 감지</a:t>
            </a:r>
            <a:endParaRPr lang="en-US" altLang="ko-KR" sz="1100" b="1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40D795BE-A602-45A1-AA1B-E46B8BB35EF2}"/>
              </a:ext>
            </a:extLst>
          </p:cNvPr>
          <p:cNvGrpSpPr/>
          <p:nvPr/>
        </p:nvGrpSpPr>
        <p:grpSpPr>
          <a:xfrm>
            <a:off x="1787015" y="2750671"/>
            <a:ext cx="1289257" cy="396000"/>
            <a:chOff x="5133440" y="3271645"/>
            <a:chExt cx="1199191" cy="396000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355494CF-D992-4166-94F0-A4B677DDBEF5}"/>
                </a:ext>
              </a:extLst>
            </p:cNvPr>
            <p:cNvSpPr/>
            <p:nvPr/>
          </p:nvSpPr>
          <p:spPr>
            <a:xfrm>
              <a:off x="5133440" y="3271645"/>
              <a:ext cx="1199191" cy="396000"/>
            </a:xfrm>
            <a:prstGeom prst="rect">
              <a:avLst/>
            </a:prstGeom>
            <a:solidFill>
              <a:srgbClr val="CC0066"/>
            </a:solidFill>
            <a:ln w="63500">
              <a:noFill/>
            </a:ln>
          </p:spPr>
          <p:txBody>
            <a:bodyPr wrap="square" lIns="72000" tIns="18000" rIns="72000" bIns="18000" anchor="ctr" anchorCtr="0">
              <a:noAutofit/>
            </a:bodyPr>
            <a:lstStyle/>
            <a:p>
              <a:pPr marL="228600" indent="-228600" algn="ctr">
                <a:lnSpc>
                  <a:spcPct val="120000"/>
                </a:lnSpc>
              </a:pPr>
              <a:r>
                <a:rPr lang="ko-KR" altLang="en-US" sz="1200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     </a:t>
              </a:r>
              <a:r>
                <a:rPr lang="ko-KR" altLang="en-US" sz="1200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조선일보명조" pitchFamily="18" charset="-127"/>
                </a:rPr>
                <a:t>화재 발생</a:t>
              </a:r>
              <a:endParaRPr lang="en-US" altLang="ko-KR" sz="12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endParaRPr>
            </a:p>
          </p:txBody>
        </p:sp>
        <p:pic>
          <p:nvPicPr>
            <p:cNvPr id="160" name="Picture 8">
              <a:extLst>
                <a:ext uri="{FF2B5EF4-FFF2-40B4-BE49-F238E27FC236}">
                  <a16:creationId xmlns:a16="http://schemas.microsoft.com/office/drawing/2014/main" id="{E3939319-554C-4717-B16C-1032994C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84534" y="3342294"/>
              <a:ext cx="176729" cy="23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FC92399-C0B9-4530-BE07-B49D3EF83263}"/>
              </a:ext>
            </a:extLst>
          </p:cNvPr>
          <p:cNvSpPr/>
          <p:nvPr/>
        </p:nvSpPr>
        <p:spPr>
          <a:xfrm>
            <a:off x="312989" y="3619071"/>
            <a:ext cx="1188000" cy="4580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비상 안내방송 송출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비상 연락망 가동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1234E68C-3609-4C94-B6F4-173F034AD0F6}"/>
              </a:ext>
            </a:extLst>
          </p:cNvPr>
          <p:cNvSpPr/>
          <p:nvPr/>
        </p:nvSpPr>
        <p:spPr>
          <a:xfrm>
            <a:off x="312989" y="4291026"/>
            <a:ext cx="1188000" cy="25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소방서 신고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990C92CC-65B7-4DD0-90FA-5FA7EE2C2787}"/>
              </a:ext>
            </a:extLst>
          </p:cNvPr>
          <p:cNvSpPr/>
          <p:nvPr/>
        </p:nvSpPr>
        <p:spPr>
          <a:xfrm>
            <a:off x="1819493" y="3662247"/>
            <a:ext cx="1202321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상황보고</a:t>
            </a:r>
            <a:r>
              <a: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/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현장 통제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E1EA8DF2-86CB-418E-854D-0EB70F2BC12D}"/>
              </a:ext>
            </a:extLst>
          </p:cNvPr>
          <p:cNvSpPr/>
          <p:nvPr/>
        </p:nvSpPr>
        <p:spPr>
          <a:xfrm>
            <a:off x="312989" y="5489473"/>
            <a:ext cx="1188000" cy="25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설비 확인 및 제어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2236D8-8B47-456C-87D4-A922508EC529}"/>
              </a:ext>
            </a:extLst>
          </p:cNvPr>
          <p:cNvSpPr/>
          <p:nvPr/>
        </p:nvSpPr>
        <p:spPr>
          <a:xfrm>
            <a:off x="312989" y="4767126"/>
            <a:ext cx="1188000" cy="5331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통합운영센터</a:t>
            </a:r>
            <a:r>
              <a:rPr lang="en-US" altLang="ko-KR" sz="105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 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및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승강기 업체 신고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67" name="이등변 삼각형 166">
            <a:extLst>
              <a:ext uri="{FF2B5EF4-FFF2-40B4-BE49-F238E27FC236}">
                <a16:creationId xmlns:a16="http://schemas.microsoft.com/office/drawing/2014/main" id="{BF9D5929-54EF-4BC0-8DBB-419DBB70C809}"/>
              </a:ext>
            </a:extLst>
          </p:cNvPr>
          <p:cNvSpPr/>
          <p:nvPr/>
        </p:nvSpPr>
        <p:spPr>
          <a:xfrm rot="10800000">
            <a:off x="843990" y="4175585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68" name="이등변 삼각형 167">
            <a:extLst>
              <a:ext uri="{FF2B5EF4-FFF2-40B4-BE49-F238E27FC236}">
                <a16:creationId xmlns:a16="http://schemas.microsoft.com/office/drawing/2014/main" id="{843CA665-17CE-48B8-BFF9-44D6A0A3BBC0}"/>
              </a:ext>
            </a:extLst>
          </p:cNvPr>
          <p:cNvSpPr/>
          <p:nvPr/>
        </p:nvSpPr>
        <p:spPr>
          <a:xfrm rot="10800000">
            <a:off x="843990" y="4627801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559D2C01-DF77-4801-A72D-E3FC5AFF1D2F}"/>
              </a:ext>
            </a:extLst>
          </p:cNvPr>
          <p:cNvSpPr/>
          <p:nvPr/>
        </p:nvSpPr>
        <p:spPr>
          <a:xfrm rot="10800000">
            <a:off x="843989" y="5389811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C2B7ABCB-848D-43EC-BA53-BA2029AC33D5}"/>
              </a:ext>
            </a:extLst>
          </p:cNvPr>
          <p:cNvSpPr/>
          <p:nvPr/>
        </p:nvSpPr>
        <p:spPr>
          <a:xfrm rot="10800000">
            <a:off x="3764689" y="4328856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23E8151B-FF25-4DD3-8F35-0D4CB6A8D24E}"/>
              </a:ext>
            </a:extLst>
          </p:cNvPr>
          <p:cNvSpPr/>
          <p:nvPr/>
        </p:nvSpPr>
        <p:spPr>
          <a:xfrm>
            <a:off x="305176" y="3365319"/>
            <a:ext cx="1188695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>
            <a:noFill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b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방재실</a:t>
            </a:r>
            <a:endParaRPr lang="en-US" altLang="ko-KR" sz="1050" b="1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672F5363-ABF0-4ED7-B63A-3B5FEBF41932}"/>
              </a:ext>
            </a:extLst>
          </p:cNvPr>
          <p:cNvSpPr/>
          <p:nvPr/>
        </p:nvSpPr>
        <p:spPr>
          <a:xfrm>
            <a:off x="3213828" y="5531710"/>
            <a:ext cx="1181910" cy="50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화재 진압 지원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  <a:p>
            <a:pPr marL="228600" indent="-228600" algn="ctr">
              <a:lnSpc>
                <a:spcPct val="120000"/>
              </a:lnSpc>
            </a:pPr>
            <a:r>
              <a:rPr lang="en-US" altLang="ko-KR" sz="9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(</a:t>
            </a:r>
            <a:r>
              <a:rPr lang="ko-KR" altLang="en-US" sz="9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소방서 </a:t>
            </a:r>
            <a:r>
              <a:rPr lang="en-US" altLang="ko-KR" sz="9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&amp; </a:t>
            </a:r>
            <a:r>
              <a:rPr lang="ko-KR" altLang="en-US" sz="90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자체진화조</a:t>
            </a:r>
            <a:r>
              <a:rPr lang="en-US" altLang="ko-KR" sz="9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)</a:t>
            </a:r>
          </a:p>
        </p:txBody>
      </p:sp>
      <p:sp>
        <p:nvSpPr>
          <p:cNvPr id="173" name="이등변 삼각형 172">
            <a:extLst>
              <a:ext uri="{FF2B5EF4-FFF2-40B4-BE49-F238E27FC236}">
                <a16:creationId xmlns:a16="http://schemas.microsoft.com/office/drawing/2014/main" id="{F8D6E8AB-B368-48A8-A4E6-0C1B94B7DDAC}"/>
              </a:ext>
            </a:extLst>
          </p:cNvPr>
          <p:cNvSpPr/>
          <p:nvPr/>
        </p:nvSpPr>
        <p:spPr>
          <a:xfrm rot="10800000">
            <a:off x="3758933" y="5412190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4919D902-7D68-430C-9BC2-BE0A68D5EE9F}"/>
              </a:ext>
            </a:extLst>
          </p:cNvPr>
          <p:cNvSpPr/>
          <p:nvPr/>
        </p:nvSpPr>
        <p:spPr>
          <a:xfrm>
            <a:off x="3213827" y="4426132"/>
            <a:ext cx="1192499" cy="2536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응급 구호활동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75" name="이등변 삼각형 174">
            <a:extLst>
              <a:ext uri="{FF2B5EF4-FFF2-40B4-BE49-F238E27FC236}">
                <a16:creationId xmlns:a16="http://schemas.microsoft.com/office/drawing/2014/main" id="{61F0267A-4CAC-4754-8FF8-619B67BC917F}"/>
              </a:ext>
            </a:extLst>
          </p:cNvPr>
          <p:cNvSpPr/>
          <p:nvPr/>
        </p:nvSpPr>
        <p:spPr>
          <a:xfrm rot="10800000">
            <a:off x="3746949" y="4740410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BF62DDB7-5144-481C-A326-26ED8610B642}"/>
              </a:ext>
            </a:extLst>
          </p:cNvPr>
          <p:cNvSpPr/>
          <p:nvPr/>
        </p:nvSpPr>
        <p:spPr>
          <a:xfrm>
            <a:off x="3213827" y="4841010"/>
            <a:ext cx="1192499" cy="50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중요 물품 반출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대피 유도 활동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cxnSp>
        <p:nvCxnSpPr>
          <p:cNvPr id="177" name="꺾인 연결선 121">
            <a:extLst>
              <a:ext uri="{FF2B5EF4-FFF2-40B4-BE49-F238E27FC236}">
                <a16:creationId xmlns:a16="http://schemas.microsoft.com/office/drawing/2014/main" id="{33809BB5-F031-490F-9854-E2F24CAC485A}"/>
              </a:ext>
            </a:extLst>
          </p:cNvPr>
          <p:cNvCxnSpPr/>
          <p:nvPr/>
        </p:nvCxnSpPr>
        <p:spPr>
          <a:xfrm>
            <a:off x="2395320" y="3246205"/>
            <a:ext cx="818507" cy="131442"/>
          </a:xfrm>
          <a:prstGeom prst="bentConnector3">
            <a:avLst>
              <a:gd name="adj1" fmla="val 101204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이등변 삼각형 177">
            <a:extLst>
              <a:ext uri="{FF2B5EF4-FFF2-40B4-BE49-F238E27FC236}">
                <a16:creationId xmlns:a16="http://schemas.microsoft.com/office/drawing/2014/main" id="{0EDD136B-0E87-467B-9466-9C2B2381515C}"/>
              </a:ext>
            </a:extLst>
          </p:cNvPr>
          <p:cNvSpPr/>
          <p:nvPr/>
        </p:nvSpPr>
        <p:spPr>
          <a:xfrm rot="10800000">
            <a:off x="2351971" y="3984816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3E7AE44-C6D3-4929-9FF2-19F043B62CB0}"/>
              </a:ext>
            </a:extLst>
          </p:cNvPr>
          <p:cNvSpPr/>
          <p:nvPr/>
        </p:nvSpPr>
        <p:spPr>
          <a:xfrm>
            <a:off x="1816505" y="5476319"/>
            <a:ext cx="1205309" cy="2439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화재 진압</a:t>
            </a:r>
            <a:r>
              <a: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(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자체</a:t>
            </a:r>
            <a:r>
              <a: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)</a:t>
            </a:r>
          </a:p>
        </p:txBody>
      </p:sp>
      <p:sp>
        <p:nvSpPr>
          <p:cNvPr id="180" name="이등변 삼각형 179">
            <a:extLst>
              <a:ext uri="{FF2B5EF4-FFF2-40B4-BE49-F238E27FC236}">
                <a16:creationId xmlns:a16="http://schemas.microsoft.com/office/drawing/2014/main" id="{085EDBC6-B69D-4555-A347-66388452261B}"/>
              </a:ext>
            </a:extLst>
          </p:cNvPr>
          <p:cNvSpPr/>
          <p:nvPr/>
        </p:nvSpPr>
        <p:spPr>
          <a:xfrm rot="10800000">
            <a:off x="2346215" y="5213984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C4A2372A-8D61-4840-A8AA-A5AC0CB79E45}"/>
              </a:ext>
            </a:extLst>
          </p:cNvPr>
          <p:cNvSpPr/>
          <p:nvPr/>
        </p:nvSpPr>
        <p:spPr>
          <a:xfrm>
            <a:off x="1819493" y="4091617"/>
            <a:ext cx="1192639" cy="2536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초기 진화 출동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82" name="이등변 삼각형 181">
            <a:extLst>
              <a:ext uri="{FF2B5EF4-FFF2-40B4-BE49-F238E27FC236}">
                <a16:creationId xmlns:a16="http://schemas.microsoft.com/office/drawing/2014/main" id="{1F1FC05B-C05E-4726-A00C-619E73CAF6FF}"/>
              </a:ext>
            </a:extLst>
          </p:cNvPr>
          <p:cNvSpPr/>
          <p:nvPr/>
        </p:nvSpPr>
        <p:spPr>
          <a:xfrm rot="10800000">
            <a:off x="2334231" y="4424945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DDC826C-DC44-4730-9039-EEA692B45E3A}"/>
              </a:ext>
            </a:extLst>
          </p:cNvPr>
          <p:cNvSpPr/>
          <p:nvPr/>
        </p:nvSpPr>
        <p:spPr>
          <a:xfrm>
            <a:off x="1816505" y="4554120"/>
            <a:ext cx="1195627" cy="50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소화기</a:t>
            </a:r>
            <a:r>
              <a:rPr lang="en-US" altLang="ko-KR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,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소화전 사용 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소화 활동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cxnSp>
        <p:nvCxnSpPr>
          <p:cNvPr id="185" name="꺾인 연결선 163">
            <a:extLst>
              <a:ext uri="{FF2B5EF4-FFF2-40B4-BE49-F238E27FC236}">
                <a16:creationId xmlns:a16="http://schemas.microsoft.com/office/drawing/2014/main" id="{F72DBD05-DFAE-4228-AC50-906B7087E471}"/>
              </a:ext>
            </a:extLst>
          </p:cNvPr>
          <p:cNvCxnSpPr>
            <a:endCxn id="171" idx="0"/>
          </p:cNvCxnSpPr>
          <p:nvPr/>
        </p:nvCxnSpPr>
        <p:spPr>
          <a:xfrm rot="10800000" flipV="1">
            <a:off x="899524" y="3246205"/>
            <a:ext cx="1495796" cy="11911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7BBC67E-2361-4CB0-8B14-EB9785ECA7A7}"/>
              </a:ext>
            </a:extLst>
          </p:cNvPr>
          <p:cNvSpPr/>
          <p:nvPr/>
        </p:nvSpPr>
        <p:spPr>
          <a:xfrm>
            <a:off x="1819494" y="3365319"/>
            <a:ext cx="2586832" cy="2417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>
            <a:noFill/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현장 </a:t>
            </a:r>
            <a:r>
              <a:rPr lang="ko-KR" altLang="en-US" sz="1050" b="1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대응반</a:t>
            </a:r>
            <a:endParaRPr lang="en-US" altLang="ko-KR" sz="1050" b="1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FD119F73-F1F6-4174-946B-308AB5E6A49D}"/>
              </a:ext>
            </a:extLst>
          </p:cNvPr>
          <p:cNvSpPr/>
          <p:nvPr/>
        </p:nvSpPr>
        <p:spPr>
          <a:xfrm>
            <a:off x="3218326" y="3653750"/>
            <a:ext cx="1188000" cy="2536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비상대피로확보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88" name="이등변 삼각형 187">
            <a:extLst>
              <a:ext uri="{FF2B5EF4-FFF2-40B4-BE49-F238E27FC236}">
                <a16:creationId xmlns:a16="http://schemas.microsoft.com/office/drawing/2014/main" id="{F743A726-D507-4540-A96C-6D16EAF44F1C}"/>
              </a:ext>
            </a:extLst>
          </p:cNvPr>
          <p:cNvSpPr/>
          <p:nvPr/>
        </p:nvSpPr>
        <p:spPr>
          <a:xfrm rot="10800000">
            <a:off x="3752288" y="3952049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D9A7081-C204-4FCD-9CDC-43DEE0CA405A}"/>
              </a:ext>
            </a:extLst>
          </p:cNvPr>
          <p:cNvSpPr/>
          <p:nvPr/>
        </p:nvSpPr>
        <p:spPr>
          <a:xfrm>
            <a:off x="3218326" y="4042361"/>
            <a:ext cx="1188000" cy="2536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층별 비상대피유도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A2AE28BF-610B-4362-9D82-AE6ED9ED68A4}"/>
              </a:ext>
            </a:extLst>
          </p:cNvPr>
          <p:cNvCxnSpPr/>
          <p:nvPr/>
        </p:nvCxnSpPr>
        <p:spPr>
          <a:xfrm>
            <a:off x="2402525" y="3159129"/>
            <a:ext cx="0" cy="117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D2CB229-7759-46A6-8677-249E0C5AC393}"/>
              </a:ext>
            </a:extLst>
          </p:cNvPr>
          <p:cNvSpPr/>
          <p:nvPr/>
        </p:nvSpPr>
        <p:spPr>
          <a:xfrm>
            <a:off x="312989" y="5874131"/>
            <a:ext cx="1188000" cy="25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72000" tIns="18000" rIns="72000" bIns="18000" anchor="ctr" anchorCtr="0">
            <a:noAutofit/>
          </a:bodyPr>
          <a:lstStyle/>
          <a:p>
            <a:pPr marL="228600" indent="-228600" algn="ctr">
              <a:lnSpc>
                <a:spcPct val="120000"/>
              </a:lnSpc>
            </a:pPr>
            <a:r>
              <a:rPr lang="ko-KR" altLang="en-US" sz="105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통합운영센터 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조선일보명조" pitchFamily="18" charset="-127"/>
              </a:rPr>
              <a:t>보고</a:t>
            </a:r>
            <a:endParaRPr lang="en-US" altLang="ko-KR" sz="105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LG스마트체 Regular" panose="020B0600000101010101" pitchFamily="50" charset="-127"/>
              <a:ea typeface="LG스마트체 Regular" panose="020B0600000101010101" pitchFamily="50" charset="-127"/>
              <a:cs typeface="조선일보명조" pitchFamily="18" charset="-127"/>
            </a:endParaRPr>
          </a:p>
        </p:txBody>
      </p:sp>
      <p:sp>
        <p:nvSpPr>
          <p:cNvPr id="192" name="이등변 삼각형 191">
            <a:extLst>
              <a:ext uri="{FF2B5EF4-FFF2-40B4-BE49-F238E27FC236}">
                <a16:creationId xmlns:a16="http://schemas.microsoft.com/office/drawing/2014/main" id="{A3449779-DA86-4187-8890-25AA4DD36F07}"/>
              </a:ext>
            </a:extLst>
          </p:cNvPr>
          <p:cNvSpPr/>
          <p:nvPr/>
        </p:nvSpPr>
        <p:spPr>
          <a:xfrm rot="10800000">
            <a:off x="843989" y="5792757"/>
            <a:ext cx="126000" cy="72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white"/>
              </a:solidFill>
              <a:latin typeface="Calibri"/>
              <a:ea typeface="LG스마트체 Regular"/>
            </a:endParaRPr>
          </a:p>
        </p:txBody>
      </p: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91369DA8-9269-4E7E-A9F7-026886B71561}"/>
              </a:ext>
            </a:extLst>
          </p:cNvPr>
          <p:cNvCxnSpPr>
            <a:cxnSpLocks/>
            <a:stCxn id="155" idx="2"/>
            <a:endCxn id="153" idx="0"/>
          </p:cNvCxnSpPr>
          <p:nvPr/>
        </p:nvCxnSpPr>
        <p:spPr>
          <a:xfrm>
            <a:off x="2389658" y="1341325"/>
            <a:ext cx="0" cy="225365"/>
          </a:xfrm>
          <a:prstGeom prst="straightConnector1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66E83F-DAC8-4C04-B281-73C8C4FAFE4D}"/>
              </a:ext>
            </a:extLst>
          </p:cNvPr>
          <p:cNvSpPr/>
          <p:nvPr/>
        </p:nvSpPr>
        <p:spPr>
          <a:xfrm>
            <a:off x="4406326" y="-93053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데이터센터의 </a:t>
            </a:r>
            <a:r>
              <a:rPr lang="en-US" altLang="ko-KR" dirty="0"/>
              <a:t>ESS </a:t>
            </a:r>
            <a:r>
              <a:rPr lang="ko-KR" altLang="en-US" dirty="0"/>
              <a:t>장치 화재 또한 배터리가 완전히 연소할 때까지 열을 낮추면서 </a:t>
            </a:r>
            <a:r>
              <a:rPr lang="ko-KR" altLang="en-US" dirty="0" err="1"/>
              <a:t>열폭주</a:t>
            </a:r>
            <a:r>
              <a:rPr lang="ko-KR" altLang="en-US" dirty="0"/>
              <a:t> 현상이 일어나지 않도록 관리하며 완전 연소를 기다리는 것</a:t>
            </a:r>
          </a:p>
        </p:txBody>
      </p:sp>
    </p:spTree>
    <p:extLst>
      <p:ext uri="{BB962C8B-B14F-4D97-AF65-F5344CB8AC3E}">
        <p14:creationId xmlns:p14="http://schemas.microsoft.com/office/powerpoint/2010/main" val="9672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7974</TotalTime>
  <Words>1049</Words>
  <Application>Microsoft Office PowerPoint</Application>
  <PresentationFormat>A4 용지(210x297mm)</PresentationFormat>
  <Paragraphs>200</Paragraphs>
  <Slides>9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2" baseType="lpstr">
      <vt:lpstr>LG스마트체 Light</vt:lpstr>
      <vt:lpstr>LG스마트체 Regular</vt:lpstr>
      <vt:lpstr>LG스마트체 SemiBold</vt:lpstr>
      <vt:lpstr>나눔바른고딕</vt:lpstr>
      <vt:lpstr>맑은 고딕</vt:lpstr>
      <vt:lpstr>조선일보명조</vt:lpstr>
      <vt:lpstr>Arial</vt:lpstr>
      <vt:lpstr>Arial Narrow</vt:lpstr>
      <vt:lpstr>Calibri</vt:lpstr>
      <vt:lpstr>Calibri Light</vt:lpstr>
      <vt:lpstr>Wingdings</vt:lpstr>
      <vt:lpstr>Office 테마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조미애 </dc:creator>
  <cp:lastModifiedBy>Ucjh</cp:lastModifiedBy>
  <cp:revision>436</cp:revision>
  <cp:lastPrinted>2022-11-22T00:37:03Z</cp:lastPrinted>
  <dcterms:created xsi:type="dcterms:W3CDTF">2022-06-15T23:56:35Z</dcterms:created>
  <dcterms:modified xsi:type="dcterms:W3CDTF">2023-01-09T08:11:27Z</dcterms:modified>
</cp:coreProperties>
</file>