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74" r:id="rId3"/>
    <p:sldId id="263" r:id="rId4"/>
    <p:sldId id="272" r:id="rId5"/>
    <p:sldId id="277" r:id="rId6"/>
    <p:sldId id="278" r:id="rId7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308" userDrawn="1">
          <p15:clr>
            <a:srgbClr val="A4A3A4"/>
          </p15:clr>
        </p15:guide>
        <p15:guide id="4" pos="398" userDrawn="1">
          <p15:clr>
            <a:srgbClr val="A4A3A4"/>
          </p15:clr>
        </p15:guide>
        <p15:guide id="5" pos="1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E5E"/>
    <a:srgbClr val="EFF1F5"/>
    <a:srgbClr val="69809F"/>
    <a:srgbClr val="F0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4625" autoAdjust="0"/>
  </p:normalViewPr>
  <p:slideViewPr>
    <p:cSldViewPr snapToGrid="0">
      <p:cViewPr varScale="1">
        <p:scale>
          <a:sx n="109" d="100"/>
          <a:sy n="109" d="100"/>
        </p:scale>
        <p:origin x="1704" y="114"/>
      </p:cViewPr>
      <p:guideLst>
        <p:guide orient="horz" pos="2160"/>
        <p:guide pos="3120"/>
        <p:guide pos="308"/>
        <p:guide pos="398"/>
        <p:guide pos="14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C0B2D-7CC6-4DD1-9E85-D6335CE662F2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04D3D-BACA-405C-9829-D831E3ECB8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719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726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04D3D-BACA-405C-9829-D831E3ECB8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056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31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84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039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46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09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755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252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40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93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96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A0C25-1B6F-47BB-8135-C607813A3A4A}" type="datetimeFigureOut">
              <a:rPr lang="ko-KR" altLang="en-US" smtClean="0"/>
              <a:t>22-12-08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EFA8C-9B6C-4D15-BCC0-2824D685C9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41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9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자유형: 도형 33">
            <a:extLst>
              <a:ext uri="{FF2B5EF4-FFF2-40B4-BE49-F238E27FC236}">
                <a16:creationId xmlns:a16="http://schemas.microsoft.com/office/drawing/2014/main" id="{8CABE9D1-49D7-42F1-ADC6-E1B638434FE2}"/>
              </a:ext>
            </a:extLst>
          </p:cNvPr>
          <p:cNvSpPr/>
          <p:nvPr/>
        </p:nvSpPr>
        <p:spPr>
          <a:xfrm flipV="1">
            <a:off x="3464253" y="5663381"/>
            <a:ext cx="1970116" cy="156118"/>
          </a:xfrm>
          <a:custGeom>
            <a:avLst/>
            <a:gdLst>
              <a:gd name="connsiteX0" fmla="*/ 0 w 792480"/>
              <a:gd name="connsiteY0" fmla="*/ 0 h 152400"/>
              <a:gd name="connsiteX1" fmla="*/ 0 w 792480"/>
              <a:gd name="connsiteY1" fmla="*/ 152400 h 152400"/>
              <a:gd name="connsiteX2" fmla="*/ 792480 w 792480"/>
              <a:gd name="connsiteY2" fmla="*/ 152400 h 152400"/>
              <a:gd name="connsiteX3" fmla="*/ 792480 w 792480"/>
              <a:gd name="connsiteY3" fmla="*/ 762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2480" h="152400">
                <a:moveTo>
                  <a:pt x="0" y="0"/>
                </a:moveTo>
                <a:lnTo>
                  <a:pt x="0" y="152400"/>
                </a:lnTo>
                <a:lnTo>
                  <a:pt x="792480" y="152400"/>
                </a:lnTo>
                <a:lnTo>
                  <a:pt x="792480" y="7620"/>
                </a:lnTo>
              </a:path>
            </a:pathLst>
          </a:custGeom>
          <a:noFill/>
          <a:ln w="12700">
            <a:solidFill>
              <a:schemeClr val="accent4">
                <a:lumMod val="50000"/>
              </a:schemeClr>
            </a:solidFill>
            <a:prstDash val="sysDash"/>
            <a:tailEnd type="none"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54700" y="612759"/>
            <a:ext cx="953136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200"/>
              </a:spcAft>
            </a:pP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內 조리기구 화재와 관련한 고객 </a:t>
            </a:r>
            <a:r>
              <a:rPr lang="en-US" altLang="ko-KR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 Point</a:t>
            </a:r>
            <a:r>
              <a:rPr lang="ko-KR" altLang="en-US" sz="14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개선하고 시설물의 안전 향상을 위한 서비스를 제안함</a:t>
            </a:r>
            <a:endParaRPr lang="en-US" altLang="ko-KR" sz="14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43179" y="1491356"/>
            <a:ext cx="2466278" cy="259843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조리기구 화재 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Point</a:t>
            </a:r>
            <a:endParaRPr lang="ko-KR" altLang="en-US" sz="1100" b="1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81695" y="1836360"/>
            <a:ext cx="4505184" cy="90024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식용류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등 기름을 사용하는 조리기구는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발연점을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넘으면 자연 발화되어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</a:t>
            </a:r>
            <a:b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위험이 상존함에도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대부분 경험과 감각에 의존하여 조리 기구 온도가 관리됨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4400" latinLnBrk="1"/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  <a:p>
            <a:pPr defTabSz="914400" latinLnBrk="1"/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-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소화 위주의 화재 대처로 인한 직접적인 피해보다 음식물 오염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주방 청소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b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</a:b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화재 원인 규명과 보고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소화 약제 재충전 등 후속 조치에 따른 간접 피해가 큼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2604" t="19065" r="95261" b="76604"/>
          <a:stretch/>
        </p:blipFill>
        <p:spPr>
          <a:xfrm>
            <a:off x="335323" y="1517152"/>
            <a:ext cx="199506" cy="232756"/>
          </a:xfrm>
          <a:prstGeom prst="rect">
            <a:avLst/>
          </a:prstGeom>
        </p:spPr>
      </p:pic>
      <p:sp>
        <p:nvSpPr>
          <p:cNvPr id="18" name="사각형: 둥근 모서리 161">
            <a:extLst>
              <a:ext uri="{FF2B5EF4-FFF2-40B4-BE49-F238E27FC236}">
                <a16:creationId xmlns:a16="http://schemas.microsoft.com/office/drawing/2014/main" id="{6E19D037-B450-42E8-A1F9-3A425FC82A24}"/>
              </a:ext>
            </a:extLst>
          </p:cNvPr>
          <p:cNvSpPr/>
          <p:nvPr/>
        </p:nvSpPr>
        <p:spPr>
          <a:xfrm flipH="1">
            <a:off x="389264" y="3682193"/>
            <a:ext cx="9217025" cy="1834453"/>
          </a:xfrm>
          <a:prstGeom prst="roundRect">
            <a:avLst>
              <a:gd name="adj" fmla="val 34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152400" dist="889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  <a:cs typeface="+mn-cs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D690776-AB6F-47E3-9A76-EA08D6C51782}"/>
              </a:ext>
            </a:extLst>
          </p:cNvPr>
          <p:cNvGrpSpPr/>
          <p:nvPr/>
        </p:nvGrpSpPr>
        <p:grpSpPr>
          <a:xfrm>
            <a:off x="392317" y="3299912"/>
            <a:ext cx="3759017" cy="292516"/>
            <a:chOff x="573784" y="2158310"/>
            <a:chExt cx="4615164" cy="359139"/>
          </a:xfrm>
        </p:grpSpPr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5B80F974-61DA-4B0C-81A1-C0D4CF521538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59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en-US" altLang="ko-KR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RMS x </a:t>
              </a:r>
              <a:r>
                <a:rPr lang="ko-KR" altLang="en-US" sz="11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㈜그립 주방 화재 예방 솔루션</a:t>
              </a:r>
            </a:p>
          </p:txBody>
        </p:sp>
        <p:grpSp>
          <p:nvGrpSpPr>
            <p:cNvPr id="21" name="Group 27">
              <a:extLst>
                <a:ext uri="{FF2B5EF4-FFF2-40B4-BE49-F238E27FC236}">
                  <a16:creationId xmlns:a16="http://schemas.microsoft.com/office/drawing/2014/main" id="{A14B6DBC-BCA7-49CA-AF08-47A70A841D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22" name="Freeform 28">
                <a:extLst>
                  <a:ext uri="{FF2B5EF4-FFF2-40B4-BE49-F238E27FC236}">
                    <a16:creationId xmlns:a16="http://schemas.microsoft.com/office/drawing/2014/main" id="{B4F97440-14AC-412A-AA0B-4A532BDE6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3" name="Freeform 29">
                <a:extLst>
                  <a:ext uri="{FF2B5EF4-FFF2-40B4-BE49-F238E27FC236}">
                    <a16:creationId xmlns:a16="http://schemas.microsoft.com/office/drawing/2014/main" id="{4BF8206D-CE93-48F4-A62E-FA1ACE235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 30">
                <a:extLst>
                  <a:ext uri="{FF2B5EF4-FFF2-40B4-BE49-F238E27FC236}">
                    <a16:creationId xmlns:a16="http://schemas.microsoft.com/office/drawing/2014/main" id="{9AD5ACCD-868B-4D48-94C1-B3981C751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732C85E5-DB30-420F-9F45-FA617E59B7A6}"/>
              </a:ext>
            </a:extLst>
          </p:cNvPr>
          <p:cNvGrpSpPr/>
          <p:nvPr/>
        </p:nvGrpSpPr>
        <p:grpSpPr>
          <a:xfrm>
            <a:off x="542842" y="3708318"/>
            <a:ext cx="2680921" cy="283347"/>
            <a:chOff x="3383406" y="4342029"/>
            <a:chExt cx="2703964" cy="28345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A1D4A9-ADFD-418E-9243-67E79881B479}"/>
                </a:ext>
              </a:extLst>
            </p:cNvPr>
            <p:cNvSpPr txBox="1"/>
            <p:nvPr/>
          </p:nvSpPr>
          <p:spPr>
            <a:xfrm>
              <a:off x="3502699" y="4342029"/>
              <a:ext cx="2584671" cy="28345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lvl="0">
                <a:lnSpc>
                  <a:spcPct val="130000"/>
                </a:lnSpc>
                <a:defRPr/>
              </a:pPr>
              <a:r>
                <a:rPr lang="ko-KR" altLang="en-US" sz="1050" b="1" dirty="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rPr>
                <a:t>운영 예상 시나리오</a:t>
              </a: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DBA7E4E1-3C74-422F-84ED-123C939570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83406" y="4437730"/>
              <a:ext cx="120319" cy="120320"/>
            </a:xfrm>
            <a:custGeom>
              <a:avLst/>
              <a:gdLst>
                <a:gd name="T0" fmla="*/ 50 w 61"/>
                <a:gd name="T1" fmla="*/ 0 h 61"/>
                <a:gd name="T2" fmla="*/ 11 w 61"/>
                <a:gd name="T3" fmla="*/ 0 h 61"/>
                <a:gd name="T4" fmla="*/ 0 w 61"/>
                <a:gd name="T5" fmla="*/ 11 h 61"/>
                <a:gd name="T6" fmla="*/ 0 w 61"/>
                <a:gd name="T7" fmla="*/ 50 h 61"/>
                <a:gd name="T8" fmla="*/ 11 w 61"/>
                <a:gd name="T9" fmla="*/ 61 h 61"/>
                <a:gd name="T10" fmla="*/ 50 w 61"/>
                <a:gd name="T11" fmla="*/ 61 h 61"/>
                <a:gd name="T12" fmla="*/ 61 w 61"/>
                <a:gd name="T13" fmla="*/ 50 h 61"/>
                <a:gd name="T14" fmla="*/ 61 w 61"/>
                <a:gd name="T15" fmla="*/ 11 h 61"/>
                <a:gd name="T16" fmla="*/ 50 w 61"/>
                <a:gd name="T17" fmla="*/ 0 h 61"/>
                <a:gd name="T18" fmla="*/ 25 w 61"/>
                <a:gd name="T19" fmla="*/ 51 h 61"/>
                <a:gd name="T20" fmla="*/ 19 w 61"/>
                <a:gd name="T21" fmla="*/ 45 h 61"/>
                <a:gd name="T22" fmla="*/ 34 w 61"/>
                <a:gd name="T23" fmla="*/ 30 h 61"/>
                <a:gd name="T24" fmla="*/ 19 w 61"/>
                <a:gd name="T25" fmla="*/ 16 h 61"/>
                <a:gd name="T26" fmla="*/ 25 w 61"/>
                <a:gd name="T27" fmla="*/ 9 h 61"/>
                <a:gd name="T28" fmla="*/ 46 w 61"/>
                <a:gd name="T29" fmla="*/ 30 h 61"/>
                <a:gd name="T30" fmla="*/ 25 w 61"/>
                <a:gd name="T31" fmla="*/ 5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1" h="61">
                  <a:moveTo>
                    <a:pt x="50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56"/>
                    <a:pt x="5" y="61"/>
                    <a:pt x="11" y="61"/>
                  </a:cubicBezTo>
                  <a:cubicBezTo>
                    <a:pt x="50" y="61"/>
                    <a:pt x="50" y="61"/>
                    <a:pt x="50" y="61"/>
                  </a:cubicBezTo>
                  <a:cubicBezTo>
                    <a:pt x="56" y="61"/>
                    <a:pt x="61" y="56"/>
                    <a:pt x="61" y="50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1" y="5"/>
                    <a:pt x="56" y="0"/>
                    <a:pt x="50" y="0"/>
                  </a:cubicBezTo>
                  <a:close/>
                  <a:moveTo>
                    <a:pt x="25" y="51"/>
                  </a:moveTo>
                  <a:cubicBezTo>
                    <a:pt x="19" y="45"/>
                    <a:pt x="19" y="45"/>
                    <a:pt x="19" y="45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46" y="30"/>
                    <a:pt x="46" y="30"/>
                    <a:pt x="46" y="30"/>
                  </a:cubicBezTo>
                  <a:lnTo>
                    <a:pt x="25" y="51"/>
                  </a:lnTo>
                  <a:close/>
                </a:path>
              </a:pathLst>
            </a:custGeom>
            <a:gradFill flip="none" rotWithShape="0">
              <a:gsLst>
                <a:gs pos="0">
                  <a:srgbClr val="242C38"/>
                </a:gs>
                <a:gs pos="100000">
                  <a:srgbClr val="404E62"/>
                </a:gs>
                <a:gs pos="50000">
                  <a:srgbClr val="404E62"/>
                </a:gs>
                <a:gs pos="45000">
                  <a:srgbClr val="242C38"/>
                </a:gs>
              </a:gsLst>
              <a:lin ang="13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1" i="0" u="none" strike="noStrike" kern="1200" cap="none" spc="-50" normalizeH="0" baseline="0" noProof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나눔바른고딕" panose="020B060302010102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45CB377-76BA-46F9-87DC-84E4F4B48D7F}"/>
              </a:ext>
            </a:extLst>
          </p:cNvPr>
          <p:cNvGrpSpPr/>
          <p:nvPr/>
        </p:nvGrpSpPr>
        <p:grpSpPr>
          <a:xfrm>
            <a:off x="335323" y="4232896"/>
            <a:ext cx="617635" cy="224626"/>
            <a:chOff x="3191893" y="6444349"/>
            <a:chExt cx="699876" cy="268425"/>
          </a:xfrm>
        </p:grpSpPr>
        <p:sp>
          <p:nvSpPr>
            <p:cNvPr id="29" name="이등변 삼각형 28">
              <a:extLst>
                <a:ext uri="{FF2B5EF4-FFF2-40B4-BE49-F238E27FC236}">
                  <a16:creationId xmlns:a16="http://schemas.microsoft.com/office/drawing/2014/main" id="{E825E747-74E3-4BA7-8119-8416C62C9663}"/>
                </a:ext>
              </a:extLst>
            </p:cNvPr>
            <p:cNvSpPr/>
            <p:nvPr/>
          </p:nvSpPr>
          <p:spPr>
            <a:xfrm rot="16200000">
              <a:off x="3194053" y="6643174"/>
              <a:ext cx="67574" cy="71625"/>
            </a:xfrm>
            <a:prstGeom prst="triangle">
              <a:avLst/>
            </a:prstGeom>
            <a:solidFill>
              <a:srgbClr val="333E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29DDE03-B3A2-4D55-AAAB-E1BCE199E92F}"/>
                </a:ext>
              </a:extLst>
            </p:cNvPr>
            <p:cNvSpPr/>
            <p:nvPr/>
          </p:nvSpPr>
          <p:spPr>
            <a:xfrm>
              <a:off x="3191893" y="6444349"/>
              <a:ext cx="699876" cy="234386"/>
            </a:xfrm>
            <a:prstGeom prst="rect">
              <a:avLst/>
            </a:prstGeom>
            <a:solidFill>
              <a:srgbClr val="8898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lvl="0" algn="ctr" defTabSz="914400" latinLnBrk="1">
                <a:defRPr/>
              </a:pPr>
              <a:r>
                <a:rPr lang="en-US" altLang="ko-KR" sz="1000" i="1" dirty="0">
                  <a:ln>
                    <a:solidFill>
                      <a:prstClr val="white">
                        <a:lumMod val="85000"/>
                        <a:alpha val="0"/>
                      </a:prstClr>
                    </a:solidFill>
                  </a:ln>
                  <a:solidFill>
                    <a:prstClr val="white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As-is</a:t>
              </a:r>
            </a:p>
          </p:txBody>
        </p: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D8023452-E4C1-43AF-B790-6F568B291267}"/>
              </a:ext>
            </a:extLst>
          </p:cNvPr>
          <p:cNvCxnSpPr>
            <a:cxnSpLocks/>
            <a:stCxn id="33" idx="3"/>
          </p:cNvCxnSpPr>
          <p:nvPr/>
        </p:nvCxnSpPr>
        <p:spPr>
          <a:xfrm>
            <a:off x="2790836" y="4356118"/>
            <a:ext cx="5571437" cy="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33" name="Text Box 7">
            <a:extLst>
              <a:ext uri="{FF2B5EF4-FFF2-40B4-BE49-F238E27FC236}">
                <a16:creationId xmlns:a16="http://schemas.microsoft.com/office/drawing/2014/main" id="{C6A62ADF-74EB-4BC8-BA6E-8953A8A92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707" y="4170718"/>
            <a:ext cx="834129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가스 점화</a:t>
            </a:r>
          </a:p>
        </p:txBody>
      </p:sp>
      <p:sp>
        <p:nvSpPr>
          <p:cNvPr id="36" name="Text Box 7">
            <a:extLst>
              <a:ext uri="{FF2B5EF4-FFF2-40B4-BE49-F238E27FC236}">
                <a16:creationId xmlns:a16="http://schemas.microsoft.com/office/drawing/2014/main" id="{19673493-0C10-470C-804D-904CFBBF2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349" y="4180278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발화점 초과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39" name="Text Box 7">
            <a:extLst>
              <a:ext uri="{FF2B5EF4-FFF2-40B4-BE49-F238E27FC236}">
                <a16:creationId xmlns:a16="http://schemas.microsoft.com/office/drawing/2014/main" id="{2D63EF70-27FC-4F5C-BE3A-BB67CE38B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452" y="4170718"/>
            <a:ext cx="783239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화재 경보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0" name="Text Box 7">
            <a:extLst>
              <a:ext uri="{FF2B5EF4-FFF2-40B4-BE49-F238E27FC236}">
                <a16:creationId xmlns:a16="http://schemas.microsoft.com/office/drawing/2014/main" id="{B8DC5703-6585-4DF3-B550-2A3F86351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2254" y="4170718"/>
            <a:ext cx="783240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소화기 사용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41" name="Text Box 7">
            <a:extLst>
              <a:ext uri="{FF2B5EF4-FFF2-40B4-BE49-F238E27FC236}">
                <a16:creationId xmlns:a16="http://schemas.microsoft.com/office/drawing/2014/main" id="{1DD5C740-8ED3-453B-8DCF-B8CFFEAA1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273" y="4170718"/>
            <a:ext cx="95952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대비 안내 등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7574C7E-7921-4760-B28F-7FE818419D83}"/>
              </a:ext>
            </a:extLst>
          </p:cNvPr>
          <p:cNvGrpSpPr/>
          <p:nvPr/>
        </p:nvGrpSpPr>
        <p:grpSpPr>
          <a:xfrm>
            <a:off x="2829299" y="4004418"/>
            <a:ext cx="3244546" cy="109314"/>
            <a:chOff x="929869" y="2610319"/>
            <a:chExt cx="4265782" cy="111126"/>
          </a:xfrm>
        </p:grpSpPr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7C4D9B4-B7D7-415B-AD10-703FAD9F0722}"/>
                </a:ext>
              </a:extLst>
            </p:cNvPr>
            <p:cNvCxnSpPr/>
            <p:nvPr/>
          </p:nvCxnSpPr>
          <p:spPr>
            <a:xfrm flipV="1">
              <a:off x="929869" y="2610319"/>
              <a:ext cx="0" cy="11112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49081EF4-7F36-46B5-9865-7F1EAAE9DD26}"/>
                </a:ext>
              </a:extLst>
            </p:cNvPr>
            <p:cNvCxnSpPr>
              <a:cxnSpLocks/>
            </p:cNvCxnSpPr>
            <p:nvPr/>
          </p:nvCxnSpPr>
          <p:spPr>
            <a:xfrm>
              <a:off x="929869" y="2665882"/>
              <a:ext cx="4265782" cy="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ADBA531-24D4-400A-9CF2-BE49C2A7AAFC}"/>
              </a:ext>
            </a:extLst>
          </p:cNvPr>
          <p:cNvSpPr/>
          <p:nvPr/>
        </p:nvSpPr>
        <p:spPr>
          <a:xfrm>
            <a:off x="4223566" y="3993477"/>
            <a:ext cx="556033" cy="13300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ko-KR" altLang="en-US" sz="700" i="1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조리 중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753739D-BC0A-485A-A200-5310DFCB6971}"/>
              </a:ext>
            </a:extLst>
          </p:cNvPr>
          <p:cNvGrpSpPr/>
          <p:nvPr/>
        </p:nvGrpSpPr>
        <p:grpSpPr>
          <a:xfrm>
            <a:off x="6073845" y="4004418"/>
            <a:ext cx="3296384" cy="111126"/>
            <a:chOff x="4851763" y="2610319"/>
            <a:chExt cx="3289955" cy="111126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B061EEA5-94E8-4B4D-BAD9-5A15E7BC0FCB}"/>
                </a:ext>
              </a:extLst>
            </p:cNvPr>
            <p:cNvCxnSpPr/>
            <p:nvPr/>
          </p:nvCxnSpPr>
          <p:spPr>
            <a:xfrm flipV="1">
              <a:off x="4855837" y="2610319"/>
              <a:ext cx="0" cy="111126"/>
            </a:xfrm>
            <a:prstGeom prst="line">
              <a:avLst/>
            </a:prstGeom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72590828-42C5-4470-9DA5-62D421F9A92C}"/>
                </a:ext>
              </a:extLst>
            </p:cNvPr>
            <p:cNvCxnSpPr>
              <a:cxnSpLocks/>
            </p:cNvCxnSpPr>
            <p:nvPr/>
          </p:nvCxnSpPr>
          <p:spPr>
            <a:xfrm>
              <a:off x="4851763" y="2665882"/>
              <a:ext cx="3289955" cy="0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none"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E47E6B-C4ED-490C-A4AD-DA03851367F4}"/>
              </a:ext>
            </a:extLst>
          </p:cNvPr>
          <p:cNvSpPr/>
          <p:nvPr/>
        </p:nvSpPr>
        <p:spPr>
          <a:xfrm>
            <a:off x="7194330" y="3991928"/>
            <a:ext cx="1074893" cy="133008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ko-KR" altLang="en-US" sz="700" i="1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Arial Narrow" panose="020B0606020202030204" pitchFamily="34" charset="0"/>
                <a:ea typeface="LG스마트체 Regular" panose="020B0600000101010101" pitchFamily="50" charset="-127"/>
                <a:cs typeface="Arial" pitchFamily="34" charset="0"/>
              </a:rPr>
              <a:t>화재 안전관리 매뉴얼 시행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0235A9A-79A8-4B05-B3F6-76332000E764}"/>
              </a:ext>
            </a:extLst>
          </p:cNvPr>
          <p:cNvGrpSpPr/>
          <p:nvPr/>
        </p:nvGrpSpPr>
        <p:grpSpPr>
          <a:xfrm>
            <a:off x="1983075" y="3991583"/>
            <a:ext cx="839537" cy="133008"/>
            <a:chOff x="6026944" y="2596573"/>
            <a:chExt cx="1228457" cy="133008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B2B3ED06-892F-4974-935E-B35F288DBC5C}"/>
                </a:ext>
              </a:extLst>
            </p:cNvPr>
            <p:cNvGrpSpPr/>
            <p:nvPr/>
          </p:nvGrpSpPr>
          <p:grpSpPr>
            <a:xfrm>
              <a:off x="6026944" y="2610319"/>
              <a:ext cx="1228457" cy="111126"/>
              <a:chOff x="5355163" y="2610319"/>
              <a:chExt cx="1307697" cy="111126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C7EA1442-2270-4320-85A6-C0AE0736F503}"/>
                  </a:ext>
                </a:extLst>
              </p:cNvPr>
              <p:cNvCxnSpPr/>
              <p:nvPr/>
            </p:nvCxnSpPr>
            <p:spPr>
              <a:xfrm flipV="1">
                <a:off x="5355163" y="2610319"/>
                <a:ext cx="0" cy="111126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E0B8B0E9-D120-46D8-A969-4D23701BB3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3585" y="2665882"/>
                <a:ext cx="1299275" cy="0"/>
              </a:xfrm>
              <a:prstGeom prst="line">
                <a:avLst/>
              </a:prstGeom>
              <a:ln w="6350">
                <a:solidFill>
                  <a:schemeClr val="tx1">
                    <a:lumMod val="65000"/>
                    <a:lumOff val="35000"/>
                  </a:schemeClr>
                </a:solidFill>
                <a:headEnd type="none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4A6BD31-775B-421F-87C1-7354F5B208FF}"/>
                </a:ext>
              </a:extLst>
            </p:cNvPr>
            <p:cNvSpPr/>
            <p:nvPr/>
          </p:nvSpPr>
          <p:spPr>
            <a:xfrm>
              <a:off x="6235318" y="2596573"/>
              <a:ext cx="721605" cy="133008"/>
            </a:xfrm>
            <a:prstGeom prst="rect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/>
              <a:r>
                <a:rPr lang="ko-KR" altLang="en-US" sz="700" i="1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75000"/>
                          <a:lumOff val="25000"/>
                        </a:prstClr>
                      </a:gs>
                      <a:gs pos="100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Arial Narrow" panose="020B0606020202030204" pitchFamily="34" charset="0"/>
                  <a:ea typeface="LG스마트체 Regular" panose="020B0600000101010101" pitchFamily="50" charset="-127"/>
                  <a:cs typeface="Arial" pitchFamily="34" charset="0"/>
                </a:rPr>
                <a:t>조리 준비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277D5E4-51B9-4E80-A9EC-E35E808380D9}"/>
              </a:ext>
            </a:extLst>
          </p:cNvPr>
          <p:cNvGrpSpPr/>
          <p:nvPr/>
        </p:nvGrpSpPr>
        <p:grpSpPr>
          <a:xfrm>
            <a:off x="910513" y="4073203"/>
            <a:ext cx="527444" cy="527444"/>
            <a:chOff x="8951947" y="1068920"/>
            <a:chExt cx="759048" cy="759048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B5F5A72D-99FF-4403-90D4-6C3E8B41725C}"/>
                </a:ext>
              </a:extLst>
            </p:cNvPr>
            <p:cNvGrpSpPr/>
            <p:nvPr/>
          </p:nvGrpSpPr>
          <p:grpSpPr>
            <a:xfrm>
              <a:off x="8951947" y="1068920"/>
              <a:ext cx="759048" cy="759048"/>
              <a:chOff x="7169179" y="1547603"/>
              <a:chExt cx="759048" cy="759048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F225CC92-7766-49B6-9143-473FD995CD51}"/>
                  </a:ext>
                </a:extLst>
              </p:cNvPr>
              <p:cNvSpPr/>
              <p:nvPr/>
            </p:nvSpPr>
            <p:spPr>
              <a:xfrm>
                <a:off x="7169179" y="1547603"/>
                <a:ext cx="759048" cy="759048"/>
              </a:xfrm>
              <a:prstGeom prst="ellipse">
                <a:avLst/>
              </a:prstGeom>
              <a:solidFill>
                <a:srgbClr val="8898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:a16="http://schemas.microsoft.com/office/drawing/2014/main" id="{CBB72C64-B59D-492E-BD9B-DDD3D307EE35}"/>
                  </a:ext>
                </a:extLst>
              </p:cNvPr>
              <p:cNvSpPr/>
              <p:nvPr/>
            </p:nvSpPr>
            <p:spPr>
              <a:xfrm>
                <a:off x="7206587" y="1583249"/>
                <a:ext cx="684000" cy="684000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</a:endParaRPr>
              </a:p>
            </p:txBody>
          </p:sp>
        </p:grpSp>
        <p:sp>
          <p:nvSpPr>
            <p:cNvPr id="62" name="TextBox 17">
              <a:extLst>
                <a:ext uri="{FF2B5EF4-FFF2-40B4-BE49-F238E27FC236}">
                  <a16:creationId xmlns:a16="http://schemas.microsoft.com/office/drawing/2014/main" id="{45653325-AF8F-4463-BBBF-BFC86D2D5722}"/>
                </a:ext>
              </a:extLst>
            </p:cNvPr>
            <p:cNvSpPr txBox="1"/>
            <p:nvPr/>
          </p:nvSpPr>
          <p:spPr>
            <a:xfrm>
              <a:off x="9051312" y="1145480"/>
              <a:ext cx="565649" cy="5937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발화</a:t>
              </a:r>
              <a:endPara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  <a:cs typeface="Arial" panose="020B0604020202020204" pitchFamily="34" charset="0"/>
              </a:endParaRPr>
            </a:p>
            <a:p>
              <a:pPr lvl="0" algn="ctr">
                <a:lnSpc>
                  <a:spcPct val="120000"/>
                </a:lnSpc>
                <a:defRPr/>
              </a:pPr>
              <a:r>
                <a:rPr lang="ko-KR" altLang="en-US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소화</a:t>
              </a:r>
            </a:p>
          </p:txBody>
        </p:sp>
      </p:grp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D5C2E429-481C-452D-90EE-142BC20BF71F}"/>
              </a:ext>
            </a:extLst>
          </p:cNvPr>
          <p:cNvCxnSpPr>
            <a:cxnSpLocks/>
          </p:cNvCxnSpPr>
          <p:nvPr/>
        </p:nvCxnSpPr>
        <p:spPr>
          <a:xfrm flipV="1">
            <a:off x="2722184" y="5013644"/>
            <a:ext cx="5640089" cy="8965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67" name="Text Box 7">
            <a:extLst>
              <a:ext uri="{FF2B5EF4-FFF2-40B4-BE49-F238E27FC236}">
                <a16:creationId xmlns:a16="http://schemas.microsoft.com/office/drawing/2014/main" id="{A8F213BC-BC73-46EB-AF52-93301CF94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256" y="4828297"/>
            <a:ext cx="815580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가스 점화</a:t>
            </a:r>
          </a:p>
        </p:txBody>
      </p:sp>
      <p:sp>
        <p:nvSpPr>
          <p:cNvPr id="68" name="Text Box 7">
            <a:extLst>
              <a:ext uri="{FF2B5EF4-FFF2-40B4-BE49-F238E27FC236}">
                <a16:creationId xmlns:a16="http://schemas.microsoft.com/office/drawing/2014/main" id="{105194F8-35A7-47BA-B4DD-99FC56F70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0348" y="4828297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발화점 감시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1299ABA8-F6F3-4F4B-BF92-5604B4195392}"/>
              </a:ext>
            </a:extLst>
          </p:cNvPr>
          <p:cNvGrpSpPr/>
          <p:nvPr/>
        </p:nvGrpSpPr>
        <p:grpSpPr>
          <a:xfrm>
            <a:off x="335323" y="4764099"/>
            <a:ext cx="1102634" cy="527444"/>
            <a:chOff x="290539" y="3325695"/>
            <a:chExt cx="1102634" cy="527444"/>
          </a:xfrm>
        </p:grpSpPr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ED022534-7AC1-4F6B-B44C-980F33D64D0F}"/>
                </a:ext>
              </a:extLst>
            </p:cNvPr>
            <p:cNvGrpSpPr/>
            <p:nvPr/>
          </p:nvGrpSpPr>
          <p:grpSpPr>
            <a:xfrm>
              <a:off x="290539" y="3471717"/>
              <a:ext cx="617629" cy="224629"/>
              <a:chOff x="3191892" y="6444349"/>
              <a:chExt cx="699868" cy="268428"/>
            </a:xfrm>
          </p:grpSpPr>
          <p:sp>
            <p:nvSpPr>
              <p:cNvPr id="83" name="이등변 삼각형 82">
                <a:extLst>
                  <a:ext uri="{FF2B5EF4-FFF2-40B4-BE49-F238E27FC236}">
                    <a16:creationId xmlns:a16="http://schemas.microsoft.com/office/drawing/2014/main" id="{BBED8550-47E8-47A0-B232-0ADE7BBE20D5}"/>
                  </a:ext>
                </a:extLst>
              </p:cNvPr>
              <p:cNvSpPr/>
              <p:nvPr/>
            </p:nvSpPr>
            <p:spPr>
              <a:xfrm rot="16200000">
                <a:off x="3194045" y="6643178"/>
                <a:ext cx="67574" cy="71624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C76DE03C-0490-49B0-8338-896C70705B1B}"/>
                  </a:ext>
                </a:extLst>
              </p:cNvPr>
              <p:cNvSpPr/>
              <p:nvPr/>
            </p:nvSpPr>
            <p:spPr>
              <a:xfrm>
                <a:off x="3191892" y="6444349"/>
                <a:ext cx="699868" cy="234386"/>
              </a:xfrm>
              <a:prstGeom prst="rect">
                <a:avLst/>
              </a:prstGeom>
              <a:solidFill>
                <a:srgbClr val="0423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To-be</a:t>
                </a: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3F937E4F-E3AD-4C2D-98A7-531D6DFA2DAA}"/>
                </a:ext>
              </a:extLst>
            </p:cNvPr>
            <p:cNvGrpSpPr/>
            <p:nvPr/>
          </p:nvGrpSpPr>
          <p:grpSpPr>
            <a:xfrm>
              <a:off x="865729" y="3325695"/>
              <a:ext cx="527444" cy="527444"/>
              <a:chOff x="8951947" y="1068920"/>
              <a:chExt cx="759048" cy="759048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2E6F2222-0F2C-4EE5-8AA7-5A0175D33922}"/>
                  </a:ext>
                </a:extLst>
              </p:cNvPr>
              <p:cNvGrpSpPr/>
              <p:nvPr/>
            </p:nvGrpSpPr>
            <p:grpSpPr>
              <a:xfrm>
                <a:off x="8951947" y="1068920"/>
                <a:ext cx="759048" cy="759048"/>
                <a:chOff x="7169179" y="1547603"/>
                <a:chExt cx="759048" cy="759048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17BF67C8-2BEE-405A-8376-34087469B7D5}"/>
                    </a:ext>
                  </a:extLst>
                </p:cNvPr>
                <p:cNvSpPr/>
                <p:nvPr/>
              </p:nvSpPr>
              <p:spPr>
                <a:xfrm>
                  <a:off x="7169179" y="1547603"/>
                  <a:ext cx="759048" cy="759048"/>
                </a:xfrm>
                <a:prstGeom prst="ellipse">
                  <a:avLst/>
                </a:prstGeom>
                <a:solidFill>
                  <a:srgbClr val="0423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9EC016F9-E041-4EF0-A92A-84B8237A85D2}"/>
                    </a:ext>
                  </a:extLst>
                </p:cNvPr>
                <p:cNvSpPr/>
                <p:nvPr/>
              </p:nvSpPr>
              <p:spPr>
                <a:xfrm>
                  <a:off x="7206587" y="1583249"/>
                  <a:ext cx="684000" cy="684000"/>
                </a:xfrm>
                <a:prstGeom prst="ellipse">
                  <a:avLst/>
                </a:prstGeom>
                <a:noFill/>
                <a:ln w="6350">
                  <a:solidFill>
                    <a:schemeClr val="bg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</p:grpSp>
          <p:sp>
            <p:nvSpPr>
              <p:cNvPr id="80" name="TextBox 17">
                <a:extLst>
                  <a:ext uri="{FF2B5EF4-FFF2-40B4-BE49-F238E27FC236}">
                    <a16:creationId xmlns:a16="http://schemas.microsoft.com/office/drawing/2014/main" id="{F8F8411D-AAA3-4FB2-9092-9118785106C4}"/>
                  </a:ext>
                </a:extLst>
              </p:cNvPr>
              <p:cNvSpPr txBox="1"/>
              <p:nvPr/>
            </p:nvSpPr>
            <p:spPr>
              <a:xfrm>
                <a:off x="9038660" y="1175375"/>
                <a:ext cx="565650" cy="593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사전</a:t>
                </a:r>
                <a:endParaRPr lang="en-US" altLang="ko-KR" sz="9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endParaRPr>
              </a:p>
              <a:p>
                <a:pPr lvl="0" algn="ctr">
                  <a:lnSpc>
                    <a:spcPct val="120000"/>
                  </a:lnSpc>
                  <a:defRPr/>
                </a:pPr>
                <a:r>
                  <a:rPr lang="ko-KR" altLang="en-US" sz="9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  <a:cs typeface="Arial" panose="020B0604020202020204" pitchFamily="34" charset="0"/>
                  </a:rPr>
                  <a:t>예방</a:t>
                </a:r>
              </a:p>
            </p:txBody>
          </p:sp>
        </p:grp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DA38BFE7-695B-44D7-BD2B-2F39AEF6CC8C}"/>
              </a:ext>
            </a:extLst>
          </p:cNvPr>
          <p:cNvGrpSpPr/>
          <p:nvPr/>
        </p:nvGrpSpPr>
        <p:grpSpPr>
          <a:xfrm>
            <a:off x="3466514" y="5217525"/>
            <a:ext cx="1970116" cy="443330"/>
            <a:chOff x="7101840" y="3794760"/>
            <a:chExt cx="792480" cy="826367"/>
          </a:xfrm>
        </p:grpSpPr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B7910BE7-EBEC-4B12-BD25-F8FE4DCD227F}"/>
                </a:ext>
              </a:extLst>
            </p:cNvPr>
            <p:cNvCxnSpPr>
              <a:cxnSpLocks/>
            </p:cNvCxnSpPr>
            <p:nvPr/>
          </p:nvCxnSpPr>
          <p:spPr>
            <a:xfrm>
              <a:off x="7480562" y="3794760"/>
              <a:ext cx="0" cy="826367"/>
            </a:xfrm>
            <a:prstGeom prst="straightConnector1">
              <a:avLst/>
            </a:prstGeom>
            <a:noFill/>
            <a:ln w="12700">
              <a:solidFill>
                <a:schemeClr val="accent4">
                  <a:lumMod val="50000"/>
                </a:schemeClr>
              </a:solidFill>
              <a:prstDash val="sysDash"/>
              <a:tailEnd type="triangle"/>
            </a:ln>
          </p:spPr>
        </p:cxnSp>
        <p:sp>
          <p:nvSpPr>
            <p:cNvPr id="114" name="자유형: 도형 33">
              <a:extLst>
                <a:ext uri="{FF2B5EF4-FFF2-40B4-BE49-F238E27FC236}">
                  <a16:creationId xmlns:a16="http://schemas.microsoft.com/office/drawing/2014/main" id="{AEE7AB7D-F01D-41FA-A466-99076E9F4AD7}"/>
                </a:ext>
              </a:extLst>
            </p:cNvPr>
            <p:cNvSpPr/>
            <p:nvPr/>
          </p:nvSpPr>
          <p:spPr>
            <a:xfrm>
              <a:off x="7101840" y="3794760"/>
              <a:ext cx="792480" cy="233655"/>
            </a:xfrm>
            <a:custGeom>
              <a:avLst/>
              <a:gdLst>
                <a:gd name="connsiteX0" fmla="*/ 0 w 792480"/>
                <a:gd name="connsiteY0" fmla="*/ 0 h 152400"/>
                <a:gd name="connsiteX1" fmla="*/ 0 w 792480"/>
                <a:gd name="connsiteY1" fmla="*/ 152400 h 152400"/>
                <a:gd name="connsiteX2" fmla="*/ 792480 w 792480"/>
                <a:gd name="connsiteY2" fmla="*/ 152400 h 152400"/>
                <a:gd name="connsiteX3" fmla="*/ 792480 w 792480"/>
                <a:gd name="connsiteY3" fmla="*/ 762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2480" h="152400">
                  <a:moveTo>
                    <a:pt x="0" y="0"/>
                  </a:moveTo>
                  <a:lnTo>
                    <a:pt x="0" y="152400"/>
                  </a:lnTo>
                  <a:lnTo>
                    <a:pt x="792480" y="152400"/>
                  </a:lnTo>
                  <a:lnTo>
                    <a:pt x="792480" y="7620"/>
                  </a:lnTo>
                </a:path>
              </a:pathLst>
            </a:custGeom>
            <a:noFill/>
            <a:ln w="12700">
              <a:solidFill>
                <a:schemeClr val="accent4">
                  <a:lumMod val="50000"/>
                </a:schemeClr>
              </a:solidFill>
              <a:prstDash val="sysDash"/>
              <a:tailEnd type="none"/>
            </a:ln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2C7B5A3-5003-43AF-8EDF-6B449CC84B7E}"/>
              </a:ext>
            </a:extLst>
          </p:cNvPr>
          <p:cNvSpPr/>
          <p:nvPr/>
        </p:nvSpPr>
        <p:spPr>
          <a:xfrm>
            <a:off x="3224952" y="6284422"/>
            <a:ext cx="568252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지정 사용자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관리자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소방안전관리자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급식매니저 등</a:t>
            </a:r>
            <a:r>
              <a: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관제센터에 자동 알림 기능 제공</a:t>
            </a:r>
          </a:p>
        </p:txBody>
      </p:sp>
      <p:sp>
        <p:nvSpPr>
          <p:cNvPr id="99" name="Text Box 7">
            <a:extLst>
              <a:ext uri="{FF2B5EF4-FFF2-40B4-BE49-F238E27FC236}">
                <a16:creationId xmlns:a16="http://schemas.microsoft.com/office/drawing/2014/main" id="{D1D85FF0-4B2B-4B4C-B1F8-7B01FE44D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220" y="4828297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1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차 </a:t>
            </a:r>
            <a:r>
              <a:rPr lang="ko-KR" altLang="en-US" spc="-4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경보음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 방출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sp>
        <p:nvSpPr>
          <p:cNvPr id="100" name="Text Box 7">
            <a:extLst>
              <a:ext uri="{FF2B5EF4-FFF2-40B4-BE49-F238E27FC236}">
                <a16:creationId xmlns:a16="http://schemas.microsoft.com/office/drawing/2014/main" id="{70BF5038-DEAC-4812-85EB-0E99578F5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263" y="4828297"/>
            <a:ext cx="82922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2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차 </a:t>
            </a:r>
            <a:r>
              <a:rPr lang="ko-KR" altLang="en-US" spc="-40" dirty="0" err="1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경보음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 및 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가스밸브자동차단</a:t>
            </a:r>
            <a:endParaRPr lang="en-US" altLang="ko-KR" spc="-40" dirty="0">
              <a:gradFill>
                <a:gsLst>
                  <a:gs pos="0">
                    <a:schemeClr val="tx1">
                      <a:lumMod val="85000"/>
                      <a:lumOff val="15000"/>
                    </a:schemeClr>
                  </a:gs>
                  <a:gs pos="100000">
                    <a:schemeClr val="tx1">
                      <a:lumMod val="85000"/>
                      <a:lumOff val="15000"/>
                    </a:schemeClr>
                  </a:gs>
                </a:gsLst>
                <a:lin ang="10800000" scaled="1"/>
              </a:gradFill>
            </a:endParaRPr>
          </a:p>
        </p:txBody>
      </p:sp>
      <p:sp>
        <p:nvSpPr>
          <p:cNvPr id="86" name="Text Box 7">
            <a:extLst>
              <a:ext uri="{FF2B5EF4-FFF2-40B4-BE49-F238E27FC236}">
                <a16:creationId xmlns:a16="http://schemas.microsoft.com/office/drawing/2014/main" id="{89513D81-14C8-4C9A-BE3C-3AEBF8EA0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338" y="4180278"/>
            <a:ext cx="825918" cy="3708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50" dirty="0">
                <a:latin typeface="Arial Narrow" panose="020B0606020202030204" pitchFamily="34" charset="0"/>
              </a:rPr>
              <a:t>발화</a:t>
            </a:r>
            <a:endParaRPr lang="en-US" altLang="ko-KR" spc="-50" dirty="0">
              <a:latin typeface="Arial Narrow" panose="020B0606020202030204" pitchFamily="34" charset="0"/>
            </a:endParaRPr>
          </a:p>
        </p:txBody>
      </p:sp>
      <p:sp>
        <p:nvSpPr>
          <p:cNvPr id="88" name="Text Box 7">
            <a:extLst>
              <a:ext uri="{FF2B5EF4-FFF2-40B4-BE49-F238E27FC236}">
                <a16:creationId xmlns:a16="http://schemas.microsoft.com/office/drawing/2014/main" id="{04B703C1-EBE5-4240-9C0E-C0AA9AB2B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544" y="4828297"/>
            <a:ext cx="1751949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발생 원인 및 조치 내용 </a:t>
            </a: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Database 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화</a:t>
            </a:r>
          </a:p>
        </p:txBody>
      </p:sp>
      <p:sp>
        <p:nvSpPr>
          <p:cNvPr id="89" name="Text Box 7">
            <a:extLst>
              <a:ext uri="{FF2B5EF4-FFF2-40B4-BE49-F238E27FC236}">
                <a16:creationId xmlns:a16="http://schemas.microsoft.com/office/drawing/2014/main" id="{B78C37AD-90BA-4EBD-961B-F6C1C14CF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013" y="4828297"/>
            <a:ext cx="959528" cy="370800"/>
          </a:xfrm>
          <a:prstGeom prst="rect">
            <a:avLst/>
          </a:prstGeom>
          <a:solidFill>
            <a:srgbClr val="FAEDC7"/>
          </a:solidFill>
          <a:ln w="6350">
            <a:solidFill>
              <a:schemeClr val="accent4">
                <a:lumMod val="50000"/>
              </a:schemeClr>
            </a:solidFill>
          </a:ln>
          <a:effectLst>
            <a:outerShdw dist="25400" dir="2700000" algn="t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>
              <a:lnSpc>
                <a:spcPct val="110000"/>
              </a:lnSpc>
              <a:defRPr sz="9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 SemiBold" panose="020B0600000101010101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추가 예방 조치</a:t>
            </a:r>
            <a:b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</a:b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(</a:t>
            </a:r>
            <a:r>
              <a:rPr lang="ko-KR" altLang="en-US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조리방식 변경 등</a:t>
            </a:r>
            <a:r>
              <a:rPr lang="en-US" altLang="ko-KR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</a:rPr>
              <a:t>)</a:t>
            </a:r>
          </a:p>
        </p:txBody>
      </p:sp>
      <p:pic>
        <p:nvPicPr>
          <p:cNvPr id="72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9EA239D8-46EF-4F87-92B8-448B060B7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541" y="4711736"/>
            <a:ext cx="211875" cy="254557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90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96436730-ACFF-4BF8-A829-AFC4594C8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768" y="4711736"/>
            <a:ext cx="211875" cy="319303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91" name="Picture 3" descr="C:\Users\Administrator\AppData\Local\Microsoft\Windows\Temporary Internet Files\Content.IE5\E21L194P\MC900423575[1].wmf">
            <a:extLst>
              <a:ext uri="{FF2B5EF4-FFF2-40B4-BE49-F238E27FC236}">
                <a16:creationId xmlns:a16="http://schemas.microsoft.com/office/drawing/2014/main" id="{30AC1979-740F-489C-97E9-06F3B71CD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56" y="4711736"/>
            <a:ext cx="211875" cy="254557"/>
          </a:xfrm>
          <a:prstGeom prst="rect">
            <a:avLst/>
          </a:prstGeom>
          <a:noFill/>
          <a:ln>
            <a:noFill/>
          </a:ln>
          <a:effectLst/>
          <a:extLst/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6BF6422-4919-4066-8E94-DC12DFED6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777" y="5744671"/>
            <a:ext cx="2341067" cy="49991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0BDCC25-13BF-4A47-9745-2D966488EC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692" y="1374995"/>
            <a:ext cx="4651651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7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97C7840-B4B3-4B30-980D-442CC1E80B36}"/>
              </a:ext>
            </a:extLst>
          </p:cNvPr>
          <p:cNvSpPr/>
          <p:nvPr/>
        </p:nvSpPr>
        <p:spPr>
          <a:xfrm>
            <a:off x="250910" y="1201220"/>
            <a:ext cx="4579336" cy="5189389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250910" y="803652"/>
            <a:ext cx="3759017" cy="312393"/>
            <a:chOff x="573784" y="2158310"/>
            <a:chExt cx="4615164" cy="383543"/>
          </a:xfrm>
        </p:grpSpPr>
        <p:sp>
          <p:nvSpPr>
            <p:cNvPr id="61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3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㈜그립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‘ALLSAFER’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제품 사양</a:t>
              </a:r>
            </a:p>
          </p:txBody>
        </p:sp>
        <p:grpSp>
          <p:nvGrpSpPr>
            <p:cNvPr id="62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63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4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5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F6BC731C-C2AA-4525-A74E-06E633259C3E}"/>
              </a:ext>
            </a:extLst>
          </p:cNvPr>
          <p:cNvCxnSpPr/>
          <p:nvPr/>
        </p:nvCxnSpPr>
        <p:spPr>
          <a:xfrm>
            <a:off x="4953000" y="1785303"/>
            <a:ext cx="0" cy="4525378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5280403" y="3092896"/>
            <a:ext cx="4510478" cy="1188567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서비스 이용 범위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가스용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주방조리기기를 사용하는 </a:t>
            </a:r>
            <a:r>
              <a:rPr lang="ko-KR" altLang="en-US" sz="1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 특징 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적외선으로 온도 감지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내구성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안전성이 뛰어남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기준 설정 온도 초과 시 경고음 발생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     .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과열상황 감지 시 자동 배관 차단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확장성 용이</a:t>
            </a:r>
            <a:endParaRPr lang="ko-KR" altLang="en-US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1D294E-C124-4554-B37E-B4A6C332AE55}"/>
              </a:ext>
            </a:extLst>
          </p:cNvPr>
          <p:cNvSpPr txBox="1"/>
          <p:nvPr/>
        </p:nvSpPr>
        <p:spPr>
          <a:xfrm>
            <a:off x="5973302" y="1674861"/>
            <a:ext cx="1554913" cy="323165"/>
          </a:xfrm>
          <a:prstGeom prst="rect">
            <a:avLst/>
          </a:prstGeom>
          <a:noFill/>
          <a:ln>
            <a:solidFill>
              <a:srgbClr val="FF0000">
                <a:alpha val="0"/>
              </a:srgbClr>
            </a:solidFill>
          </a:ln>
        </p:spPr>
        <p:txBody>
          <a:bodyPr wrap="none" lIns="0" tIns="0" rIns="0" bIns="0" rtlCol="0" anchor="ctr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주방조리기기의 온도를 측정하여</a:t>
            </a:r>
            <a:endParaRPr kumimoji="0" lang="en-US" altLang="ko-KR" sz="1050" i="0" u="none" strike="noStrike" kern="1200" cap="none" spc="-10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spc="-1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1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자동으로 가스밸브를 차단하는</a:t>
            </a:r>
            <a:endParaRPr kumimoji="0" lang="ko-KR" altLang="en-US" sz="1050" i="0" u="none" strike="noStrike" kern="1200" cap="none" spc="-10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1"/>
              </a:gradFill>
              <a:effectLst/>
              <a:uLnTx/>
              <a:uFillTx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pSp>
        <p:nvGrpSpPr>
          <p:cNvPr id="210" name="그룹 209"/>
          <p:cNvGrpSpPr/>
          <p:nvPr/>
        </p:nvGrpSpPr>
        <p:grpSpPr>
          <a:xfrm>
            <a:off x="5468507" y="2183904"/>
            <a:ext cx="4339777" cy="686254"/>
            <a:chOff x="5325813" y="1649440"/>
            <a:chExt cx="4075323" cy="686254"/>
          </a:xfrm>
        </p:grpSpPr>
        <p:sp>
          <p:nvSpPr>
            <p:cNvPr id="211" name="TextBox 17">
              <a:extLst>
                <a:ext uri="{FF2B5EF4-FFF2-40B4-BE49-F238E27FC236}">
                  <a16:creationId xmlns:a16="http://schemas.microsoft.com/office/drawing/2014/main" id="{E2F50FF7-4A3E-4BC8-BDEB-C0F19670AEBD}"/>
                </a:ext>
              </a:extLst>
            </p:cNvPr>
            <p:cNvSpPr txBox="1"/>
            <p:nvPr/>
          </p:nvSpPr>
          <p:spPr>
            <a:xfrm>
              <a:off x="5325813" y="1651000"/>
              <a:ext cx="4075323" cy="684694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57000">
                  <a:srgbClr val="EDEDED"/>
                </a:gs>
                <a:gs pos="85000">
                  <a:srgbClr val="E5E5E5"/>
                </a:gs>
                <a:gs pos="100000">
                  <a:srgbClr val="E5E5E5"/>
                </a:gs>
              </a:gsLst>
              <a:lin ang="10800000" scaled="1"/>
              <a:tileRect/>
            </a:gra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lvl="0">
                <a:lnSpc>
                  <a:spcPct val="150000"/>
                </a:lnSpc>
                <a:defRPr sz="1000" i="0" spc="-50">
                  <a:solidFill>
                    <a:prstClr val="black"/>
                  </a:solidFill>
                  <a:latin typeface="LG스마트체 Regular"/>
                  <a:ea typeface="LG스마트체 Regular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en-US" altLang="ko-KR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10800000" scaled="1"/>
                </a:gra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212" name="TextBox 17">
              <a:extLst>
                <a:ext uri="{FF2B5EF4-FFF2-40B4-BE49-F238E27FC236}">
                  <a16:creationId xmlns:a16="http://schemas.microsoft.com/office/drawing/2014/main" id="{70D96C7E-D116-451A-9B9F-31DAEE739075}"/>
                </a:ext>
              </a:extLst>
            </p:cNvPr>
            <p:cNvSpPr txBox="1"/>
            <p:nvPr/>
          </p:nvSpPr>
          <p:spPr>
            <a:xfrm>
              <a:off x="5414927" y="1649440"/>
              <a:ext cx="3986209" cy="6751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직접 피해 방지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   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인명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/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재산 피해 방지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간접 피해 방지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   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근무자의 심적 안정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/ </a:t>
              </a:r>
              <a:r>
                <a:rPr lang="ko-KR" altLang="en-US" sz="1000" spc="-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업장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손실 최소화</a:t>
              </a:r>
              <a:endParaRPr lang="en-US" altLang="ko-KR" sz="10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  <a:p>
              <a:pPr lvl="0">
                <a:lnSpc>
                  <a:spcPct val="130000"/>
                </a:lnSpc>
                <a:buClr>
                  <a:schemeClr val="tx1"/>
                </a:buClr>
                <a:defRPr/>
              </a:pP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2661A5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  <a:cs typeface="Arial" panose="020B0604020202020204" pitchFamily="34" charset="0"/>
                </a:rPr>
                <a:t>기업 이미지 개선</a:t>
              </a:r>
              <a:r>
                <a:rPr lang="ko-KR" altLang="en-US" sz="1000" b="1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DC4D3A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|   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안전사고 사전 대응 기업 이미지 개선 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(ESG</a:t>
              </a:r>
              <a:r>
                <a:rPr lang="ko-KR" altLang="en-US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기업</a:t>
              </a:r>
              <a:r>
                <a:rPr lang="en-US" altLang="ko-KR" sz="1000" spc="-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)</a:t>
              </a:r>
              <a:endParaRPr lang="en-US" altLang="ko-KR" sz="95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7F8B39B8-291F-4AD4-BC1E-7302C7A8F480}"/>
              </a:ext>
            </a:extLst>
          </p:cNvPr>
          <p:cNvGrpSpPr/>
          <p:nvPr/>
        </p:nvGrpSpPr>
        <p:grpSpPr>
          <a:xfrm>
            <a:off x="7548375" y="1710504"/>
            <a:ext cx="1990228" cy="287522"/>
            <a:chOff x="12285405" y="3340438"/>
            <a:chExt cx="3507681" cy="385491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12285405" y="3354547"/>
              <a:ext cx="3507681" cy="371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120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1A2A56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자동 화재 예방 시스템</a:t>
              </a:r>
              <a:endParaRPr lang="en-US" altLang="ko-KR" sz="120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pic>
          <p:nvPicPr>
            <p:cNvPr id="230" name="그래픽 657">
              <a:extLst>
                <a:ext uri="{FF2B5EF4-FFF2-40B4-BE49-F238E27FC236}">
                  <a16:creationId xmlns:a16="http://schemas.microsoft.com/office/drawing/2014/main" id="{F1CD6702-F81F-4DC3-AA7E-9E6EF9338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580303" y="3340438"/>
              <a:ext cx="108624" cy="96567"/>
            </a:xfrm>
            <a:prstGeom prst="rect">
              <a:avLst/>
            </a:prstGeom>
          </p:spPr>
        </p:pic>
        <p:pic>
          <p:nvPicPr>
            <p:cNvPr id="231" name="그래픽 658">
              <a:extLst>
                <a:ext uri="{FF2B5EF4-FFF2-40B4-BE49-F238E27FC236}">
                  <a16:creationId xmlns:a16="http://schemas.microsoft.com/office/drawing/2014/main" id="{36762E48-C6B8-40EF-8E7D-A2059824B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15539592" y="3352022"/>
              <a:ext cx="108624" cy="96567"/>
            </a:xfrm>
            <a:prstGeom prst="rect">
              <a:avLst/>
            </a:prstGeom>
          </p:spPr>
        </p:pic>
      </p:grp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4F7820FB-79D4-423C-86B6-729F1498276F}"/>
              </a:ext>
            </a:extLst>
          </p:cNvPr>
          <p:cNvGrpSpPr/>
          <p:nvPr/>
        </p:nvGrpSpPr>
        <p:grpSpPr>
          <a:xfrm>
            <a:off x="5186034" y="1129470"/>
            <a:ext cx="2494172" cy="261610"/>
            <a:chOff x="13078322" y="7024021"/>
            <a:chExt cx="1418166" cy="444332"/>
          </a:xfrm>
        </p:grpSpPr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B63A172F-C10D-421B-9298-3D54C0A65B20}"/>
                </a:ext>
              </a:extLst>
            </p:cNvPr>
            <p:cNvSpPr/>
            <p:nvPr/>
          </p:nvSpPr>
          <p:spPr>
            <a:xfrm>
              <a:off x="13078322" y="7024021"/>
              <a:ext cx="1418166" cy="444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fontAlgn="base">
                <a:spcBef>
                  <a:spcPts val="1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주요 서비스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/</a:t>
              </a: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기능 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(</a:t>
              </a: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자동 가스 차단</a:t>
              </a:r>
              <a:r>
                <a:rPr kumimoji="1" lang="en-US" altLang="ko-KR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)</a:t>
              </a:r>
              <a:endParaRPr kumimoji="1" lang="ko-KR" altLang="en-US" sz="1100" dirty="0">
                <a:ln>
                  <a:solidFill>
                    <a:srgbClr val="8E969E">
                      <a:alpha val="0"/>
                    </a:srgbClr>
                  </a:solidFill>
                </a:ln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9CE966BC-8CEE-425B-8E36-4B1D11645E0A}"/>
                </a:ext>
              </a:extLst>
            </p:cNvPr>
            <p:cNvCxnSpPr>
              <a:cxnSpLocks/>
            </p:cNvCxnSpPr>
            <p:nvPr/>
          </p:nvCxnSpPr>
          <p:spPr>
            <a:xfrm>
              <a:off x="13155084" y="7457969"/>
              <a:ext cx="1341404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F7820FB-79D4-423C-86B6-729F1498276F}"/>
              </a:ext>
            </a:extLst>
          </p:cNvPr>
          <p:cNvGrpSpPr/>
          <p:nvPr/>
        </p:nvGrpSpPr>
        <p:grpSpPr>
          <a:xfrm>
            <a:off x="5191245" y="4564653"/>
            <a:ext cx="1442900" cy="261610"/>
            <a:chOff x="13078322" y="7024021"/>
            <a:chExt cx="1418166" cy="444332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63A172F-C10D-421B-9298-3D54C0A65B20}"/>
                </a:ext>
              </a:extLst>
            </p:cNvPr>
            <p:cNvSpPr/>
            <p:nvPr/>
          </p:nvSpPr>
          <p:spPr>
            <a:xfrm>
              <a:off x="13078322" y="7024021"/>
              <a:ext cx="1418166" cy="444332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fontAlgn="base">
                <a:spcBef>
                  <a:spcPts val="100"/>
                </a:spcBef>
                <a:spcAft>
                  <a:spcPct val="0"/>
                </a:spcAft>
                <a:buFont typeface="Wingdings" panose="05000000000000000000" pitchFamily="2" charset="2"/>
                <a:buChar char="§"/>
              </a:pPr>
              <a:r>
                <a:rPr kumimoji="1" lang="ko-KR" altLang="en-US" sz="1100" dirty="0">
                  <a:ln>
                    <a:solidFill>
                      <a:srgbClr val="8E969E">
                        <a:alpha val="0"/>
                      </a:srgbClr>
                    </a:solidFill>
                  </a:ln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 추가 기능 반영사항 </a:t>
              </a: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9CE966BC-8CEE-425B-8E36-4B1D11645E0A}"/>
                </a:ext>
              </a:extLst>
            </p:cNvPr>
            <p:cNvCxnSpPr>
              <a:cxnSpLocks/>
            </p:cNvCxnSpPr>
            <p:nvPr/>
          </p:nvCxnSpPr>
          <p:spPr>
            <a:xfrm>
              <a:off x="13155084" y="7457969"/>
              <a:ext cx="1341404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직사각형 45"/>
          <p:cNvSpPr/>
          <p:nvPr/>
        </p:nvSpPr>
        <p:spPr>
          <a:xfrm>
            <a:off x="5285613" y="4872242"/>
            <a:ext cx="4510478" cy="839254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defTabSz="914400" latinLnBrk="1">
              <a:lnSpc>
                <a:spcPct val="130000"/>
              </a:lnSpc>
              <a:spcAft>
                <a:spcPts val="300"/>
              </a:spcAft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RMS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연동 개발 및 추가 아이템 제안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1)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경보 및 상태 변동 정보의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SMS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알림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(’23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2)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주방 환경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온습도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CO2)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모니터링 기능 확장 가능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defTabSz="914400" latinLnBrk="1">
              <a:lnSpc>
                <a:spcPct val="130000"/>
              </a:lnSpc>
            </a:pP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3)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방화취약구역 내 </a:t>
            </a:r>
            <a:r>
              <a:rPr lang="en-US" altLang="ko-KR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IoT </a:t>
            </a:r>
            <a:r>
              <a:rPr lang="ko-KR" altLang="en-US" sz="1000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화재감지기 추가 설치 가능</a:t>
            </a:r>
            <a:endParaRPr lang="en-US" altLang="ko-KR" sz="10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CBA5C79-4972-4360-900B-C3D6225DB574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6AD4C59-F597-400C-8E51-4D0B0856B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910" y="4137072"/>
            <a:ext cx="2966104" cy="18966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99C48E6-F19F-48CC-90F5-A152EFF00B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7219" y="4137072"/>
            <a:ext cx="1613027" cy="16397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9E0607-CC2B-4E46-806A-6120459569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053" y="4759602"/>
            <a:ext cx="439554" cy="83925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820B945-FBC9-4EE2-9EBA-ED5E8D6863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7447" y="4695458"/>
            <a:ext cx="719138" cy="5857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A7D3963-ECDC-49A0-9C8B-962EE906A8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5683" y="5352610"/>
            <a:ext cx="632920" cy="58578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DA27CD-A271-4742-83A1-E875114250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404" y="1413256"/>
            <a:ext cx="3702348" cy="236688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8268FE7-F3AB-42A8-8B21-C777FCD5C5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4108" y="1614344"/>
            <a:ext cx="413921" cy="40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937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1F19BC4-1F27-4B2A-B83B-A15F981C3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927"/>
            <a:ext cx="9906000" cy="3581693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1420F46-797D-415C-BDCC-E63D8E2A7876}"/>
              </a:ext>
            </a:extLst>
          </p:cNvPr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10D4A5F-86CC-4C11-BEA2-38B255E90CE1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6D8E306-F254-4778-B26F-12125EAF59B1}"/>
              </a:ext>
            </a:extLst>
          </p:cNvPr>
          <p:cNvGrpSpPr/>
          <p:nvPr/>
        </p:nvGrpSpPr>
        <p:grpSpPr>
          <a:xfrm>
            <a:off x="203130" y="919367"/>
            <a:ext cx="4291066" cy="311560"/>
            <a:chOff x="573784" y="2158310"/>
            <a:chExt cx="4615164" cy="382520"/>
          </a:xfrm>
        </p:grpSpPr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D9DAA5D6-49B0-4769-91C7-2A1E49626E83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2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설치 예시</a:t>
              </a:r>
            </a:p>
          </p:txBody>
        </p:sp>
        <p:grpSp>
          <p:nvGrpSpPr>
            <p:cNvPr id="22" name="Group 27">
              <a:extLst>
                <a:ext uri="{FF2B5EF4-FFF2-40B4-BE49-F238E27FC236}">
                  <a16:creationId xmlns:a16="http://schemas.microsoft.com/office/drawing/2014/main" id="{E6E37F1E-30B2-42CA-9BCE-308E84BF2B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23" name="Freeform 28">
                <a:extLst>
                  <a:ext uri="{FF2B5EF4-FFF2-40B4-BE49-F238E27FC236}">
                    <a16:creationId xmlns:a16="http://schemas.microsoft.com/office/drawing/2014/main" id="{84D6AD1A-11E2-4E26-94BD-EDCF369C6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4" name="Freeform 29">
                <a:extLst>
                  <a:ext uri="{FF2B5EF4-FFF2-40B4-BE49-F238E27FC236}">
                    <a16:creationId xmlns:a16="http://schemas.microsoft.com/office/drawing/2014/main" id="{C4BC08B0-DAD4-4F5E-B77B-4D5582E56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25" name="Freeform 30">
                <a:extLst>
                  <a:ext uri="{FF2B5EF4-FFF2-40B4-BE49-F238E27FC236}">
                    <a16:creationId xmlns:a16="http://schemas.microsoft.com/office/drawing/2014/main" id="{C12DADEC-C509-4356-A8CB-EA352BD1BB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057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211923" y="673358"/>
            <a:ext cx="4291066" cy="311560"/>
            <a:chOff x="573784" y="2158310"/>
            <a:chExt cx="4615164" cy="382520"/>
          </a:xfrm>
        </p:grpSpPr>
        <p:sp>
          <p:nvSpPr>
            <p:cNvPr id="5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82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서비스 유형</a:t>
              </a:r>
            </a:p>
          </p:txBody>
        </p:sp>
        <p:grpSp>
          <p:nvGrpSpPr>
            <p:cNvPr id="6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7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8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9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44" name="그룹 143"/>
          <p:cNvGrpSpPr/>
          <p:nvPr/>
        </p:nvGrpSpPr>
        <p:grpSpPr>
          <a:xfrm>
            <a:off x="589194" y="1163825"/>
            <a:ext cx="4098422" cy="5099935"/>
            <a:chOff x="416630" y="1144053"/>
            <a:chExt cx="3029424" cy="5004006"/>
          </a:xfrm>
        </p:grpSpPr>
        <p:sp>
          <p:nvSpPr>
            <p:cNvPr id="16" name="사각형: 둥근 모서리 161">
              <a:extLst>
                <a:ext uri="{FF2B5EF4-FFF2-40B4-BE49-F238E27FC236}">
                  <a16:creationId xmlns:a16="http://schemas.microsoft.com/office/drawing/2014/main" id="{6E19D037-B450-42E8-A1F9-3A425FC82A24}"/>
                </a:ext>
              </a:extLst>
            </p:cNvPr>
            <p:cNvSpPr/>
            <p:nvPr/>
          </p:nvSpPr>
          <p:spPr>
            <a:xfrm flipH="1">
              <a:off x="480560" y="1144053"/>
              <a:ext cx="2965494" cy="5004006"/>
            </a:xfrm>
            <a:prstGeom prst="roundRect">
              <a:avLst>
                <a:gd name="adj" fmla="val 3433"/>
              </a:avLst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152400" dist="88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745CB377-76BA-46F9-87DC-84E4F4B48D7F}"/>
                </a:ext>
              </a:extLst>
            </p:cNvPr>
            <p:cNvGrpSpPr/>
            <p:nvPr/>
          </p:nvGrpSpPr>
          <p:grpSpPr>
            <a:xfrm>
              <a:off x="416630" y="1206896"/>
              <a:ext cx="617635" cy="271798"/>
              <a:chOff x="3191893" y="6444349"/>
              <a:chExt cx="699876" cy="268425"/>
            </a:xfrm>
          </p:grpSpPr>
          <p:sp>
            <p:nvSpPr>
              <p:cNvPr id="20" name="이등변 삼각형 19">
                <a:extLst>
                  <a:ext uri="{FF2B5EF4-FFF2-40B4-BE49-F238E27FC236}">
                    <a16:creationId xmlns:a16="http://schemas.microsoft.com/office/drawing/2014/main" id="{E825E747-74E3-4BA7-8119-8416C62C9663}"/>
                  </a:ext>
                </a:extLst>
              </p:cNvPr>
              <p:cNvSpPr/>
              <p:nvPr/>
            </p:nvSpPr>
            <p:spPr>
              <a:xfrm rot="16200000">
                <a:off x="3194053" y="6643174"/>
                <a:ext cx="67574" cy="71625"/>
              </a:xfrm>
              <a:prstGeom prst="triangle">
                <a:avLst/>
              </a:prstGeom>
              <a:solidFill>
                <a:srgbClr val="333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29DDE03-B3A2-4D55-AAAB-E1BCE199E92F}"/>
                  </a:ext>
                </a:extLst>
              </p:cNvPr>
              <p:cNvSpPr/>
              <p:nvPr/>
            </p:nvSpPr>
            <p:spPr>
              <a:xfrm>
                <a:off x="3191893" y="6444349"/>
                <a:ext cx="699876" cy="2343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b="1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TYPE 1</a:t>
                </a:r>
              </a:p>
            </p:txBody>
          </p:sp>
        </p:grpSp>
      </p:grpSp>
      <p:grpSp>
        <p:nvGrpSpPr>
          <p:cNvPr id="145" name="그룹 144"/>
          <p:cNvGrpSpPr/>
          <p:nvPr/>
        </p:nvGrpSpPr>
        <p:grpSpPr>
          <a:xfrm>
            <a:off x="5123709" y="1156856"/>
            <a:ext cx="4153181" cy="5106900"/>
            <a:chOff x="3635385" y="1133944"/>
            <a:chExt cx="3021319" cy="5010840"/>
          </a:xfrm>
        </p:grpSpPr>
        <p:sp>
          <p:nvSpPr>
            <p:cNvPr id="17" name="사각형: 둥근 모서리 161">
              <a:extLst>
                <a:ext uri="{FF2B5EF4-FFF2-40B4-BE49-F238E27FC236}">
                  <a16:creationId xmlns:a16="http://schemas.microsoft.com/office/drawing/2014/main" id="{6E19D037-B450-42E8-A1F9-3A425FC82A24}"/>
                </a:ext>
              </a:extLst>
            </p:cNvPr>
            <p:cNvSpPr/>
            <p:nvPr/>
          </p:nvSpPr>
          <p:spPr>
            <a:xfrm flipH="1">
              <a:off x="3690304" y="1133944"/>
              <a:ext cx="2966400" cy="5010840"/>
            </a:xfrm>
            <a:prstGeom prst="roundRect">
              <a:avLst>
                <a:gd name="adj" fmla="val 3433"/>
              </a:avLst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152400" dist="88900" dir="2700000" algn="tl" rotWithShape="0">
                <a:prstClr val="black">
                  <a:alpha val="1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G스마트체 Regular" panose="020B0600000101010101" pitchFamily="50" charset="-127"/>
                <a:ea typeface="LG스마트체 Regular" panose="020B0600000101010101" pitchFamily="50" charset="-127"/>
                <a:cs typeface="+mn-cs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745CB377-76BA-46F9-87DC-84E4F4B48D7F}"/>
                </a:ext>
              </a:extLst>
            </p:cNvPr>
            <p:cNvGrpSpPr/>
            <p:nvPr/>
          </p:nvGrpSpPr>
          <p:grpSpPr>
            <a:xfrm>
              <a:off x="3635385" y="1206896"/>
              <a:ext cx="617635" cy="271798"/>
              <a:chOff x="3191893" y="6444349"/>
              <a:chExt cx="699876" cy="268425"/>
            </a:xfrm>
          </p:grpSpPr>
          <p:sp>
            <p:nvSpPr>
              <p:cNvPr id="24" name="이등변 삼각형 23">
                <a:extLst>
                  <a:ext uri="{FF2B5EF4-FFF2-40B4-BE49-F238E27FC236}">
                    <a16:creationId xmlns:a16="http://schemas.microsoft.com/office/drawing/2014/main" id="{E825E747-74E3-4BA7-8119-8416C62C9663}"/>
                  </a:ext>
                </a:extLst>
              </p:cNvPr>
              <p:cNvSpPr/>
              <p:nvPr/>
            </p:nvSpPr>
            <p:spPr>
              <a:xfrm rot="16200000">
                <a:off x="3194053" y="6643174"/>
                <a:ext cx="67574" cy="71625"/>
              </a:xfrm>
              <a:prstGeom prst="triangle">
                <a:avLst/>
              </a:prstGeom>
              <a:solidFill>
                <a:srgbClr val="333E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G스마트체 SemiBold" panose="020B0600000101010101" pitchFamily="50" charset="-127"/>
                  <a:ea typeface="LG스마트체 SemiBold" panose="020B0600000101010101" pitchFamily="50" charset="-127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129DDE03-B3A2-4D55-AAAB-E1BCE199E92F}"/>
                  </a:ext>
                </a:extLst>
              </p:cNvPr>
              <p:cNvSpPr/>
              <p:nvPr/>
            </p:nvSpPr>
            <p:spPr>
              <a:xfrm>
                <a:off x="3191893" y="6444349"/>
                <a:ext cx="699876" cy="234386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 latinLnBrk="1">
                  <a:defRPr/>
                </a:pPr>
                <a:r>
                  <a:rPr lang="en-US" altLang="ko-KR" sz="1000" b="1" i="1" dirty="0">
                    <a:ln>
                      <a:solidFill>
                        <a:prstClr val="white">
                          <a:lumMod val="85000"/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latin typeface="LG스마트체 SemiBold" panose="020B0600000101010101" pitchFamily="50" charset="-127"/>
                    <a:ea typeface="LG스마트체 SemiBold" panose="020B0600000101010101" pitchFamily="50" charset="-127"/>
                  </a:rPr>
                  <a:t>TYPE 2</a:t>
                </a:r>
              </a:p>
            </p:txBody>
          </p:sp>
        </p:grp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919625" y="4038146"/>
            <a:ext cx="3789183" cy="6822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조리기구의 실시간 온도 확인 가능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디지털 수치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주방 관리자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급식매니저 등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의한 화재 예방 중심의 안전 관리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기본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무상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A/S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337383" y="2864175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6484593" y="1411223"/>
            <a:ext cx="14249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“Standard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1979146" y="1418192"/>
            <a:ext cx="129542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“Basic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747C12-946A-41A1-BCF4-94158CC0115B}"/>
              </a:ext>
            </a:extLst>
          </p:cNvPr>
          <p:cNvSpPr txBox="1"/>
          <p:nvPr/>
        </p:nvSpPr>
        <p:spPr>
          <a:xfrm>
            <a:off x="5519652" y="4029570"/>
            <a:ext cx="3923496" cy="836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원격 모니터링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알림 서비스로 이중 안심 관리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소유주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소방안전관리자와 경보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Data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공유를 통한 합동 안전 관리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약정 기간동안 구독서비스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정기점검 및 유지관리비 포함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통한 </a:t>
            </a:r>
            <a:b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초기 투자 비용 및 추가 부담 완화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701639" y="1979551"/>
            <a:ext cx="2227744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lvl="0" algn="ctr">
              <a:spcAft>
                <a:spcPts val="600"/>
              </a:spcAft>
              <a:defRPr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sz="10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 운용만 가능한 단독형 서비스</a:t>
            </a:r>
          </a:p>
        </p:txBody>
      </p:sp>
      <p:cxnSp>
        <p:nvCxnSpPr>
          <p:cNvPr id="167" name="직선 연결선 166"/>
          <p:cNvCxnSpPr/>
          <p:nvPr/>
        </p:nvCxnSpPr>
        <p:spPr>
          <a:xfrm>
            <a:off x="1337383" y="1944986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6010560" y="1972582"/>
            <a:ext cx="2592000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 lvl="0" algn="ctr">
              <a:spcAft>
                <a:spcPts val="600"/>
              </a:spcAft>
              <a:defRPr sz="1600" b="1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defRPr>
            </a:lvl1pPr>
          </a:lstStyle>
          <a:p>
            <a:r>
              <a:rPr lang="ko-KR" altLang="en-US" sz="1000" b="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원격모니터링이 가능한 네트워크형 서비스</a:t>
            </a:r>
          </a:p>
        </p:txBody>
      </p:sp>
      <p:cxnSp>
        <p:nvCxnSpPr>
          <p:cNvPr id="190" name="직선 연결선 189"/>
          <p:cNvCxnSpPr/>
          <p:nvPr/>
        </p:nvCxnSpPr>
        <p:spPr>
          <a:xfrm>
            <a:off x="5886714" y="2846299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/>
          <p:cNvCxnSpPr/>
          <p:nvPr/>
        </p:nvCxnSpPr>
        <p:spPr>
          <a:xfrm>
            <a:off x="5931555" y="1938017"/>
            <a:ext cx="2592000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19625" y="5439524"/>
            <a:ext cx="3344644" cy="5040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noFill/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회성 투자로 주방안전관리를 확보하고 싶은 고객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</a:p>
          <a:p>
            <a:pPr algn="ctr"/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곰탕 등 조리시간이 길어서 자리를 비우기 쉬운 음식점주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43300" y="5439524"/>
            <a:ext cx="3526519" cy="504000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 w="3175">
            <a:noFill/>
          </a:ln>
          <a:effectLst/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전문조직에게 주방안전관리를 위탁하고 싶은 고객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</a:p>
          <a:p>
            <a:pPr algn="ctr"/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비상주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1050" b="1" spc="-70" dirty="0" err="1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다빌딩</a:t>
            </a:r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등 중앙 조직에서 안전 </a:t>
            </a:r>
            <a:r>
              <a:rPr lang="en-US" altLang="ko-KR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Data </a:t>
            </a:r>
            <a:r>
              <a:rPr lang="ko-KR" altLang="en-US" sz="1050" b="1" spc="-70" dirty="0">
                <a:solidFill>
                  <a:schemeClr val="tx2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관리를 원하는 고객</a:t>
            </a:r>
          </a:p>
        </p:txBody>
      </p:sp>
      <p:cxnSp>
        <p:nvCxnSpPr>
          <p:cNvPr id="39" name="직선 연결선 38"/>
          <p:cNvCxnSpPr/>
          <p:nvPr/>
        </p:nvCxnSpPr>
        <p:spPr>
          <a:xfrm>
            <a:off x="1337383" y="5256676"/>
            <a:ext cx="265455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5882693" y="5256676"/>
            <a:ext cx="2654554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32A78CB-0E91-493F-A63C-E68CEC4F2C5C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주방 화재 예방 솔루션 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자동 가스 차단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서비스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B3E6DE1-5980-45FA-8323-E86631371C3F}"/>
              </a:ext>
            </a:extLst>
          </p:cNvPr>
          <p:cNvGrpSpPr/>
          <p:nvPr/>
        </p:nvGrpSpPr>
        <p:grpSpPr>
          <a:xfrm>
            <a:off x="2077844" y="2267864"/>
            <a:ext cx="1190487" cy="539635"/>
            <a:chOff x="1550305" y="2188736"/>
            <a:chExt cx="1190487" cy="539635"/>
          </a:xfrm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1550305" y="2528316"/>
              <a:ext cx="1190487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원격 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X    </a:t>
              </a: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로컬경보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</a:t>
              </a:r>
            </a:p>
          </p:txBody>
        </p:sp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A651455D-137C-4D59-B00B-40B8DB542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922224" y="2188736"/>
              <a:ext cx="446647" cy="341554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36C8A6F-B912-475C-A903-3692BBC1DF1A}"/>
              </a:ext>
            </a:extLst>
          </p:cNvPr>
          <p:cNvGrpSpPr/>
          <p:nvPr/>
        </p:nvGrpSpPr>
        <p:grpSpPr>
          <a:xfrm>
            <a:off x="6559417" y="2223360"/>
            <a:ext cx="1190487" cy="539635"/>
            <a:chOff x="1550305" y="2188736"/>
            <a:chExt cx="1190487" cy="53963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BB20FB2-E8C6-4430-A5ED-C96C835F8D71}"/>
                </a:ext>
              </a:extLst>
            </p:cNvPr>
            <p:cNvSpPr txBox="1"/>
            <p:nvPr/>
          </p:nvSpPr>
          <p:spPr>
            <a:xfrm>
              <a:off x="1550305" y="2528316"/>
              <a:ext cx="1190487" cy="20005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원격 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    </a:t>
              </a:r>
              <a:r>
                <a:rPr lang="ko-KR" altLang="en-US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로컬경보  </a:t>
              </a:r>
              <a:r>
                <a:rPr lang="en-US" altLang="ko-KR" sz="7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O</a:t>
              </a: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1BBBCD17-45EA-47AB-BE80-0C0708165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922224" y="2188736"/>
              <a:ext cx="446647" cy="341554"/>
            </a:xfrm>
            <a:prstGeom prst="rect">
              <a:avLst/>
            </a:prstGeom>
          </p:spPr>
        </p:pic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BD335F49-6056-459F-9EE7-DC2F627CE8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65528" y="3093396"/>
            <a:ext cx="1469857" cy="622394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9F992A88-8F84-427F-9115-F833E1DD37F5}"/>
              </a:ext>
            </a:extLst>
          </p:cNvPr>
          <p:cNvGrpSpPr/>
          <p:nvPr/>
        </p:nvGrpSpPr>
        <p:grpSpPr>
          <a:xfrm>
            <a:off x="5924710" y="3027947"/>
            <a:ext cx="2663367" cy="831730"/>
            <a:chOff x="6012630" y="2948819"/>
            <a:chExt cx="2663367" cy="831730"/>
          </a:xfrm>
        </p:grpSpPr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7396441" y="3123130"/>
              <a:ext cx="361182" cy="30777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en-US" altLang="ko-KR" sz="1400" b="1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+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A6747C12-946A-41A1-BCF4-94158CC0115B}"/>
                </a:ext>
              </a:extLst>
            </p:cNvPr>
            <p:cNvSpPr txBox="1"/>
            <p:nvPr/>
          </p:nvSpPr>
          <p:spPr>
            <a:xfrm>
              <a:off x="7789534" y="3441995"/>
              <a:ext cx="850365" cy="33855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lvl="0" algn="ctr">
                <a:spcAft>
                  <a:spcPts val="600"/>
                </a:spcAft>
              </a:pPr>
              <a:r>
                <a:rPr lang="ko-KR" altLang="en-US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소방안전관리자 </a:t>
              </a:r>
              <a:r>
                <a:rPr lang="en-US" altLang="ko-KR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/ </a:t>
              </a:r>
              <a:r>
                <a:rPr lang="ko-KR" altLang="en-US" sz="800" spc="-80" dirty="0">
                  <a:ln w="3175">
                    <a:solidFill>
                      <a:srgbClr val="1A2A56">
                        <a:alpha val="10000"/>
                      </a:srgbClr>
                    </a:solidFill>
                  </a:ln>
                  <a:solidFill>
                    <a:srgbClr val="697290"/>
                  </a:solidFill>
                  <a:latin typeface="LG스마트체 SemiBold" panose="020B0600000101010101" pitchFamily="50" charset="-127"/>
                  <a:ea typeface="LG스마트체 SemiBold" panose="020B0600000101010101" pitchFamily="50" charset="-127"/>
                </a:rPr>
                <a:t>관제센터</a:t>
              </a:r>
              <a:endParaRPr lang="en-US" altLang="ko-KR" sz="800" spc="-80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697290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endParaRPr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657AB87F-648F-4D1E-A427-A55F0457F537}"/>
                </a:ext>
              </a:extLst>
            </p:cNvPr>
            <p:cNvSpPr/>
            <p:nvPr/>
          </p:nvSpPr>
          <p:spPr>
            <a:xfrm>
              <a:off x="7715325" y="2957142"/>
              <a:ext cx="523432" cy="52343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321750" rIns="0" bIns="0" rtlCol="0" anchor="ctr"/>
            <a:lstStyle/>
            <a:p>
              <a:pPr algn="ctr"/>
              <a:endParaRPr lang="ko-KR" altLang="en-US" sz="800" b="1" spc="-41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endParaRPr>
            </a:p>
          </p:txBody>
        </p:sp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C5DB6A10-0F2C-4196-92EB-5EAB39DC0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rgbClr val="D9C3A5">
                  <a:tint val="50000"/>
                  <a:satMod val="18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534" y="3023494"/>
              <a:ext cx="375013" cy="375013"/>
            </a:xfrm>
            <a:prstGeom prst="rect">
              <a:avLst/>
            </a:prstGeom>
          </p:spPr>
        </p:pic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AFC58B68-C20F-430F-99D9-BC5486A7FD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2564" y="2948819"/>
              <a:ext cx="523433" cy="523433"/>
            </a:xfrm>
            <a:prstGeom prst="ellipse">
              <a:avLst/>
            </a:prstGeom>
            <a:blipFill>
              <a:blip r:embed="rId5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a:blipFill>
            <a:ln w="15875">
              <a:gradFill flip="none" rotWithShape="1">
                <a:gsLst>
                  <a:gs pos="49000">
                    <a:srgbClr val="C00C3F"/>
                  </a:gs>
                  <a:gs pos="50000">
                    <a:schemeClr val="tx1">
                      <a:lumMod val="50000"/>
                      <a:lumOff val="50000"/>
                    </a:schemeClr>
                  </a:gs>
                </a:gsLst>
                <a:lin ang="540000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pic>
          <p:nvPicPr>
            <p:cNvPr id="62" name="그림 61">
              <a:extLst>
                <a:ext uri="{FF2B5EF4-FFF2-40B4-BE49-F238E27FC236}">
                  <a16:creationId xmlns:a16="http://schemas.microsoft.com/office/drawing/2014/main" id="{87D816EC-4A4D-4DFC-83FF-F667D7E018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6012630" y="2960124"/>
              <a:ext cx="1419776" cy="622394"/>
            </a:xfrm>
            <a:prstGeom prst="rect">
              <a:avLst/>
            </a:prstGeom>
          </p:spPr>
        </p:pic>
      </p:grpSp>
      <p:graphicFrame>
        <p:nvGraphicFramePr>
          <p:cNvPr id="64" name="표 63">
            <a:extLst>
              <a:ext uri="{FF2B5EF4-FFF2-40B4-BE49-F238E27FC236}">
                <a16:creationId xmlns:a16="http://schemas.microsoft.com/office/drawing/2014/main" id="{B05DF770-53D2-40D1-81DF-9ECDF815F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590503"/>
              </p:ext>
            </p:extLst>
          </p:nvPr>
        </p:nvGraphicFramePr>
        <p:xfrm>
          <a:off x="5511141" y="4693305"/>
          <a:ext cx="3475234" cy="510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234">
                  <a:extLst>
                    <a:ext uri="{9D8B030D-6E8A-4147-A177-3AD203B41FA5}">
                      <a16:colId xmlns:a16="http://schemas.microsoft.com/office/drawing/2014/main" val="2806634083"/>
                    </a:ext>
                  </a:extLst>
                </a:gridCol>
              </a:tblGrid>
              <a:tr h="510762">
                <a:tc>
                  <a:txBody>
                    <a:bodyPr/>
                    <a:lstStyle/>
                    <a:p>
                      <a:pPr marL="0" indent="0" algn="l" fontAlgn="ctr"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※ 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계약 세부 조건은 사전 물량 조사 후 업체와 협의 예정</a:t>
                      </a:r>
                      <a:endParaRPr lang="ko-KR" altLang="en-US" sz="7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144000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36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871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32DB2A45-E413-4121-A363-301538D4926B}"/>
              </a:ext>
            </a:extLst>
          </p:cNvPr>
          <p:cNvGrpSpPr/>
          <p:nvPr/>
        </p:nvGrpSpPr>
        <p:grpSpPr>
          <a:xfrm>
            <a:off x="444773" y="872604"/>
            <a:ext cx="3759017" cy="312393"/>
            <a:chOff x="573784" y="2158310"/>
            <a:chExt cx="4615164" cy="359341"/>
          </a:xfrm>
        </p:grpSpPr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602041CA-5439-4805-8EEC-24F2CC10E649}"/>
                </a:ext>
              </a:extLst>
            </p:cNvPr>
            <p:cNvSpPr txBox="1"/>
            <p:nvPr/>
          </p:nvSpPr>
          <p:spPr>
            <a:xfrm>
              <a:off x="740697" y="2158310"/>
              <a:ext cx="4448251" cy="3593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lnSpc>
                  <a:spcPct val="13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견적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(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)_ 1set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기준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0">
                        <a:prstClr val="black">
                          <a:lumMod val="85000"/>
                          <a:lumOff val="15000"/>
                        </a:prstClr>
                      </a:gs>
                      <a:gs pos="100000">
                        <a:prstClr val="black">
                          <a:lumMod val="85000"/>
                          <a:lumOff val="15000"/>
                        </a:prstClr>
                      </a:gs>
                    </a:gsLst>
                    <a:lin ang="5400000" scaled="0"/>
                  </a:gradFill>
                  <a:latin typeface="LG스마트체 Regular" panose="020B0600000101010101" pitchFamily="50" charset="-127"/>
                  <a:ea typeface="LG스마트체 Regular" panose="020B0600000101010101" pitchFamily="50" charset="-127"/>
                  <a:cs typeface="Arial" panose="020B0604020202020204" pitchFamily="34" charset="0"/>
                </a:rPr>
                <a:t> </a:t>
              </a:r>
              <a:endPara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prstClr val="black">
                        <a:lumMod val="85000"/>
                        <a:lumOff val="15000"/>
                      </a:prstClr>
                    </a:gs>
                    <a:gs pos="100000">
                      <a:prstClr val="black">
                        <a:lumMod val="85000"/>
                        <a:lumOff val="15000"/>
                      </a:prstClr>
                    </a:gs>
                  </a:gsLst>
                  <a:lin ang="5400000" scaled="0"/>
                </a:gra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endParaRPr>
            </a:p>
          </p:txBody>
        </p:sp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35EEC201-1EFB-4D27-90BA-1A1E5B93C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3784" y="2268976"/>
              <a:ext cx="184808" cy="181628"/>
              <a:chOff x="3160" y="1504"/>
              <a:chExt cx="1337" cy="1314"/>
            </a:xfrm>
            <a:solidFill>
              <a:schemeClr val="bg1">
                <a:lumMod val="85000"/>
              </a:schemeClr>
            </a:solidFill>
          </p:grpSpPr>
          <p:sp>
            <p:nvSpPr>
              <p:cNvPr id="10" name="Freeform 28">
                <a:extLst>
                  <a:ext uri="{FF2B5EF4-FFF2-40B4-BE49-F238E27FC236}">
                    <a16:creationId xmlns:a16="http://schemas.microsoft.com/office/drawing/2014/main" id="{064B8191-3969-4B8C-B8A0-15CAAB14F3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1731"/>
                <a:ext cx="1008" cy="1087"/>
              </a:xfrm>
              <a:custGeom>
                <a:avLst/>
                <a:gdLst>
                  <a:gd name="T0" fmla="*/ 284 w 423"/>
                  <a:gd name="T1" fmla="*/ 427 h 456"/>
                  <a:gd name="T2" fmla="*/ 229 w 423"/>
                  <a:gd name="T3" fmla="*/ 405 h 456"/>
                  <a:gd name="T4" fmla="*/ 126 w 423"/>
                  <a:gd name="T5" fmla="*/ 271 h 456"/>
                  <a:gd name="T6" fmla="*/ 148 w 423"/>
                  <a:gd name="T7" fmla="*/ 101 h 456"/>
                  <a:gd name="T8" fmla="*/ 264 w 423"/>
                  <a:gd name="T9" fmla="*/ 3 h 456"/>
                  <a:gd name="T10" fmla="*/ 230 w 423"/>
                  <a:gd name="T11" fmla="*/ 0 h 456"/>
                  <a:gd name="T12" fmla="*/ 125 w 423"/>
                  <a:gd name="T13" fmla="*/ 28 h 456"/>
                  <a:gd name="T14" fmla="*/ 80 w 423"/>
                  <a:gd name="T15" fmla="*/ 63 h 456"/>
                  <a:gd name="T16" fmla="*/ 46 w 423"/>
                  <a:gd name="T17" fmla="*/ 317 h 456"/>
                  <a:gd name="T18" fmla="*/ 48 w 423"/>
                  <a:gd name="T19" fmla="*/ 319 h 456"/>
                  <a:gd name="T20" fmla="*/ 285 w 423"/>
                  <a:gd name="T21" fmla="*/ 456 h 456"/>
                  <a:gd name="T22" fmla="*/ 423 w 423"/>
                  <a:gd name="T23" fmla="*/ 419 h 456"/>
                  <a:gd name="T24" fmla="*/ 284 w 423"/>
                  <a:gd name="T25" fmla="*/ 427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23" h="456">
                    <a:moveTo>
                      <a:pt x="284" y="427"/>
                    </a:moveTo>
                    <a:cubicBezTo>
                      <a:pt x="265" y="422"/>
                      <a:pt x="246" y="415"/>
                      <a:pt x="229" y="405"/>
                    </a:cubicBezTo>
                    <a:cubicBezTo>
                      <a:pt x="178" y="375"/>
                      <a:pt x="141" y="328"/>
                      <a:pt x="126" y="271"/>
                    </a:cubicBezTo>
                    <a:cubicBezTo>
                      <a:pt x="110" y="213"/>
                      <a:pt x="118" y="153"/>
                      <a:pt x="148" y="101"/>
                    </a:cubicBezTo>
                    <a:cubicBezTo>
                      <a:pt x="174" y="55"/>
                      <a:pt x="215" y="21"/>
                      <a:pt x="264" y="3"/>
                    </a:cubicBezTo>
                    <a:cubicBezTo>
                      <a:pt x="253" y="1"/>
                      <a:pt x="242" y="0"/>
                      <a:pt x="230" y="0"/>
                    </a:cubicBezTo>
                    <a:cubicBezTo>
                      <a:pt x="193" y="0"/>
                      <a:pt x="157" y="10"/>
                      <a:pt x="125" y="28"/>
                    </a:cubicBezTo>
                    <a:cubicBezTo>
                      <a:pt x="108" y="38"/>
                      <a:pt x="93" y="50"/>
                      <a:pt x="80" y="63"/>
                    </a:cubicBezTo>
                    <a:cubicBezTo>
                      <a:pt x="13" y="130"/>
                      <a:pt x="0" y="235"/>
                      <a:pt x="46" y="317"/>
                    </a:cubicBezTo>
                    <a:cubicBezTo>
                      <a:pt x="48" y="319"/>
                      <a:pt x="48" y="319"/>
                      <a:pt x="48" y="319"/>
                    </a:cubicBezTo>
                    <a:cubicBezTo>
                      <a:pt x="97" y="403"/>
                      <a:pt x="188" y="456"/>
                      <a:pt x="285" y="456"/>
                    </a:cubicBezTo>
                    <a:cubicBezTo>
                      <a:pt x="334" y="456"/>
                      <a:pt x="381" y="443"/>
                      <a:pt x="423" y="419"/>
                    </a:cubicBezTo>
                    <a:cubicBezTo>
                      <a:pt x="379" y="436"/>
                      <a:pt x="330" y="439"/>
                      <a:pt x="284" y="4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1" name="Freeform 29">
                <a:extLst>
                  <a:ext uri="{FF2B5EF4-FFF2-40B4-BE49-F238E27FC236}">
                    <a16:creationId xmlns:a16="http://schemas.microsoft.com/office/drawing/2014/main" id="{37389AE7-649D-418A-B2E3-B1A53596F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504"/>
                <a:ext cx="1160" cy="825"/>
              </a:xfrm>
              <a:custGeom>
                <a:avLst/>
                <a:gdLst>
                  <a:gd name="T0" fmla="*/ 277 w 487"/>
                  <a:gd name="T1" fmla="*/ 92 h 346"/>
                  <a:gd name="T2" fmla="*/ 413 w 487"/>
                  <a:gd name="T3" fmla="*/ 196 h 346"/>
                  <a:gd name="T4" fmla="*/ 440 w 487"/>
                  <a:gd name="T5" fmla="*/ 346 h 346"/>
                  <a:gd name="T6" fmla="*/ 487 w 487"/>
                  <a:gd name="T7" fmla="*/ 212 h 346"/>
                  <a:gd name="T8" fmla="*/ 480 w 487"/>
                  <a:gd name="T9" fmla="*/ 156 h 346"/>
                  <a:gd name="T10" fmla="*/ 275 w 487"/>
                  <a:gd name="T11" fmla="*/ 0 h 346"/>
                  <a:gd name="T12" fmla="*/ 265 w 487"/>
                  <a:gd name="T13" fmla="*/ 0 h 346"/>
                  <a:gd name="T14" fmla="*/ 77 w 487"/>
                  <a:gd name="T15" fmla="*/ 84 h 346"/>
                  <a:gd name="T16" fmla="*/ 0 w 487"/>
                  <a:gd name="T17" fmla="*/ 275 h 346"/>
                  <a:gd name="T18" fmla="*/ 0 w 487"/>
                  <a:gd name="T19" fmla="*/ 278 h 346"/>
                  <a:gd name="T20" fmla="*/ 62 w 487"/>
                  <a:gd name="T21" fmla="*/ 151 h 346"/>
                  <a:gd name="T22" fmla="*/ 109 w 487"/>
                  <a:gd name="T23" fmla="*/ 114 h 346"/>
                  <a:gd name="T24" fmla="*/ 220 w 487"/>
                  <a:gd name="T25" fmla="*/ 84 h 346"/>
                  <a:gd name="T26" fmla="*/ 277 w 487"/>
                  <a:gd name="T27" fmla="*/ 92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87" h="346">
                    <a:moveTo>
                      <a:pt x="277" y="92"/>
                    </a:moveTo>
                    <a:cubicBezTo>
                      <a:pt x="335" y="107"/>
                      <a:pt x="383" y="144"/>
                      <a:pt x="413" y="196"/>
                    </a:cubicBezTo>
                    <a:cubicBezTo>
                      <a:pt x="440" y="241"/>
                      <a:pt x="449" y="294"/>
                      <a:pt x="440" y="346"/>
                    </a:cubicBezTo>
                    <a:cubicBezTo>
                      <a:pt x="471" y="308"/>
                      <a:pt x="487" y="261"/>
                      <a:pt x="487" y="212"/>
                    </a:cubicBezTo>
                    <a:cubicBezTo>
                      <a:pt x="487" y="193"/>
                      <a:pt x="485" y="174"/>
                      <a:pt x="480" y="156"/>
                    </a:cubicBezTo>
                    <a:cubicBezTo>
                      <a:pt x="455" y="64"/>
                      <a:pt x="371" y="0"/>
                      <a:pt x="275" y="0"/>
                    </a:cubicBezTo>
                    <a:cubicBezTo>
                      <a:pt x="272" y="0"/>
                      <a:pt x="269" y="0"/>
                      <a:pt x="265" y="0"/>
                    </a:cubicBezTo>
                    <a:cubicBezTo>
                      <a:pt x="194" y="3"/>
                      <a:pt x="127" y="32"/>
                      <a:pt x="77" y="84"/>
                    </a:cubicBezTo>
                    <a:cubicBezTo>
                      <a:pt x="28" y="136"/>
                      <a:pt x="0" y="203"/>
                      <a:pt x="0" y="275"/>
                    </a:cubicBezTo>
                    <a:cubicBezTo>
                      <a:pt x="0" y="276"/>
                      <a:pt x="0" y="277"/>
                      <a:pt x="0" y="278"/>
                    </a:cubicBezTo>
                    <a:cubicBezTo>
                      <a:pt x="7" y="230"/>
                      <a:pt x="28" y="185"/>
                      <a:pt x="62" y="151"/>
                    </a:cubicBezTo>
                    <a:cubicBezTo>
                      <a:pt x="76" y="136"/>
                      <a:pt x="92" y="124"/>
                      <a:pt x="109" y="114"/>
                    </a:cubicBezTo>
                    <a:cubicBezTo>
                      <a:pt x="143" y="95"/>
                      <a:pt x="181" y="84"/>
                      <a:pt x="220" y="84"/>
                    </a:cubicBezTo>
                    <a:cubicBezTo>
                      <a:pt x="239" y="84"/>
                      <a:pt x="258" y="87"/>
                      <a:pt x="277" y="92"/>
                    </a:cubicBezTo>
                    <a:close/>
                  </a:path>
                </a:pathLst>
              </a:custGeom>
              <a:solidFill>
                <a:srgbClr val="A500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" name="Freeform 30">
                <a:extLst>
                  <a:ext uri="{FF2B5EF4-FFF2-40B4-BE49-F238E27FC236}">
                    <a16:creationId xmlns:a16="http://schemas.microsoft.com/office/drawing/2014/main" id="{05FDCC94-4B87-4C05-A2F6-709A284E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593"/>
                <a:ext cx="999" cy="1149"/>
              </a:xfrm>
              <a:custGeom>
                <a:avLst/>
                <a:gdLst>
                  <a:gd name="T0" fmla="*/ 342 w 419"/>
                  <a:gd name="T1" fmla="*/ 47 h 482"/>
                  <a:gd name="T2" fmla="*/ 282 w 419"/>
                  <a:gd name="T3" fmla="*/ 0 h 482"/>
                  <a:gd name="T4" fmla="*/ 358 w 419"/>
                  <a:gd name="T5" fmla="*/ 116 h 482"/>
                  <a:gd name="T6" fmla="*/ 366 w 419"/>
                  <a:gd name="T7" fmla="*/ 175 h 482"/>
                  <a:gd name="T8" fmla="*/ 302 w 419"/>
                  <a:gd name="T9" fmla="*/ 331 h 482"/>
                  <a:gd name="T10" fmla="*/ 143 w 419"/>
                  <a:gd name="T11" fmla="*/ 397 h 482"/>
                  <a:gd name="T12" fmla="*/ 0 w 419"/>
                  <a:gd name="T13" fmla="*/ 345 h 482"/>
                  <a:gd name="T14" fmla="*/ 93 w 419"/>
                  <a:gd name="T15" fmla="*/ 454 h 482"/>
                  <a:gd name="T16" fmla="*/ 145 w 419"/>
                  <a:gd name="T17" fmla="*/ 475 h 482"/>
                  <a:gd name="T18" fmla="*/ 198 w 419"/>
                  <a:gd name="T19" fmla="*/ 482 h 482"/>
                  <a:gd name="T20" fmla="*/ 198 w 419"/>
                  <a:gd name="T21" fmla="*/ 482 h 482"/>
                  <a:gd name="T22" fmla="*/ 381 w 419"/>
                  <a:gd name="T23" fmla="*/ 377 h 482"/>
                  <a:gd name="T24" fmla="*/ 383 w 419"/>
                  <a:gd name="T25" fmla="*/ 375 h 482"/>
                  <a:gd name="T26" fmla="*/ 419 w 419"/>
                  <a:gd name="T27" fmla="*/ 238 h 482"/>
                  <a:gd name="T28" fmla="*/ 342 w 419"/>
                  <a:gd name="T29" fmla="*/ 4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19" h="482">
                    <a:moveTo>
                      <a:pt x="342" y="47"/>
                    </a:moveTo>
                    <a:cubicBezTo>
                      <a:pt x="324" y="28"/>
                      <a:pt x="303" y="13"/>
                      <a:pt x="282" y="0"/>
                    </a:cubicBezTo>
                    <a:cubicBezTo>
                      <a:pt x="319" y="29"/>
                      <a:pt x="345" y="69"/>
                      <a:pt x="358" y="116"/>
                    </a:cubicBezTo>
                    <a:cubicBezTo>
                      <a:pt x="363" y="135"/>
                      <a:pt x="366" y="155"/>
                      <a:pt x="366" y="175"/>
                    </a:cubicBezTo>
                    <a:cubicBezTo>
                      <a:pt x="366" y="234"/>
                      <a:pt x="343" y="289"/>
                      <a:pt x="302" y="331"/>
                    </a:cubicBezTo>
                    <a:cubicBezTo>
                      <a:pt x="260" y="374"/>
                      <a:pt x="203" y="397"/>
                      <a:pt x="143" y="397"/>
                    </a:cubicBezTo>
                    <a:cubicBezTo>
                      <a:pt x="91" y="397"/>
                      <a:pt x="40" y="379"/>
                      <a:pt x="0" y="345"/>
                    </a:cubicBezTo>
                    <a:cubicBezTo>
                      <a:pt x="18" y="391"/>
                      <a:pt x="50" y="429"/>
                      <a:pt x="93" y="454"/>
                    </a:cubicBezTo>
                    <a:cubicBezTo>
                      <a:pt x="109" y="463"/>
                      <a:pt x="126" y="470"/>
                      <a:pt x="145" y="475"/>
                    </a:cubicBezTo>
                    <a:cubicBezTo>
                      <a:pt x="162" y="480"/>
                      <a:pt x="180" y="482"/>
                      <a:pt x="198" y="482"/>
                    </a:cubicBezTo>
                    <a:cubicBezTo>
                      <a:pt x="198" y="482"/>
                      <a:pt x="198" y="482"/>
                      <a:pt x="198" y="482"/>
                    </a:cubicBezTo>
                    <a:cubicBezTo>
                      <a:pt x="273" y="482"/>
                      <a:pt x="344" y="442"/>
                      <a:pt x="381" y="377"/>
                    </a:cubicBezTo>
                    <a:cubicBezTo>
                      <a:pt x="383" y="375"/>
                      <a:pt x="383" y="375"/>
                      <a:pt x="383" y="375"/>
                    </a:cubicBezTo>
                    <a:cubicBezTo>
                      <a:pt x="406" y="333"/>
                      <a:pt x="419" y="286"/>
                      <a:pt x="419" y="238"/>
                    </a:cubicBezTo>
                    <a:cubicBezTo>
                      <a:pt x="419" y="166"/>
                      <a:pt x="391" y="99"/>
                      <a:pt x="342" y="47"/>
                    </a:cubicBez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1" i="0" u="none" strike="noStrike" kern="1200" cap="none" spc="0" normalizeH="0" baseline="0" noProof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LG스마트체 Regular" panose="020B0600000101010101" pitchFamily="50" charset="-127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55F37C5-A608-4264-B083-D062F1CE36DE}"/>
              </a:ext>
            </a:extLst>
          </p:cNvPr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참고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1) 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세부 견적 내역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안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)</a:t>
            </a:r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06FC8923-BDB2-490B-83C4-07F832C427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917538"/>
              </p:ext>
            </p:extLst>
          </p:nvPr>
        </p:nvGraphicFramePr>
        <p:xfrm>
          <a:off x="595298" y="1209715"/>
          <a:ext cx="5721961" cy="4274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0" name="Worksheet" r:id="rId3" imgW="7305631" imgH="5457943" progId="Excel.Sheet.12">
                  <p:embed/>
                </p:oleObj>
              </mc:Choice>
              <mc:Fallback>
                <p:oleObj name="Worksheet" r:id="rId3" imgW="7305631" imgH="545794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5298" y="1209715"/>
                        <a:ext cx="5721961" cy="4274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AC975496-B117-4C8C-8D12-CFCAB4C14DD2}"/>
              </a:ext>
            </a:extLst>
          </p:cNvPr>
          <p:cNvSpPr/>
          <p:nvPr/>
        </p:nvSpPr>
        <p:spPr>
          <a:xfrm>
            <a:off x="2329962" y="4334608"/>
            <a:ext cx="993530" cy="4835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158DB4D-6BE7-428A-9E71-BA3C9FA9A5C6}"/>
              </a:ext>
            </a:extLst>
          </p:cNvPr>
          <p:cNvSpPr/>
          <p:nvPr/>
        </p:nvSpPr>
        <p:spPr>
          <a:xfrm>
            <a:off x="5323729" y="4334609"/>
            <a:ext cx="993530" cy="9583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495F2F-D551-4994-B783-6EF98A86C9F2}"/>
              </a:ext>
            </a:extLst>
          </p:cNvPr>
          <p:cNvSpPr txBox="1"/>
          <p:nvPr/>
        </p:nvSpPr>
        <p:spPr>
          <a:xfrm>
            <a:off x="6567854" y="2036355"/>
            <a:ext cx="129542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“Basic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1ED7D3-CC7E-4938-B2EF-4BEA19386985}"/>
              </a:ext>
            </a:extLst>
          </p:cNvPr>
          <p:cNvSpPr txBox="1"/>
          <p:nvPr/>
        </p:nvSpPr>
        <p:spPr>
          <a:xfrm>
            <a:off x="6868420" y="2407603"/>
            <a:ext cx="2865463" cy="464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매출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      2,461,000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/1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 err="1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매총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1: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161,000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/1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178F30-6758-486E-8FA6-95E46206D13C}"/>
              </a:ext>
            </a:extLst>
          </p:cNvPr>
          <p:cNvSpPr txBox="1"/>
          <p:nvPr/>
        </p:nvSpPr>
        <p:spPr>
          <a:xfrm>
            <a:off x="6905278" y="3785138"/>
            <a:ext cx="2865463" cy="464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매출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       6,804,000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/3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lvl="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 err="1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매총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1: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447,160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원 </a:t>
            </a:r>
            <a:r>
              <a:rPr lang="en-US" altLang="ko-KR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/3</a:t>
            </a:r>
            <a:r>
              <a:rPr lang="ko-KR" altLang="en-US" sz="1000" dirty="0">
                <a:ln w="3175">
                  <a:solidFill>
                    <a:srgbClr val="1A2A56">
                      <a:alpha val="10000"/>
                    </a:srgbClr>
                  </a:solidFill>
                </a:ln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</a:t>
            </a:r>
            <a:endParaRPr lang="en-US" altLang="ko-KR" sz="1000" dirty="0">
              <a:ln w="3175">
                <a:solidFill>
                  <a:srgbClr val="1A2A56">
                    <a:alpha val="10000"/>
                  </a:srgbClr>
                </a:solidFill>
              </a:ln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D497F2-B832-457F-BD9F-5E788E40E39D}"/>
              </a:ext>
            </a:extLst>
          </p:cNvPr>
          <p:cNvSpPr txBox="1"/>
          <p:nvPr/>
        </p:nvSpPr>
        <p:spPr>
          <a:xfrm>
            <a:off x="6758842" y="3446584"/>
            <a:ext cx="14249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spcAft>
                <a:spcPts val="600"/>
              </a:spcAft>
            </a:pP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“Standard</a:t>
            </a:r>
            <a:r>
              <a:rPr lang="ko-KR" altLang="en-US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 형</a:t>
            </a:r>
            <a:r>
              <a:rPr lang="en-US" altLang="ko-KR" sz="1600" b="1" dirty="0">
                <a:ln w="3175">
                  <a:solidFill>
                    <a:srgbClr val="1A2A56">
                      <a:alpha val="10000"/>
                    </a:srgbClr>
                  </a:solidFill>
                </a:ln>
                <a:solidFill>
                  <a:srgbClr val="1A2A56"/>
                </a:solidFill>
                <a:latin typeface="LG스마트체 SemiBold" panose="020B0600000101010101" pitchFamily="50" charset="-127"/>
                <a:ea typeface="LG스마트체 SemiBold" panose="020B0600000101010101" pitchFamily="50" charset="-127"/>
              </a:rPr>
              <a:t>”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18AABBC-5681-4E93-8085-43531D5A9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528582"/>
              </p:ext>
            </p:extLst>
          </p:nvPr>
        </p:nvGraphicFramePr>
        <p:xfrm>
          <a:off x="6317259" y="79013"/>
          <a:ext cx="3475234" cy="510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5234">
                  <a:extLst>
                    <a:ext uri="{9D8B030D-6E8A-4147-A177-3AD203B41FA5}">
                      <a16:colId xmlns:a16="http://schemas.microsoft.com/office/drawing/2014/main" val="2806634083"/>
                    </a:ext>
                  </a:extLst>
                </a:gridCol>
              </a:tblGrid>
              <a:tr h="510762">
                <a:tc>
                  <a:txBody>
                    <a:bodyPr/>
                    <a:lstStyle/>
                    <a:p>
                      <a:pPr marL="0" indent="0" algn="l" fontAlgn="ctr">
                        <a:spcAft>
                          <a:spcPts val="3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US" altLang="ko-KR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[</a:t>
                      </a:r>
                      <a:r>
                        <a:rPr lang="ko-KR" altLang="en-US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주방 화재 예방 솔루션 설치 현장</a:t>
                      </a:r>
                      <a:r>
                        <a:rPr lang="en-US" altLang="ko-KR" sz="750" b="1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]</a:t>
                      </a:r>
                    </a:p>
                    <a:p>
                      <a:pPr marL="0" indent="0" algn="l" fontAlgn="ctr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 전자가산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R&amp;D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캠퍼스운영센터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: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’22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년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8/30 ~ 9/16, 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매입가 </a:t>
                      </a:r>
                      <a:r>
                        <a:rPr lang="en-US" altLang="ko-KR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4,260,000</a:t>
                      </a:r>
                      <a:r>
                        <a:rPr lang="ko-KR" altLang="en-US" sz="750" u="none" strike="noStrike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원 발주대행</a:t>
                      </a:r>
                      <a:endParaRPr lang="ko-KR" altLang="en-US" sz="75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 marL="144000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836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017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573578"/>
            <a:ext cx="9906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13507" y="95795"/>
            <a:ext cx="5406145" cy="460328"/>
          </a:xfrm>
          <a:prstGeom prst="rect">
            <a:avLst/>
          </a:prstGeom>
          <a:noFill/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defTabSz="914400" latinLnBrk="1">
              <a:spcAft>
                <a:spcPts val="500"/>
              </a:spcAft>
            </a:pP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참고</a:t>
            </a:r>
            <a:r>
              <a:rPr lang="en-US" altLang="ko-KR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2) </a:t>
            </a:r>
            <a:r>
              <a:rPr lang="ko-KR" altLang="en-US" sz="1600" b="1" dirty="0" err="1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상업용</a:t>
            </a:r>
            <a:r>
              <a:rPr lang="ko-KR" altLang="en-US" sz="1600" b="1" dirty="0">
                <a:solidFill>
                  <a:prstClr val="black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anose="05000000000000000000" pitchFamily="2" charset="2"/>
              </a:rPr>
              <a:t> 주방자동소화장치</a:t>
            </a:r>
            <a:endParaRPr lang="en-US" altLang="ko-KR" sz="1600" b="1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7F9BBDE5-ED80-45D9-A77F-E6DDACCB74D4}"/>
              </a:ext>
            </a:extLst>
          </p:cNvPr>
          <p:cNvSpPr txBox="1"/>
          <p:nvPr/>
        </p:nvSpPr>
        <p:spPr>
          <a:xfrm>
            <a:off x="391572" y="752925"/>
            <a:ext cx="8445185" cy="3115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  <a:buClr>
                <a:schemeClr val="tx1"/>
              </a:buClr>
              <a:defRPr/>
            </a:pP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기존 법규에서는 자진 설치 설비였던 ‘</a:t>
            </a:r>
            <a:r>
              <a:rPr lang="ko-KR" altLang="en-US" sz="1200" b="1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상업용</a:t>
            </a: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ko-KR" altLang="en-US" sz="1200" b="1" spc="-5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주방자동소화장치’의</a:t>
            </a:r>
            <a:r>
              <a:rPr lang="ko-KR" altLang="en-US" sz="1200" b="1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anose="020B0604020202020204" pitchFamily="34" charset="0"/>
              </a:rPr>
              <a:t> 의무 설치 대상을 명시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5FED771-E164-4A6D-97F1-0B002E29EF01}"/>
              </a:ext>
            </a:extLst>
          </p:cNvPr>
          <p:cNvSpPr/>
          <p:nvPr/>
        </p:nvSpPr>
        <p:spPr>
          <a:xfrm>
            <a:off x="546398" y="1470184"/>
            <a:ext cx="4061461" cy="356799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소방시설 설치 및 관리에 관한 법률 시행령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(</a:t>
            </a:r>
            <a:r>
              <a:rPr lang="ko-KR" altLang="en-US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안</a:t>
            </a:r>
            <a:r>
              <a:rPr lang="en-US" altLang="ko-KR" sz="1100" b="1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)</a:t>
            </a:r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시행예정일</a:t>
            </a:r>
            <a:r>
              <a:rPr lang="en-US" altLang="ko-KR" sz="10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cs typeface="Arial" pitchFamily="34" charset="0"/>
              </a:rPr>
              <a:t>: ’24. 12. 01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242C74F-7A2F-4381-B0FC-72AC119143C9}"/>
              </a:ext>
            </a:extLst>
          </p:cNvPr>
          <p:cNvSpPr/>
          <p:nvPr/>
        </p:nvSpPr>
        <p:spPr>
          <a:xfrm>
            <a:off x="546398" y="1826983"/>
            <a:ext cx="8813204" cy="1492716"/>
          </a:xfrm>
          <a:prstGeom prst="rec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별표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5]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소화설비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나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자동소화장치를 설치하여야 하는 특정소방대상물은 다음의 어느 하나에 해당하는 것으로 한다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2)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상업용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주방자동소화장치를 설치해야 하는 것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가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판매시설 중 「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유통산업발전법」제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호에 해당하는 </a:t>
            </a:r>
            <a:r>
              <a:rPr lang="ko-KR" altLang="en-US" sz="105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대규모점포에 입점해 있는 일반음식점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나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「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식품위생법」제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호에 따른 </a:t>
            </a:r>
            <a:r>
              <a:rPr lang="ko-KR" altLang="en-US" sz="1050" u="sng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집단급식소</a:t>
            </a:r>
            <a:endParaRPr lang="en-US" altLang="ko-KR" sz="1050" u="sng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E8DC9A-D5E2-4E1C-91BA-27DEA3E1998F}"/>
              </a:ext>
            </a:extLst>
          </p:cNvPr>
          <p:cNvSpPr/>
          <p:nvPr/>
        </p:nvSpPr>
        <p:spPr>
          <a:xfrm>
            <a:off x="5363469" y="3566926"/>
            <a:ext cx="4152006" cy="1597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화재예방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소방시설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설치ㆍ유지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안전관리에 관한 법률 제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11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조 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소방시설기준 적용의 특례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대통령령 또는 화재안전기준이 변경되어 그 기준이 강화되는 경우 기존의 특정소방대상물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건축물의 </a:t>
            </a:r>
            <a:r>
              <a:rPr lang="ko-KR" altLang="en-US" sz="105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신축ㆍ개축ㆍ재축ㆍ이전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대수선 중인 특정소방대상물을 포함한다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의 소방시설에 대하여는 변경 전의 대통령령 또는 화재안전기준을 적용한다</a:t>
            </a:r>
            <a:r>
              <a:rPr lang="en-US" altLang="ko-KR" sz="105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</a:t>
            </a:r>
            <a:endParaRPr lang="ko-KR" altLang="en-US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A801DD-1DE3-4CD0-B035-B5292DDF6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51" y="3676498"/>
            <a:ext cx="363855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0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7312</TotalTime>
  <Words>740</Words>
  <Application>Microsoft Office PowerPoint</Application>
  <PresentationFormat>A4 용지(210x297mm)</PresentationFormat>
  <Paragraphs>98</Paragraphs>
  <Slides>6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8" baseType="lpstr">
      <vt:lpstr>LG스마트체 Light</vt:lpstr>
      <vt:lpstr>LG스마트체 Regular</vt:lpstr>
      <vt:lpstr>LG스마트체 SemiBold</vt:lpstr>
      <vt:lpstr>나눔바른고딕</vt:lpstr>
      <vt:lpstr>맑은 고딕</vt:lpstr>
      <vt:lpstr>Arial</vt:lpstr>
      <vt:lpstr>Arial Narrow</vt:lpstr>
      <vt:lpstr>Calibri</vt:lpstr>
      <vt:lpstr>Calibri Light</vt:lpstr>
      <vt:lpstr>Wingdings</vt:lpstr>
      <vt:lpstr>Office 테마</vt:lpstr>
      <vt:lpstr>Microsoft Excel 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조미애 </dc:creator>
  <cp:lastModifiedBy>Ucjh</cp:lastModifiedBy>
  <cp:revision>405</cp:revision>
  <cp:lastPrinted>2022-11-22T00:37:03Z</cp:lastPrinted>
  <dcterms:created xsi:type="dcterms:W3CDTF">2022-06-15T23:56:35Z</dcterms:created>
  <dcterms:modified xsi:type="dcterms:W3CDTF">2022-12-08T07:27:44Z</dcterms:modified>
</cp:coreProperties>
</file>