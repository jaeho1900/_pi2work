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48" r:id="rId1"/>
  </p:sldMasterIdLst>
  <p:notesMasterIdLst>
    <p:notesMasterId r:id="rId6"/>
  </p:notesMasterIdLst>
  <p:sldIdLst>
    <p:sldId id="622" r:id="rId2"/>
    <p:sldId id="624" r:id="rId3"/>
    <p:sldId id="620" r:id="rId4"/>
    <p:sldId id="623" r:id="rId5"/>
  </p:sldIdLst>
  <p:sldSz cx="9906000" cy="6858000" type="A4"/>
  <p:notesSz cx="6797675" cy="992663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07">
          <p15:clr>
            <a:srgbClr val="A4A3A4"/>
          </p15:clr>
        </p15:guide>
        <p15:guide id="2" orient="horz" pos="4319">
          <p15:clr>
            <a:srgbClr val="A4A3A4"/>
          </p15:clr>
        </p15:guide>
        <p15:guide id="3" orient="horz" pos="1616" userDrawn="1">
          <p15:clr>
            <a:srgbClr val="A4A3A4"/>
          </p15:clr>
        </p15:guide>
        <p15:guide id="4" orient="horz" pos="3974">
          <p15:clr>
            <a:srgbClr val="A4A3A4"/>
          </p15:clr>
        </p15:guide>
        <p15:guide id="5" orient="horz" pos="2160">
          <p15:clr>
            <a:srgbClr val="A4A3A4"/>
          </p15:clr>
        </p15:guide>
        <p15:guide id="6" orient="horz" pos="935">
          <p15:clr>
            <a:srgbClr val="A4A3A4"/>
          </p15:clr>
        </p15:guide>
        <p15:guide id="8" orient="horz" pos="2614">
          <p15:clr>
            <a:srgbClr val="A4A3A4"/>
          </p15:clr>
        </p15:guide>
        <p15:guide id="9" pos="3120">
          <p15:clr>
            <a:srgbClr val="A4A3A4"/>
          </p15:clr>
        </p15:guide>
        <p15:guide id="10" pos="126">
          <p15:clr>
            <a:srgbClr val="A4A3A4"/>
          </p15:clr>
        </p15:guide>
        <p15:guide id="11" pos="6114">
          <p15:clr>
            <a:srgbClr val="A4A3A4"/>
          </p15:clr>
        </p15:guide>
        <p15:guide id="12" pos="1669">
          <p15:clr>
            <a:srgbClr val="A4A3A4"/>
          </p15:clr>
        </p15:guide>
        <p15:guide id="13" pos="308">
          <p15:clr>
            <a:srgbClr val="A4A3A4"/>
          </p15:clr>
        </p15:guide>
        <p15:guide id="14" pos="5932">
          <p15:clr>
            <a:srgbClr val="A4A3A4"/>
          </p15:clr>
        </p15:guide>
        <p15:guide id="15" pos="3029">
          <p15:clr>
            <a:srgbClr val="A4A3A4"/>
          </p15:clr>
        </p15:guide>
        <p15:guide id="16" pos="3211">
          <p15:clr>
            <a:srgbClr val="A4A3A4"/>
          </p15:clr>
        </p15:guide>
        <p15:guide id="17" pos="4572">
          <p15:clr>
            <a:srgbClr val="A4A3A4"/>
          </p15:clr>
        </p15:guide>
        <p15:guide id="18" pos="384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ERVEONE" initials="S" lastIdx="1" clrIdx="0">
    <p:extLst>
      <p:ext uri="{19B8F6BF-5375-455C-9EA6-DF929625EA0E}">
        <p15:presenceInfo xmlns:p15="http://schemas.microsoft.com/office/powerpoint/2012/main" userId="SERVEONE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FF"/>
    <a:srgbClr val="FF6600"/>
    <a:srgbClr val="0099CC"/>
    <a:srgbClr val="3399FF"/>
    <a:srgbClr val="FF9999"/>
    <a:srgbClr val="FF9966"/>
    <a:srgbClr val="CCCCCC"/>
    <a:srgbClr val="A50034"/>
    <a:srgbClr val="FFFFFF"/>
    <a:srgbClr val="C500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11" autoAdjust="0"/>
    <p:restoredTop sz="90146" autoAdjust="0"/>
  </p:normalViewPr>
  <p:slideViewPr>
    <p:cSldViewPr>
      <p:cViewPr varScale="1">
        <p:scale>
          <a:sx n="104" d="100"/>
          <a:sy n="104" d="100"/>
        </p:scale>
        <p:origin x="1488" y="108"/>
      </p:cViewPr>
      <p:guideLst>
        <p:guide orient="horz" pos="1207"/>
        <p:guide orient="horz" pos="4319"/>
        <p:guide orient="horz" pos="1616"/>
        <p:guide orient="horz" pos="3974"/>
        <p:guide orient="horz" pos="2160"/>
        <p:guide orient="horz" pos="935"/>
        <p:guide orient="horz" pos="2614"/>
        <p:guide pos="3120"/>
        <p:guide pos="126"/>
        <p:guide pos="6114"/>
        <p:guide pos="1669"/>
        <p:guide pos="308"/>
        <p:guide pos="5932"/>
        <p:guide pos="3029"/>
        <p:guide pos="3211"/>
        <p:guide pos="4572"/>
        <p:guide pos="3846"/>
      </p:guideLst>
    </p:cSldViewPr>
  </p:slideViewPr>
  <p:outlineViewPr>
    <p:cViewPr>
      <p:scale>
        <a:sx n="33" d="100"/>
        <a:sy n="33" d="100"/>
      </p:scale>
      <p:origin x="0" y="102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howGuides="1">
      <p:cViewPr varScale="1">
        <p:scale>
          <a:sx n="66" d="100"/>
          <a:sy n="66" d="100"/>
        </p:scale>
        <p:origin x="3264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46275" cy="4966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ko-KR" dirty="0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863" y="0"/>
            <a:ext cx="2946275" cy="4966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ko-KR" dirty="0"/>
          </a:p>
        </p:txBody>
      </p:sp>
      <p:sp>
        <p:nvSpPr>
          <p:cNvPr id="501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11200" y="744538"/>
            <a:ext cx="537527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501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0383" y="4715832"/>
            <a:ext cx="5436909" cy="44666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01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428272"/>
            <a:ext cx="2946275" cy="4966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ko-KR" dirty="0"/>
          </a:p>
        </p:txBody>
      </p:sp>
      <p:sp>
        <p:nvSpPr>
          <p:cNvPr id="501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863" y="9428272"/>
            <a:ext cx="2946275" cy="4966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4CAAA1D-F35D-4B17-84EE-4EE23C36AB51}" type="slidenum">
              <a:rPr lang="en-US" altLang="ko-KR"/>
              <a:pPr/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0528381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AAA1D-F35D-4B17-84EE-4EE23C36AB51}" type="slidenum">
              <a:rPr lang="en-US" altLang="ko-KR" smtClean="0"/>
              <a:pPr/>
              <a:t>2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7658138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[비밀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title"/>
          </p:nvPr>
        </p:nvSpPr>
        <p:spPr>
          <a:xfrm>
            <a:off x="473018" y="1268760"/>
            <a:ext cx="8915400" cy="562075"/>
          </a:xfrm>
          <a:prstGeom prst="rect">
            <a:avLst/>
          </a:prstGeom>
        </p:spPr>
        <p:txBody>
          <a:bodyPr/>
          <a:lstStyle>
            <a:lvl1pPr algn="ctr">
              <a:defRPr sz="2400" b="1">
                <a:solidFill>
                  <a:schemeClr val="tx1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  <a:cs typeface="Arial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cxnSp>
        <p:nvCxnSpPr>
          <p:cNvPr id="12" name="직선 연결선 11"/>
          <p:cNvCxnSpPr/>
          <p:nvPr userDrawn="1"/>
        </p:nvCxnSpPr>
        <p:spPr>
          <a:xfrm>
            <a:off x="1877577" y="1833461"/>
            <a:ext cx="615084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4"/>
          <p:cNvSpPr>
            <a:spLocks noChangeArrowheads="1"/>
          </p:cNvSpPr>
          <p:nvPr userDrawn="1"/>
        </p:nvSpPr>
        <p:spPr bwMode="auto">
          <a:xfrm>
            <a:off x="8841432" y="248643"/>
            <a:ext cx="808285" cy="300037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kern="0" dirty="0">
                <a:solidFill>
                  <a:srgbClr val="FF0000"/>
                </a:solidFill>
                <a:latin typeface="+mj-ea"/>
                <a:ea typeface="+mj-ea"/>
              </a:rPr>
              <a:t>대외비</a:t>
            </a:r>
            <a:endParaRPr kumimoji="0" lang="en-US" altLang="ko-KR" sz="14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15" name="직사각형 14"/>
          <p:cNvSpPr/>
          <p:nvPr userDrawn="1"/>
        </p:nvSpPr>
        <p:spPr>
          <a:xfrm>
            <a:off x="0" y="6584533"/>
            <a:ext cx="990600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21528" lvl="1" indent="-457200" algn="ctr" defTabSz="1043056" fontAlgn="auto">
              <a:spcBef>
                <a:spcPts val="600"/>
              </a:spcBef>
              <a:spcAft>
                <a:spcPts val="600"/>
              </a:spcAft>
              <a:defRPr/>
            </a:pPr>
            <a:r>
              <a:rPr kumimoji="0"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Copyright © </a:t>
            </a:r>
            <a:r>
              <a:rPr kumimoji="0"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서브원</a:t>
            </a:r>
            <a:r>
              <a:rPr kumimoji="0"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 </a:t>
            </a:r>
            <a:r>
              <a:rPr kumimoji="0"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서브원의 사전 승인 없이 본 내용의 전부 또는 일부에 대한 복사</a:t>
            </a:r>
            <a:r>
              <a:rPr kumimoji="0"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kumimoji="0"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전재</a:t>
            </a:r>
            <a:r>
              <a:rPr kumimoji="0"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kumimoji="0"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배포</a:t>
            </a:r>
            <a:r>
              <a:rPr kumimoji="0"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kumimoji="0"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사용 등을 금합니다</a:t>
            </a:r>
            <a:r>
              <a:rPr kumimoji="0"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  <a:endParaRPr kumimoji="0" lang="ko-KR" altLang="ko-KR" sz="1000" dirty="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[대외비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title"/>
          </p:nvPr>
        </p:nvSpPr>
        <p:spPr>
          <a:xfrm>
            <a:off x="473018" y="1268760"/>
            <a:ext cx="8915400" cy="562075"/>
          </a:xfrm>
          <a:prstGeom prst="rect">
            <a:avLst/>
          </a:prstGeom>
        </p:spPr>
        <p:txBody>
          <a:bodyPr/>
          <a:lstStyle>
            <a:lvl1pPr algn="ctr">
              <a:defRPr sz="2400" b="1">
                <a:solidFill>
                  <a:schemeClr val="tx1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  <a:cs typeface="Arial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cxnSp>
        <p:nvCxnSpPr>
          <p:cNvPr id="12" name="직선 연결선 11"/>
          <p:cNvCxnSpPr/>
          <p:nvPr userDrawn="1"/>
        </p:nvCxnSpPr>
        <p:spPr>
          <a:xfrm>
            <a:off x="1877577" y="1833461"/>
            <a:ext cx="615084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4"/>
          <p:cNvSpPr>
            <a:spLocks noChangeArrowheads="1"/>
          </p:cNvSpPr>
          <p:nvPr userDrawn="1"/>
        </p:nvSpPr>
        <p:spPr bwMode="auto">
          <a:xfrm>
            <a:off x="8841432" y="248643"/>
            <a:ext cx="808285" cy="300037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kern="0" dirty="0">
                <a:solidFill>
                  <a:srgbClr val="FF0000"/>
                </a:solidFill>
                <a:latin typeface="+mj-ea"/>
                <a:ea typeface="+mj-ea"/>
              </a:rPr>
              <a:t>대외비</a:t>
            </a:r>
            <a:endParaRPr kumimoji="0" lang="en-US" altLang="ko-KR" sz="14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15" name="직사각형 14"/>
          <p:cNvSpPr/>
          <p:nvPr userDrawn="1"/>
        </p:nvSpPr>
        <p:spPr>
          <a:xfrm>
            <a:off x="0" y="6584533"/>
            <a:ext cx="990600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21528" lvl="1" indent="-457200" algn="ctr" defTabSz="1043056" fontAlgn="auto">
              <a:spcBef>
                <a:spcPts val="600"/>
              </a:spcBef>
              <a:spcAft>
                <a:spcPts val="600"/>
              </a:spcAft>
              <a:defRPr/>
            </a:pPr>
            <a:r>
              <a:rPr kumimoji="0"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Copyright © </a:t>
            </a:r>
            <a:r>
              <a:rPr kumimoji="0"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서브원</a:t>
            </a:r>
            <a:r>
              <a:rPr kumimoji="0"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 </a:t>
            </a:r>
            <a:r>
              <a:rPr kumimoji="0"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서브원의 사전 승인 없이 본 내용의 전부 또는 일부에 대한 복사</a:t>
            </a:r>
            <a:r>
              <a:rPr kumimoji="0"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kumimoji="0"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전재</a:t>
            </a:r>
            <a:r>
              <a:rPr kumimoji="0"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kumimoji="0"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배포</a:t>
            </a:r>
            <a:r>
              <a:rPr kumimoji="0"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kumimoji="0"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사용 등을 금합니다</a:t>
            </a:r>
            <a:r>
              <a:rPr kumimoji="0"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  <a:endParaRPr kumimoji="0" lang="ko-KR" altLang="ko-KR" sz="1000" dirty="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8672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슬라이드(with 자동페이지번호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97096" y="79164"/>
            <a:ext cx="5749782" cy="490067"/>
          </a:xfrm>
          <a:prstGeom prst="rect">
            <a:avLst/>
          </a:prstGeom>
        </p:spPr>
        <p:txBody>
          <a:bodyPr anchor="ctr" anchorCtr="0"/>
          <a:lstStyle>
            <a:lvl1pPr algn="l">
              <a:defRPr sz="1600" b="1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13" name="슬라이드 번호 개체 틀 5"/>
          <p:cNvSpPr txBox="1">
            <a:spLocks/>
          </p:cNvSpPr>
          <p:nvPr userDrawn="1"/>
        </p:nvSpPr>
        <p:spPr>
          <a:xfrm>
            <a:off x="3782870" y="6381331"/>
            <a:ext cx="2311400" cy="476251"/>
          </a:xfrm>
          <a:prstGeom prst="rect">
            <a:avLst/>
          </a:prstGeom>
        </p:spPr>
        <p:txBody>
          <a:bodyPr anchor="b"/>
          <a:lstStyle>
            <a:lvl1pPr algn="ctr">
              <a:defRPr sz="1000" b="1">
                <a:solidFill>
                  <a:schemeClr val="tx1"/>
                </a:solidFill>
                <a:latin typeface="Arial" pitchFamily="34" charset="0"/>
                <a:ea typeface="가는둥근제목체" pitchFamily="18" charset="-127"/>
                <a:cs typeface="Arial" pitchFamily="34" charset="0"/>
              </a:defRPr>
            </a:lvl1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0DDAB4-6EBD-4FE5-A400-982DB9D5976A}" type="slidenum">
              <a:rPr kumimoji="1" lang="en-US" altLang="ko-KR" sz="11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Arial" pitchFamily="34" charset="0"/>
              </a:rPr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Arial" pitchFamily="34" charset="0"/>
              </a:rPr>
              <a:t> / 14</a:t>
            </a:r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1" hasCustomPrompt="1"/>
          </p:nvPr>
        </p:nvSpPr>
        <p:spPr>
          <a:xfrm>
            <a:off x="344488" y="807992"/>
            <a:ext cx="9072562" cy="604883"/>
          </a:xfrm>
          <a:prstGeom prst="rect">
            <a:avLst/>
          </a:prstGeom>
        </p:spPr>
        <p:txBody>
          <a:bodyPr/>
          <a:lstStyle>
            <a:lvl1pPr marL="0" indent="0" latinLnBrk="0">
              <a:buNone/>
              <a:defRPr kumimoji="1" lang="ko-KR" altLang="en-US" sz="1400" b="1" kern="1200" dirty="0" smtClean="0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pPr marL="342900" lvl="0" indent="-342900" algn="l" rtl="0" fontAlgn="base" latinLnBrk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dirty="0"/>
              <a:t>Governing Message</a:t>
            </a:r>
            <a:endParaRPr lang="ko-KR" altLang="en-US" dirty="0"/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2" hasCustomPrompt="1"/>
          </p:nvPr>
        </p:nvSpPr>
        <p:spPr>
          <a:xfrm>
            <a:off x="6094270" y="208869"/>
            <a:ext cx="3601098" cy="36036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kumimoji="1" lang="ko-KR" altLang="en-US" sz="1200" b="1" dirty="0" smtClean="0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Sub-Title</a:t>
            </a:r>
            <a:endParaRPr lang="ko-KR" altLang="en-US" dirty="0"/>
          </a:p>
        </p:txBody>
      </p:sp>
      <p:cxnSp>
        <p:nvCxnSpPr>
          <p:cNvPr id="8" name="직선 연결선 7"/>
          <p:cNvCxnSpPr/>
          <p:nvPr userDrawn="1"/>
        </p:nvCxnSpPr>
        <p:spPr>
          <a:xfrm>
            <a:off x="0" y="620688"/>
            <a:ext cx="9906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슬라이드(with 수동페이지번호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97096" y="79164"/>
            <a:ext cx="5749782" cy="490067"/>
          </a:xfrm>
          <a:prstGeom prst="rect">
            <a:avLst/>
          </a:prstGeom>
        </p:spPr>
        <p:txBody>
          <a:bodyPr anchor="ctr" anchorCtr="0"/>
          <a:lstStyle>
            <a:lvl1pPr algn="l">
              <a:defRPr sz="1600" b="1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1" hasCustomPrompt="1"/>
          </p:nvPr>
        </p:nvSpPr>
        <p:spPr>
          <a:xfrm>
            <a:off x="344488" y="807992"/>
            <a:ext cx="9072562" cy="604883"/>
          </a:xfrm>
          <a:prstGeom prst="rect">
            <a:avLst/>
          </a:prstGeom>
        </p:spPr>
        <p:txBody>
          <a:bodyPr/>
          <a:lstStyle>
            <a:lvl1pPr marL="0" indent="0" latinLnBrk="0">
              <a:buNone/>
              <a:defRPr kumimoji="1" lang="ko-KR" altLang="en-US" sz="1400" b="1" kern="1200" dirty="0" smtClean="0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pPr marL="342900" lvl="0" indent="-342900" algn="l" rtl="0" fontAlgn="base" latinLnBrk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dirty="0"/>
              <a:t>Governing Message</a:t>
            </a:r>
            <a:endParaRPr lang="ko-KR" altLang="en-US" dirty="0"/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2" hasCustomPrompt="1"/>
          </p:nvPr>
        </p:nvSpPr>
        <p:spPr>
          <a:xfrm>
            <a:off x="6094270" y="208869"/>
            <a:ext cx="3601098" cy="36036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kumimoji="1" lang="ko-KR" altLang="en-US" sz="1200" b="1" dirty="0" smtClean="0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Sub-Title</a:t>
            </a:r>
            <a:endParaRPr lang="ko-KR" altLang="en-US" dirty="0"/>
          </a:p>
        </p:txBody>
      </p:sp>
      <p:sp>
        <p:nvSpPr>
          <p:cNvPr id="11" name="텍스트 개체 틀 3"/>
          <p:cNvSpPr>
            <a:spLocks noGrp="1"/>
          </p:cNvSpPr>
          <p:nvPr>
            <p:ph type="body" sz="quarter" idx="13" hasCustomPrompt="1"/>
          </p:nvPr>
        </p:nvSpPr>
        <p:spPr>
          <a:xfrm>
            <a:off x="3793928" y="6381328"/>
            <a:ext cx="2311200" cy="475200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000" b="0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en-US" altLang="ko-KR" dirty="0"/>
              <a:t>5 / 10</a:t>
            </a:r>
            <a:endParaRPr lang="ko-KR" altLang="en-US" dirty="0"/>
          </a:p>
        </p:txBody>
      </p:sp>
      <p:cxnSp>
        <p:nvCxnSpPr>
          <p:cNvPr id="12" name="직선 연결선 11"/>
          <p:cNvCxnSpPr/>
          <p:nvPr userDrawn="1"/>
        </p:nvCxnSpPr>
        <p:spPr>
          <a:xfrm>
            <a:off x="0" y="620688"/>
            <a:ext cx="9906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9569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슬라이드(without 페이지번호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97096" y="79164"/>
            <a:ext cx="5749782" cy="490067"/>
          </a:xfrm>
          <a:prstGeom prst="rect">
            <a:avLst/>
          </a:prstGeom>
        </p:spPr>
        <p:txBody>
          <a:bodyPr anchor="ctr" anchorCtr="0"/>
          <a:lstStyle>
            <a:lvl1pPr algn="l">
              <a:defRPr sz="1600" b="1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1" hasCustomPrompt="1"/>
          </p:nvPr>
        </p:nvSpPr>
        <p:spPr>
          <a:xfrm>
            <a:off x="344488" y="807992"/>
            <a:ext cx="9072562" cy="604883"/>
          </a:xfrm>
          <a:prstGeom prst="rect">
            <a:avLst/>
          </a:prstGeom>
        </p:spPr>
        <p:txBody>
          <a:bodyPr/>
          <a:lstStyle>
            <a:lvl1pPr marL="0" indent="0" latinLnBrk="0">
              <a:buNone/>
              <a:defRPr kumimoji="1" lang="ko-KR" altLang="en-US" sz="1400" b="1" kern="1200" dirty="0" smtClean="0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pPr marL="342900" lvl="0" indent="-342900" algn="l" rtl="0" fontAlgn="base" latinLnBrk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dirty="0"/>
              <a:t>Governing Message</a:t>
            </a:r>
            <a:endParaRPr lang="ko-KR" altLang="en-US" dirty="0"/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2" hasCustomPrompt="1"/>
          </p:nvPr>
        </p:nvSpPr>
        <p:spPr>
          <a:xfrm>
            <a:off x="6094270" y="208869"/>
            <a:ext cx="3601098" cy="36036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kumimoji="1" lang="ko-KR" altLang="en-US" sz="1200" b="1" dirty="0" smtClean="0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Sub-Title</a:t>
            </a:r>
            <a:endParaRPr lang="ko-KR" altLang="en-US" dirty="0"/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620688"/>
            <a:ext cx="9906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9569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슬라이드(without 페이지번호,Govering Messa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97096" y="79164"/>
            <a:ext cx="5749782" cy="490067"/>
          </a:xfrm>
          <a:prstGeom prst="rect">
            <a:avLst/>
          </a:prstGeom>
        </p:spPr>
        <p:txBody>
          <a:bodyPr anchor="ctr" anchorCtr="0"/>
          <a:lstStyle>
            <a:lvl1pPr algn="l">
              <a:defRPr sz="1600" b="1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2" hasCustomPrompt="1"/>
          </p:nvPr>
        </p:nvSpPr>
        <p:spPr>
          <a:xfrm>
            <a:off x="6094270" y="208869"/>
            <a:ext cx="3601098" cy="36036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kumimoji="1" lang="ko-KR" altLang="en-US" sz="1200" b="1" dirty="0" smtClean="0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Sub-Title</a:t>
            </a:r>
            <a:endParaRPr lang="ko-KR" altLang="en-US" dirty="0"/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620688"/>
            <a:ext cx="9906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2067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6026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474415" y="1911399"/>
            <a:ext cx="4929222" cy="58149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>
            <a:lvl1pPr>
              <a:defRPr sz="2800" b="1">
                <a:latin typeface="+mj-ea"/>
                <a:ea typeface="+mj-ea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970392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box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852936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 sz="6000" b="0">
                <a:solidFill>
                  <a:srgbClr val="424242"/>
                </a:solidFill>
                <a:latin typeface="+mj-ea"/>
                <a:ea typeface="+mj-ea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965139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40B1A-2E36-4B64-94B4-17E6F1EE70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6634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0" r:id="rId3"/>
    <p:sldLayoutId id="2147483661" r:id="rId4"/>
    <p:sldLayoutId id="2147483662" r:id="rId5"/>
    <p:sldLayoutId id="2147483666" r:id="rId6"/>
    <p:sldLayoutId id="2147483657" r:id="rId7"/>
    <p:sldLayoutId id="2147483663" r:id="rId8"/>
    <p:sldLayoutId id="2147483664" r:id="rId9"/>
    <p:sldLayoutId id="2147483667" r:id="rId10"/>
  </p:sldLayoutIdLst>
  <p:hf sldNum="0" hdr="0" ftr="0" dt="0"/>
  <p:txStyles>
    <p:titleStyle>
      <a:lvl1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EB395D-ED40-4D8A-BF9A-296673394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464" y="101394"/>
            <a:ext cx="5749782" cy="490067"/>
          </a:xfrm>
        </p:spPr>
        <p:txBody>
          <a:bodyPr/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단체 주방 화재 예방 솔루션 검토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FD95A13-D466-4BE6-8A6F-DA22EBF0B8A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2115869-BA6F-404B-8537-7A6D6D47590E}"/>
              </a:ext>
            </a:extLst>
          </p:cNvPr>
          <p:cNvSpPr/>
          <p:nvPr/>
        </p:nvSpPr>
        <p:spPr>
          <a:xfrm>
            <a:off x="621730" y="1488025"/>
            <a:ext cx="1468388" cy="356799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ko-KR" altLang="en-US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의무 설치 대상</a:t>
            </a:r>
            <a:r>
              <a:rPr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(</a:t>
            </a:r>
            <a:r>
              <a:rPr lang="ko-KR" altLang="en-US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안</a:t>
            </a:r>
            <a:r>
              <a:rPr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8CB64B7-813E-480A-8A8E-FAAE50AC93F4}"/>
              </a:ext>
            </a:extLst>
          </p:cNvPr>
          <p:cNvSpPr/>
          <p:nvPr/>
        </p:nvSpPr>
        <p:spPr>
          <a:xfrm>
            <a:off x="621730" y="1844824"/>
            <a:ext cx="8813204" cy="210826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endParaRPr lang="en-US" altLang="ko-KR" sz="1200" u="sng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ko-KR" altLang="en-US" sz="12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소방시설 설치 및 관리에 관한 법률 시행령</a:t>
            </a:r>
            <a:r>
              <a:rPr lang="en-US" altLang="ko-KR" sz="12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2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안</a:t>
            </a:r>
            <a:r>
              <a:rPr lang="en-US" altLang="ko-KR" sz="12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시행예정일</a:t>
            </a: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’24. 12. 01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별표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5]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소화설비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나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자동소화장치를 설치하여야 하는 특정소방대상물은 다음의 어느 하나와 같다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2) </a:t>
            </a:r>
            <a:r>
              <a:rPr lang="ko-KR" altLang="en-US" sz="12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상업용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주방자동 소화장치를 설치하여야 하는 것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  가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식품위생법 제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 제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12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호에 따른 </a:t>
            </a:r>
            <a:r>
              <a:rPr lang="ko-KR" altLang="en-US" sz="1200" b="1" u="sng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집단 급식소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  나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식품위생법 제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27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조에 따라 영업허가를 받아야하는 업종 중 </a:t>
            </a:r>
            <a:r>
              <a:rPr lang="ko-KR" altLang="en-US" sz="1200" u="sng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판매시설에 입점에 있는 일반음식점</a:t>
            </a:r>
            <a:endParaRPr lang="en-US" altLang="ko-KR" sz="1200" u="sng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E56AE79-C0F3-4A89-AAE1-F74894128A22}"/>
              </a:ext>
            </a:extLst>
          </p:cNvPr>
          <p:cNvSpPr/>
          <p:nvPr/>
        </p:nvSpPr>
        <p:spPr>
          <a:xfrm>
            <a:off x="546398" y="4559272"/>
            <a:ext cx="8813204" cy="846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※ </a:t>
            </a: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참고</a:t>
            </a: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화재예방</a:t>
            </a: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소방시설 </a:t>
            </a:r>
            <a:r>
              <a:rPr lang="ko-KR" altLang="en-US" sz="11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설치ㆍ유지</a:t>
            </a: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및 안전관리에 관한 법률 제</a:t>
            </a: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11</a:t>
            </a: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 </a:t>
            </a: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소방시설기준 적용의 특례</a:t>
            </a: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spcAft>
                <a:spcPts val="600"/>
              </a:spcAft>
            </a:pP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소방본부장이나 소방서장은 제</a:t>
            </a: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9</a:t>
            </a: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조제</a:t>
            </a: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항 전단에 따른 대통령령 또는 화재안전기준이 변경되어 그 기준이 강화되는 경우 </a:t>
            </a:r>
            <a:b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기존의 특정소방대상물</a:t>
            </a: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건축물의 </a:t>
            </a:r>
            <a:r>
              <a:rPr lang="ko-KR" altLang="en-US" sz="11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신축ㆍ개축ㆍ재축ㆍ이전</a:t>
            </a: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및 대수선 중인 특정소방대상물을 포함한다</a:t>
            </a: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의 소방시설에 대하여는 </a:t>
            </a:r>
            <a:b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변경 전의 대통령령 또는 화재안전기준을 적용한다</a:t>
            </a: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FD2B145-069B-497C-85EE-AE97FE0E9B6A}"/>
              </a:ext>
            </a:extLst>
          </p:cNvPr>
          <p:cNvSpPr/>
          <p:nvPr/>
        </p:nvSpPr>
        <p:spPr>
          <a:xfrm>
            <a:off x="486734" y="818611"/>
            <a:ext cx="881320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기존 법규에서는 자진 설치 설비였던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‘</a:t>
            </a:r>
            <a:r>
              <a:rPr lang="ko-KR" altLang="en-US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상업용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주방자동 소화장치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’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 의무 설치 대상으로 변경 예정임</a:t>
            </a:r>
          </a:p>
        </p:txBody>
      </p:sp>
    </p:spTree>
    <p:extLst>
      <p:ext uri="{BB962C8B-B14F-4D97-AF65-F5344CB8AC3E}">
        <p14:creationId xmlns:p14="http://schemas.microsoft.com/office/powerpoint/2010/main" val="2540328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FD95A13-D466-4BE6-8A6F-DA22EBF0B8A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FD2B145-069B-497C-85EE-AE97FE0E9B6A}"/>
              </a:ext>
            </a:extLst>
          </p:cNvPr>
          <p:cNvSpPr/>
          <p:nvPr/>
        </p:nvSpPr>
        <p:spPr>
          <a:xfrm>
            <a:off x="486734" y="818611"/>
            <a:ext cx="881320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‘21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16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일 </a:t>
            </a:r>
            <a:r>
              <a:rPr lang="ko-KR" altLang="en-US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안전팀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공지 이후 안전 활동을 강화하여 운영 중임</a:t>
            </a:r>
          </a:p>
        </p:txBody>
      </p:sp>
      <p:sp>
        <p:nvSpPr>
          <p:cNvPr id="6" name="제목 5">
            <a:extLst>
              <a:ext uri="{FF2B5EF4-FFF2-40B4-BE49-F238E27FC236}">
                <a16:creationId xmlns:a16="http://schemas.microsoft.com/office/drawing/2014/main" id="{5BEFFEA6-B112-4933-B4B5-3A1221F2E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96" y="79164"/>
            <a:ext cx="5749782" cy="490067"/>
          </a:xfrm>
        </p:spPr>
        <p:txBody>
          <a:bodyPr/>
          <a:lstStyle/>
          <a:p>
            <a:r>
              <a:rPr lang="ko-KR" altLang="en-US" dirty="0"/>
              <a:t>단체 주방 화재 예방 운용 가이드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8B10C5E-B971-4F41-A3E9-2D0E57049410}"/>
              </a:ext>
            </a:extLst>
          </p:cNvPr>
          <p:cNvSpPr/>
          <p:nvPr/>
        </p:nvSpPr>
        <p:spPr>
          <a:xfrm>
            <a:off x="621730" y="1488025"/>
            <a:ext cx="1468388" cy="356799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ko-KR" altLang="en-US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운용 지침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8A8A91A4-CBEF-4425-B643-D48ECBFE78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30" y="1962317"/>
            <a:ext cx="2813388" cy="4077072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8FC00054-BD51-4BD2-B0B3-64B4DAB55763}"/>
              </a:ext>
            </a:extLst>
          </p:cNvPr>
          <p:cNvSpPr/>
          <p:nvPr/>
        </p:nvSpPr>
        <p:spPr>
          <a:xfrm>
            <a:off x="3994382" y="4727294"/>
            <a:ext cx="528988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</a:t>
            </a:r>
            <a:r>
              <a:rPr lang="ko-KR" altLang="en-US" sz="11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상업용</a:t>
            </a:r>
            <a:r>
              <a:rPr lang="ko-KR" altLang="en-US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주방자동 소화장치 </a:t>
            </a:r>
            <a:r>
              <a:rPr lang="ko-KR" altLang="en-US" sz="11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미설치</a:t>
            </a:r>
            <a:r>
              <a:rPr lang="ko-KR" altLang="en-US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사업장 고객사에 설치 </a:t>
            </a:r>
            <a:r>
              <a:rPr lang="ko-KR" altLang="en-US" sz="11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제안토록</a:t>
            </a:r>
            <a:r>
              <a:rPr lang="ko-KR" altLang="en-US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공지</a:t>
            </a:r>
            <a:endParaRPr lang="ko-KR" altLang="en-US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F48CE5E-EAC7-423F-A0F1-350EA69E96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8137" y="1843114"/>
            <a:ext cx="5145493" cy="2869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2709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EDBBDAF5-515F-4092-9D7D-17832D6BA923}"/>
              </a:ext>
            </a:extLst>
          </p:cNvPr>
          <p:cNvSpPr txBox="1"/>
          <p:nvPr/>
        </p:nvSpPr>
        <p:spPr>
          <a:xfrm>
            <a:off x="848544" y="7305199"/>
            <a:ext cx="8766168" cy="12179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1) </a:t>
            </a:r>
            <a:r>
              <a:rPr kumimoji="0" lang="ko-KR" altLang="en-US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고객이 필요로 하는 </a:t>
            </a:r>
            <a:r>
              <a:rPr kumimoji="0" lang="ko-KR" altLang="en-US" sz="1463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추천</a:t>
            </a:r>
            <a:r>
              <a:rPr kumimoji="0" lang="ko-KR" altLang="en-US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을 가장 잘 해주는 기업</a:t>
            </a:r>
            <a:endParaRPr kumimoji="0" lang="en-US" altLang="ko-KR" sz="1463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2) FM </a:t>
            </a:r>
            <a:r>
              <a:rPr kumimoji="0" lang="ko-KR" altLang="en-US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</a:t>
            </a:r>
            <a:r>
              <a:rPr kumimoji="0" lang="ko-KR" altLang="en-US" sz="1463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전문 </a:t>
            </a:r>
            <a:r>
              <a:rPr kumimoji="0" lang="en-US" altLang="ko-KR" sz="1463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MD </a:t>
            </a:r>
            <a:r>
              <a:rPr kumimoji="0" lang="ko-KR" altLang="en-US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최다 보유 기업</a:t>
            </a:r>
            <a:endParaRPr kumimoji="0" lang="en-US" altLang="ko-KR" sz="1463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3) FM </a:t>
            </a:r>
            <a:r>
              <a:rPr kumimoji="0" lang="ko-KR" altLang="en-US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서비스 </a:t>
            </a:r>
            <a:r>
              <a:rPr kumimoji="0" lang="ko-KR" altLang="en-US" sz="1463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공급 업체가 가장 선호</a:t>
            </a:r>
            <a:r>
              <a:rPr kumimoji="0" lang="ko-KR" altLang="en-US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하는 협업 파트너</a:t>
            </a:r>
            <a:endParaRPr kumimoji="0" lang="en-US" altLang="ko-KR" sz="1463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4) </a:t>
            </a:r>
            <a:r>
              <a:rPr kumimoji="0" lang="ko-KR" altLang="en-US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건물관리 상품 외 헬스 케어</a:t>
            </a:r>
            <a:r>
              <a:rPr kumimoji="0" lang="en-US" altLang="ko-KR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0" lang="ko-KR" altLang="en-US" sz="1463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모빌리티</a:t>
            </a:r>
            <a:r>
              <a:rPr kumimoji="0" lang="ko-KR" altLang="en-US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등의 상품을 결합한 </a:t>
            </a:r>
            <a:r>
              <a:rPr kumimoji="0" lang="ko-KR" altLang="en-US" sz="1463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종합 패키지</a:t>
            </a:r>
            <a:br>
              <a:rPr kumimoji="0" lang="en-US" altLang="ko-KR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kumimoji="0" lang="en-US" altLang="ko-KR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5) </a:t>
            </a:r>
            <a:r>
              <a:rPr kumimoji="0" lang="ko-KR" altLang="en-US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새로운 상품</a:t>
            </a:r>
            <a:r>
              <a:rPr kumimoji="0" lang="en-US" altLang="ko-KR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kumimoji="0" lang="ko-KR" altLang="en-US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서비스를 </a:t>
            </a:r>
            <a:r>
              <a:rPr kumimoji="0" lang="ko-KR" altLang="en-US" sz="1463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가장 빠르게 발굴</a:t>
            </a:r>
            <a:r>
              <a:rPr kumimoji="0" lang="ko-KR" altLang="en-US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하고 가장 많은 </a:t>
            </a:r>
            <a:r>
              <a:rPr kumimoji="0" lang="en-US" altLang="ko-KR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FM </a:t>
            </a:r>
            <a:r>
              <a:rPr kumimoji="0" lang="ko-KR" altLang="en-US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상품을 보유한 기업</a:t>
            </a:r>
            <a:endParaRPr kumimoji="0" lang="en-US" altLang="ko-KR" sz="1463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335022B-E97A-4483-A665-CDFD96B5953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76331A79-ADAB-4A35-B7FF-BE12BB0AF3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3730216"/>
              </p:ext>
            </p:extLst>
          </p:nvPr>
        </p:nvGraphicFramePr>
        <p:xfrm>
          <a:off x="410103" y="1897273"/>
          <a:ext cx="9073008" cy="3547951"/>
        </p:xfrm>
        <a:graphic>
          <a:graphicData uri="http://schemas.openxmlformats.org/drawingml/2006/table">
            <a:tbl>
              <a:tblPr/>
              <a:tblGrid>
                <a:gridCol w="1872208">
                  <a:extLst>
                    <a:ext uri="{9D8B030D-6E8A-4147-A177-3AD203B41FA5}">
                      <a16:colId xmlns:a16="http://schemas.microsoft.com/office/drawing/2014/main" val="3661646151"/>
                    </a:ext>
                  </a:extLst>
                </a:gridCol>
                <a:gridCol w="3187897">
                  <a:extLst>
                    <a:ext uri="{9D8B030D-6E8A-4147-A177-3AD203B41FA5}">
                      <a16:colId xmlns:a16="http://schemas.microsoft.com/office/drawing/2014/main" val="2859522672"/>
                    </a:ext>
                  </a:extLst>
                </a:gridCol>
                <a:gridCol w="703633">
                  <a:extLst>
                    <a:ext uri="{9D8B030D-6E8A-4147-A177-3AD203B41FA5}">
                      <a16:colId xmlns:a16="http://schemas.microsoft.com/office/drawing/2014/main" val="940125553"/>
                    </a:ext>
                  </a:extLst>
                </a:gridCol>
                <a:gridCol w="824569">
                  <a:extLst>
                    <a:ext uri="{9D8B030D-6E8A-4147-A177-3AD203B41FA5}">
                      <a16:colId xmlns:a16="http://schemas.microsoft.com/office/drawing/2014/main" val="2404938743"/>
                    </a:ext>
                  </a:extLst>
                </a:gridCol>
                <a:gridCol w="868546">
                  <a:extLst>
                    <a:ext uri="{9D8B030D-6E8A-4147-A177-3AD203B41FA5}">
                      <a16:colId xmlns:a16="http://schemas.microsoft.com/office/drawing/2014/main" val="3093988627"/>
                    </a:ext>
                  </a:extLst>
                </a:gridCol>
                <a:gridCol w="1616155">
                  <a:extLst>
                    <a:ext uri="{9D8B030D-6E8A-4147-A177-3AD203B41FA5}">
                      <a16:colId xmlns:a16="http://schemas.microsoft.com/office/drawing/2014/main" val="502463730"/>
                    </a:ext>
                  </a:extLst>
                </a:gridCol>
              </a:tblGrid>
              <a:tr h="32254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센터명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공사명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공사일자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매입계약금액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공종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협력업체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5717439"/>
                  </a:ext>
                </a:extLst>
              </a:tr>
              <a:tr h="32254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전자서초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R&amp;D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운영센터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'22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년 </a:t>
                      </a:r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전자서초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R&amp;D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운영센터 사원식당 주방 가스 차단밸브 설치 공사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2022-09-17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4,610,000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소방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/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가스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하얀산업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,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보문엔지니어링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214004"/>
                  </a:ext>
                </a:extLst>
              </a:tr>
              <a:tr h="32254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전자양재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R&amp;D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캠퍼스운영센터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사원식당 주방 가스 자동차단밸브 수선공사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2022-09-02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1,896,000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소방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/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가스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하얀산업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,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보문엔지니어링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9317898"/>
                  </a:ext>
                </a:extLst>
              </a:tr>
              <a:tr h="32254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전자가산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R&amp;D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캠퍼스운영센터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연구동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 주방 국솥 화재예방시스템 구축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2022-08-24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   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4,260,000 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기타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그립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2050848"/>
                  </a:ext>
                </a:extLst>
              </a:tr>
              <a:tr h="32254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전자가산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R&amp;D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캠퍼스운영센터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주방용 소화장치 설비 보수의 件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2022-08-20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4,067,000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소방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서울방재전문기술단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3764294"/>
                  </a:ext>
                </a:extLst>
              </a:tr>
              <a:tr h="322541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GS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타워운영센터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[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임대수선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]GS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타워 </a:t>
                      </a:r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상업용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 주방 자동소화장치 설치공사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2022-08-13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15,243,000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소방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서울방재전문기술단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2444281"/>
                  </a:ext>
                </a:extLst>
              </a:tr>
              <a:tr h="322541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SP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운영센터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(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안전보건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)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DP2_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서측부지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_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주방자동소화장치 소모품 교체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2022-08-01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8,864,000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소방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서울방재전문기술단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1603978"/>
                  </a:ext>
                </a:extLst>
              </a:tr>
              <a:tr h="32254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전자서초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R&amp;D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운영센터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LG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전자 서초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R&amp;D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운영센터 사원식당 주방 자동 소화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설비 부속품 교체공사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2022-07-23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5,030,000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소방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하얀산업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818721"/>
                  </a:ext>
                </a:extLst>
              </a:tr>
              <a:tr h="32254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전자양재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R&amp;D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캠퍼스운영센터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주방 자동소화설비 부속품 교체공사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2022-07-22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2,390,000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소방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하얀산업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8259797"/>
                  </a:ext>
                </a:extLst>
              </a:tr>
              <a:tr h="322541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U+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안양운영센터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U+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안양사옥 식당 가스차단장치 교체 공사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(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누설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)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2022-03-18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1,142,000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가스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보문엔지니어링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6048491"/>
                  </a:ext>
                </a:extLst>
              </a:tr>
              <a:tr h="32254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DGIST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운영센터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상업용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 주방자동소화장치 설치 건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2021-11-15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28,574,000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소방</a:t>
                      </a: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참조은이엔지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Malgun Gothic" panose="020B0503020000020004" pitchFamily="50" charset="-127"/>
                        <a:ea typeface="Malgun Gothic" panose="020B0503020000020004" pitchFamily="50" charset="-127"/>
                      </a:endParaRPr>
                    </a:p>
                  </a:txBody>
                  <a:tcPr marL="7767" marR="7767" marT="7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5443087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B0F434B7-3476-445F-8705-919185FF3DBA}"/>
              </a:ext>
            </a:extLst>
          </p:cNvPr>
          <p:cNvSpPr/>
          <p:nvPr/>
        </p:nvSpPr>
        <p:spPr>
          <a:xfrm>
            <a:off x="404779" y="1540474"/>
            <a:ext cx="1468388" cy="356799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ko-KR" altLang="en-US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공사 관리 현황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AE22193-9D39-4564-8D6C-C870A0A48143}"/>
              </a:ext>
            </a:extLst>
          </p:cNvPr>
          <p:cNvSpPr/>
          <p:nvPr/>
        </p:nvSpPr>
        <p:spPr>
          <a:xfrm>
            <a:off x="7868721" y="1629913"/>
            <a:ext cx="1734585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기간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’21.6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~ ’22.10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월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40FDDE1-9375-469C-A2DA-5EE2DAE2E09E}"/>
              </a:ext>
            </a:extLst>
          </p:cNvPr>
          <p:cNvSpPr/>
          <p:nvPr/>
        </p:nvSpPr>
        <p:spPr>
          <a:xfrm>
            <a:off x="344487" y="812004"/>
            <a:ext cx="913862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대형 운영센터 중심으로 자진설치 및 유지보수 중이며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LG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전자는 </a:t>
            </a:r>
            <a:r>
              <a:rPr lang="ko-KR" altLang="en-US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주방가스자동차단밸브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기능을 추가하여 안전을 강화함</a:t>
            </a:r>
          </a:p>
        </p:txBody>
      </p:sp>
      <p:sp>
        <p:nvSpPr>
          <p:cNvPr id="11" name="제목 5">
            <a:extLst>
              <a:ext uri="{FF2B5EF4-FFF2-40B4-BE49-F238E27FC236}">
                <a16:creationId xmlns:a16="http://schemas.microsoft.com/office/drawing/2014/main" id="{190CFA5C-7CB8-42BD-BCF0-4E31E29E1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96" y="79164"/>
            <a:ext cx="5749782" cy="490067"/>
          </a:xfrm>
        </p:spPr>
        <p:txBody>
          <a:bodyPr/>
          <a:lstStyle/>
          <a:p>
            <a:r>
              <a:rPr lang="ko-KR" altLang="en-US" dirty="0"/>
              <a:t>주방 화재 예방 시스템 관련 공사 현황</a:t>
            </a:r>
          </a:p>
        </p:txBody>
      </p:sp>
    </p:spTree>
    <p:extLst>
      <p:ext uri="{BB962C8B-B14F-4D97-AF65-F5344CB8AC3E}">
        <p14:creationId xmlns:p14="http://schemas.microsoft.com/office/powerpoint/2010/main" val="3798913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FD95A13-D466-4BE6-8A6F-DA22EBF0B8A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FD2B145-069B-497C-85EE-AE97FE0E9B6A}"/>
              </a:ext>
            </a:extLst>
          </p:cNvPr>
          <p:cNvSpPr/>
          <p:nvPr/>
        </p:nvSpPr>
        <p:spPr>
          <a:xfrm>
            <a:off x="272480" y="820602"/>
            <a:ext cx="881320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주방 가스 화재에 민감한 고객을 위한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IoT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안전 서비스를 제공</a:t>
            </a:r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제목 5">
            <a:extLst>
              <a:ext uri="{FF2B5EF4-FFF2-40B4-BE49-F238E27FC236}">
                <a16:creationId xmlns:a16="http://schemas.microsoft.com/office/drawing/2014/main" id="{5BEFFEA6-B112-4933-B4B5-3A1221F2E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주방 화재 예방 </a:t>
            </a:r>
            <a:r>
              <a:rPr lang="en-US" altLang="ko-KR" dirty="0"/>
              <a:t>IoT </a:t>
            </a:r>
            <a:r>
              <a:rPr lang="ko-KR" altLang="en-US" dirty="0"/>
              <a:t>솔루션 제공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1E79121-EB0C-4897-8CAC-C5007F8E51F2}"/>
              </a:ext>
            </a:extLst>
          </p:cNvPr>
          <p:cNvSpPr/>
          <p:nvPr/>
        </p:nvSpPr>
        <p:spPr>
          <a:xfrm>
            <a:off x="524470" y="5602041"/>
            <a:ext cx="242179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상시 조리기구 과열 감시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36964E8E-006B-45A3-BA10-06AAC8B949B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651"/>
          <a:stretch/>
        </p:blipFill>
        <p:spPr>
          <a:xfrm>
            <a:off x="383368" y="1983457"/>
            <a:ext cx="3546925" cy="3096344"/>
          </a:xfrm>
          <a:prstGeom prst="rect">
            <a:avLst/>
          </a:prstGeom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FFDE8894-8A9E-4571-B477-9B87CDDBCAF1}"/>
              </a:ext>
            </a:extLst>
          </p:cNvPr>
          <p:cNvSpPr/>
          <p:nvPr/>
        </p:nvSpPr>
        <p:spPr>
          <a:xfrm>
            <a:off x="442972" y="1632653"/>
            <a:ext cx="2664296" cy="356799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IoT </a:t>
            </a:r>
            <a:r>
              <a:rPr lang="ko-KR" altLang="en-US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주방화재 예방솔루션 구성도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6AE6AE3B-5E72-4AF6-B37C-6028E73F8382}"/>
              </a:ext>
            </a:extLst>
          </p:cNvPr>
          <p:cNvGrpSpPr/>
          <p:nvPr/>
        </p:nvGrpSpPr>
        <p:grpSpPr>
          <a:xfrm>
            <a:off x="5682571" y="2193112"/>
            <a:ext cx="3953193" cy="2964080"/>
            <a:chOff x="2911833" y="2207491"/>
            <a:chExt cx="3953193" cy="2964080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4A925F39-B830-4558-857C-496113E9AD05}"/>
                </a:ext>
              </a:extLst>
            </p:cNvPr>
            <p:cNvGrpSpPr/>
            <p:nvPr/>
          </p:nvGrpSpPr>
          <p:grpSpPr>
            <a:xfrm>
              <a:off x="2936776" y="2348880"/>
              <a:ext cx="3506079" cy="2822691"/>
              <a:chOff x="2936776" y="2348880"/>
              <a:chExt cx="3506079" cy="2822691"/>
            </a:xfrm>
          </p:grpSpPr>
          <p:pic>
            <p:nvPicPr>
              <p:cNvPr id="4" name="그림 3">
                <a:extLst>
                  <a:ext uri="{FF2B5EF4-FFF2-40B4-BE49-F238E27FC236}">
                    <a16:creationId xmlns:a16="http://schemas.microsoft.com/office/drawing/2014/main" id="{60D2926D-02D5-42F5-92A1-E7D87CC822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36776" y="2348880"/>
                <a:ext cx="3506079" cy="2822691"/>
              </a:xfrm>
              <a:prstGeom prst="rect">
                <a:avLst/>
              </a:prstGeom>
            </p:spPr>
          </p:pic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156F722E-4D8A-400B-8163-394A8967B98E}"/>
                  </a:ext>
                </a:extLst>
              </p:cNvPr>
              <p:cNvSpPr/>
              <p:nvPr/>
            </p:nvSpPr>
            <p:spPr>
              <a:xfrm rot="16200000">
                <a:off x="5956171" y="4249688"/>
                <a:ext cx="720080" cy="2308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ko-KR" altLang="en-US" sz="900" dirty="0">
                    <a:solidFill>
                      <a:schemeClr val="bg1">
                        <a:lumMod val="50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소화약제</a:t>
                </a:r>
              </a:p>
            </p:txBody>
          </p:sp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13A31079-717D-401D-A2ED-4576172ED13F}"/>
                  </a:ext>
                </a:extLst>
              </p:cNvPr>
              <p:cNvSpPr/>
              <p:nvPr/>
            </p:nvSpPr>
            <p:spPr>
              <a:xfrm rot="16200000">
                <a:off x="2778567" y="3587209"/>
                <a:ext cx="1123313" cy="2308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ko-KR" altLang="en-US" sz="900">
                    <a:solidFill>
                      <a:schemeClr val="bg1">
                        <a:lumMod val="50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가스밸브자동차단</a:t>
                </a:r>
                <a:endParaRPr lang="ko-KR" altLang="en-US" sz="900" dirty="0">
                  <a:solidFill>
                    <a:schemeClr val="bg1">
                      <a:lumMod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12" name="자유형: 도형 11">
              <a:extLst>
                <a:ext uri="{FF2B5EF4-FFF2-40B4-BE49-F238E27FC236}">
                  <a16:creationId xmlns:a16="http://schemas.microsoft.com/office/drawing/2014/main" id="{D07DF7AC-3A3D-4E87-92FA-2F5C3D0B9B27}"/>
                </a:ext>
              </a:extLst>
            </p:cNvPr>
            <p:cNvSpPr/>
            <p:nvPr/>
          </p:nvSpPr>
          <p:spPr>
            <a:xfrm>
              <a:off x="3140364" y="2207491"/>
              <a:ext cx="3491345" cy="2678545"/>
            </a:xfrm>
            <a:custGeom>
              <a:avLst/>
              <a:gdLst>
                <a:gd name="connsiteX0" fmla="*/ 0 w 3491345"/>
                <a:gd name="connsiteY0" fmla="*/ 0 h 2678545"/>
                <a:gd name="connsiteX1" fmla="*/ 3491345 w 3491345"/>
                <a:gd name="connsiteY1" fmla="*/ 0 h 2678545"/>
                <a:gd name="connsiteX2" fmla="*/ 3491345 w 3491345"/>
                <a:gd name="connsiteY2" fmla="*/ 2678545 h 2678545"/>
                <a:gd name="connsiteX3" fmla="*/ 2623127 w 3491345"/>
                <a:gd name="connsiteY3" fmla="*/ 2678545 h 2678545"/>
                <a:gd name="connsiteX4" fmla="*/ 2623127 w 3491345"/>
                <a:gd name="connsiteY4" fmla="*/ 1847273 h 2678545"/>
                <a:gd name="connsiteX5" fmla="*/ 46181 w 3491345"/>
                <a:gd name="connsiteY5" fmla="*/ 1034473 h 2678545"/>
                <a:gd name="connsiteX6" fmla="*/ 46181 w 3491345"/>
                <a:gd name="connsiteY6" fmla="*/ 9236 h 2678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491345" h="2678545">
                  <a:moveTo>
                    <a:pt x="0" y="0"/>
                  </a:moveTo>
                  <a:lnTo>
                    <a:pt x="3491345" y="0"/>
                  </a:lnTo>
                  <a:lnTo>
                    <a:pt x="3491345" y="2678545"/>
                  </a:lnTo>
                  <a:lnTo>
                    <a:pt x="2623127" y="2678545"/>
                  </a:lnTo>
                  <a:lnTo>
                    <a:pt x="2623127" y="1847273"/>
                  </a:lnTo>
                  <a:lnTo>
                    <a:pt x="46181" y="1034473"/>
                  </a:lnTo>
                  <a:lnTo>
                    <a:pt x="46181" y="9236"/>
                  </a:lnTo>
                </a:path>
              </a:pathLst>
            </a:custGeom>
            <a:noFill/>
            <a:ln w="6350">
              <a:solidFill>
                <a:srgbClr val="FF6600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211690B7-0FD4-477E-998C-D4657AD7A264}"/>
                </a:ext>
              </a:extLst>
            </p:cNvPr>
            <p:cNvSpPr/>
            <p:nvPr/>
          </p:nvSpPr>
          <p:spPr>
            <a:xfrm>
              <a:off x="2936776" y="2924944"/>
              <a:ext cx="702351" cy="1637820"/>
            </a:xfrm>
            <a:prstGeom prst="rect">
              <a:avLst/>
            </a:prstGeom>
            <a:noFill/>
            <a:ln w="6350">
              <a:solidFill>
                <a:srgbClr val="0099FF"/>
              </a:solidFill>
              <a:prstDash val="lg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  <a:spcBef>
                  <a:spcPts val="600"/>
                </a:spcBef>
              </a:pPr>
              <a:endParaRPr lang="ko-KR" altLang="en-US" sz="1100" dirty="0">
                <a:solidFill>
                  <a:schemeClr val="tx1"/>
                </a:solidFill>
                <a:latin typeface="+mn-ea"/>
                <a:cs typeface="Arial" pitchFamily="34" charset="0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82CB66B7-A07E-4450-913A-1C2EC0831D2E}"/>
                </a:ext>
              </a:extLst>
            </p:cNvPr>
            <p:cNvSpPr/>
            <p:nvPr/>
          </p:nvSpPr>
          <p:spPr>
            <a:xfrm>
              <a:off x="6144946" y="2225414"/>
              <a:ext cx="720080" cy="2308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ko-KR" altLang="en-US" sz="900" dirty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메인</a:t>
              </a: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5F4E4E39-ED30-4A33-A0F2-07CF80A0FFD7}"/>
                </a:ext>
              </a:extLst>
            </p:cNvPr>
            <p:cNvSpPr/>
            <p:nvPr/>
          </p:nvSpPr>
          <p:spPr>
            <a:xfrm>
              <a:off x="2911833" y="4298107"/>
              <a:ext cx="720080" cy="2308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ko-KR" altLang="en-US" sz="900" dirty="0">
                  <a:solidFill>
                    <a:srgbClr val="0099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옵션</a:t>
              </a:r>
            </a:p>
          </p:txBody>
        </p:sp>
      </p:grp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22B1F8C-A44F-40F4-8F06-E70DEBB18D8B}"/>
              </a:ext>
            </a:extLst>
          </p:cNvPr>
          <p:cNvSpPr/>
          <p:nvPr/>
        </p:nvSpPr>
        <p:spPr>
          <a:xfrm>
            <a:off x="5445339" y="1603501"/>
            <a:ext cx="2664296" cy="356799"/>
          </a:xfrm>
          <a:prstGeom prst="rect">
            <a:avLst/>
          </a:prstGeom>
          <a:solidFill>
            <a:schemeClr val="bg1">
              <a:lumMod val="5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ko-KR" altLang="en-US" sz="1200" b="1" dirty="0" err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상업용</a:t>
            </a:r>
            <a:r>
              <a:rPr lang="ko-KR" altLang="en-US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 주방자동 소화장치 구성도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D88BE32D-4EA9-4AD9-99AA-28644CAEBB0E}"/>
              </a:ext>
            </a:extLst>
          </p:cNvPr>
          <p:cNvSpPr/>
          <p:nvPr/>
        </p:nvSpPr>
        <p:spPr>
          <a:xfrm>
            <a:off x="5445339" y="1967433"/>
            <a:ext cx="4104456" cy="3096344"/>
          </a:xfrm>
          <a:prstGeom prst="roundRect">
            <a:avLst>
              <a:gd name="adj" fmla="val 3244"/>
            </a:avLst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ko-KR" altLang="en-US" sz="11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25" name="Text Box 100">
            <a:extLst>
              <a:ext uri="{FF2B5EF4-FFF2-40B4-BE49-F238E27FC236}">
                <a16:creationId xmlns:a16="http://schemas.microsoft.com/office/drawing/2014/main" id="{A0C1B259-0326-4959-8957-7FA3080609C1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3674013" y="3761870"/>
            <a:ext cx="1444084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latinLnBrk="0" hangingPunct="1"/>
            <a:r>
              <a:rPr lang="en-US" altLang="ko-KR" sz="11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RMS</a:t>
            </a:r>
            <a:r>
              <a:rPr lang="ko-KR" altLang="en-US" sz="11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연계 검토 중</a:t>
            </a:r>
            <a:endParaRPr lang="en-US" altLang="ko-KR" sz="1100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B9646FA7-BEB4-4828-8B51-35504C3B414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39387" y="3142613"/>
            <a:ext cx="713337" cy="56290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</p:pic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A722FE10-7E68-4CBD-9421-A6FEBC8275A1}"/>
              </a:ext>
            </a:extLst>
          </p:cNvPr>
          <p:cNvCxnSpPr/>
          <p:nvPr/>
        </p:nvCxnSpPr>
        <p:spPr>
          <a:xfrm>
            <a:off x="3728864" y="1983457"/>
            <a:ext cx="1953707" cy="927108"/>
          </a:xfrm>
          <a:prstGeom prst="line">
            <a:avLst/>
          </a:prstGeom>
          <a:ln>
            <a:solidFill>
              <a:srgbClr val="0099FF"/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4BB188D4-84E9-43E8-AB43-189F51783220}"/>
              </a:ext>
            </a:extLst>
          </p:cNvPr>
          <p:cNvCxnSpPr>
            <a:cxnSpLocks/>
          </p:cNvCxnSpPr>
          <p:nvPr/>
        </p:nvCxnSpPr>
        <p:spPr>
          <a:xfrm flipV="1">
            <a:off x="3765213" y="4555518"/>
            <a:ext cx="1957035" cy="470359"/>
          </a:xfrm>
          <a:prstGeom prst="line">
            <a:avLst/>
          </a:prstGeom>
          <a:ln>
            <a:solidFill>
              <a:srgbClr val="0099FF"/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1C8A742B-6607-4BCD-B0D3-A9F2E9CD7DB7}"/>
              </a:ext>
            </a:extLst>
          </p:cNvPr>
          <p:cNvSpPr/>
          <p:nvPr/>
        </p:nvSpPr>
        <p:spPr>
          <a:xfrm>
            <a:off x="3303772" y="5602039"/>
            <a:ext cx="242179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차 </a:t>
            </a:r>
            <a:r>
              <a:rPr lang="ko-KR" altLang="en-US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경보음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방출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059AF332-ED87-4A19-B0D0-2F9A365A96AD}"/>
              </a:ext>
            </a:extLst>
          </p:cNvPr>
          <p:cNvSpPr/>
          <p:nvPr/>
        </p:nvSpPr>
        <p:spPr>
          <a:xfrm>
            <a:off x="5338557" y="5563672"/>
            <a:ext cx="294994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차 </a:t>
            </a:r>
            <a:r>
              <a:rPr lang="ko-KR" altLang="en-US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경보음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방출 및 가스자동차단</a:t>
            </a:r>
          </a:p>
        </p:txBody>
      </p:sp>
      <p:sp>
        <p:nvSpPr>
          <p:cNvPr id="36" name="화살표: 오각형 35">
            <a:extLst>
              <a:ext uri="{FF2B5EF4-FFF2-40B4-BE49-F238E27FC236}">
                <a16:creationId xmlns:a16="http://schemas.microsoft.com/office/drawing/2014/main" id="{7E9F6AD7-01A0-42B9-A3EE-1086CED6E815}"/>
              </a:ext>
            </a:extLst>
          </p:cNvPr>
          <p:cNvSpPr/>
          <p:nvPr/>
        </p:nvSpPr>
        <p:spPr>
          <a:xfrm>
            <a:off x="446986" y="5418930"/>
            <a:ext cx="2664296" cy="592174"/>
          </a:xfrm>
          <a:prstGeom prst="homePlate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ko-KR" altLang="en-US" sz="11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37" name="화살표: 오각형 36">
            <a:extLst>
              <a:ext uri="{FF2B5EF4-FFF2-40B4-BE49-F238E27FC236}">
                <a16:creationId xmlns:a16="http://schemas.microsoft.com/office/drawing/2014/main" id="{69634EA0-97C1-4725-ACBF-F2737EBC3397}"/>
              </a:ext>
            </a:extLst>
          </p:cNvPr>
          <p:cNvSpPr/>
          <p:nvPr/>
        </p:nvSpPr>
        <p:spPr>
          <a:xfrm>
            <a:off x="3111282" y="5410875"/>
            <a:ext cx="2120957" cy="592174"/>
          </a:xfrm>
          <a:prstGeom prst="homePlate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ko-KR" altLang="en-US" sz="11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38" name="화살표: 오각형 37">
            <a:extLst>
              <a:ext uri="{FF2B5EF4-FFF2-40B4-BE49-F238E27FC236}">
                <a16:creationId xmlns:a16="http://schemas.microsoft.com/office/drawing/2014/main" id="{916E4CB8-30E1-4D15-B375-B2D8688A0F8F}"/>
              </a:ext>
            </a:extLst>
          </p:cNvPr>
          <p:cNvSpPr/>
          <p:nvPr/>
        </p:nvSpPr>
        <p:spPr>
          <a:xfrm>
            <a:off x="5232239" y="5418930"/>
            <a:ext cx="3207635" cy="592174"/>
          </a:xfrm>
          <a:prstGeom prst="homePlate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ko-KR" altLang="en-US" sz="11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09D3583B-990D-489A-A9C3-8FFBD50F365C}"/>
              </a:ext>
            </a:extLst>
          </p:cNvPr>
          <p:cNvSpPr/>
          <p:nvPr/>
        </p:nvSpPr>
        <p:spPr>
          <a:xfrm>
            <a:off x="3107268" y="6100980"/>
            <a:ext cx="4953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※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향후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RMS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와 연계하여 관리자에게 경보 알림 제공 예정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038509106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서비스개발팀">
      <a:majorFont>
        <a:latin typeface="LG스마트체 Regular"/>
        <a:ea typeface="LG스마트체 Regular"/>
        <a:cs typeface=""/>
      </a:majorFont>
      <a:minorFont>
        <a:latin typeface="LG스마트체 Regular"/>
        <a:ea typeface="LG스마트체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6350">
          <a:solidFill>
            <a:schemeClr val="tx1">
              <a:lumMod val="50000"/>
              <a:lumOff val="50000"/>
            </a:schemeClr>
          </a:solidFill>
        </a:ln>
      </a:spPr>
      <a:bodyPr rtlCol="0" anchor="ctr"/>
      <a:lstStyle>
        <a:defPPr>
          <a:lnSpc>
            <a:spcPct val="120000"/>
          </a:lnSpc>
          <a:spcBef>
            <a:spcPts val="600"/>
          </a:spcBef>
          <a:defRPr sz="1100" dirty="0" smtClean="0">
            <a:solidFill>
              <a:schemeClr val="tx1"/>
            </a:solidFill>
            <a:latin typeface="+mn-ea"/>
            <a:cs typeface="Arial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latinLnBrk="0">
          <a:lnSpc>
            <a:spcPct val="120000"/>
          </a:lnSpc>
          <a:spcBef>
            <a:spcPts val="600"/>
          </a:spcBef>
          <a:defRPr sz="1200" dirty="0" smtClean="0">
            <a:latin typeface="+mn-lt"/>
            <a:ea typeface="+mn-ea"/>
            <a:cs typeface="Arial" pitchFamily="34" charset="0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30186</TotalTime>
  <Words>521</Words>
  <Application>Microsoft Office PowerPoint</Application>
  <PresentationFormat>A4 용지(210x297mm)</PresentationFormat>
  <Paragraphs>106</Paragraphs>
  <Slides>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3" baseType="lpstr">
      <vt:lpstr>Arial</vt:lpstr>
      <vt:lpstr>LG스마트체 Regular</vt:lpstr>
      <vt:lpstr>LG스마트체 SemiBold</vt:lpstr>
      <vt:lpstr>LG스마트체2.0 Regular</vt:lpstr>
      <vt:lpstr>Wingdings</vt:lpstr>
      <vt:lpstr>굴림</vt:lpstr>
      <vt:lpstr>맑은 고딕</vt:lpstr>
      <vt:lpstr>맑은 고딕</vt:lpstr>
      <vt:lpstr>기본 디자인</vt:lpstr>
      <vt:lpstr>단체 주방 화재 예방 솔루션 검토</vt:lpstr>
      <vt:lpstr>단체 주방 화재 예방 운용 가이드</vt:lpstr>
      <vt:lpstr>주방 화재 예방 시스템 관련 공사 현황</vt:lpstr>
      <vt:lpstr>주방 화재 예방 IoT 솔루션 제공</vt:lpstr>
    </vt:vector>
  </TitlesOfParts>
  <Manager>류창우</Manager>
  <Company>SERVEONE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 Template - 기본</dc:title>
  <dc:creator>외부사업담당</dc:creator>
  <cp:lastModifiedBy>Ucjh</cp:lastModifiedBy>
  <cp:revision>2685</cp:revision>
  <cp:lastPrinted>2017-07-06T08:43:05Z</cp:lastPrinted>
  <dcterms:created xsi:type="dcterms:W3CDTF">2010-05-06T04:51:51Z</dcterms:created>
  <dcterms:modified xsi:type="dcterms:W3CDTF">2022-11-07T07:44:53Z</dcterms:modified>
</cp:coreProperties>
</file>