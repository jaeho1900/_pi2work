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534" r:id="rId2"/>
  </p:sldIdLst>
  <p:sldSz cx="9144000" cy="6858000" type="screen4x3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yoonah0319@naver.com" initials="j" lastIdx="1" clrIdx="0">
    <p:extLst>
      <p:ext uri="{19B8F6BF-5375-455C-9EA6-DF929625EA0E}">
        <p15:presenceInfo xmlns:p15="http://schemas.microsoft.com/office/powerpoint/2012/main" userId="0b55b7fc367485c4" providerId="Windows Live"/>
      </p:ext>
    </p:extLst>
  </p:cmAuthor>
  <p:cmAuthor id="2" name="USER" initials="U" lastIdx="1" clrIdx="1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800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686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C57BC1-4605-4DEC-AAE5-AB3B6F1B49B9}" type="datetimeFigureOut">
              <a:rPr lang="ko-KR" altLang="en-US" smtClean="0"/>
              <a:t>2022-12-14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1241425"/>
            <a:ext cx="446405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DDB86A-F8E3-4413-9C42-9625355F57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11549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1B386-3BFB-4D59-8BD1-2D6F0C1F2D00}" type="datetimeFigureOut">
              <a:rPr lang="ko-KR" altLang="en-US" smtClean="0"/>
              <a:t>2022-12-14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C13C8-84BD-4FDD-B07E-26712F8C2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19276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1B386-3BFB-4D59-8BD1-2D6F0C1F2D00}" type="datetimeFigureOut">
              <a:rPr lang="ko-KR" altLang="en-US" smtClean="0"/>
              <a:t>2022-12-14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40012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1B386-3BFB-4D59-8BD1-2D6F0C1F2D00}" type="datetimeFigureOut">
              <a:rPr lang="ko-KR" altLang="en-US" smtClean="0"/>
              <a:t>2022-12-14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C13C8-84BD-4FDD-B07E-26712F8C2364}" type="slidenum">
              <a:rPr lang="ko-KR" altLang="en-US" smtClean="0"/>
              <a:t>‹#›</a:t>
            </a:fld>
            <a:r>
              <a:rPr lang="en-US" altLang="ko-KR" dirty="0"/>
              <a:t>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75488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1B386-3BFB-4D59-8BD1-2D6F0C1F2D00}" type="datetimeFigureOut">
              <a:rPr lang="ko-KR" altLang="en-US" smtClean="0"/>
              <a:t>2022-12-14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C13C8-84BD-4FDD-B07E-26712F8C2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2433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1B386-3BFB-4D59-8BD1-2D6F0C1F2D00}" type="datetimeFigureOut">
              <a:rPr lang="ko-KR" altLang="en-US" smtClean="0"/>
              <a:t>2022-12-14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C13C8-84BD-4FDD-B07E-26712F8C2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25757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1B386-3BFB-4D59-8BD1-2D6F0C1F2D00}" type="datetimeFigureOut">
              <a:rPr lang="ko-KR" altLang="en-US" smtClean="0"/>
              <a:t>2022-12-14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C13C8-84BD-4FDD-B07E-26712F8C2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3857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1B386-3BFB-4D59-8BD1-2D6F0C1F2D00}" type="datetimeFigureOut">
              <a:rPr lang="ko-KR" altLang="en-US" smtClean="0"/>
              <a:t>2022-12-14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C13C8-84BD-4FDD-B07E-26712F8C2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13448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1B386-3BFB-4D59-8BD1-2D6F0C1F2D00}" type="datetimeFigureOut">
              <a:rPr lang="ko-KR" altLang="en-US" smtClean="0"/>
              <a:t>2022-12-14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C13C8-84BD-4FDD-B07E-26712F8C2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42957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1B386-3BFB-4D59-8BD1-2D6F0C1F2D00}" type="datetimeFigureOut">
              <a:rPr lang="ko-KR" altLang="en-US" smtClean="0"/>
              <a:t>2022-12-14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C13C8-84BD-4FDD-B07E-26712F8C2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4008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1B386-3BFB-4D59-8BD1-2D6F0C1F2D00}" type="datetimeFigureOut">
              <a:rPr lang="ko-KR" altLang="en-US" smtClean="0"/>
              <a:t>2022-12-14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C13C8-84BD-4FDD-B07E-26712F8C2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80824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1B386-3BFB-4D59-8BD1-2D6F0C1F2D00}" type="datetimeFigureOut">
              <a:rPr lang="ko-KR" altLang="en-US" smtClean="0"/>
              <a:t>2022-12-14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C13C8-84BD-4FDD-B07E-26712F8C2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8669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61B386-3BFB-4D59-8BD1-2D6F0C1F2D00}" type="datetimeFigureOut">
              <a:rPr lang="ko-KR" altLang="en-US" smtClean="0"/>
              <a:t>2022-12-14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0C13C8-84BD-4FDD-B07E-26712F8C2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9648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7333D88-A417-4677-B3C3-7FF13BC99DD0}"/>
              </a:ext>
            </a:extLst>
          </p:cNvPr>
          <p:cNvSpPr/>
          <p:nvPr/>
        </p:nvSpPr>
        <p:spPr>
          <a:xfrm>
            <a:off x="0" y="263771"/>
            <a:ext cx="9144000" cy="805962"/>
          </a:xfrm>
          <a:prstGeom prst="rect">
            <a:avLst/>
          </a:prstGeom>
          <a:solidFill>
            <a:srgbClr val="EAEB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62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2DDB89E-EF45-4AE9-8B1C-C60B9309FD95}"/>
              </a:ext>
            </a:extLst>
          </p:cNvPr>
          <p:cNvSpPr/>
          <p:nvPr/>
        </p:nvSpPr>
        <p:spPr>
          <a:xfrm>
            <a:off x="482494" y="623417"/>
            <a:ext cx="8376280" cy="3408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ko-KR" altLang="en-US" sz="2215" spc="-92" dirty="0">
                <a:gradFill>
                  <a:gsLst>
                    <a:gs pos="0">
                      <a:schemeClr val="tx1"/>
                    </a:gs>
                    <a:gs pos="16000">
                      <a:schemeClr val="tx1"/>
                    </a:gs>
                  </a:gsLst>
                  <a:lin ang="5400000" scaled="1"/>
                </a:gradFill>
                <a:latin typeface="+mn-ea"/>
              </a:rPr>
              <a:t>전기차 전용구역 화재예방 설치 방안 법률 검토 의견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F34BF39-4A90-44AF-A490-85AEA45E0351}"/>
              </a:ext>
            </a:extLst>
          </p:cNvPr>
          <p:cNvSpPr/>
          <p:nvPr/>
        </p:nvSpPr>
        <p:spPr>
          <a:xfrm>
            <a:off x="417636" y="261503"/>
            <a:ext cx="8308731" cy="49846"/>
          </a:xfrm>
          <a:prstGeom prst="rect">
            <a:avLst/>
          </a:prstGeom>
          <a:solidFill>
            <a:srgbClr val="9296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62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CFFC4585-0EFC-484E-9563-DA9FCE5109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849" y="1647253"/>
            <a:ext cx="1812845" cy="1082295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24C486F5-E157-478E-9769-D6D94E5B44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223" y="2851195"/>
            <a:ext cx="1866294" cy="111420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A2F2007-F2C1-4312-B35C-A7507C970AA7}"/>
              </a:ext>
            </a:extLst>
          </p:cNvPr>
          <p:cNvSpPr txBox="1"/>
          <p:nvPr/>
        </p:nvSpPr>
        <p:spPr>
          <a:xfrm>
            <a:off x="63649" y="1663792"/>
            <a:ext cx="12971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</a:rPr>
              <a:t>전기차 주차공간</a:t>
            </a: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ED8A267B-A5E0-47E0-9960-2AC357E750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025" y="4102232"/>
            <a:ext cx="1858517" cy="1015816"/>
          </a:xfrm>
          <a:prstGeom prst="rect">
            <a:avLst/>
          </a:prstGeom>
        </p:spPr>
      </p:pic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C298E620-BD1B-4AEE-B9FE-1226DB5D995E}"/>
              </a:ext>
            </a:extLst>
          </p:cNvPr>
          <p:cNvCxnSpPr/>
          <p:nvPr/>
        </p:nvCxnSpPr>
        <p:spPr>
          <a:xfrm flipV="1">
            <a:off x="570908" y="1983463"/>
            <a:ext cx="282632" cy="257695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634525FB-2703-404A-9249-1C7598D98439}"/>
              </a:ext>
            </a:extLst>
          </p:cNvPr>
          <p:cNvSpPr txBox="1"/>
          <p:nvPr/>
        </p:nvSpPr>
        <p:spPr>
          <a:xfrm>
            <a:off x="213461" y="2266095"/>
            <a:ext cx="65755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solidFill>
                  <a:srgbClr val="FFFF00"/>
                </a:solidFill>
              </a:rPr>
              <a:t>방화포 </a:t>
            </a: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AED2F6AE-F23A-45F3-8BE9-75F2BFDC4D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045" y="5259896"/>
            <a:ext cx="1846218" cy="1011560"/>
          </a:xfrm>
          <a:prstGeom prst="rect">
            <a:avLst/>
          </a:prstGeom>
        </p:spPr>
      </p:pic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11ABE766-3D30-4502-BE89-573F6709A0CF}"/>
              </a:ext>
            </a:extLst>
          </p:cNvPr>
          <p:cNvCxnSpPr/>
          <p:nvPr/>
        </p:nvCxnSpPr>
        <p:spPr>
          <a:xfrm flipV="1">
            <a:off x="855448" y="5684227"/>
            <a:ext cx="282632" cy="257695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3B8E0A46-DD9A-463A-A7AB-46700F8564EC}"/>
              </a:ext>
            </a:extLst>
          </p:cNvPr>
          <p:cNvSpPr txBox="1"/>
          <p:nvPr/>
        </p:nvSpPr>
        <p:spPr>
          <a:xfrm>
            <a:off x="498001" y="5966859"/>
            <a:ext cx="165301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solidFill>
                  <a:srgbClr val="FFFF00"/>
                </a:solidFill>
              </a:rPr>
              <a:t>방화포가 차량을 덮음 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523453C-2410-47B7-B56A-992641D43082}"/>
              </a:ext>
            </a:extLst>
          </p:cNvPr>
          <p:cNvSpPr txBox="1"/>
          <p:nvPr/>
        </p:nvSpPr>
        <p:spPr>
          <a:xfrm>
            <a:off x="63649" y="5260045"/>
            <a:ext cx="9893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</a:rPr>
              <a:t>방화포 작동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A0EEF4E-84E5-45EB-94AC-E64CE4D1818C}"/>
              </a:ext>
            </a:extLst>
          </p:cNvPr>
          <p:cNvSpPr txBox="1"/>
          <p:nvPr/>
        </p:nvSpPr>
        <p:spPr>
          <a:xfrm>
            <a:off x="65047" y="2870578"/>
            <a:ext cx="8354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화재 발생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7877097-6238-491C-89AE-4C75B8D685C1}"/>
              </a:ext>
            </a:extLst>
          </p:cNvPr>
          <p:cNvSpPr txBox="1"/>
          <p:nvPr/>
        </p:nvSpPr>
        <p:spPr>
          <a:xfrm>
            <a:off x="63649" y="4099485"/>
            <a:ext cx="8354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</a:rPr>
              <a:t>연기 감지</a:t>
            </a:r>
          </a:p>
        </p:txBody>
      </p: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2520F0EE-EBA9-4FC0-923C-1940B4787CFE}"/>
              </a:ext>
            </a:extLst>
          </p:cNvPr>
          <p:cNvCxnSpPr/>
          <p:nvPr/>
        </p:nvCxnSpPr>
        <p:spPr>
          <a:xfrm>
            <a:off x="2487291" y="2009828"/>
            <a:ext cx="388850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F79CB6CB-55F1-4C44-878D-F84F71EFD0F0}"/>
              </a:ext>
            </a:extLst>
          </p:cNvPr>
          <p:cNvCxnSpPr/>
          <p:nvPr/>
        </p:nvCxnSpPr>
        <p:spPr>
          <a:xfrm flipH="1" flipV="1">
            <a:off x="3913387" y="1744741"/>
            <a:ext cx="8312" cy="2900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4E5ED003-10D6-4D8C-BF83-CBC790DBBF60}"/>
              </a:ext>
            </a:extLst>
          </p:cNvPr>
          <p:cNvSpPr txBox="1"/>
          <p:nvPr/>
        </p:nvSpPr>
        <p:spPr>
          <a:xfrm>
            <a:off x="2841045" y="2184394"/>
            <a:ext cx="107273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latin typeface="+mn-ea"/>
              </a:rPr>
              <a:t>기존 폐쇄형 헤드</a:t>
            </a:r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4D90E035-F0F1-447B-93D8-1BFB64E6EE5A}"/>
              </a:ext>
            </a:extLst>
          </p:cNvPr>
          <p:cNvCxnSpPr/>
          <p:nvPr/>
        </p:nvCxnSpPr>
        <p:spPr>
          <a:xfrm>
            <a:off x="3930011" y="1935013"/>
            <a:ext cx="62345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2F35EF85-D4FE-44A2-8B93-DCC45DA6A2F9}"/>
              </a:ext>
            </a:extLst>
          </p:cNvPr>
          <p:cNvCxnSpPr/>
          <p:nvPr/>
        </p:nvCxnSpPr>
        <p:spPr>
          <a:xfrm>
            <a:off x="4561778" y="1935933"/>
            <a:ext cx="0" cy="9134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49061F25-4B0D-4B0C-BAAC-C4CE154BED73}"/>
              </a:ext>
            </a:extLst>
          </p:cNvPr>
          <p:cNvCxnSpPr/>
          <p:nvPr/>
        </p:nvCxnSpPr>
        <p:spPr>
          <a:xfrm>
            <a:off x="5068855" y="2009828"/>
            <a:ext cx="0" cy="8312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타원 44">
            <a:extLst>
              <a:ext uri="{FF2B5EF4-FFF2-40B4-BE49-F238E27FC236}">
                <a16:creationId xmlns:a16="http://schemas.microsoft.com/office/drawing/2014/main" id="{037B52F1-3CB3-473E-9FFA-04CAEE3CD5EF}"/>
              </a:ext>
            </a:extLst>
          </p:cNvPr>
          <p:cNvSpPr/>
          <p:nvPr/>
        </p:nvSpPr>
        <p:spPr>
          <a:xfrm>
            <a:off x="4511902" y="2400526"/>
            <a:ext cx="108066" cy="13300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EBE84A47-0AB3-444A-9AAE-592F01BA3BF3}"/>
              </a:ext>
            </a:extLst>
          </p:cNvPr>
          <p:cNvSpPr/>
          <p:nvPr/>
        </p:nvSpPr>
        <p:spPr>
          <a:xfrm>
            <a:off x="5018978" y="2400526"/>
            <a:ext cx="108066" cy="13300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C3D1B684-C442-4495-BF10-8A5C6CE6096B}"/>
              </a:ext>
            </a:extLst>
          </p:cNvPr>
          <p:cNvSpPr/>
          <p:nvPr/>
        </p:nvSpPr>
        <p:spPr>
          <a:xfrm>
            <a:off x="3780382" y="1860200"/>
            <a:ext cx="282633" cy="224444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A3CB73D2-214E-44DC-A823-5C9E7D26F68C}"/>
              </a:ext>
            </a:extLst>
          </p:cNvPr>
          <p:cNvSpPr/>
          <p:nvPr/>
        </p:nvSpPr>
        <p:spPr>
          <a:xfrm>
            <a:off x="4921997" y="1910075"/>
            <a:ext cx="282633" cy="224444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33E489E-A7CE-4AC1-903F-7086D15FC63A}"/>
              </a:ext>
            </a:extLst>
          </p:cNvPr>
          <p:cNvSpPr txBox="1"/>
          <p:nvPr/>
        </p:nvSpPr>
        <p:spPr>
          <a:xfrm>
            <a:off x="4441317" y="2829092"/>
            <a:ext cx="8018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latin typeface="+mn-ea"/>
              </a:rPr>
              <a:t>개방형 헤드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85C1B59-3D92-4499-80F7-0238A46D32FD}"/>
              </a:ext>
            </a:extLst>
          </p:cNvPr>
          <p:cNvSpPr txBox="1"/>
          <p:nvPr/>
        </p:nvSpPr>
        <p:spPr>
          <a:xfrm>
            <a:off x="4759056" y="2487767"/>
            <a:ext cx="6463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latin typeface="+mn-ea"/>
              </a:rPr>
              <a:t>전동밸브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18C6724-A58A-46AB-AB8C-98237F1F2F27}"/>
              </a:ext>
            </a:extLst>
          </p:cNvPr>
          <p:cNvSpPr txBox="1"/>
          <p:nvPr/>
        </p:nvSpPr>
        <p:spPr>
          <a:xfrm>
            <a:off x="4255716" y="2486336"/>
            <a:ext cx="6463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latin typeface="+mn-ea"/>
              </a:rPr>
              <a:t>전동밸브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460B0804-10DA-46F1-9492-EB92CBFA60CD}"/>
              </a:ext>
            </a:extLst>
          </p:cNvPr>
          <p:cNvSpPr/>
          <p:nvPr/>
        </p:nvSpPr>
        <p:spPr>
          <a:xfrm>
            <a:off x="3729451" y="1658614"/>
            <a:ext cx="2068946" cy="1463968"/>
          </a:xfrm>
          <a:prstGeom prst="rect">
            <a:avLst/>
          </a:prstGeom>
          <a:noFill/>
          <a:ln w="34925"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D2C5163E-D261-44F0-992E-AFBAE68A68A0}"/>
              </a:ext>
            </a:extLst>
          </p:cNvPr>
          <p:cNvCxnSpPr/>
          <p:nvPr/>
        </p:nvCxnSpPr>
        <p:spPr>
          <a:xfrm flipH="1" flipV="1">
            <a:off x="2533473" y="2014442"/>
            <a:ext cx="9236" cy="50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모서리가 둥근 직사각형 50">
            <a:extLst>
              <a:ext uri="{FF2B5EF4-FFF2-40B4-BE49-F238E27FC236}">
                <a16:creationId xmlns:a16="http://schemas.microsoft.com/office/drawing/2014/main" id="{299CB89A-3CE3-4B3F-BB79-AED719F5D060}"/>
              </a:ext>
            </a:extLst>
          </p:cNvPr>
          <p:cNvSpPr/>
          <p:nvPr/>
        </p:nvSpPr>
        <p:spPr>
          <a:xfrm>
            <a:off x="2177945" y="2514902"/>
            <a:ext cx="720531" cy="415497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F6052C7-83C4-4E96-A3D5-550BE4272D13}"/>
              </a:ext>
            </a:extLst>
          </p:cNvPr>
          <p:cNvSpPr txBox="1"/>
          <p:nvPr/>
        </p:nvSpPr>
        <p:spPr>
          <a:xfrm>
            <a:off x="2175201" y="2538145"/>
            <a:ext cx="72327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dirty="0" err="1">
                <a:solidFill>
                  <a:schemeClr val="bg1"/>
                </a:solidFill>
                <a:latin typeface="+mn-ea"/>
              </a:rPr>
              <a:t>프리액션</a:t>
            </a:r>
            <a:endParaRPr lang="en-US" altLang="ko-KR" sz="1050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ko-KR" altLang="en-US" sz="1050" dirty="0">
                <a:solidFill>
                  <a:schemeClr val="bg1"/>
                </a:solidFill>
                <a:latin typeface="+mn-ea"/>
              </a:rPr>
              <a:t>밸브</a:t>
            </a:r>
          </a:p>
        </p:txBody>
      </p:sp>
      <p:sp>
        <p:nvSpPr>
          <p:cNvPr id="56" name="모서리가 둥근 직사각형 52">
            <a:extLst>
              <a:ext uri="{FF2B5EF4-FFF2-40B4-BE49-F238E27FC236}">
                <a16:creationId xmlns:a16="http://schemas.microsoft.com/office/drawing/2014/main" id="{265C134D-D234-4F8F-8104-F4E1D8D2D962}"/>
              </a:ext>
            </a:extLst>
          </p:cNvPr>
          <p:cNvSpPr/>
          <p:nvPr/>
        </p:nvSpPr>
        <p:spPr>
          <a:xfrm>
            <a:off x="3274840" y="2651751"/>
            <a:ext cx="92363" cy="166255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59E322A-4AAA-4A2A-BD0A-A36261D96EFF}"/>
              </a:ext>
            </a:extLst>
          </p:cNvPr>
          <p:cNvSpPr txBox="1"/>
          <p:nvPr/>
        </p:nvSpPr>
        <p:spPr>
          <a:xfrm>
            <a:off x="2914620" y="2790297"/>
            <a:ext cx="85792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>
                <a:latin typeface="+mn-ea"/>
              </a:rPr>
              <a:t>수동조작함</a:t>
            </a:r>
            <a:endParaRPr lang="ko-KR" altLang="en-US" sz="1050" dirty="0">
              <a:latin typeface="+mn-ea"/>
            </a:endParaRPr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F97FC2AD-12E8-4ACB-912B-7B30E3B33FB2}"/>
              </a:ext>
            </a:extLst>
          </p:cNvPr>
          <p:cNvSpPr/>
          <p:nvPr/>
        </p:nvSpPr>
        <p:spPr>
          <a:xfrm>
            <a:off x="2938636" y="2556620"/>
            <a:ext cx="751840" cy="556949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6BC248E-4FDA-4535-9776-87F016F89CE8}"/>
              </a:ext>
            </a:extLst>
          </p:cNvPr>
          <p:cNvSpPr txBox="1"/>
          <p:nvPr/>
        </p:nvSpPr>
        <p:spPr>
          <a:xfrm>
            <a:off x="4232965" y="1654224"/>
            <a:ext cx="122180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>
                <a:solidFill>
                  <a:srgbClr val="00B050"/>
                </a:solidFill>
                <a:latin typeface="+mn-ea"/>
              </a:rPr>
              <a:t>전기차 주차공간</a:t>
            </a:r>
            <a:endParaRPr lang="ko-KR" altLang="en-US" sz="1050" dirty="0">
              <a:solidFill>
                <a:srgbClr val="00B050"/>
              </a:solidFill>
              <a:latin typeface="+mn-ea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45EC82A-32FE-4D10-9C20-2D9BB1DE2126}"/>
              </a:ext>
            </a:extLst>
          </p:cNvPr>
          <p:cNvSpPr txBox="1"/>
          <p:nvPr/>
        </p:nvSpPr>
        <p:spPr>
          <a:xfrm>
            <a:off x="4041926" y="1921311"/>
            <a:ext cx="36420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>
                <a:latin typeface="+mn-ea"/>
              </a:rPr>
              <a:t>1</a:t>
            </a:r>
            <a:r>
              <a:rPr lang="ko-KR" altLang="en-US" sz="900" dirty="0">
                <a:latin typeface="+mn-ea"/>
              </a:rPr>
              <a:t>안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3601EF6-7BB4-4E62-9E82-F894D88E2481}"/>
              </a:ext>
            </a:extLst>
          </p:cNvPr>
          <p:cNvSpPr txBox="1"/>
          <p:nvPr/>
        </p:nvSpPr>
        <p:spPr>
          <a:xfrm>
            <a:off x="5143055" y="1979347"/>
            <a:ext cx="36420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latin typeface="+mn-ea"/>
              </a:rPr>
              <a:t>2</a:t>
            </a:r>
            <a:r>
              <a:rPr lang="ko-KR" altLang="en-US" sz="900" dirty="0">
                <a:latin typeface="+mn-ea"/>
              </a:rPr>
              <a:t>안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973C515-62BA-4086-A306-3BC88BCC007A}"/>
              </a:ext>
            </a:extLst>
          </p:cNvPr>
          <p:cNvSpPr txBox="1"/>
          <p:nvPr/>
        </p:nvSpPr>
        <p:spPr>
          <a:xfrm>
            <a:off x="5661383" y="2178757"/>
            <a:ext cx="35686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latin typeface="+mn-ea"/>
                <a:sym typeface="Wingdings" panose="05000000000000000000" pitchFamily="2" charset="2"/>
              </a:rPr>
              <a:t>   1) </a:t>
            </a:r>
            <a:r>
              <a:rPr lang="ko-KR" altLang="en-US" sz="900" dirty="0">
                <a:latin typeface="+mn-ea"/>
                <a:sym typeface="Wingdings" panose="05000000000000000000" pitchFamily="2" charset="2"/>
              </a:rPr>
              <a:t>연기감지 후 당사 </a:t>
            </a:r>
            <a:r>
              <a:rPr lang="en-US" altLang="ko-KR" sz="900" dirty="0">
                <a:latin typeface="+mn-ea"/>
                <a:sym typeface="Wingdings" panose="05000000000000000000" pitchFamily="2" charset="2"/>
              </a:rPr>
              <a:t>RMS</a:t>
            </a:r>
            <a:r>
              <a:rPr lang="ko-KR" altLang="en-US" sz="900" dirty="0">
                <a:latin typeface="+mn-ea"/>
                <a:sym typeface="Wingdings" panose="05000000000000000000" pitchFamily="2" charset="2"/>
              </a:rPr>
              <a:t>연계하여 </a:t>
            </a:r>
            <a:r>
              <a:rPr lang="en-US" altLang="ko-KR" sz="900" dirty="0">
                <a:latin typeface="+mn-ea"/>
                <a:sym typeface="Wingdings" panose="05000000000000000000" pitchFamily="2" charset="2"/>
              </a:rPr>
              <a:t>IOC(</a:t>
            </a:r>
            <a:r>
              <a:rPr lang="ko-KR" altLang="en-US" sz="900" dirty="0">
                <a:latin typeface="+mn-ea"/>
                <a:sym typeface="Wingdings" panose="05000000000000000000" pitchFamily="2" charset="2"/>
              </a:rPr>
              <a:t>통합운영센터</a:t>
            </a:r>
            <a:r>
              <a:rPr lang="en-US" altLang="ko-KR" sz="900" dirty="0">
                <a:latin typeface="+mn-ea"/>
                <a:sym typeface="Wingdings" panose="05000000000000000000" pitchFamily="2" charset="2"/>
              </a:rPr>
              <a:t>) </a:t>
            </a:r>
            <a:r>
              <a:rPr lang="ko-KR" altLang="en-US" sz="900" dirty="0">
                <a:latin typeface="+mn-ea"/>
                <a:sym typeface="Wingdings" panose="05000000000000000000" pitchFamily="2" charset="2"/>
              </a:rPr>
              <a:t>확인</a:t>
            </a:r>
            <a:endParaRPr lang="en-US" altLang="ko-KR" sz="900" dirty="0">
              <a:latin typeface="+mn-ea"/>
              <a:sym typeface="Wingdings" panose="05000000000000000000" pitchFamily="2" charset="2"/>
            </a:endParaRPr>
          </a:p>
          <a:p>
            <a:r>
              <a:rPr lang="en-US" altLang="ko-KR" sz="900" dirty="0">
                <a:latin typeface="+mn-ea"/>
                <a:sym typeface="Wingdings" panose="05000000000000000000" pitchFamily="2" charset="2"/>
              </a:rPr>
              <a:t>   2) IOC</a:t>
            </a:r>
            <a:r>
              <a:rPr lang="ko-KR" altLang="en-US" sz="900" dirty="0">
                <a:latin typeface="+mn-ea"/>
                <a:sym typeface="Wingdings" panose="05000000000000000000" pitchFamily="2" charset="2"/>
              </a:rPr>
              <a:t>에서 전용 </a:t>
            </a:r>
            <a:r>
              <a:rPr lang="en-US" altLang="ko-KR" sz="900" dirty="0">
                <a:latin typeface="+mn-ea"/>
                <a:sym typeface="Wingdings" panose="05000000000000000000" pitchFamily="2" charset="2"/>
              </a:rPr>
              <a:t>CCTV </a:t>
            </a:r>
            <a:r>
              <a:rPr lang="ko-KR" altLang="en-US" sz="900" dirty="0">
                <a:latin typeface="+mn-ea"/>
                <a:sym typeface="Wingdings" panose="05000000000000000000" pitchFamily="2" charset="2"/>
              </a:rPr>
              <a:t>확인하여 오작동 </a:t>
            </a:r>
            <a:r>
              <a:rPr lang="en-US" altLang="ko-KR" sz="900" dirty="0">
                <a:latin typeface="+mn-ea"/>
                <a:sym typeface="Wingdings" panose="05000000000000000000" pitchFamily="2" charset="2"/>
              </a:rPr>
              <a:t>&amp; </a:t>
            </a:r>
            <a:r>
              <a:rPr lang="ko-KR" altLang="en-US" sz="900" dirty="0">
                <a:latin typeface="+mn-ea"/>
                <a:sym typeface="Wingdings" panose="05000000000000000000" pitchFamily="2" charset="2"/>
              </a:rPr>
              <a:t>실제 화재 여부 판정</a:t>
            </a:r>
            <a:endParaRPr lang="en-US" altLang="ko-KR" sz="900" dirty="0">
              <a:latin typeface="+mn-ea"/>
              <a:sym typeface="Wingdings" panose="05000000000000000000" pitchFamily="2" charset="2"/>
            </a:endParaRPr>
          </a:p>
          <a:p>
            <a:r>
              <a:rPr lang="en-US" altLang="ko-KR" sz="900" dirty="0">
                <a:latin typeface="+mn-ea"/>
                <a:sym typeface="Wingdings" panose="05000000000000000000" pitchFamily="2" charset="2"/>
              </a:rPr>
              <a:t>   3) IOC</a:t>
            </a:r>
            <a:r>
              <a:rPr lang="ko-KR" altLang="en-US" sz="900" dirty="0">
                <a:latin typeface="+mn-ea"/>
                <a:sym typeface="Wingdings" panose="05000000000000000000" pitchFamily="2" charset="2"/>
              </a:rPr>
              <a:t>에서</a:t>
            </a:r>
            <a:r>
              <a:rPr lang="en-US" altLang="ko-KR" sz="900" dirty="0">
                <a:latin typeface="+mn-ea"/>
                <a:sym typeface="Wingdings" panose="05000000000000000000" pitchFamily="2" charset="2"/>
              </a:rPr>
              <a:t> </a:t>
            </a:r>
            <a:r>
              <a:rPr lang="ko-KR" altLang="en-US" sz="900" dirty="0">
                <a:latin typeface="+mn-ea"/>
                <a:sym typeface="Wingdings" panose="05000000000000000000" pitchFamily="2" charset="2"/>
              </a:rPr>
              <a:t>수동조작함의 </a:t>
            </a:r>
            <a:r>
              <a:rPr lang="ko-KR" altLang="en-US" sz="900" dirty="0" err="1">
                <a:latin typeface="+mn-ea"/>
                <a:sym typeface="Wingdings" panose="05000000000000000000" pitchFamily="2" charset="2"/>
              </a:rPr>
              <a:t>수동기동</a:t>
            </a:r>
            <a:r>
              <a:rPr lang="ko-KR" altLang="en-US" sz="900" dirty="0">
                <a:latin typeface="+mn-ea"/>
                <a:sym typeface="Wingdings" panose="05000000000000000000" pitchFamily="2" charset="2"/>
              </a:rPr>
              <a:t> 접점 연계하여</a:t>
            </a:r>
            <a:endParaRPr lang="en-US" altLang="ko-KR" sz="900" dirty="0">
              <a:latin typeface="+mn-ea"/>
              <a:sym typeface="Wingdings" panose="05000000000000000000" pitchFamily="2" charset="2"/>
            </a:endParaRPr>
          </a:p>
          <a:p>
            <a:r>
              <a:rPr lang="en-US" altLang="ko-KR" sz="900" dirty="0">
                <a:latin typeface="+mn-ea"/>
                <a:sym typeface="Wingdings" panose="05000000000000000000" pitchFamily="2" charset="2"/>
              </a:rPr>
              <a:t>      </a:t>
            </a:r>
            <a:r>
              <a:rPr lang="ko-KR" altLang="en-US" sz="900" dirty="0">
                <a:latin typeface="+mn-ea"/>
                <a:sym typeface="Wingdings" panose="05000000000000000000" pitchFamily="2" charset="2"/>
              </a:rPr>
              <a:t>원격 제어 또는 수동 조작</a:t>
            </a:r>
            <a:r>
              <a:rPr lang="en-US" altLang="ko-KR" sz="900" dirty="0">
                <a:latin typeface="+mn-ea"/>
                <a:sym typeface="Wingdings" panose="05000000000000000000" pitchFamily="2" charset="2"/>
              </a:rPr>
              <a:t>S/W</a:t>
            </a:r>
            <a:r>
              <a:rPr lang="ko-KR" altLang="en-US" sz="900" dirty="0">
                <a:latin typeface="+mn-ea"/>
                <a:sym typeface="Wingdings" panose="05000000000000000000" pitchFamily="2" charset="2"/>
              </a:rPr>
              <a:t>에 의한 </a:t>
            </a:r>
            <a:r>
              <a:rPr lang="ko-KR" altLang="en-US" sz="900" dirty="0" err="1">
                <a:latin typeface="+mn-ea"/>
                <a:sym typeface="Wingdings" panose="05000000000000000000" pitchFamily="2" charset="2"/>
              </a:rPr>
              <a:t>프리액션밸브</a:t>
            </a:r>
            <a:r>
              <a:rPr lang="ko-KR" altLang="en-US" sz="900" dirty="0">
                <a:latin typeface="+mn-ea"/>
                <a:sym typeface="Wingdings" panose="05000000000000000000" pitchFamily="2" charset="2"/>
              </a:rPr>
              <a:t> 작동 </a:t>
            </a:r>
            <a:endParaRPr lang="ko-KR" altLang="en-US" sz="900" dirty="0">
              <a:latin typeface="+mn-ea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90630D6-D5A3-49C1-84CD-6B2ACBD825C6}"/>
              </a:ext>
            </a:extLst>
          </p:cNvPr>
          <p:cNvSpPr txBox="1"/>
          <p:nvPr/>
        </p:nvSpPr>
        <p:spPr>
          <a:xfrm>
            <a:off x="359751" y="1140685"/>
            <a:ext cx="13163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dirty="0">
                <a:latin typeface="+mn-ea"/>
              </a:rPr>
              <a:t>1</a:t>
            </a:r>
            <a:r>
              <a:rPr lang="ko-KR" altLang="en-US" sz="1200" b="1" dirty="0">
                <a:latin typeface="+mn-ea"/>
              </a:rPr>
              <a:t>차 화재 대응 </a:t>
            </a:r>
            <a:endParaRPr lang="en-US" altLang="ko-KR" sz="1200" b="1" dirty="0">
              <a:latin typeface="+mn-ea"/>
            </a:endParaRPr>
          </a:p>
          <a:p>
            <a:pPr algn="ctr"/>
            <a:r>
              <a:rPr lang="ko-KR" altLang="en-US" sz="1200" b="1" dirty="0">
                <a:latin typeface="+mn-ea"/>
              </a:rPr>
              <a:t>방화포 작동순서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13A57AE-8B89-4109-991E-18268347C629}"/>
              </a:ext>
            </a:extLst>
          </p:cNvPr>
          <p:cNvSpPr txBox="1"/>
          <p:nvPr/>
        </p:nvSpPr>
        <p:spPr>
          <a:xfrm>
            <a:off x="4315138" y="1133735"/>
            <a:ext cx="12073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dirty="0">
                <a:latin typeface="+mn-ea"/>
              </a:rPr>
              <a:t>2</a:t>
            </a:r>
            <a:r>
              <a:rPr lang="ko-KR" altLang="en-US" sz="1200" b="1" dirty="0">
                <a:latin typeface="+mn-ea"/>
              </a:rPr>
              <a:t>차 화재 진압 </a:t>
            </a:r>
            <a:endParaRPr lang="en-US" altLang="ko-KR" sz="1200" b="1" dirty="0">
              <a:latin typeface="+mn-ea"/>
            </a:endParaRPr>
          </a:p>
          <a:p>
            <a:pPr algn="ctr"/>
            <a:r>
              <a:rPr lang="ko-KR" altLang="en-US" sz="1200" b="1" dirty="0">
                <a:latin typeface="+mn-ea"/>
              </a:rPr>
              <a:t>작동순서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6F9BEAE-0B32-435E-8C09-471F8F8F3EA4}"/>
              </a:ext>
            </a:extLst>
          </p:cNvPr>
          <p:cNvSpPr txBox="1"/>
          <p:nvPr/>
        </p:nvSpPr>
        <p:spPr>
          <a:xfrm>
            <a:off x="2555107" y="3310903"/>
            <a:ext cx="5758903" cy="3277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  <a:sym typeface="Wingdings" panose="05000000000000000000" pitchFamily="2" charset="2"/>
              </a:rPr>
              <a:t>법률 검토 의견</a:t>
            </a:r>
            <a:endParaRPr lang="en-US" altLang="ko-KR" sz="900" b="1" dirty="0">
              <a:solidFill>
                <a:srgbClr val="0070C0"/>
              </a:solidFill>
              <a:latin typeface="+mn-ea"/>
              <a:sym typeface="Wingdings" panose="05000000000000000000" pitchFamily="2" charset="2"/>
            </a:endParaRPr>
          </a:p>
          <a:p>
            <a:r>
              <a:rPr lang="en-US" altLang="ko-KR" sz="900" dirty="0">
                <a:latin typeface="+mn-ea"/>
                <a:sym typeface="Wingdings" panose="05000000000000000000" pitchFamily="2" charset="2"/>
              </a:rPr>
              <a:t>1) </a:t>
            </a:r>
            <a:r>
              <a:rPr lang="ko-KR" altLang="en-US" sz="900" dirty="0">
                <a:latin typeface="+mn-ea"/>
                <a:sym typeface="Wingdings" panose="05000000000000000000" pitchFamily="2" charset="2"/>
              </a:rPr>
              <a:t>기존 </a:t>
            </a:r>
            <a:r>
              <a:rPr lang="ko-KR" altLang="en-US" sz="900" dirty="0" err="1">
                <a:latin typeface="+mn-ea"/>
                <a:sym typeface="Wingdings" panose="05000000000000000000" pitchFamily="2" charset="2"/>
              </a:rPr>
              <a:t>준비작동식</a:t>
            </a:r>
            <a:r>
              <a:rPr lang="ko-KR" altLang="en-US" sz="900" dirty="0">
                <a:latin typeface="+mn-ea"/>
                <a:sym typeface="Wingdings" panose="05000000000000000000" pitchFamily="2" charset="2"/>
              </a:rPr>
              <a:t> 스프링클러설비에서 </a:t>
            </a:r>
            <a:r>
              <a:rPr lang="ko-KR" altLang="en-US" sz="900" dirty="0" err="1">
                <a:latin typeface="+mn-ea"/>
                <a:sym typeface="Wingdings" panose="05000000000000000000" pitchFamily="2" charset="2"/>
              </a:rPr>
              <a:t>분기배관하여</a:t>
            </a:r>
            <a:r>
              <a:rPr lang="ko-KR" altLang="en-US" sz="900" dirty="0">
                <a:latin typeface="+mn-ea"/>
                <a:sym typeface="Wingdings" panose="05000000000000000000" pitchFamily="2" charset="2"/>
              </a:rPr>
              <a:t> 헤드 설치 가능여부</a:t>
            </a:r>
            <a:endParaRPr lang="en-US" altLang="ko-KR" sz="900" dirty="0">
              <a:latin typeface="+mn-ea"/>
              <a:sym typeface="Wingdings" panose="05000000000000000000" pitchFamily="2" charset="2"/>
            </a:endParaRPr>
          </a:p>
          <a:p>
            <a:r>
              <a:rPr lang="en-US" altLang="ko-KR" sz="900" dirty="0">
                <a:latin typeface="+mn-ea"/>
                <a:sym typeface="Wingdings" panose="05000000000000000000" pitchFamily="2" charset="2"/>
              </a:rPr>
              <a:t>   - </a:t>
            </a:r>
            <a:r>
              <a:rPr lang="ko-KR" altLang="en-US" sz="900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분기배관 하여 헤드 </a:t>
            </a:r>
            <a:r>
              <a:rPr lang="ko-KR" altLang="en-US" sz="900" dirty="0" err="1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설치시</a:t>
            </a:r>
            <a:r>
              <a:rPr lang="ko-KR" altLang="en-US" sz="900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 헤드 </a:t>
            </a:r>
            <a:r>
              <a:rPr lang="ko-KR" altLang="en-US" sz="900" dirty="0" err="1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수별</a:t>
            </a:r>
            <a:r>
              <a:rPr lang="ko-KR" altLang="en-US" sz="900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 급수배관의 </a:t>
            </a:r>
            <a:r>
              <a:rPr lang="ko-KR" altLang="en-US" sz="900" dirty="0" err="1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관경에</a:t>
            </a:r>
            <a:r>
              <a:rPr lang="ko-KR" altLang="en-US" sz="900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 따른 헤드개수 확인</a:t>
            </a:r>
            <a:r>
              <a:rPr lang="en-US" altLang="ko-KR" sz="900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(</a:t>
            </a:r>
            <a:r>
              <a:rPr lang="ko-KR" altLang="en-US" sz="900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소방서 의견</a:t>
            </a:r>
            <a:r>
              <a:rPr lang="en-US" altLang="ko-KR" sz="900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)</a:t>
            </a:r>
          </a:p>
          <a:p>
            <a:endParaRPr lang="en-US" altLang="ko-KR" sz="900" dirty="0">
              <a:latin typeface="+mn-ea"/>
              <a:sym typeface="Wingdings" panose="05000000000000000000" pitchFamily="2" charset="2"/>
            </a:endParaRPr>
          </a:p>
          <a:p>
            <a:r>
              <a:rPr lang="en-US" altLang="ko-KR" sz="900" dirty="0">
                <a:latin typeface="+mn-ea"/>
                <a:sym typeface="Wingdings" panose="05000000000000000000" pitchFamily="2" charset="2"/>
              </a:rPr>
              <a:t>2) </a:t>
            </a:r>
            <a:r>
              <a:rPr lang="ko-KR" altLang="en-US" sz="900" dirty="0" err="1">
                <a:latin typeface="+mn-ea"/>
                <a:sym typeface="Wingdings" panose="05000000000000000000" pitchFamily="2" charset="2"/>
              </a:rPr>
              <a:t>분기배관하여</a:t>
            </a:r>
            <a:r>
              <a:rPr lang="ko-KR" altLang="en-US" sz="900" dirty="0">
                <a:latin typeface="+mn-ea"/>
                <a:sym typeface="Wingdings" panose="05000000000000000000" pitchFamily="2" charset="2"/>
              </a:rPr>
              <a:t> 하향식 헤드 </a:t>
            </a:r>
            <a:r>
              <a:rPr lang="ko-KR" altLang="en-US" sz="900" dirty="0" err="1">
                <a:latin typeface="+mn-ea"/>
                <a:sym typeface="Wingdings" panose="05000000000000000000" pitchFamily="2" charset="2"/>
              </a:rPr>
              <a:t>설치시</a:t>
            </a:r>
            <a:r>
              <a:rPr lang="ko-KR" altLang="en-US" sz="900" dirty="0">
                <a:latin typeface="+mn-ea"/>
                <a:sym typeface="Wingdings" panose="05000000000000000000" pitchFamily="2" charset="2"/>
              </a:rPr>
              <a:t> 가능여부</a:t>
            </a:r>
            <a:endParaRPr lang="en-US" altLang="ko-KR" sz="900" dirty="0">
              <a:latin typeface="+mn-ea"/>
              <a:sym typeface="Wingdings" panose="05000000000000000000" pitchFamily="2" charset="2"/>
            </a:endParaRPr>
          </a:p>
          <a:p>
            <a:r>
              <a:rPr lang="en-US" altLang="ko-KR" sz="900" dirty="0">
                <a:latin typeface="+mn-ea"/>
                <a:sym typeface="Wingdings" panose="05000000000000000000" pitchFamily="2" charset="2"/>
              </a:rPr>
              <a:t>   - </a:t>
            </a:r>
            <a:r>
              <a:rPr lang="ko-KR" altLang="en-US" sz="900" dirty="0" err="1">
                <a:latin typeface="+mn-ea"/>
                <a:sym typeface="Wingdings" panose="05000000000000000000" pitchFamily="2" charset="2"/>
              </a:rPr>
              <a:t>드라이펜던트형</a:t>
            </a:r>
            <a:r>
              <a:rPr lang="ko-KR" altLang="en-US" sz="900" dirty="0">
                <a:latin typeface="+mn-ea"/>
                <a:sym typeface="Wingdings" panose="05000000000000000000" pitchFamily="2" charset="2"/>
              </a:rPr>
              <a:t> 설치 또는 동파의 우려가 없는 장소 또는 개방형헤드 </a:t>
            </a:r>
            <a:r>
              <a:rPr lang="ko-KR" altLang="en-US" sz="900" dirty="0" err="1">
                <a:latin typeface="+mn-ea"/>
                <a:sym typeface="Wingdings" panose="05000000000000000000" pitchFamily="2" charset="2"/>
              </a:rPr>
              <a:t>설치시</a:t>
            </a:r>
            <a:r>
              <a:rPr lang="ko-KR" altLang="en-US" sz="900" dirty="0">
                <a:latin typeface="+mn-ea"/>
                <a:sym typeface="Wingdings" panose="05000000000000000000" pitchFamily="2" charset="2"/>
              </a:rPr>
              <a:t> 가능</a:t>
            </a:r>
            <a:endParaRPr lang="en-US" altLang="ko-KR" sz="900" dirty="0">
              <a:latin typeface="+mn-ea"/>
              <a:sym typeface="Wingdings" panose="05000000000000000000" pitchFamily="2" charset="2"/>
            </a:endParaRPr>
          </a:p>
          <a:p>
            <a:endParaRPr lang="en-US" altLang="ko-KR" sz="900" dirty="0">
              <a:latin typeface="+mn-ea"/>
              <a:sym typeface="Wingdings" panose="05000000000000000000" pitchFamily="2" charset="2"/>
            </a:endParaRPr>
          </a:p>
          <a:p>
            <a:r>
              <a:rPr lang="en-US" altLang="ko-KR" sz="900" dirty="0">
                <a:latin typeface="+mn-ea"/>
                <a:sym typeface="Wingdings" panose="05000000000000000000" pitchFamily="2" charset="2"/>
              </a:rPr>
              <a:t>3) </a:t>
            </a:r>
            <a:r>
              <a:rPr lang="ko-KR" altLang="en-US" sz="900" dirty="0">
                <a:latin typeface="+mn-ea"/>
                <a:sym typeface="Wingdings" panose="05000000000000000000" pitchFamily="2" charset="2"/>
              </a:rPr>
              <a:t>개방형헤드 </a:t>
            </a:r>
            <a:r>
              <a:rPr lang="ko-KR" altLang="en-US" sz="900" dirty="0" err="1">
                <a:latin typeface="+mn-ea"/>
                <a:sym typeface="Wingdings" panose="05000000000000000000" pitchFamily="2" charset="2"/>
              </a:rPr>
              <a:t>설치시</a:t>
            </a:r>
            <a:r>
              <a:rPr lang="ko-KR" altLang="en-US" sz="900" dirty="0">
                <a:latin typeface="+mn-ea"/>
                <a:sym typeface="Wingdings" panose="05000000000000000000" pitchFamily="2" charset="2"/>
              </a:rPr>
              <a:t> 오작동으로 인한 </a:t>
            </a:r>
            <a:r>
              <a:rPr lang="ko-KR" altLang="en-US" sz="900" dirty="0" err="1">
                <a:latin typeface="+mn-ea"/>
                <a:sym typeface="Wingdings" panose="05000000000000000000" pitchFamily="2" charset="2"/>
              </a:rPr>
              <a:t>수손피해를</a:t>
            </a:r>
            <a:r>
              <a:rPr lang="ko-KR" altLang="en-US" sz="900" dirty="0">
                <a:latin typeface="+mn-ea"/>
                <a:sym typeface="Wingdings" panose="05000000000000000000" pitchFamily="2" charset="2"/>
              </a:rPr>
              <a:t> 방지하기위한 전동밸브 설치하여 원격제어 가능여부</a:t>
            </a:r>
            <a:endParaRPr lang="en-US" altLang="ko-KR" sz="900" dirty="0">
              <a:latin typeface="+mn-ea"/>
              <a:sym typeface="Wingdings" panose="05000000000000000000" pitchFamily="2" charset="2"/>
            </a:endParaRPr>
          </a:p>
          <a:p>
            <a:r>
              <a:rPr lang="en-US" altLang="ko-KR" sz="900" dirty="0">
                <a:latin typeface="+mn-ea"/>
                <a:sym typeface="Wingdings" panose="05000000000000000000" pitchFamily="2" charset="2"/>
              </a:rPr>
              <a:t>   - </a:t>
            </a:r>
            <a:r>
              <a:rPr lang="ko-KR" altLang="en-US" sz="900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화재 초기 자동으로 소화하는 설비에 지장을 주는 설비로 위법</a:t>
            </a:r>
            <a:r>
              <a:rPr lang="en-US" altLang="ko-KR" sz="900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(</a:t>
            </a:r>
            <a:r>
              <a:rPr lang="ko-KR" altLang="en-US" sz="900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소방서 의견</a:t>
            </a:r>
            <a:r>
              <a:rPr lang="en-US" altLang="ko-KR" sz="900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)</a:t>
            </a:r>
            <a:r>
              <a:rPr lang="ko-KR" altLang="en-US" sz="900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 </a:t>
            </a:r>
            <a:endParaRPr lang="en-US" altLang="ko-KR" sz="900" dirty="0">
              <a:solidFill>
                <a:srgbClr val="FF0000"/>
              </a:solidFill>
              <a:latin typeface="+mn-ea"/>
              <a:sym typeface="Wingdings" panose="05000000000000000000" pitchFamily="2" charset="2"/>
            </a:endParaRPr>
          </a:p>
          <a:p>
            <a:endParaRPr lang="en-US" altLang="ko-KR" sz="900" dirty="0">
              <a:latin typeface="+mn-ea"/>
              <a:sym typeface="Wingdings" panose="05000000000000000000" pitchFamily="2" charset="2"/>
            </a:endParaRPr>
          </a:p>
          <a:p>
            <a:r>
              <a:rPr lang="en-US" altLang="ko-KR" sz="900" dirty="0">
                <a:latin typeface="+mn-ea"/>
                <a:sym typeface="Wingdings" panose="05000000000000000000" pitchFamily="2" charset="2"/>
              </a:rPr>
              <a:t>4) </a:t>
            </a:r>
            <a:r>
              <a:rPr lang="ko-KR" altLang="en-US" sz="900" dirty="0">
                <a:latin typeface="+mn-ea"/>
                <a:sym typeface="Wingdings" panose="05000000000000000000" pitchFamily="2" charset="2"/>
              </a:rPr>
              <a:t>하향식헤드를 </a:t>
            </a:r>
            <a:r>
              <a:rPr lang="ko-KR" altLang="en-US" sz="900" dirty="0" err="1">
                <a:latin typeface="+mn-ea"/>
                <a:sym typeface="Wingdings" panose="05000000000000000000" pitchFamily="2" charset="2"/>
              </a:rPr>
              <a:t>드라이펜던트형</a:t>
            </a:r>
            <a:r>
              <a:rPr lang="ko-KR" altLang="en-US" sz="900" dirty="0">
                <a:latin typeface="+mn-ea"/>
                <a:sym typeface="Wingdings" panose="05000000000000000000" pitchFamily="2" charset="2"/>
              </a:rPr>
              <a:t> 폐쇄형헤드 설치하고 추가로 분기하여 개방형헤드</a:t>
            </a:r>
            <a:r>
              <a:rPr lang="en-US" altLang="ko-KR" sz="900" dirty="0">
                <a:latin typeface="+mn-ea"/>
                <a:sym typeface="Wingdings" panose="05000000000000000000" pitchFamily="2" charset="2"/>
              </a:rPr>
              <a:t>+</a:t>
            </a:r>
            <a:r>
              <a:rPr lang="ko-KR" altLang="en-US" sz="900" dirty="0">
                <a:latin typeface="+mn-ea"/>
                <a:sym typeface="Wingdings" panose="05000000000000000000" pitchFamily="2" charset="2"/>
              </a:rPr>
              <a:t>전동밸브 설치 가능여부</a:t>
            </a:r>
            <a:endParaRPr lang="en-US" altLang="ko-KR" sz="900" dirty="0">
              <a:latin typeface="+mn-ea"/>
              <a:sym typeface="Wingdings" panose="05000000000000000000" pitchFamily="2" charset="2"/>
            </a:endParaRPr>
          </a:p>
          <a:p>
            <a:r>
              <a:rPr lang="en-US" altLang="ko-KR" sz="900" dirty="0">
                <a:latin typeface="+mn-ea"/>
                <a:sym typeface="Wingdings" panose="05000000000000000000" pitchFamily="2" charset="2"/>
              </a:rPr>
              <a:t>   - </a:t>
            </a:r>
            <a:r>
              <a:rPr lang="ko-KR" altLang="en-US" sz="900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동일한 </a:t>
            </a:r>
            <a:r>
              <a:rPr lang="ko-KR" altLang="en-US" sz="900" dirty="0" err="1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급수배관이므로</a:t>
            </a:r>
            <a:r>
              <a:rPr lang="ko-KR" altLang="en-US" sz="900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 위법</a:t>
            </a:r>
            <a:r>
              <a:rPr lang="en-US" altLang="ko-KR" sz="900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(</a:t>
            </a:r>
            <a:r>
              <a:rPr lang="ko-KR" altLang="en-US" sz="900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소방서 의견</a:t>
            </a:r>
            <a:r>
              <a:rPr lang="en-US" altLang="ko-KR" sz="900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)</a:t>
            </a:r>
          </a:p>
          <a:p>
            <a:endParaRPr lang="en-US" altLang="ko-KR" sz="900" dirty="0">
              <a:latin typeface="+mn-ea"/>
              <a:sym typeface="Wingdings" panose="05000000000000000000" pitchFamily="2" charset="2"/>
            </a:endParaRPr>
          </a:p>
          <a:p>
            <a:r>
              <a:rPr lang="en-US" altLang="ko-KR" sz="900" dirty="0">
                <a:latin typeface="+mn-ea"/>
                <a:sym typeface="Wingdings" panose="05000000000000000000" pitchFamily="2" charset="2"/>
              </a:rPr>
              <a:t>5) </a:t>
            </a:r>
            <a:r>
              <a:rPr lang="ko-KR" altLang="en-US" sz="900" dirty="0">
                <a:latin typeface="+mn-ea"/>
                <a:sym typeface="Wingdings" panose="05000000000000000000" pitchFamily="2" charset="2"/>
              </a:rPr>
              <a:t>가드</a:t>
            </a:r>
            <a:r>
              <a:rPr lang="en-US" altLang="ko-KR" sz="900" dirty="0">
                <a:latin typeface="+mn-ea"/>
                <a:sym typeface="Wingdings" panose="05000000000000000000" pitchFamily="2" charset="2"/>
              </a:rPr>
              <a:t>K </a:t>
            </a:r>
            <a:r>
              <a:rPr lang="ko-KR" altLang="en-US" sz="900" dirty="0">
                <a:latin typeface="+mn-ea"/>
                <a:sym typeface="Wingdings" panose="05000000000000000000" pitchFamily="2" charset="2"/>
              </a:rPr>
              <a:t>설치되는 구역내 </a:t>
            </a:r>
            <a:r>
              <a:rPr lang="ko-KR" altLang="en-US" sz="900" dirty="0" err="1">
                <a:latin typeface="+mn-ea"/>
                <a:sym typeface="Wingdings" panose="05000000000000000000" pitchFamily="2" charset="2"/>
              </a:rPr>
              <a:t>준비작동식밸브</a:t>
            </a:r>
            <a:r>
              <a:rPr lang="ko-KR" altLang="en-US" sz="900" dirty="0">
                <a:latin typeface="+mn-ea"/>
                <a:sym typeface="Wingdings" panose="05000000000000000000" pitchFamily="2" charset="2"/>
              </a:rPr>
              <a:t> 기동용감지기“</a:t>
            </a:r>
            <a:r>
              <a:rPr lang="en-US" altLang="ko-KR" sz="900" dirty="0">
                <a:latin typeface="+mn-ea"/>
                <a:sym typeface="Wingdings" panose="05000000000000000000" pitchFamily="2" charset="2"/>
              </a:rPr>
              <a:t>A””B” </a:t>
            </a:r>
            <a:r>
              <a:rPr lang="ko-KR" altLang="en-US" sz="900" dirty="0">
                <a:latin typeface="+mn-ea"/>
                <a:sym typeface="Wingdings" panose="05000000000000000000" pitchFamily="2" charset="2"/>
              </a:rPr>
              <a:t>설치여부</a:t>
            </a:r>
            <a:endParaRPr lang="en-US" altLang="ko-KR" sz="900" dirty="0">
              <a:latin typeface="+mn-ea"/>
              <a:sym typeface="Wingdings" panose="05000000000000000000" pitchFamily="2" charset="2"/>
            </a:endParaRPr>
          </a:p>
          <a:p>
            <a:r>
              <a:rPr lang="en-US" altLang="ko-KR" sz="900" dirty="0">
                <a:latin typeface="+mn-ea"/>
                <a:sym typeface="Wingdings" panose="05000000000000000000" pitchFamily="2" charset="2"/>
              </a:rPr>
              <a:t>   - </a:t>
            </a:r>
            <a:r>
              <a:rPr lang="ko-KR" altLang="en-US" sz="900" dirty="0">
                <a:latin typeface="+mn-ea"/>
                <a:sym typeface="Wingdings" panose="05000000000000000000" pitchFamily="2" charset="2"/>
              </a:rPr>
              <a:t>주변에 설치되는 감지기의 감지면적에 포함되어 있으면 </a:t>
            </a:r>
            <a:r>
              <a:rPr lang="ko-KR" altLang="en-US" sz="900" dirty="0" err="1">
                <a:latin typeface="+mn-ea"/>
                <a:sym typeface="Wingdings" panose="05000000000000000000" pitchFamily="2" charset="2"/>
              </a:rPr>
              <a:t>미설치</a:t>
            </a:r>
            <a:r>
              <a:rPr lang="ko-KR" altLang="en-US" sz="900" dirty="0">
                <a:latin typeface="+mn-ea"/>
                <a:sym typeface="Wingdings" panose="05000000000000000000" pitchFamily="2" charset="2"/>
              </a:rPr>
              <a:t> 가능</a:t>
            </a:r>
            <a:endParaRPr lang="en-US" altLang="ko-KR" sz="900" dirty="0">
              <a:latin typeface="+mn-ea"/>
              <a:sym typeface="Wingdings" panose="05000000000000000000" pitchFamily="2" charset="2"/>
            </a:endParaRPr>
          </a:p>
          <a:p>
            <a:r>
              <a:rPr lang="en-US" altLang="ko-KR" sz="900" dirty="0">
                <a:latin typeface="+mn-ea"/>
                <a:sym typeface="Wingdings" panose="05000000000000000000" pitchFamily="2" charset="2"/>
              </a:rPr>
              <a:t>   </a:t>
            </a:r>
          </a:p>
          <a:p>
            <a:r>
              <a:rPr lang="en-US" altLang="ko-KR" sz="900" dirty="0">
                <a:latin typeface="+mn-ea"/>
                <a:sym typeface="Wingdings" panose="05000000000000000000" pitchFamily="2" charset="2"/>
              </a:rPr>
              <a:t>6) </a:t>
            </a:r>
            <a:r>
              <a:rPr lang="ko-KR" altLang="en-US" sz="900" dirty="0">
                <a:latin typeface="+mn-ea"/>
                <a:sym typeface="Wingdings" panose="05000000000000000000" pitchFamily="2" charset="2"/>
              </a:rPr>
              <a:t>폐쇄형헤드 설치 후 </a:t>
            </a:r>
            <a:r>
              <a:rPr lang="en-US" altLang="ko-KR" sz="900" dirty="0">
                <a:latin typeface="+mn-ea"/>
                <a:sym typeface="Wingdings" panose="05000000000000000000" pitchFamily="2" charset="2"/>
              </a:rPr>
              <a:t>IOC</a:t>
            </a:r>
            <a:r>
              <a:rPr lang="ko-KR" altLang="en-US" sz="900" dirty="0">
                <a:latin typeface="+mn-ea"/>
                <a:sym typeface="Wingdings" panose="05000000000000000000" pitchFamily="2" charset="2"/>
              </a:rPr>
              <a:t>에서</a:t>
            </a:r>
            <a:r>
              <a:rPr lang="en-US" altLang="ko-KR" sz="900" dirty="0">
                <a:latin typeface="+mn-ea"/>
                <a:sym typeface="Wingdings" panose="05000000000000000000" pitchFamily="2" charset="2"/>
              </a:rPr>
              <a:t> </a:t>
            </a:r>
            <a:r>
              <a:rPr lang="ko-KR" altLang="en-US" sz="900" dirty="0">
                <a:latin typeface="+mn-ea"/>
                <a:sym typeface="Wingdings" panose="05000000000000000000" pitchFamily="2" charset="2"/>
              </a:rPr>
              <a:t>수동조작함의 수동기동 접점 연계하여 원격 제어 </a:t>
            </a:r>
            <a:endParaRPr lang="en-US" altLang="ko-KR" sz="900" dirty="0">
              <a:latin typeface="+mn-ea"/>
              <a:sym typeface="Wingdings" panose="05000000000000000000" pitchFamily="2" charset="2"/>
            </a:endParaRPr>
          </a:p>
          <a:p>
            <a:r>
              <a:rPr lang="en-US" altLang="ko-KR" sz="900" dirty="0">
                <a:latin typeface="+mn-ea"/>
                <a:sym typeface="Wingdings" panose="05000000000000000000" pitchFamily="2" charset="2"/>
              </a:rPr>
              <a:t>   </a:t>
            </a:r>
            <a:r>
              <a:rPr lang="ko-KR" altLang="en-US" sz="900" dirty="0">
                <a:latin typeface="+mn-ea"/>
                <a:sym typeface="Wingdings" panose="05000000000000000000" pitchFamily="2" charset="2"/>
              </a:rPr>
              <a:t>또는 수동 조작</a:t>
            </a:r>
            <a:r>
              <a:rPr lang="en-US" altLang="ko-KR" sz="900" dirty="0">
                <a:latin typeface="+mn-ea"/>
                <a:sym typeface="Wingdings" panose="05000000000000000000" pitchFamily="2" charset="2"/>
              </a:rPr>
              <a:t>S/W</a:t>
            </a:r>
            <a:r>
              <a:rPr lang="ko-KR" altLang="en-US" sz="900" dirty="0">
                <a:latin typeface="+mn-ea"/>
                <a:sym typeface="Wingdings" panose="05000000000000000000" pitchFamily="2" charset="2"/>
              </a:rPr>
              <a:t>에 의한 </a:t>
            </a:r>
            <a:r>
              <a:rPr lang="ko-KR" altLang="en-US" sz="900" dirty="0" err="1">
                <a:latin typeface="+mn-ea"/>
                <a:sym typeface="Wingdings" panose="05000000000000000000" pitchFamily="2" charset="2"/>
              </a:rPr>
              <a:t>프리액션밸브</a:t>
            </a:r>
            <a:r>
              <a:rPr lang="ko-KR" altLang="en-US" sz="900" dirty="0">
                <a:latin typeface="+mn-ea"/>
                <a:sym typeface="Wingdings" panose="05000000000000000000" pitchFamily="2" charset="2"/>
              </a:rPr>
              <a:t> 작동 </a:t>
            </a:r>
            <a:r>
              <a:rPr lang="en-US" altLang="ko-KR" sz="900" dirty="0">
                <a:latin typeface="+mn-ea"/>
                <a:sym typeface="Wingdings" panose="05000000000000000000" pitchFamily="2" charset="2"/>
              </a:rPr>
              <a:t>(</a:t>
            </a:r>
            <a:r>
              <a:rPr lang="ko-KR" altLang="en-US" sz="900" dirty="0">
                <a:latin typeface="+mn-ea"/>
                <a:sym typeface="Wingdings" panose="05000000000000000000" pitchFamily="2" charset="2"/>
              </a:rPr>
              <a:t>수신기 제어여부</a:t>
            </a:r>
            <a:r>
              <a:rPr lang="en-US" altLang="ko-KR" sz="900" dirty="0">
                <a:latin typeface="+mn-ea"/>
                <a:sym typeface="Wingdings" panose="05000000000000000000" pitchFamily="2" charset="2"/>
              </a:rPr>
              <a:t>)</a:t>
            </a:r>
          </a:p>
          <a:p>
            <a:r>
              <a:rPr lang="en-US" altLang="ko-KR" sz="900" dirty="0">
                <a:latin typeface="+mn-ea"/>
                <a:sym typeface="Wingdings" panose="05000000000000000000" pitchFamily="2" charset="2"/>
              </a:rPr>
              <a:t>   - </a:t>
            </a:r>
            <a:r>
              <a:rPr lang="ko-KR" altLang="en-US" sz="900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형식승인제품은 아니나 기존 소방시설의 영향을 줄 수 있으므로 위법</a:t>
            </a:r>
            <a:r>
              <a:rPr lang="en-US" altLang="ko-KR" sz="900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(</a:t>
            </a:r>
            <a:r>
              <a:rPr lang="ko-KR" altLang="en-US" sz="900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소방서 의견</a:t>
            </a:r>
            <a:r>
              <a:rPr lang="en-US" altLang="ko-KR" sz="900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)</a:t>
            </a:r>
          </a:p>
          <a:p>
            <a:endParaRPr lang="en-US" altLang="ko-KR" sz="900" dirty="0">
              <a:latin typeface="+mn-ea"/>
            </a:endParaRPr>
          </a:p>
          <a:p>
            <a:r>
              <a:rPr lang="en-US" altLang="ko-KR" sz="900" dirty="0">
                <a:latin typeface="+mn-ea"/>
              </a:rPr>
              <a:t>7) </a:t>
            </a:r>
            <a:r>
              <a:rPr lang="ko-KR" altLang="en-US" sz="900" dirty="0">
                <a:solidFill>
                  <a:srgbClr val="FF0000"/>
                </a:solidFill>
                <a:latin typeface="+mn-ea"/>
              </a:rPr>
              <a:t>소방서 의견</a:t>
            </a:r>
            <a:r>
              <a:rPr lang="en-US" altLang="ko-KR" sz="900" dirty="0">
                <a:solidFill>
                  <a:srgbClr val="FF0000"/>
                </a:solidFill>
                <a:latin typeface="+mn-ea"/>
              </a:rPr>
              <a:t>(</a:t>
            </a:r>
            <a:r>
              <a:rPr lang="ko-KR" altLang="en-US" sz="900" dirty="0">
                <a:solidFill>
                  <a:srgbClr val="FF0000"/>
                </a:solidFill>
                <a:latin typeface="+mn-ea"/>
              </a:rPr>
              <a:t>강서소방서 </a:t>
            </a:r>
            <a:r>
              <a:rPr lang="ko-KR" altLang="en-US" sz="900" dirty="0" err="1">
                <a:solidFill>
                  <a:srgbClr val="FF0000"/>
                </a:solidFill>
                <a:latin typeface="+mn-ea"/>
              </a:rPr>
              <a:t>조보람</a:t>
            </a:r>
            <a:r>
              <a:rPr lang="ko-KR" altLang="en-US" sz="900" dirty="0">
                <a:solidFill>
                  <a:srgbClr val="FF0000"/>
                </a:solidFill>
                <a:latin typeface="+mn-ea"/>
              </a:rPr>
              <a:t> 소방관</a:t>
            </a:r>
            <a:r>
              <a:rPr lang="en-US" altLang="ko-KR" sz="900" dirty="0">
                <a:solidFill>
                  <a:srgbClr val="FF0000"/>
                </a:solidFill>
                <a:latin typeface="+mn-ea"/>
              </a:rPr>
              <a:t>)</a:t>
            </a:r>
          </a:p>
          <a:p>
            <a:r>
              <a:rPr lang="en-US" altLang="ko-KR" sz="900" dirty="0">
                <a:latin typeface="+mn-ea"/>
              </a:rPr>
              <a:t>   </a:t>
            </a:r>
            <a:r>
              <a:rPr lang="ko-KR" altLang="en-US" sz="900" dirty="0">
                <a:latin typeface="+mn-ea"/>
              </a:rPr>
              <a:t>기존 스프링클러설비에 영향을 주지 않는 방법으로 별도의 </a:t>
            </a:r>
            <a:r>
              <a:rPr lang="ko-KR" altLang="en-US" sz="900" dirty="0" err="1">
                <a:latin typeface="+mn-ea"/>
              </a:rPr>
              <a:t>준비작동식밸브</a:t>
            </a:r>
            <a:r>
              <a:rPr lang="ko-KR" altLang="en-US" sz="900" dirty="0">
                <a:latin typeface="+mn-ea"/>
              </a:rPr>
              <a:t> </a:t>
            </a:r>
            <a:r>
              <a:rPr lang="en-US" altLang="ko-KR" sz="900" dirty="0">
                <a:latin typeface="+mn-ea"/>
              </a:rPr>
              <a:t>1</a:t>
            </a:r>
            <a:r>
              <a:rPr lang="ko-KR" altLang="en-US" sz="900" dirty="0" err="1">
                <a:latin typeface="+mn-ea"/>
              </a:rPr>
              <a:t>차측에서</a:t>
            </a:r>
            <a:r>
              <a:rPr lang="ko-KR" altLang="en-US" sz="900" dirty="0">
                <a:latin typeface="+mn-ea"/>
              </a:rPr>
              <a:t> 분기하여 </a:t>
            </a:r>
            <a:r>
              <a:rPr lang="ko-KR" altLang="en-US" sz="900" dirty="0">
                <a:solidFill>
                  <a:srgbClr val="FF0000"/>
                </a:solidFill>
                <a:latin typeface="+mn-ea"/>
              </a:rPr>
              <a:t>별도의</a:t>
            </a:r>
            <a:endParaRPr lang="en-US" altLang="ko-KR" sz="900" dirty="0">
              <a:solidFill>
                <a:srgbClr val="FF0000"/>
              </a:solidFill>
              <a:latin typeface="+mn-ea"/>
            </a:endParaRPr>
          </a:p>
          <a:p>
            <a:r>
              <a:rPr lang="en-US" altLang="ko-KR" sz="900" dirty="0">
                <a:solidFill>
                  <a:srgbClr val="FF0000"/>
                </a:solidFill>
                <a:latin typeface="+mn-ea"/>
              </a:rPr>
              <a:t>   </a:t>
            </a:r>
            <a:r>
              <a:rPr lang="ko-KR" altLang="en-US" sz="900" dirty="0">
                <a:solidFill>
                  <a:srgbClr val="FF0000"/>
                </a:solidFill>
                <a:latin typeface="+mn-ea"/>
              </a:rPr>
              <a:t>일제개방밸브 </a:t>
            </a:r>
            <a:r>
              <a:rPr lang="ko-KR" altLang="en-US" sz="900" dirty="0" err="1">
                <a:solidFill>
                  <a:srgbClr val="FF0000"/>
                </a:solidFill>
                <a:latin typeface="+mn-ea"/>
              </a:rPr>
              <a:t>설치요함</a:t>
            </a:r>
            <a:r>
              <a:rPr lang="en-US" altLang="ko-KR" sz="900" dirty="0">
                <a:solidFill>
                  <a:srgbClr val="FF0000"/>
                </a:solidFill>
                <a:latin typeface="+mn-ea"/>
              </a:rPr>
              <a:t>(</a:t>
            </a:r>
            <a:r>
              <a:rPr lang="ko-KR" altLang="en-US" sz="900" dirty="0">
                <a:solidFill>
                  <a:srgbClr val="FF0000"/>
                </a:solidFill>
                <a:latin typeface="+mn-ea"/>
              </a:rPr>
              <a:t>착공신고 대상</a:t>
            </a:r>
            <a:r>
              <a:rPr lang="en-US" altLang="ko-KR" sz="900" dirty="0">
                <a:solidFill>
                  <a:srgbClr val="FF0000"/>
                </a:solidFill>
                <a:latin typeface="+mn-ea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72621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4887</TotalTime>
  <Words>291</Words>
  <Application>Microsoft Office PowerPoint</Application>
  <PresentationFormat>화면 슬라이드 쇼(4:3)</PresentationFormat>
  <Paragraphs>48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맑은 고딕</vt:lpstr>
      <vt:lpstr>Arial</vt:lpstr>
      <vt:lpstr>Calibri</vt:lpstr>
      <vt:lpstr>Calibri Light</vt:lpstr>
      <vt:lpstr>Wingdings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정찬균(Jeong Chan Gyun)</dc:creator>
  <cp:lastModifiedBy>Administrator</cp:lastModifiedBy>
  <cp:revision>353</cp:revision>
  <cp:lastPrinted>2022-12-07T02:31:15Z</cp:lastPrinted>
  <dcterms:created xsi:type="dcterms:W3CDTF">2020-07-21T05:16:39Z</dcterms:created>
  <dcterms:modified xsi:type="dcterms:W3CDTF">2022-12-14T00:53:34Z</dcterms:modified>
</cp:coreProperties>
</file>