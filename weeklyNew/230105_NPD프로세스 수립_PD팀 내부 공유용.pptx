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64" r:id="rId3"/>
    <p:sldId id="273" r:id="rId4"/>
    <p:sldId id="274" r:id="rId5"/>
    <p:sldId id="277" r:id="rId6"/>
    <p:sldId id="275" r:id="rId7"/>
    <p:sldId id="278" r:id="rId8"/>
    <p:sldId id="276" r:id="rId9"/>
    <p:sldId id="279" r:id="rId10"/>
    <p:sldId id="265" r:id="rId11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7" userDrawn="1">
          <p15:clr>
            <a:srgbClr val="A4A3A4"/>
          </p15:clr>
        </p15:guide>
        <p15:guide id="2" pos="2132" userDrawn="1">
          <p15:clr>
            <a:srgbClr val="A4A3A4"/>
          </p15:clr>
        </p15:guide>
        <p15:guide id="3" orient="horz" pos="3929" userDrawn="1">
          <p15:clr>
            <a:srgbClr val="A4A3A4"/>
          </p15:clr>
        </p15:guide>
        <p15:guide id="4" pos="204" userDrawn="1">
          <p15:clr>
            <a:srgbClr val="A4A3A4"/>
          </p15:clr>
        </p15:guide>
        <p15:guide id="5" orient="horz" pos="845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pos="1542" userDrawn="1">
          <p15:clr>
            <a:srgbClr val="A4A3A4"/>
          </p15:clr>
        </p15:guide>
        <p15:guide id="8" pos="2880" userDrawn="1">
          <p15:clr>
            <a:srgbClr val="A4A3A4"/>
          </p15:clr>
        </p15:guide>
        <p15:guide id="9" pos="5624" userDrawn="1">
          <p15:clr>
            <a:srgbClr val="A4A3A4"/>
          </p15:clr>
        </p15:guide>
        <p15:guide id="10" orient="horz" pos="1162" userDrawn="1">
          <p15:clr>
            <a:srgbClr val="A4A3A4"/>
          </p15:clr>
        </p15:guide>
        <p15:guide id="11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6214" autoAdjust="0"/>
  </p:normalViewPr>
  <p:slideViewPr>
    <p:cSldViewPr snapToGrid="0">
      <p:cViewPr varScale="1">
        <p:scale>
          <a:sx n="120" d="100"/>
          <a:sy n="120" d="100"/>
        </p:scale>
        <p:origin x="1110" y="108"/>
      </p:cViewPr>
      <p:guideLst>
        <p:guide orient="horz" pos="527"/>
        <p:guide pos="2132"/>
        <p:guide orient="horz" pos="3929"/>
        <p:guide pos="204"/>
        <p:guide orient="horz" pos="845"/>
        <p:guide orient="horz" pos="3997"/>
        <p:guide pos="1542"/>
        <p:guide pos="2880"/>
        <p:guide pos="5624"/>
        <p:guide orient="horz" pos="1162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35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09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1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18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00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51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1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93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01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57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39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9A86C-19E5-4384-B432-4894CE112E5E}" type="datetimeFigureOut">
              <a:rPr lang="ko-KR" altLang="en-US" smtClean="0"/>
              <a:t>2023-01-05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60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그림 9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7" b="98552" l="128" r="99552">
                        <a14:foregroundMark x1="18862" y1="13252" x2="18862" y2="13252"/>
                        <a14:foregroundMark x1="23338" y1="6013" x2="5627" y2="47105"/>
                        <a14:foregroundMark x1="15473" y1="17595" x2="9335" y2="30401"/>
                        <a14:foregroundMark x1="6458" y1="56570" x2="23465" y2="93096"/>
                        <a14:foregroundMark x1="33887" y1="88196" x2="51023" y2="55122"/>
                        <a14:foregroundMark x1="75256" y1="87973" x2="91752" y2="67483"/>
                        <a14:foregroundMark x1="82609" y1="12472" x2="95588" y2="53786"/>
                        <a14:foregroundMark x1="22442" y1="5234" x2="3517" y2="42539"/>
                        <a14:foregroundMark x1="16049" y1="12695" x2="3708" y2="34298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54947" y="3202295"/>
            <a:ext cx="1730327" cy="993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Agile NPD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(New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Product Development)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Process_ver1.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8656470" y="214888"/>
            <a:ext cx="4860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PD</a:t>
            </a:r>
            <a:r>
              <a:rPr lang="ko-KR" altLang="en-US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endParaRPr lang="ko-KR" altLang="en-US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377249" y="1432332"/>
            <a:ext cx="8549208" cy="271865"/>
            <a:chOff x="458930" y="5492825"/>
            <a:chExt cx="8549208" cy="271865"/>
          </a:xfrm>
        </p:grpSpPr>
        <p:sp>
          <p:nvSpPr>
            <p:cNvPr id="79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58930" y="5492825"/>
              <a:ext cx="237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문제 발견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2870350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해결방안 탐색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1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930511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개발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출시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6992138" y="5492827"/>
              <a:ext cx="2016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운영관리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373010" y="5445467"/>
            <a:ext cx="8535994" cy="317471"/>
            <a:chOff x="455304" y="6023283"/>
            <a:chExt cx="8405848" cy="317471"/>
          </a:xfrm>
        </p:grpSpPr>
        <p:grpSp>
          <p:nvGrpSpPr>
            <p:cNvPr id="100" name="그룹 99"/>
            <p:cNvGrpSpPr/>
            <p:nvPr/>
          </p:nvGrpSpPr>
          <p:grpSpPr>
            <a:xfrm>
              <a:off x="455304" y="6023283"/>
              <a:ext cx="2369982" cy="307276"/>
              <a:chOff x="455304" y="6023283"/>
              <a:chExt cx="2369982" cy="307276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455304" y="6023283"/>
                <a:ext cx="2369982" cy="0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1070289" y="6058696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Design</a:t>
                </a:r>
                <a:r>
                  <a:rPr lang="ko-KR" altLang="en-US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Thinking</a:t>
                </a:r>
              </a:p>
            </p:txBody>
          </p:sp>
        </p:grpSp>
        <p:grpSp>
          <p:nvGrpSpPr>
            <p:cNvPr id="101" name="그룹 100"/>
            <p:cNvGrpSpPr/>
            <p:nvPr/>
          </p:nvGrpSpPr>
          <p:grpSpPr>
            <a:xfrm>
              <a:off x="2901282" y="6030227"/>
              <a:ext cx="1958662" cy="309609"/>
              <a:chOff x="2901282" y="6030227"/>
              <a:chExt cx="1958662" cy="309609"/>
            </a:xfrm>
          </p:grpSpPr>
          <p:cxnSp>
            <p:nvCxnSpPr>
              <p:cNvPr id="90" name="직선 연결선 89"/>
              <p:cNvCxnSpPr/>
              <p:nvPr/>
            </p:nvCxnSpPr>
            <p:spPr>
              <a:xfrm>
                <a:off x="2901282" y="6030227"/>
                <a:ext cx="1958662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3310607" y="6067973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Lean</a:t>
                </a:r>
              </a:p>
            </p:txBody>
          </p:sp>
        </p:grpSp>
        <p:grpSp>
          <p:nvGrpSpPr>
            <p:cNvPr id="102" name="그룹 101"/>
            <p:cNvGrpSpPr/>
            <p:nvPr/>
          </p:nvGrpSpPr>
          <p:grpSpPr>
            <a:xfrm>
              <a:off x="5007220" y="6023601"/>
              <a:ext cx="1780602" cy="312443"/>
              <a:chOff x="5007220" y="6023601"/>
              <a:chExt cx="1780602" cy="312443"/>
            </a:xfrm>
          </p:grpSpPr>
          <p:cxnSp>
            <p:nvCxnSpPr>
              <p:cNvPr id="91" name="직선 연결선 90"/>
              <p:cNvCxnSpPr/>
              <p:nvPr/>
            </p:nvCxnSpPr>
            <p:spPr>
              <a:xfrm>
                <a:off x="5007220" y="6023601"/>
                <a:ext cx="1780602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5327515" y="6064181"/>
                <a:ext cx="11400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Agile</a:t>
                </a:r>
              </a:p>
            </p:txBody>
          </p:sp>
        </p:grpSp>
        <p:grpSp>
          <p:nvGrpSpPr>
            <p:cNvPr id="103" name="그룹 102"/>
            <p:cNvGrpSpPr/>
            <p:nvPr/>
          </p:nvGrpSpPr>
          <p:grpSpPr>
            <a:xfrm>
              <a:off x="6902490" y="6024929"/>
              <a:ext cx="1958662" cy="315825"/>
              <a:chOff x="6902490" y="6024929"/>
              <a:chExt cx="1958662" cy="31582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902490" y="6024929"/>
                <a:ext cx="1958662" cy="0"/>
              </a:xfrm>
              <a:prstGeom prst="line">
                <a:avLst/>
              </a:prstGeom>
              <a:ln w="571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7296879" y="6068891"/>
                <a:ext cx="1169886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 smtClean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DevOps</a:t>
                </a:r>
                <a:endParaRPr lang="en-US" altLang="ko-KR" sz="105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grpSp>
        <p:nvGrpSpPr>
          <p:cNvPr id="77" name="그룹 76"/>
          <p:cNvGrpSpPr/>
          <p:nvPr/>
        </p:nvGrpSpPr>
        <p:grpSpPr>
          <a:xfrm>
            <a:off x="0" y="4100185"/>
            <a:ext cx="9000000" cy="1173735"/>
            <a:chOff x="81681" y="4232733"/>
            <a:chExt cx="9000000" cy="1173735"/>
          </a:xfrm>
        </p:grpSpPr>
        <p:cxnSp>
          <p:nvCxnSpPr>
            <p:cNvPr id="74" name="직선 연결선 73"/>
            <p:cNvCxnSpPr/>
            <p:nvPr/>
          </p:nvCxnSpPr>
          <p:spPr>
            <a:xfrm>
              <a:off x="81681" y="5401936"/>
              <a:ext cx="900000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2886984" y="4232733"/>
              <a:ext cx="0" cy="11450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6951426" y="4261408"/>
              <a:ext cx="0" cy="11450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타원 7"/>
          <p:cNvSpPr/>
          <p:nvPr/>
        </p:nvSpPr>
        <p:spPr>
          <a:xfrm>
            <a:off x="2804648" y="2618604"/>
            <a:ext cx="2020272" cy="2143810"/>
          </a:xfrm>
          <a:prstGeom prst="ellipse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4832964" y="2627140"/>
            <a:ext cx="2020272" cy="2143810"/>
          </a:xfrm>
          <a:prstGeom prst="ellipse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61442" y="2619826"/>
            <a:ext cx="2754282" cy="2335265"/>
            <a:chOff x="669125" y="3480149"/>
            <a:chExt cx="3176177" cy="2537791"/>
          </a:xfrm>
        </p:grpSpPr>
        <p:sp>
          <p:nvSpPr>
            <p:cNvPr id="10" name="타원 9"/>
            <p:cNvSpPr/>
            <p:nvPr/>
          </p:nvSpPr>
          <p:spPr>
            <a:xfrm>
              <a:off x="1496171" y="3480149"/>
              <a:ext cx="2329732" cy="2329732"/>
            </a:xfrm>
            <a:prstGeom prst="ellipse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 10"/>
            <p:cNvSpPr/>
            <p:nvPr/>
          </p:nvSpPr>
          <p:spPr>
            <a:xfrm>
              <a:off x="669125" y="4261900"/>
              <a:ext cx="906451" cy="1280166"/>
            </a:xfrm>
            <a:custGeom>
              <a:avLst/>
              <a:gdLst>
                <a:gd name="connsiteX0" fmla="*/ 818985 w 818985"/>
                <a:gd name="connsiteY0" fmla="*/ 0 h 1152940"/>
                <a:gd name="connsiteX1" fmla="*/ 731520 w 818985"/>
                <a:gd name="connsiteY1" fmla="*/ 254442 h 1152940"/>
                <a:gd name="connsiteX2" fmla="*/ 620202 w 818985"/>
                <a:gd name="connsiteY2" fmla="*/ 755374 h 1152940"/>
                <a:gd name="connsiteX3" fmla="*/ 0 w 818985"/>
                <a:gd name="connsiteY3" fmla="*/ 1152940 h 115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985" h="1152940">
                  <a:moveTo>
                    <a:pt x="818985" y="0"/>
                  </a:moveTo>
                  <a:cubicBezTo>
                    <a:pt x="791817" y="64273"/>
                    <a:pt x="764650" y="128546"/>
                    <a:pt x="731520" y="254442"/>
                  </a:cubicBezTo>
                  <a:cubicBezTo>
                    <a:pt x="698390" y="380338"/>
                    <a:pt x="742122" y="605624"/>
                    <a:pt x="620202" y="755374"/>
                  </a:cubicBezTo>
                  <a:cubicBezTo>
                    <a:pt x="498282" y="905124"/>
                    <a:pt x="84814" y="1133062"/>
                    <a:pt x="0" y="1152940"/>
                  </a:cubicBezTo>
                </a:path>
              </a:pathLst>
            </a:cu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1491716" y="3688207"/>
              <a:ext cx="2353586" cy="23297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타원 15"/>
          <p:cNvSpPr/>
          <p:nvPr/>
        </p:nvSpPr>
        <p:spPr>
          <a:xfrm>
            <a:off x="2012018" y="3338222"/>
            <a:ext cx="778903" cy="826532"/>
          </a:xfrm>
          <a:prstGeom prst="ellipse">
            <a:avLst/>
          </a:prstGeom>
          <a:noFill/>
          <a:ln w="762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512833" y="2806205"/>
            <a:ext cx="510240" cy="493241"/>
          </a:xfrm>
          <a:prstGeom prst="ellipse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875070" y="2627140"/>
            <a:ext cx="2020272" cy="2143810"/>
          </a:xfrm>
          <a:prstGeom prst="ellipse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l="2723" t="83759" r="92702" b="4347"/>
          <a:stretch/>
        </p:blipFill>
        <p:spPr>
          <a:xfrm>
            <a:off x="192253" y="3995164"/>
            <a:ext cx="612743" cy="588601"/>
          </a:xfrm>
          <a:prstGeom prst="ellipse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4"/>
          <a:srcRect l="57298" t="75411" r="38242" b="12863"/>
          <a:stretch/>
        </p:blipFill>
        <p:spPr>
          <a:xfrm>
            <a:off x="4816604" y="4266599"/>
            <a:ext cx="582627" cy="566443"/>
          </a:xfrm>
          <a:prstGeom prst="ellipse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4"/>
          <a:srcRect l="69324" t="71921" r="26093" b="16018"/>
          <a:stretch/>
        </p:blipFill>
        <p:spPr>
          <a:xfrm>
            <a:off x="6130118" y="4261287"/>
            <a:ext cx="598810" cy="582627"/>
          </a:xfrm>
          <a:prstGeom prst="ellipse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4"/>
          <a:srcRect l="67424" t="25574" r="28055" b="61862"/>
          <a:stretch/>
        </p:blipFill>
        <p:spPr>
          <a:xfrm>
            <a:off x="6114426" y="2516606"/>
            <a:ext cx="590719" cy="606904"/>
          </a:xfrm>
          <a:prstGeom prst="ellipse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 rotWithShape="1">
          <a:blip r:embed="rId4"/>
          <a:srcRect l="54739" t="33308" r="40678" b="54295"/>
          <a:stretch/>
        </p:blipFill>
        <p:spPr>
          <a:xfrm>
            <a:off x="4814633" y="2739385"/>
            <a:ext cx="598811" cy="598811"/>
          </a:xfrm>
          <a:prstGeom prst="ellipse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4"/>
          <a:srcRect l="30098" t="54695" r="65443" b="32992"/>
          <a:stretch/>
        </p:blipFill>
        <p:spPr>
          <a:xfrm>
            <a:off x="2529867" y="3482902"/>
            <a:ext cx="582625" cy="594765"/>
          </a:xfrm>
          <a:prstGeom prst="ellipse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4"/>
          <a:srcRect l="23456" t="25937" r="72141" b="61750"/>
          <a:stretch/>
        </p:blipFill>
        <p:spPr>
          <a:xfrm>
            <a:off x="2245306" y="2601680"/>
            <a:ext cx="575239" cy="594765"/>
          </a:xfrm>
          <a:prstGeom prst="ellipse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4"/>
          <a:srcRect l="13678" t="26859" r="81895" b="60654"/>
          <a:stretch/>
        </p:blipFill>
        <p:spPr>
          <a:xfrm>
            <a:off x="1548336" y="2277787"/>
            <a:ext cx="578264" cy="603210"/>
          </a:xfrm>
          <a:prstGeom prst="ellipse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 rotWithShape="1">
          <a:blip r:embed="rId4"/>
          <a:srcRect l="6943" t="69520" r="88451" b="18586"/>
          <a:stretch/>
        </p:blipFill>
        <p:spPr>
          <a:xfrm>
            <a:off x="498762" y="3307552"/>
            <a:ext cx="601767" cy="574535"/>
          </a:xfrm>
          <a:prstGeom prst="ellipse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4"/>
          <a:srcRect l="8473" t="47826" r="87024" b="40001"/>
          <a:stretch/>
        </p:blipFill>
        <p:spPr>
          <a:xfrm>
            <a:off x="816816" y="2618604"/>
            <a:ext cx="588396" cy="588045"/>
          </a:xfrm>
          <a:prstGeom prst="ellipse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4"/>
          <a:srcRect l="94273" t="46263" r="896" b="41508"/>
          <a:stretch/>
        </p:blipFill>
        <p:spPr>
          <a:xfrm>
            <a:off x="8346734" y="4145990"/>
            <a:ext cx="631179" cy="590719"/>
          </a:xfrm>
          <a:prstGeom prst="ellipse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4"/>
          <a:srcRect l="87347" t="24011" r="8131" b="63928"/>
          <a:stretch/>
        </p:blipFill>
        <p:spPr>
          <a:xfrm>
            <a:off x="8354582" y="2662512"/>
            <a:ext cx="590720" cy="582628"/>
          </a:xfrm>
          <a:prstGeom prst="ellipse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4"/>
          <a:srcRect l="77448" t="28897" r="17968" b="58706"/>
          <a:stretch/>
        </p:blipFill>
        <p:spPr>
          <a:xfrm>
            <a:off x="6967374" y="2514915"/>
            <a:ext cx="598811" cy="598811"/>
          </a:xfrm>
          <a:prstGeom prst="ellipse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4"/>
          <a:srcRect l="73174" t="50256" r="22181" b="37599"/>
          <a:stretch/>
        </p:blipFill>
        <p:spPr>
          <a:xfrm>
            <a:off x="6563287" y="3467140"/>
            <a:ext cx="606903" cy="586673"/>
          </a:xfrm>
          <a:prstGeom prst="ellipse">
            <a:avLst/>
          </a:prstGeom>
        </p:spPr>
      </p:pic>
      <p:sp>
        <p:nvSpPr>
          <p:cNvPr id="72" name="모서리가 둥근 직사각형 71"/>
          <p:cNvSpPr/>
          <p:nvPr/>
        </p:nvSpPr>
        <p:spPr>
          <a:xfrm rot="18900000">
            <a:off x="4062271" y="4257901"/>
            <a:ext cx="828000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만들기</a:t>
            </a:r>
            <a:endParaRPr lang="ko-KR" altLang="en-US" sz="120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3456650" y="2499334"/>
            <a:ext cx="612251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</a:t>
            </a:r>
            <a:endParaRPr lang="ko-KR" altLang="en-US" sz="120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 rot="1800000">
            <a:off x="2916085" y="4415140"/>
            <a:ext cx="828000" cy="2623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측정</a:t>
            </a:r>
            <a:endParaRPr lang="ko-KR" altLang="en-US" sz="120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오른쪽 화살표 82"/>
          <p:cNvSpPr/>
          <p:nvPr/>
        </p:nvSpPr>
        <p:spPr>
          <a:xfrm rot="1800000">
            <a:off x="4092749" y="2570898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오른쪽 화살표 83"/>
          <p:cNvSpPr/>
          <p:nvPr/>
        </p:nvSpPr>
        <p:spPr>
          <a:xfrm rot="9900000">
            <a:off x="3966854" y="4615709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오른쪽 화살표 84"/>
          <p:cNvSpPr/>
          <p:nvPr/>
        </p:nvSpPr>
        <p:spPr>
          <a:xfrm rot="14400000">
            <a:off x="2823189" y="4076346"/>
            <a:ext cx="198783" cy="230587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오른쪽 화살표 85"/>
          <p:cNvSpPr/>
          <p:nvPr/>
        </p:nvSpPr>
        <p:spPr>
          <a:xfrm rot="10800000">
            <a:off x="7737607" y="4648125"/>
            <a:ext cx="198783" cy="230588"/>
          </a:xfrm>
          <a:prstGeom prst="rightArrow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669182" y="4218140"/>
            <a:ext cx="746150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</a:t>
            </a:r>
            <a:r>
              <a:rPr lang="en-US" altLang="ko-KR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Needs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901098" y="3487946"/>
            <a:ext cx="909635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공감하기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1204569" y="2940633"/>
            <a:ext cx="796992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정의하기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1388772" y="2059361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아이데이션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2372030" y="2402593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프로토타입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1912181" y="3612518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Test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3302869" y="2912801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Pivot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4574560" y="2410878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스프린트 계획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5501087" y="2865669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실행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5893377" y="4015958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증분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4958632" y="4012704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리뷰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6967667" y="2303007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err="1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릴리즈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8350066" y="2376266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채널 확대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8123251" y="4726284"/>
            <a:ext cx="1133876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모니터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7272970" y="4376328"/>
            <a:ext cx="1133876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순환</a:t>
            </a:r>
            <a:endParaRPr lang="ko-KR" altLang="en-US" sz="110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5" name="그림 124"/>
          <p:cNvPicPr>
            <a:picLocks noChangeAspect="1"/>
          </p:cNvPicPr>
          <p:nvPr/>
        </p:nvPicPr>
        <p:blipFill rotWithShape="1">
          <a:blip r:embed="rId4"/>
          <a:srcRect l="30098" t="54695" r="65443" b="32992"/>
          <a:stretch/>
        </p:blipFill>
        <p:spPr>
          <a:xfrm>
            <a:off x="4550823" y="3468325"/>
            <a:ext cx="582625" cy="594765"/>
          </a:xfrm>
          <a:prstGeom prst="ellipse">
            <a:avLst/>
          </a:prstGeom>
        </p:spPr>
      </p:pic>
      <p:sp>
        <p:nvSpPr>
          <p:cNvPr id="126" name="모서리가 둥근 직사각형 125"/>
          <p:cNvSpPr/>
          <p:nvPr/>
        </p:nvSpPr>
        <p:spPr>
          <a:xfrm>
            <a:off x="3925186" y="3534330"/>
            <a:ext cx="930839" cy="262393"/>
          </a:xfrm>
          <a:prstGeom prst="round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 smtClean="0">
                <a:solidFill>
                  <a:schemeClr val="accent6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Test</a:t>
            </a:r>
            <a:endParaRPr lang="ko-KR" altLang="en-US" sz="1050" b="1" dirty="0">
              <a:solidFill>
                <a:schemeClr val="accent6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365910" y="1792853"/>
            <a:ext cx="8568000" cy="217318"/>
            <a:chOff x="827086" y="1834935"/>
            <a:chExt cx="8054319" cy="305897"/>
          </a:xfrm>
        </p:grpSpPr>
        <p:grpSp>
          <p:nvGrpSpPr>
            <p:cNvPr id="130" name="그룹 129"/>
            <p:cNvGrpSpPr/>
            <p:nvPr/>
          </p:nvGrpSpPr>
          <p:grpSpPr>
            <a:xfrm>
              <a:off x="827086" y="1842167"/>
              <a:ext cx="8054319" cy="182508"/>
              <a:chOff x="827086" y="1842167"/>
              <a:chExt cx="8054319" cy="182508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827086" y="1947218"/>
                <a:ext cx="8054319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>
                <a:off x="827088" y="1843200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/>
              <p:cNvCxnSpPr/>
              <p:nvPr/>
            </p:nvCxnSpPr>
            <p:spPr>
              <a:xfrm>
                <a:off x="3112155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>
                <a:off x="5017030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/>
              <p:cNvCxnSpPr/>
              <p:nvPr/>
            </p:nvCxnSpPr>
            <p:spPr>
              <a:xfrm>
                <a:off x="6954866" y="1842167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>
                <a:off x="8876638" y="1844675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0E99F1C-30DB-48FD-8054-69DB86526E27}"/>
                </a:ext>
              </a:extLst>
            </p:cNvPr>
            <p:cNvSpPr txBox="1"/>
            <p:nvPr/>
          </p:nvSpPr>
          <p:spPr>
            <a:xfrm>
              <a:off x="1243125" y="1837574"/>
              <a:ext cx="1461835" cy="303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Customer-Problem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FDDD1E1-C344-4055-A5C0-5BAD62E8B2BA}"/>
                </a:ext>
              </a:extLst>
            </p:cNvPr>
            <p:cNvSpPr txBox="1"/>
            <p:nvPr/>
          </p:nvSpPr>
          <p:spPr>
            <a:xfrm>
              <a:off x="3336410" y="1837510"/>
              <a:ext cx="1440000" cy="303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Customer-Solution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BC17E81-50C9-4F73-B8A2-8CB1417691C8}"/>
                </a:ext>
              </a:extLst>
            </p:cNvPr>
            <p:cNvSpPr txBox="1"/>
            <p:nvPr/>
          </p:nvSpPr>
          <p:spPr>
            <a:xfrm>
              <a:off x="5342469" y="1834935"/>
              <a:ext cx="1285200" cy="303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Product-Market Fit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6B70A5A-EF0B-479E-8122-A523E2D0841E}"/>
                </a:ext>
              </a:extLst>
            </p:cNvPr>
            <p:cNvSpPr txBox="1"/>
            <p:nvPr/>
          </p:nvSpPr>
          <p:spPr>
            <a:xfrm>
              <a:off x="7499881" y="1834935"/>
              <a:ext cx="913725" cy="253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Scale up / Retire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41" name="TextBox 140"/>
          <p:cNvSpPr txBox="1"/>
          <p:nvPr/>
        </p:nvSpPr>
        <p:spPr>
          <a:xfrm>
            <a:off x="168301" y="848417"/>
            <a:ext cx="53030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■ </a:t>
            </a:r>
            <a:r>
              <a:rPr lang="en-US" altLang="ko-KR" sz="1400" b="1" u="sng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Design Thinking + Learn + Agile + </a:t>
            </a:r>
            <a:r>
              <a:rPr lang="en-US" altLang="ko-KR" sz="1400" b="1" u="sng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DevOps</a:t>
            </a:r>
            <a:endParaRPr lang="ko-KR" altLang="en-US" sz="14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714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Agile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NPD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what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to do 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8654634" y="214888"/>
            <a:ext cx="4860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PD</a:t>
            </a:r>
            <a:r>
              <a:rPr lang="ko-KR" altLang="en-US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endParaRPr lang="ko-KR" altLang="en-US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2" name="직사각형 311"/>
          <p:cNvSpPr/>
          <p:nvPr/>
        </p:nvSpPr>
        <p:spPr>
          <a:xfrm>
            <a:off x="267601" y="1614073"/>
            <a:ext cx="1939342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 트렌드 조사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경제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사회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기술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,ESG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관련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Desk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esearch</a:t>
            </a: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전문가 인터뷰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경쟁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트렌드 조사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주요 플레이어 인터뷰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물건 정보 조사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800" b="1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사업장 정보 및 시세 분석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endParaRPr lang="en-US" altLang="ko-KR" sz="7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3" name="직사각형 312"/>
          <p:cNvSpPr/>
          <p:nvPr/>
        </p:nvSpPr>
        <p:spPr>
          <a:xfrm>
            <a:off x="339204" y="1384468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시장 </a:t>
            </a:r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Trend 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조사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4" name="직사각형 313"/>
          <p:cNvSpPr/>
          <p:nvPr/>
        </p:nvSpPr>
        <p:spPr>
          <a:xfrm>
            <a:off x="340529" y="4427304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잠재고객 발굴 및 정의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5" name="직사각형 314"/>
          <p:cNvSpPr/>
          <p:nvPr/>
        </p:nvSpPr>
        <p:spPr>
          <a:xfrm>
            <a:off x="268926" y="4648959"/>
            <a:ext cx="1939342" cy="1032142"/>
          </a:xfrm>
          <a:prstGeom prst="rect">
            <a:avLst/>
          </a:prstGeom>
        </p:spPr>
        <p:txBody>
          <a:bodyPr wrap="square" tIns="46800" anchor="ctr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잠재고객 발굴</a:t>
            </a:r>
            <a:endParaRPr lang="en-US" altLang="ko-KR" sz="8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유형별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err="1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건물별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err="1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특성별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dirty="0" err="1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고객군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발굴 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네트워크 채널 발굴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플랫폼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부동산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인적 네트워크 등 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정의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End user,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서비스플랫폼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Provider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정의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L.SA</a:t>
            </a:r>
            <a:r>
              <a:rPr lang="ko-KR" altLang="en-US" sz="700" b="1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endParaRPr lang="en-US" altLang="ko-KR" sz="700" b="1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4" name="직사각형 353"/>
          <p:cNvSpPr/>
          <p:nvPr/>
        </p:nvSpPr>
        <p:spPr>
          <a:xfrm>
            <a:off x="2433733" y="1603088"/>
            <a:ext cx="21223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페르소나 설정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페르소나 고객여정지도 작성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(ABC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600" dirty="0" smtClean="0">
              <a:solidFill>
                <a:schemeClr val="tx2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5" name="직사각형 354"/>
          <p:cNvSpPr/>
          <p:nvPr/>
        </p:nvSpPr>
        <p:spPr>
          <a:xfrm>
            <a:off x="2497386" y="1381434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대상 고객 설정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6" name="직사각형 355"/>
          <p:cNvSpPr/>
          <p:nvPr/>
        </p:nvSpPr>
        <p:spPr>
          <a:xfrm>
            <a:off x="2498711" y="2034767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컨셉 수립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7" name="직사각형 356"/>
          <p:cNvSpPr/>
          <p:nvPr/>
        </p:nvSpPr>
        <p:spPr>
          <a:xfrm>
            <a:off x="2435059" y="2252871"/>
            <a:ext cx="1939342" cy="946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 시장 분석</a:t>
            </a:r>
            <a:endParaRPr lang="en-US" altLang="ko-KR" sz="9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- 3-Circle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SWOT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컨셉 계획 수립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컨셉 작성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가설 설정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비지니스캔버스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PR, FAQ </a:t>
            </a:r>
          </a:p>
        </p:txBody>
      </p:sp>
      <p:sp>
        <p:nvSpPr>
          <p:cNvPr id="358" name="직사각형 357"/>
          <p:cNvSpPr/>
          <p:nvPr/>
        </p:nvSpPr>
        <p:spPr>
          <a:xfrm>
            <a:off x="2496392" y="3365035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발굴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9" name="직사각형 358"/>
          <p:cNvSpPr/>
          <p:nvPr/>
        </p:nvSpPr>
        <p:spPr>
          <a:xfrm>
            <a:off x="2496392" y="4769108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MVP 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1" name="직사각형 360"/>
          <p:cNvSpPr/>
          <p:nvPr/>
        </p:nvSpPr>
        <p:spPr>
          <a:xfrm>
            <a:off x="4571330" y="1602603"/>
            <a:ext cx="1939342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고도화 및 협업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추가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release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협의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유관 부서 개발 협업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(TF,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협의체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검증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Test</a:t>
            </a:r>
            <a:r>
              <a:rPr lang="en-US" altLang="ko-KR" sz="6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en-US" altLang="ko-KR" sz="6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PoC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상품성 검증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비용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사용성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6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제공방식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구매조건</a:t>
            </a:r>
            <a:r>
              <a:rPr lang="en-US" altLang="ko-KR" sz="6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피드백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develop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backlog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업데이트</a:t>
            </a:r>
            <a:endParaRPr lang="ko-KR" altLang="en-US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2" name="직사각형 361"/>
          <p:cNvSpPr/>
          <p:nvPr/>
        </p:nvSpPr>
        <p:spPr>
          <a:xfrm>
            <a:off x="4642933" y="1386353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개발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3" name="직사각형 362"/>
          <p:cNvSpPr/>
          <p:nvPr/>
        </p:nvSpPr>
        <p:spPr>
          <a:xfrm>
            <a:off x="4644258" y="2641142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출시 준비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4" name="직사각형 363"/>
          <p:cNvSpPr/>
          <p:nvPr/>
        </p:nvSpPr>
        <p:spPr>
          <a:xfrm>
            <a:off x="4580605" y="2862295"/>
            <a:ext cx="2280269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영업계획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판매계획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(forecast)</a:t>
            </a: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세일즈 프로모션 정책 수립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판매채널 선정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지역본부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영업팀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플랫폼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네트워크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홍보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마케팅 전략 수립</a:t>
            </a:r>
            <a:endParaRPr lang="en-US" altLang="ko-KR" sz="6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커뮤니케이션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방향성 수립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슬로건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채널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상품 설명서 및 홍보물 제작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품질관리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계획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endParaRPr lang="en-US" altLang="ko-KR" sz="6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QC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en-US" altLang="ko-KR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VoC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프로세스 및 관리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유지보수 프로세스 구축 및 관리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지표 설정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(S&amp;OP)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출시</a:t>
            </a:r>
            <a:endParaRPr lang="ko-KR" altLang="en-US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8" name="직사각형 367"/>
          <p:cNvSpPr/>
          <p:nvPr/>
        </p:nvSpPr>
        <p:spPr>
          <a:xfrm>
            <a:off x="6713801" y="1612184"/>
            <a:ext cx="193934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영업지원 전략 수립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 가능 고객 발굴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세일즈 프로모션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실행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결합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기간 할인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채널별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판매현황 및 예상 추가 매출 분석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69" name="직사각형 368"/>
          <p:cNvSpPr/>
          <p:nvPr/>
        </p:nvSpPr>
        <p:spPr>
          <a:xfrm>
            <a:off x="6785404" y="1376477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Sales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0" name="직사각형 369"/>
          <p:cNvSpPr/>
          <p:nvPr/>
        </p:nvSpPr>
        <p:spPr>
          <a:xfrm>
            <a:off x="6786729" y="2302605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 및 운영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1" name="직사각형 370"/>
          <p:cNvSpPr/>
          <p:nvPr/>
        </p:nvSpPr>
        <p:spPr>
          <a:xfrm>
            <a:off x="6723076" y="2529509"/>
            <a:ext cx="2420923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품질관리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프로덕트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개선 사항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리스트업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품질관리 계획 수립 및 운영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리텐션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관리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고객유지활동 계획 수립 및 운영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고객피드백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모니터링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재계약 관리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36320" y="761802"/>
            <a:ext cx="8473673" cy="655243"/>
            <a:chOff x="336320" y="817459"/>
            <a:chExt cx="8473673" cy="655243"/>
          </a:xfrm>
        </p:grpSpPr>
        <p:sp>
          <p:nvSpPr>
            <p:cNvPr id="184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2464878" y="817459"/>
              <a:ext cx="2088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해결방안 탐색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8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593436" y="817459"/>
              <a:ext cx="2088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개발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출시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9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336320" y="817459"/>
              <a:ext cx="2088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고객 문제 발견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0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6721993" y="817459"/>
              <a:ext cx="2088000" cy="271863"/>
            </a:xfrm>
            <a:prstGeom prst="homePlate">
              <a:avLst>
                <a:gd name="adj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운영관리</a:t>
              </a:r>
              <a:endPara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342057" y="1101097"/>
              <a:ext cx="8444133" cy="159540"/>
              <a:chOff x="342057" y="1498664"/>
              <a:chExt cx="8444133" cy="159540"/>
            </a:xfrm>
          </p:grpSpPr>
          <p:grpSp>
            <p:nvGrpSpPr>
              <p:cNvPr id="3" name="그룹 2"/>
              <p:cNvGrpSpPr/>
              <p:nvPr/>
            </p:nvGrpSpPr>
            <p:grpSpPr>
              <a:xfrm>
                <a:off x="342057" y="1527655"/>
                <a:ext cx="8444133" cy="130549"/>
                <a:chOff x="342057" y="1519704"/>
                <a:chExt cx="8444133" cy="130549"/>
              </a:xfrm>
            </p:grpSpPr>
            <p:cxnSp>
              <p:nvCxnSpPr>
                <p:cNvPr id="341" name="직선 연결선 340"/>
                <p:cNvCxnSpPr/>
                <p:nvPr/>
              </p:nvCxnSpPr>
              <p:spPr>
                <a:xfrm>
                  <a:off x="342057" y="1594335"/>
                  <a:ext cx="8442942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직선 연결선 8"/>
                <p:cNvCxnSpPr/>
                <p:nvPr/>
              </p:nvCxnSpPr>
              <p:spPr>
                <a:xfrm>
                  <a:off x="342057" y="1520438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직선 연결선 341"/>
                <p:cNvCxnSpPr/>
                <p:nvPr/>
              </p:nvCxnSpPr>
              <p:spPr>
                <a:xfrm>
                  <a:off x="2453090" y="1521051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직선 연결선 343"/>
                <p:cNvCxnSpPr/>
                <p:nvPr/>
              </p:nvCxnSpPr>
              <p:spPr>
                <a:xfrm>
                  <a:off x="6675156" y="1519704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직선 연결선 344"/>
                <p:cNvCxnSpPr/>
                <p:nvPr/>
              </p:nvCxnSpPr>
              <p:spPr>
                <a:xfrm>
                  <a:off x="8786190" y="1521486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직선 연결선 77"/>
                <p:cNvCxnSpPr/>
                <p:nvPr/>
              </p:nvCxnSpPr>
              <p:spPr>
                <a:xfrm>
                  <a:off x="4587976" y="1522376"/>
                  <a:ext cx="0" cy="127877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E0E99F1C-30DB-48FD-8054-69DB86526E27}"/>
                  </a:ext>
                </a:extLst>
              </p:cNvPr>
              <p:cNvSpPr txBox="1"/>
              <p:nvPr/>
            </p:nvSpPr>
            <p:spPr>
              <a:xfrm>
                <a:off x="732406" y="1500539"/>
                <a:ext cx="1296000" cy="1421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Customer-Problem Fit </a:t>
                </a:r>
                <a:r>
                  <a:rPr lang="ko-KR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검증</a:t>
                </a: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FFDDD1E1-C344-4055-A5C0-5BAD62E8B2BA}"/>
                  </a:ext>
                </a:extLst>
              </p:cNvPr>
              <p:cNvSpPr txBox="1"/>
              <p:nvPr/>
            </p:nvSpPr>
            <p:spPr>
              <a:xfrm>
                <a:off x="2863207" y="1500493"/>
                <a:ext cx="1296000" cy="1421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Customer-Solution Fit </a:t>
                </a:r>
                <a:r>
                  <a:rPr lang="ko-KR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검증</a:t>
                </a: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FBC17E81-50C9-4F73-B8A2-8CB1417691C8}"/>
                  </a:ext>
                </a:extLst>
              </p:cNvPr>
              <p:cNvSpPr txBox="1"/>
              <p:nvPr/>
            </p:nvSpPr>
            <p:spPr>
              <a:xfrm>
                <a:off x="5058294" y="1498664"/>
                <a:ext cx="1152000" cy="1421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Product-Market Fit </a:t>
                </a:r>
                <a:r>
                  <a:rPr lang="ko-KR" altLang="en-US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검증</a:t>
                </a:r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A6B70A5A-EF0B-479E-8122-A523E2D0841E}"/>
                  </a:ext>
                </a:extLst>
              </p:cNvPr>
              <p:cNvSpPr txBox="1"/>
              <p:nvPr/>
            </p:nvSpPr>
            <p:spPr>
              <a:xfrm>
                <a:off x="7319827" y="1498664"/>
                <a:ext cx="864000" cy="14212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Arial" panose="020B0604020202020204" pitchFamily="34" charset="0"/>
                  </a:rPr>
                  <a:t>Scale up / Retire</a:t>
                </a:r>
                <a:endPara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4093653" y="1083317"/>
              <a:ext cx="961999" cy="389385"/>
              <a:chOff x="4619891" y="979957"/>
              <a:chExt cx="898312" cy="389385"/>
            </a:xfrm>
          </p:grpSpPr>
          <p:sp>
            <p:nvSpPr>
              <p:cNvPr id="372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4619891" y="1097479"/>
                <a:ext cx="8983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 smtClean="0">
                    <a:solidFill>
                      <a:schemeClr val="accent2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MVP</a:t>
                </a:r>
              </a:p>
            </p:txBody>
          </p:sp>
          <p:sp>
            <p:nvSpPr>
              <p:cNvPr id="373" name="별: 꼭짓점 5개 18">
                <a:extLst>
                  <a:ext uri="{FF2B5EF4-FFF2-40B4-BE49-F238E27FC236}">
                    <a16:creationId xmlns:a16="http://schemas.microsoft.com/office/drawing/2014/main" id="{97B0AC14-7AC5-4B43-B263-272020C210DC}"/>
                  </a:ext>
                </a:extLst>
              </p:cNvPr>
              <p:cNvSpPr/>
              <p:nvPr/>
            </p:nvSpPr>
            <p:spPr>
              <a:xfrm>
                <a:off x="4986627" y="979957"/>
                <a:ext cx="194537" cy="187055"/>
              </a:xfrm>
              <a:prstGeom prst="star5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rgbClr val="006600"/>
                  </a:solidFill>
                </a:endParaRPr>
              </a:p>
            </p:txBody>
          </p:sp>
        </p:grpSp>
        <p:grpSp>
          <p:nvGrpSpPr>
            <p:cNvPr id="375" name="그룹 374"/>
            <p:cNvGrpSpPr/>
            <p:nvPr/>
          </p:nvGrpSpPr>
          <p:grpSpPr>
            <a:xfrm>
              <a:off x="6220666" y="1089539"/>
              <a:ext cx="961999" cy="377221"/>
              <a:chOff x="4619891" y="976220"/>
              <a:chExt cx="898312" cy="377221"/>
            </a:xfrm>
          </p:grpSpPr>
          <p:sp>
            <p:nvSpPr>
              <p:cNvPr id="376" name="오각형 139">
                <a:extLst>
                  <a:ext uri="{FF2B5EF4-FFF2-40B4-BE49-F238E27FC236}">
                    <a16:creationId xmlns:a16="http://schemas.microsoft.com/office/drawing/2014/main" id="{AAF764F3-8E63-4E8E-B50F-AA8CFE8DC0B0}"/>
                  </a:ext>
                </a:extLst>
              </p:cNvPr>
              <p:cNvSpPr/>
              <p:nvPr/>
            </p:nvSpPr>
            <p:spPr>
              <a:xfrm>
                <a:off x="4619891" y="1081578"/>
                <a:ext cx="898312" cy="271863"/>
              </a:xfrm>
              <a:prstGeom prst="homePlate">
                <a:avLst>
                  <a:gd name="adj" fmla="val 0"/>
                </a:avLst>
              </a:prstGeom>
              <a:noFill/>
              <a:ln w="63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 smtClean="0">
                    <a:solidFill>
                      <a:srgbClr val="C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완제품 </a:t>
                </a:r>
                <a:endParaRPr lang="en-US" altLang="ko-KR" sz="900" b="1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77" name="별: 꼭짓점 5개 18">
                <a:extLst>
                  <a:ext uri="{FF2B5EF4-FFF2-40B4-BE49-F238E27FC236}">
                    <a16:creationId xmlns:a16="http://schemas.microsoft.com/office/drawing/2014/main" id="{97B0AC14-7AC5-4B43-B263-272020C210DC}"/>
                  </a:ext>
                </a:extLst>
              </p:cNvPr>
              <p:cNvSpPr/>
              <p:nvPr/>
            </p:nvSpPr>
            <p:spPr>
              <a:xfrm>
                <a:off x="4951352" y="976220"/>
                <a:ext cx="194977" cy="187200"/>
              </a:xfrm>
              <a:prstGeom prst="star5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006600"/>
                  </a:solidFill>
                </a:endParaRPr>
              </a:p>
            </p:txBody>
          </p:sp>
        </p:grpSp>
      </p:grpSp>
      <p:sp>
        <p:nvSpPr>
          <p:cNvPr id="316" name="직사각형 315"/>
          <p:cNvSpPr/>
          <p:nvPr/>
        </p:nvSpPr>
        <p:spPr>
          <a:xfrm>
            <a:off x="338210" y="3680955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</a:t>
            </a:r>
            <a:r>
              <a:rPr lang="en-US" altLang="ko-KR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insight</a:t>
            </a:r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분석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8" name="직사각형 377"/>
          <p:cNvSpPr/>
          <p:nvPr/>
        </p:nvSpPr>
        <p:spPr>
          <a:xfrm>
            <a:off x="270253" y="3902605"/>
            <a:ext cx="193934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Needs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Pain-point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퀕트릭스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고객행동분석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인사이트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도출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7" name="직사각형 316"/>
          <p:cNvSpPr/>
          <p:nvPr/>
        </p:nvSpPr>
        <p:spPr>
          <a:xfrm>
            <a:off x="338210" y="5721919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문제 및 가치 정의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79" name="직사각형 378"/>
          <p:cNvSpPr/>
          <p:nvPr/>
        </p:nvSpPr>
        <p:spPr>
          <a:xfrm>
            <a:off x="271579" y="5949674"/>
            <a:ext cx="193934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문제 정의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Design Thinking workshop</a:t>
            </a:r>
          </a:p>
          <a:p>
            <a:r>
              <a:rPr lang="en-US" altLang="ko-K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고객여정지도 작성</a:t>
            </a:r>
            <a:endParaRPr lang="en-US" altLang="ko-KR" sz="700" dirty="0" smtClean="0">
              <a:solidFill>
                <a:schemeClr val="tx1">
                  <a:lumMod val="50000"/>
                  <a:lumOff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카노모델</a:t>
            </a:r>
            <a:endParaRPr lang="en-US" altLang="ko-KR" sz="700" dirty="0" smtClean="0">
              <a:solidFill>
                <a:schemeClr val="tx1">
                  <a:lumMod val="50000"/>
                  <a:lumOff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가치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(value)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정의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문제 정의서 </a:t>
            </a:r>
            <a:r>
              <a:rPr lang="ko-KR" altLang="en-US" sz="700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작성</a:t>
            </a:r>
            <a:endParaRPr lang="en-US" altLang="ko-KR" sz="600" dirty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0" name="직사각형 379"/>
          <p:cNvSpPr/>
          <p:nvPr/>
        </p:nvSpPr>
        <p:spPr>
          <a:xfrm>
            <a:off x="2433764" y="3584937"/>
            <a:ext cx="1939342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Ideation</a:t>
            </a: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씨드큐브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오픈이노베이션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err="1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프로토타입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개발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스케치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스토리보드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 err="1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목업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개발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카카오오븐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피그마</a:t>
            </a:r>
            <a:r>
              <a:rPr lang="en-US" altLang="ko-KR" sz="7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솔루션 개발 방향 확정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자체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협업 개발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벤더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POOL,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플랫폼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MOU</a:t>
            </a:r>
          </a:p>
        </p:txBody>
      </p:sp>
      <p:sp>
        <p:nvSpPr>
          <p:cNvPr id="381" name="직사각형 380"/>
          <p:cNvSpPr/>
          <p:nvPr/>
        </p:nvSpPr>
        <p:spPr>
          <a:xfrm>
            <a:off x="2433764" y="4997389"/>
            <a:ext cx="1939342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Product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backlog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작성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b="1" dirty="0" err="1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워킹스켈레톤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이해관계자 정의 및 </a:t>
            </a:r>
            <a:r>
              <a:rPr lang="ko-KR" altLang="en-US" sz="9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r>
              <a:rPr lang="en-US" altLang="ko-KR" sz="9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9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협의</a:t>
            </a:r>
            <a:endParaRPr lang="en-US" altLang="ko-KR" sz="9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이해관계자 맵</a:t>
            </a:r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만다라트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분석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-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상품 </a:t>
            </a:r>
            <a:r>
              <a:rPr lang="ko-KR" altLang="en-US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리스크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(RM,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구매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재무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안전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,IT)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사업성 시뮬레이션</a:t>
            </a:r>
            <a:endParaRPr lang="en-US" altLang="ko-KR" sz="9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Capex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수립</a:t>
            </a: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ROI 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추정</a:t>
            </a:r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MVP</a:t>
            </a:r>
            <a:r>
              <a:rPr lang="ko-KR" altLang="en-US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en-US" altLang="ko-KR" sz="8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8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Front end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지역본부 설명회</a:t>
            </a:r>
            <a:endParaRPr lang="en-US" altLang="ko-KR" sz="7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endParaRPr lang="en-US" altLang="ko-KR" sz="800" b="1" dirty="0" smtClean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3" name="직사각형 382"/>
          <p:cNvSpPr/>
          <p:nvPr/>
        </p:nvSpPr>
        <p:spPr>
          <a:xfrm>
            <a:off x="268928" y="2943263"/>
            <a:ext cx="1939342" cy="630942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인터뷰</a:t>
            </a:r>
            <a:endParaRPr lang="en-US" altLang="ko-KR" sz="600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500" dirty="0" smtClean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건물주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이용자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이해관계자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IDI, FGI, FGD</a:t>
            </a:r>
          </a:p>
          <a:p>
            <a:pPr marL="92075" indent="-920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및 이용자 조사</a:t>
            </a:r>
            <a:endParaRPr lang="en-US" altLang="ko-KR" sz="8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-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퀄트릭스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파인애플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Research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업체 </a:t>
            </a: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활용</a:t>
            </a:r>
            <a:endParaRPr lang="en-US" altLang="ko-KR" sz="700" dirty="0" smtClean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700" dirty="0" smtClean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</a:t>
            </a:r>
            <a:r>
              <a:rPr lang="en-US" altLang="ko-KR" sz="700" b="1" dirty="0" err="1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VoC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및 </a:t>
            </a:r>
            <a:r>
              <a:rPr lang="en-US" altLang="ko-KR" sz="700" b="1" dirty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Pain-point </a:t>
            </a:r>
            <a:r>
              <a:rPr lang="ko-KR" altLang="en-US" sz="700" b="1" dirty="0" smtClean="0">
                <a:solidFill>
                  <a:schemeClr val="accent6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조사</a:t>
            </a:r>
            <a:endParaRPr lang="en-US" altLang="ko-KR" sz="700" b="1" dirty="0">
              <a:solidFill>
                <a:schemeClr val="accent6">
                  <a:lumMod val="75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4" name="직사각형 383"/>
          <p:cNvSpPr/>
          <p:nvPr/>
        </p:nvSpPr>
        <p:spPr>
          <a:xfrm>
            <a:off x="340531" y="2681854"/>
            <a:ext cx="2052000" cy="2142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고객 정보 수집</a:t>
            </a:r>
            <a:endParaRPr lang="ko-KR" altLang="en-US" sz="10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6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1743471" y="1150298"/>
            <a:ext cx="1452953" cy="271863"/>
          </a:xfrm>
          <a:prstGeom prst="homePlate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문제 정의서</a:t>
            </a:r>
            <a:endParaRPr lang="en-US" altLang="ko-KR" sz="900" b="1" dirty="0" smtClean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3723336" y="3107867"/>
            <a:ext cx="808908" cy="271863"/>
          </a:xfrm>
          <a:prstGeom prst="homePlate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800" b="1" dirty="0" smtClean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NPD circle</a:t>
            </a:r>
          </a:p>
        </p:txBody>
      </p:sp>
      <p:sp>
        <p:nvSpPr>
          <p:cNvPr id="61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4161232" y="5522201"/>
            <a:ext cx="961999" cy="271863"/>
          </a:xfrm>
          <a:prstGeom prst="homePlate">
            <a:avLst>
              <a:gd name="adj" fmla="val 0"/>
            </a:avLst>
          </a:prstGeom>
          <a:noFill/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smtClean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이해관계자 </a:t>
            </a:r>
            <a:r>
              <a:rPr lang="en-US" altLang="ko-KR" sz="800" b="1" dirty="0" smtClean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circle</a:t>
            </a:r>
          </a:p>
        </p:txBody>
      </p:sp>
      <p:sp>
        <p:nvSpPr>
          <p:cNvPr id="62" name="별: 꼭짓점 5개 18">
            <a:extLst>
              <a:ext uri="{FF2B5EF4-FFF2-40B4-BE49-F238E27FC236}">
                <a16:creationId xmlns:a16="http://schemas.microsoft.com/office/drawing/2014/main" id="{97B0AC14-7AC5-4B43-B263-272020C210DC}"/>
              </a:ext>
            </a:extLst>
          </p:cNvPr>
          <p:cNvSpPr/>
          <p:nvPr/>
        </p:nvSpPr>
        <p:spPr>
          <a:xfrm>
            <a:off x="2357062" y="1035376"/>
            <a:ext cx="208329" cy="187055"/>
          </a:xfrm>
          <a:prstGeom prst="star5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14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Agile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NPD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단계별 통과 기준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0" y="6004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555427" y="3172260"/>
          <a:ext cx="7962561" cy="298938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81336">
                  <a:extLst>
                    <a:ext uri="{9D8B030D-6E8A-4147-A177-3AD203B41FA5}">
                      <a16:colId xmlns:a16="http://schemas.microsoft.com/office/drawing/2014/main" val="4187331244"/>
                    </a:ext>
                  </a:extLst>
                </a:gridCol>
                <a:gridCol w="1357532">
                  <a:extLst>
                    <a:ext uri="{9D8B030D-6E8A-4147-A177-3AD203B41FA5}">
                      <a16:colId xmlns:a16="http://schemas.microsoft.com/office/drawing/2014/main" val="2709555191"/>
                    </a:ext>
                  </a:extLst>
                </a:gridCol>
                <a:gridCol w="2595555">
                  <a:extLst>
                    <a:ext uri="{9D8B030D-6E8A-4147-A177-3AD203B41FA5}">
                      <a16:colId xmlns:a16="http://schemas.microsoft.com/office/drawing/2014/main" val="3188573936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4173923147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3014507141"/>
                    </a:ext>
                  </a:extLst>
                </a:gridCol>
                <a:gridCol w="776046">
                  <a:extLst>
                    <a:ext uri="{9D8B030D-6E8A-4147-A177-3AD203B41FA5}">
                      <a16:colId xmlns:a16="http://schemas.microsoft.com/office/drawing/2014/main" val="125839134"/>
                    </a:ext>
                  </a:extLst>
                </a:gridCol>
              </a:tblGrid>
              <a:tr h="3118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 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기준</a:t>
                      </a:r>
                      <a:endParaRPr lang="en-US" altLang="ko-KR" sz="1100" b="1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단계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564473"/>
                  </a:ext>
                </a:extLst>
              </a:tr>
              <a:tr h="38249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Customer</a:t>
                      </a:r>
                      <a:r>
                        <a:rPr lang="en-US" sz="1000" b="1" u="none" strike="noStrike" baseline="0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Desirability</a:t>
                      </a:r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가치</a:t>
                      </a:r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욕구</a:t>
                      </a:r>
                      <a:r>
                        <a:rPr lang="en-US" altLang="ko-KR" sz="1000" b="1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문제정의</a:t>
                      </a:r>
                      <a:endParaRPr lang="en-US" altLang="ko-KR" sz="10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문제 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정의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BMC, P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R/FAQ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943293"/>
                  </a:ext>
                </a:extLst>
              </a:tr>
              <a:tr h="38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검증 </a:t>
                      </a:r>
                      <a:endParaRPr lang="en-US" altLang="ko-KR" sz="10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</a:t>
                      </a:r>
                      <a:r>
                        <a:rPr lang="ko-KR" altLang="en-US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인터뷰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50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77532"/>
                  </a:ext>
                </a:extLst>
              </a:tr>
              <a:tr h="382499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고객 검증 </a:t>
                      </a:r>
                      <a:endParaRPr lang="en-US" altLang="ko-KR" sz="10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NPS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추천 지수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 ↑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28"/>
                  </a:ext>
                </a:extLst>
              </a:tr>
              <a:tr h="38249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Economical Viability</a:t>
                      </a:r>
                      <a:br>
                        <a:rPr 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경제적 지속 가능성</a:t>
                      </a:r>
                      <a:r>
                        <a:rPr lang="en-US" altLang="ko-KR" sz="1000" b="1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RISK</a:t>
                      </a:r>
                    </a:p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(RM,</a:t>
                      </a:r>
                      <a:r>
                        <a:rPr lang="ko-KR" altLang="en-US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</a:t>
                      </a:r>
                      <a:r>
                        <a:rPr lang="en-US" altLang="ko-KR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,IT)</a:t>
                      </a:r>
                      <a:endParaRPr lang="en-US" altLang="ko-KR" sz="10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hedge 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가능여부</a:t>
                      </a:r>
                      <a:endParaRPr lang="en-US" altLang="ko-KR" sz="10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198019"/>
                  </a:ext>
                </a:extLst>
              </a:tr>
              <a:tr h="382499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smtClean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재무 수익성</a:t>
                      </a:r>
                      <a:endParaRPr lang="en-US" altLang="ko-KR" sz="1000" u="none" strike="noStrike" dirty="0" smtClean="0"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이내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BEP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초과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ROI</a:t>
                      </a:r>
                      <a:r>
                        <a:rPr lang="ko-KR" altLang="en-US" sz="10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달성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Y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18090"/>
                  </a:ext>
                </a:extLst>
              </a:tr>
              <a:tr h="38249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Technical </a:t>
                      </a:r>
                      <a:r>
                        <a:rPr lang="ko-KR" altLang="en-US" sz="1000" b="1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Feasibility</a:t>
                      </a:r>
                      <a:endParaRPr lang="en-US" altLang="ko-KR" sz="1000" b="1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(기술적 실현 가능성)</a:t>
                      </a:r>
                      <a:r>
                        <a:rPr lang="en-US" altLang="ko-KR" sz="1000" b="1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To-do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이행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여부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379309"/>
                  </a:ext>
                </a:extLst>
              </a:tr>
              <a:tr h="38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기능성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오류 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발생 건수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0</a:t>
                      </a:r>
                      <a:r>
                        <a:rPr kumimoji="0" lang="ko-KR" altLang="en-US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건</a:t>
                      </a: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</a:t>
                      </a:r>
                      <a:r>
                        <a:rPr lang="ko-KR" altLang="en-US" sz="10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ko-KR" altLang="en-US" sz="1000" dirty="0" smtClean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631415"/>
                  </a:ext>
                </a:extLst>
              </a:tr>
            </a:tbl>
          </a:graphicData>
        </a:graphic>
      </p:graphicFrame>
      <p:grpSp>
        <p:nvGrpSpPr>
          <p:cNvPr id="30" name="그룹 29"/>
          <p:cNvGrpSpPr/>
          <p:nvPr/>
        </p:nvGrpSpPr>
        <p:grpSpPr>
          <a:xfrm>
            <a:off x="581671" y="981223"/>
            <a:ext cx="7850340" cy="742669"/>
            <a:chOff x="836113" y="1298064"/>
            <a:chExt cx="7850340" cy="742669"/>
          </a:xfrm>
        </p:grpSpPr>
        <p:sp>
          <p:nvSpPr>
            <p:cNvPr id="31" name="타원 30"/>
            <p:cNvSpPr/>
            <p:nvPr/>
          </p:nvSpPr>
          <p:spPr>
            <a:xfrm>
              <a:off x="3270208" y="1298064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/>
            <p:cNvSpPr/>
            <p:nvPr/>
          </p:nvSpPr>
          <p:spPr>
            <a:xfrm>
              <a:off x="5083879" y="1300700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836113" y="1298441"/>
              <a:ext cx="2429011" cy="742292"/>
              <a:chOff x="659956" y="3480149"/>
              <a:chExt cx="3165947" cy="2612047"/>
            </a:xfrm>
          </p:grpSpPr>
          <p:sp>
            <p:nvSpPr>
              <p:cNvPr id="38" name="타원 37"/>
              <p:cNvSpPr/>
              <p:nvPr/>
            </p:nvSpPr>
            <p:spPr>
              <a:xfrm>
                <a:off x="1496171" y="3480149"/>
                <a:ext cx="2329732" cy="2329732"/>
              </a:xfrm>
              <a:prstGeom prst="ellipse">
                <a:avLst/>
              </a:pr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자유형 38"/>
              <p:cNvSpPr/>
              <p:nvPr/>
            </p:nvSpPr>
            <p:spPr>
              <a:xfrm>
                <a:off x="659956" y="4261900"/>
                <a:ext cx="906451" cy="1280166"/>
              </a:xfrm>
              <a:custGeom>
                <a:avLst/>
                <a:gdLst>
                  <a:gd name="connsiteX0" fmla="*/ 818985 w 818985"/>
                  <a:gd name="connsiteY0" fmla="*/ 0 h 1152940"/>
                  <a:gd name="connsiteX1" fmla="*/ 731520 w 818985"/>
                  <a:gd name="connsiteY1" fmla="*/ 254442 h 1152940"/>
                  <a:gd name="connsiteX2" fmla="*/ 620202 w 818985"/>
                  <a:gd name="connsiteY2" fmla="*/ 755374 h 1152940"/>
                  <a:gd name="connsiteX3" fmla="*/ 0 w 818985"/>
                  <a:gd name="connsiteY3" fmla="*/ 1152940 h 1152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8985" h="1152940">
                    <a:moveTo>
                      <a:pt x="818985" y="0"/>
                    </a:moveTo>
                    <a:cubicBezTo>
                      <a:pt x="791817" y="64273"/>
                      <a:pt x="764650" y="128546"/>
                      <a:pt x="731520" y="254442"/>
                    </a:cubicBezTo>
                    <a:cubicBezTo>
                      <a:pt x="698390" y="380338"/>
                      <a:pt x="742122" y="605624"/>
                      <a:pt x="620202" y="755374"/>
                    </a:cubicBezTo>
                    <a:cubicBezTo>
                      <a:pt x="498282" y="905124"/>
                      <a:pt x="84814" y="1133062"/>
                      <a:pt x="0" y="1152940"/>
                    </a:cubicBezTo>
                  </a:path>
                </a:pathLst>
              </a:cu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타원 39"/>
              <p:cNvSpPr/>
              <p:nvPr/>
            </p:nvSpPr>
            <p:spPr>
              <a:xfrm>
                <a:off x="1506185" y="3762463"/>
                <a:ext cx="2291960" cy="2329733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3193413" y="1607556"/>
              <a:ext cx="136342" cy="67217"/>
              <a:chOff x="3732422" y="4567836"/>
              <a:chExt cx="177706" cy="236527"/>
            </a:xfrm>
          </p:grpSpPr>
          <p:sp>
            <p:nvSpPr>
              <p:cNvPr id="36" name="타원 35"/>
              <p:cNvSpPr/>
              <p:nvPr/>
            </p:nvSpPr>
            <p:spPr>
              <a:xfrm>
                <a:off x="3732422" y="4567836"/>
                <a:ext cx="177706" cy="236527"/>
              </a:xfrm>
              <a:prstGeom prst="ellipse">
                <a:avLst/>
              </a:prstGeom>
              <a:noFill/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타원 36"/>
              <p:cNvSpPr/>
              <p:nvPr/>
            </p:nvSpPr>
            <p:spPr>
              <a:xfrm>
                <a:off x="3784918" y="4649744"/>
                <a:ext cx="75366" cy="75363"/>
              </a:xfrm>
              <a:prstGeom prst="ellipse">
                <a:avLst/>
              </a:prstGeom>
              <a:noFill/>
              <a:ln w="571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5" name="타원 34"/>
            <p:cNvSpPr/>
            <p:nvPr/>
          </p:nvSpPr>
          <p:spPr>
            <a:xfrm>
              <a:off x="6899011" y="1300700"/>
              <a:ext cx="1787442" cy="662063"/>
            </a:xfrm>
            <a:prstGeom prst="ellipse">
              <a:avLst/>
            </a:prstGeom>
            <a:noFill/>
            <a:ln w="571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1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3339481" y="1176485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해결방안 탐색</a:t>
            </a:r>
            <a:endParaRPr lang="en-US" altLang="ko-KR" sz="12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5153152" y="1176485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 개발</a:t>
            </a:r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출시</a:t>
            </a:r>
            <a:endParaRPr lang="en-US" altLang="ko-KR" sz="12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1198402" y="1176485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문제 발견</a:t>
            </a:r>
            <a:endParaRPr lang="en-US" altLang="ko-KR" sz="12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6968284" y="1176485"/>
            <a:ext cx="1140012" cy="271863"/>
          </a:xfrm>
          <a:prstGeom prst="homePlate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판매</a:t>
            </a:r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운영관리</a:t>
            </a:r>
            <a:endParaRPr lang="en-US" altLang="ko-KR" sz="12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8FDAA1-28D2-4DFD-B444-13BD6E1A727D}"/>
              </a:ext>
            </a:extLst>
          </p:cNvPr>
          <p:cNvSpPr txBox="1"/>
          <p:nvPr/>
        </p:nvSpPr>
        <p:spPr>
          <a:xfrm>
            <a:off x="823683" y="1687097"/>
            <a:ext cx="1916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고객과 사용자의 문제를 수집하고 </a:t>
            </a:r>
            <a:endParaRPr lang="en-US" altLang="ko-KR" sz="7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진짜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문제를 발견</a:t>
            </a:r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확인하는 단계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2791B3-4688-4624-9AFA-DD0AC812AB11}"/>
              </a:ext>
            </a:extLst>
          </p:cNvPr>
          <p:cNvSpPr txBox="1"/>
          <p:nvPr/>
        </p:nvSpPr>
        <p:spPr>
          <a:xfrm>
            <a:off x="2934482" y="1691865"/>
            <a:ext cx="19237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진짜 문제를 해결할 수 있는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아이디어를 도출하고 구체화하여  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고객에게 확인하는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B07862-205B-4959-9A2C-0B6F9DBCBD6C}"/>
              </a:ext>
            </a:extLst>
          </p:cNvPr>
          <p:cNvSpPr txBox="1"/>
          <p:nvPr/>
        </p:nvSpPr>
        <p:spPr>
          <a:xfrm>
            <a:off x="4677921" y="1692257"/>
            <a:ext cx="20580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지속적인 고객 피드백과 </a:t>
            </a:r>
            <a:endParaRPr lang="en-US" altLang="ko-KR" sz="7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상품성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개선을 통해 </a:t>
            </a:r>
            <a:endParaRPr lang="en-US" altLang="ko-KR" sz="7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 출시를 준비하는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2AAD4F-9FDB-46FA-9198-4AB964CC10DE}"/>
              </a:ext>
            </a:extLst>
          </p:cNvPr>
          <p:cNvSpPr txBox="1"/>
          <p:nvPr/>
        </p:nvSpPr>
        <p:spPr>
          <a:xfrm>
            <a:off x="6639554" y="1684306"/>
            <a:ext cx="17490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프로덕트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목표 달성 및 유지를 </a:t>
            </a:r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통해</a:t>
            </a:r>
            <a:endParaRPr lang="en-US" altLang="ko-KR" sz="7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7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비즈니스 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성과를 극대화 단계</a:t>
            </a:r>
            <a:endParaRPr lang="en-US" altLang="ko-KR" sz="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상황에 따라 </a:t>
            </a:r>
            <a:r>
              <a:rPr lang="ko-KR" altLang="en-US" sz="7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프로덕트</a:t>
            </a:r>
            <a:r>
              <a:rPr lang="ko-KR" altLang="en-US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종료 결정</a:t>
            </a:r>
            <a:r>
              <a:rPr lang="en-US" altLang="ko-KR" sz="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pSp>
        <p:nvGrpSpPr>
          <p:cNvPr id="49" name="그룹 48"/>
          <p:cNvGrpSpPr/>
          <p:nvPr/>
        </p:nvGrpSpPr>
        <p:grpSpPr>
          <a:xfrm>
            <a:off x="572646" y="2247300"/>
            <a:ext cx="7885112" cy="201930"/>
            <a:chOff x="827088" y="1834935"/>
            <a:chExt cx="7885112" cy="284236"/>
          </a:xfrm>
        </p:grpSpPr>
        <p:grpSp>
          <p:nvGrpSpPr>
            <p:cNvPr id="50" name="그룹 49"/>
            <p:cNvGrpSpPr/>
            <p:nvPr/>
          </p:nvGrpSpPr>
          <p:grpSpPr>
            <a:xfrm>
              <a:off x="827088" y="1842167"/>
              <a:ext cx="7885112" cy="182508"/>
              <a:chOff x="827088" y="1842167"/>
              <a:chExt cx="7885112" cy="182508"/>
            </a:xfrm>
          </p:grpSpPr>
          <p:cxnSp>
            <p:nvCxnSpPr>
              <p:cNvPr id="55" name="직선 연결선 54"/>
              <p:cNvCxnSpPr/>
              <p:nvPr/>
            </p:nvCxnSpPr>
            <p:spPr>
              <a:xfrm>
                <a:off x="827088" y="1947218"/>
                <a:ext cx="7884000" cy="0"/>
              </a:xfrm>
              <a:prstGeom prst="line">
                <a:avLst/>
              </a:prstGeom>
              <a:ln w="31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>
                <a:off x="827088" y="1843200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>
                <a:off x="3276600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>
                <a:off x="5076825" y="1844063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>
                <a:off x="6880123" y="1842167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>
                <a:off x="8712200" y="1844675"/>
                <a:ext cx="0" cy="18000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0E99F1C-30DB-48FD-8054-69DB86526E27}"/>
                </a:ext>
              </a:extLst>
            </p:cNvPr>
            <p:cNvSpPr txBox="1"/>
            <p:nvPr/>
          </p:nvSpPr>
          <p:spPr>
            <a:xfrm>
              <a:off x="1310395" y="1837574"/>
              <a:ext cx="1461835" cy="281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Customer-Problem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FDDD1E1-C344-4055-A5C0-5BAD62E8B2BA}"/>
                </a:ext>
              </a:extLst>
            </p:cNvPr>
            <p:cNvSpPr txBox="1"/>
            <p:nvPr/>
          </p:nvSpPr>
          <p:spPr>
            <a:xfrm>
              <a:off x="3463476" y="1837509"/>
              <a:ext cx="1440000" cy="281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Customer-Solution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C17E81-50C9-4F73-B8A2-8CB1417691C8}"/>
                </a:ext>
              </a:extLst>
            </p:cNvPr>
            <p:cNvSpPr txBox="1"/>
            <p:nvPr/>
          </p:nvSpPr>
          <p:spPr>
            <a:xfrm>
              <a:off x="5342469" y="1834935"/>
              <a:ext cx="1285200" cy="281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Product-Market Fit </a:t>
              </a:r>
              <a:r>
                <a:rPr lang="ko-KR" alt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검증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6B70A5A-EF0B-479E-8122-A523E2D0841E}"/>
                </a:ext>
              </a:extLst>
            </p:cNvPr>
            <p:cNvSpPr txBox="1"/>
            <p:nvPr/>
          </p:nvSpPr>
          <p:spPr>
            <a:xfrm>
              <a:off x="7342914" y="1834935"/>
              <a:ext cx="853200" cy="281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Scale up / Retire</a:t>
              </a:r>
              <a:endParaRPr lang="ko-KR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4365449" y="836302"/>
            <a:ext cx="898312" cy="558297"/>
            <a:chOff x="4619891" y="628358"/>
            <a:chExt cx="898312" cy="558297"/>
          </a:xfrm>
        </p:grpSpPr>
        <p:sp>
          <p:nvSpPr>
            <p:cNvPr id="62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619891" y="628358"/>
              <a:ext cx="898312" cy="271863"/>
            </a:xfrm>
            <a:prstGeom prst="homePlate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accent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MVP</a:t>
              </a:r>
              <a:endParaRPr lang="en-US" altLang="ko-KR" sz="1000" b="1" dirty="0" smtClean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별: 꼭짓점 5개 18">
              <a:extLst>
                <a:ext uri="{FF2B5EF4-FFF2-40B4-BE49-F238E27FC236}">
                  <a16:creationId xmlns:a16="http://schemas.microsoft.com/office/drawing/2014/main" id="{97B0AC14-7AC5-4B43-B263-272020C210DC}"/>
                </a:ext>
              </a:extLst>
            </p:cNvPr>
            <p:cNvSpPr/>
            <p:nvPr/>
          </p:nvSpPr>
          <p:spPr>
            <a:xfrm>
              <a:off x="4951352" y="960318"/>
              <a:ext cx="235390" cy="226337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6600"/>
                </a:solidFill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6173452" y="838311"/>
            <a:ext cx="898312" cy="558297"/>
            <a:chOff x="4619891" y="628358"/>
            <a:chExt cx="898312" cy="558297"/>
          </a:xfrm>
        </p:grpSpPr>
        <p:sp>
          <p:nvSpPr>
            <p:cNvPr id="65" name="오각형 139">
              <a:extLst>
                <a:ext uri="{FF2B5EF4-FFF2-40B4-BE49-F238E27FC236}">
                  <a16:creationId xmlns:a16="http://schemas.microsoft.com/office/drawing/2014/main" id="{AAF764F3-8E63-4E8E-B50F-AA8CFE8DC0B0}"/>
                </a:ext>
              </a:extLst>
            </p:cNvPr>
            <p:cNvSpPr/>
            <p:nvPr/>
          </p:nvSpPr>
          <p:spPr>
            <a:xfrm>
              <a:off x="4619891" y="628358"/>
              <a:ext cx="898312" cy="271863"/>
            </a:xfrm>
            <a:prstGeom prst="homePlate">
              <a:avLst>
                <a:gd name="adj" fmla="val 0"/>
              </a:avLst>
            </a:prstGeom>
            <a:noFill/>
            <a:ln w="63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완제품</a:t>
              </a:r>
              <a:endParaRPr lang="en-US" altLang="ko-KR" sz="10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별: 꼭짓점 5개 18">
              <a:extLst>
                <a:ext uri="{FF2B5EF4-FFF2-40B4-BE49-F238E27FC236}">
                  <a16:creationId xmlns:a16="http://schemas.microsoft.com/office/drawing/2014/main" id="{97B0AC14-7AC5-4B43-B263-272020C210DC}"/>
                </a:ext>
              </a:extLst>
            </p:cNvPr>
            <p:cNvSpPr/>
            <p:nvPr/>
          </p:nvSpPr>
          <p:spPr>
            <a:xfrm>
              <a:off x="4951352" y="960318"/>
              <a:ext cx="235390" cy="226337"/>
            </a:xfrm>
            <a:prstGeom prst="star5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006600"/>
                </a:solidFill>
              </a:endParaRPr>
            </a:p>
          </p:txBody>
        </p:sp>
      </p:grpSp>
      <p:sp>
        <p:nvSpPr>
          <p:cNvPr id="67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2434015" y="2489469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4278055" y="2480090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2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오각형 139">
            <a:extLst>
              <a:ext uri="{FF2B5EF4-FFF2-40B4-BE49-F238E27FC236}">
                <a16:creationId xmlns:a16="http://schemas.microsoft.com/office/drawing/2014/main" id="{AAF764F3-8E63-4E8E-B50F-AA8CFE8DC0B0}"/>
              </a:ext>
            </a:extLst>
          </p:cNvPr>
          <p:cNvSpPr/>
          <p:nvPr/>
        </p:nvSpPr>
        <p:spPr>
          <a:xfrm>
            <a:off x="6122095" y="2470712"/>
            <a:ext cx="1140012" cy="271863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2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단계</a:t>
            </a:r>
            <a:endParaRPr lang="en-US" altLang="ko-KR" sz="12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8656470" y="214888"/>
            <a:ext cx="4860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PD</a:t>
            </a:r>
            <a:r>
              <a:rPr lang="ko-KR" altLang="en-US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팀</a:t>
            </a:r>
            <a:endParaRPr lang="ko-KR" altLang="en-US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810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96948" y="836613"/>
            <a:ext cx="8862647" cy="5423095"/>
            <a:chOff x="161778" y="780757"/>
            <a:chExt cx="8862647" cy="5423095"/>
          </a:xfrm>
        </p:grpSpPr>
        <p:sp>
          <p:nvSpPr>
            <p:cNvPr id="5" name="직사각형 4"/>
            <p:cNvSpPr/>
            <p:nvPr/>
          </p:nvSpPr>
          <p:spPr>
            <a:xfrm>
              <a:off x="161778" y="780757"/>
              <a:ext cx="8862647" cy="542309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168" y="921434"/>
              <a:ext cx="8795087" cy="5054548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" name="TextBox 2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별첨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문제 정의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고객 문제 정의서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36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별첨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대상 고객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페르소나 설정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70" y="971888"/>
            <a:ext cx="8860660" cy="49142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830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별첨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타겟 시장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circle,</a:t>
            </a:r>
            <a:r>
              <a:rPr lang="en-US" altLang="ko-KR" sz="1600" b="1" dirty="0" smtClean="0">
                <a:latin typeface="+mj-ea"/>
              </a:rPr>
              <a:t>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SWOT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10692"/>
          <a:stretch/>
        </p:blipFill>
        <p:spPr>
          <a:xfrm>
            <a:off x="148925" y="779228"/>
            <a:ext cx="8995075" cy="4403201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66" y="4360635"/>
            <a:ext cx="2799564" cy="2386046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51076" y="739471"/>
            <a:ext cx="8908520" cy="605889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23850" y="4224407"/>
            <a:ext cx="2052000" cy="21421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 b="1" dirty="0" smtClean="0">
                <a:solidFill>
                  <a:schemeClr val="tx1"/>
                </a:solidFill>
                <a:latin typeface="+mj-ea"/>
                <a:ea typeface="+mj-ea"/>
              </a:rPr>
              <a:t>3 circle </a:t>
            </a:r>
            <a:r>
              <a:rPr lang="ko-KR" altLang="en-US" sz="1600" b="1" dirty="0" smtClean="0">
                <a:solidFill>
                  <a:schemeClr val="tx1"/>
                </a:solidFill>
                <a:latin typeface="+mj-ea"/>
                <a:ea typeface="+mj-ea"/>
              </a:rPr>
              <a:t>모델</a:t>
            </a:r>
            <a:endParaRPr lang="ko-KR" altLang="en-US" sz="16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7025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07" y="1278539"/>
            <a:ext cx="8480185" cy="43009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별첨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컨셉 수립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BMC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모델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88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별첨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고객 검증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NPS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추천 지수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23" y="705296"/>
            <a:ext cx="5074277" cy="462636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98" y="5561413"/>
            <a:ext cx="5381517" cy="687003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405708" y="5768002"/>
            <a:ext cx="516155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387029" y="5983706"/>
            <a:ext cx="426574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457200" y="4192172"/>
            <a:ext cx="956603" cy="1758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49100" y="4583723"/>
            <a:ext cx="869639" cy="1758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53920" y="4968240"/>
            <a:ext cx="1086492" cy="1758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06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별첨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MVP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개발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워킹 </a:t>
            </a:r>
            <a:r>
              <a:rPr lang="ko-KR" altLang="en-US" sz="16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스켈레톤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93" y="811592"/>
            <a:ext cx="8344215" cy="523481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689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r="40137"/>
          <a:stretch/>
        </p:blipFill>
        <p:spPr>
          <a:xfrm>
            <a:off x="150719" y="863427"/>
            <a:ext cx="5141471" cy="49415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463" y="155326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별첨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7. 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이해관계자 </a:t>
            </a: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Map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-7591" y="558266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466" y="1360645"/>
            <a:ext cx="4677481" cy="454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0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2962</TotalTime>
  <Words>881</Words>
  <Application>Microsoft Office PowerPoint</Application>
  <PresentationFormat>화면 슬라이드 쇼(4:3)</PresentationFormat>
  <Paragraphs>216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LG스마트체 Regular</vt:lpstr>
      <vt:lpstr>나눔고딕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384</cp:revision>
  <cp:lastPrinted>2022-12-23T03:34:47Z</cp:lastPrinted>
  <dcterms:created xsi:type="dcterms:W3CDTF">2022-11-29T06:03:49Z</dcterms:created>
  <dcterms:modified xsi:type="dcterms:W3CDTF">2023-01-05T05:50:11Z</dcterms:modified>
</cp:coreProperties>
</file>