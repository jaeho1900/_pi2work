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 saveSubsetFonts="1" autoCompressPictures="0">
  <p:sldMasterIdLst>
    <p:sldMasterId id="2147483648" r:id="rId1"/>
  </p:sldMasterIdLst>
  <p:notesMasterIdLst>
    <p:notesMasterId r:id="rId6"/>
  </p:notesMasterIdLst>
  <p:sldIdLst>
    <p:sldId id="608" r:id="rId2"/>
    <p:sldId id="619" r:id="rId3"/>
    <p:sldId id="620" r:id="rId4"/>
    <p:sldId id="621" r:id="rId5"/>
  </p:sldIdLst>
  <p:sldSz cx="9906000" cy="6858000" type="A4"/>
  <p:notesSz cx="6797675" cy="9926638"/>
  <p:defaultTextStyle>
    <a:defPPr>
      <a:defRPr lang="ko-KR"/>
    </a:defPPr>
    <a:lvl1pPr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1pPr>
    <a:lvl2pPr marL="4572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2pPr>
    <a:lvl3pPr marL="9144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3pPr>
    <a:lvl4pPr marL="13716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4pPr>
    <a:lvl5pPr marL="18288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5pPr>
    <a:lvl6pPr marL="2286000" algn="l" defTabSz="914400" rtl="0" eaLnBrk="1" latinLnBrk="1" hangingPunct="1"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6pPr>
    <a:lvl7pPr marL="2743200" algn="l" defTabSz="914400" rtl="0" eaLnBrk="1" latinLnBrk="1" hangingPunct="1"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7pPr>
    <a:lvl8pPr marL="3200400" algn="l" defTabSz="914400" rtl="0" eaLnBrk="1" latinLnBrk="1" hangingPunct="1"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8pPr>
    <a:lvl9pPr marL="3657600" algn="l" defTabSz="914400" rtl="0" eaLnBrk="1" latinLnBrk="1" hangingPunct="1"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207">
          <p15:clr>
            <a:srgbClr val="A4A3A4"/>
          </p15:clr>
        </p15:guide>
        <p15:guide id="2" orient="horz" pos="4319">
          <p15:clr>
            <a:srgbClr val="A4A3A4"/>
          </p15:clr>
        </p15:guide>
        <p15:guide id="3" orient="horz" pos="1616" userDrawn="1">
          <p15:clr>
            <a:srgbClr val="A4A3A4"/>
          </p15:clr>
        </p15:guide>
        <p15:guide id="4" orient="horz" pos="3974">
          <p15:clr>
            <a:srgbClr val="A4A3A4"/>
          </p15:clr>
        </p15:guide>
        <p15:guide id="5" orient="horz" pos="2160">
          <p15:clr>
            <a:srgbClr val="A4A3A4"/>
          </p15:clr>
        </p15:guide>
        <p15:guide id="6" orient="horz" pos="935">
          <p15:clr>
            <a:srgbClr val="A4A3A4"/>
          </p15:clr>
        </p15:guide>
        <p15:guide id="8" orient="horz" pos="2614">
          <p15:clr>
            <a:srgbClr val="A4A3A4"/>
          </p15:clr>
        </p15:guide>
        <p15:guide id="9" pos="3120">
          <p15:clr>
            <a:srgbClr val="A4A3A4"/>
          </p15:clr>
        </p15:guide>
        <p15:guide id="10" pos="126">
          <p15:clr>
            <a:srgbClr val="A4A3A4"/>
          </p15:clr>
        </p15:guide>
        <p15:guide id="11" pos="6114">
          <p15:clr>
            <a:srgbClr val="A4A3A4"/>
          </p15:clr>
        </p15:guide>
        <p15:guide id="12" pos="1669">
          <p15:clr>
            <a:srgbClr val="A4A3A4"/>
          </p15:clr>
        </p15:guide>
        <p15:guide id="13" pos="308">
          <p15:clr>
            <a:srgbClr val="A4A3A4"/>
          </p15:clr>
        </p15:guide>
        <p15:guide id="14" pos="5932">
          <p15:clr>
            <a:srgbClr val="A4A3A4"/>
          </p15:clr>
        </p15:guide>
        <p15:guide id="15" pos="3029">
          <p15:clr>
            <a:srgbClr val="A4A3A4"/>
          </p15:clr>
        </p15:guide>
        <p15:guide id="16" pos="3211">
          <p15:clr>
            <a:srgbClr val="A4A3A4"/>
          </p15:clr>
        </p15:guide>
        <p15:guide id="17" pos="4572">
          <p15:clr>
            <a:srgbClr val="A4A3A4"/>
          </p15:clr>
        </p15:guide>
        <p15:guide id="18" pos="3846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SERVEONE" initials="S" lastIdx="1" clrIdx="0">
    <p:extLst>
      <p:ext uri="{19B8F6BF-5375-455C-9EA6-DF929625EA0E}">
        <p15:presenceInfo xmlns:p15="http://schemas.microsoft.com/office/powerpoint/2012/main" userId="SERVEONE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99FF"/>
    <a:srgbClr val="0099CC"/>
    <a:srgbClr val="3399FF"/>
    <a:srgbClr val="FF9999"/>
    <a:srgbClr val="FF9966"/>
    <a:srgbClr val="FF6600"/>
    <a:srgbClr val="CCCCCC"/>
    <a:srgbClr val="A50034"/>
    <a:srgbClr val="FFFFFF"/>
    <a:srgbClr val="C5003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711" autoAdjust="0"/>
    <p:restoredTop sz="96582" autoAdjust="0"/>
  </p:normalViewPr>
  <p:slideViewPr>
    <p:cSldViewPr>
      <p:cViewPr varScale="1">
        <p:scale>
          <a:sx n="98" d="100"/>
          <a:sy n="98" d="100"/>
        </p:scale>
        <p:origin x="222" y="96"/>
      </p:cViewPr>
      <p:guideLst>
        <p:guide orient="horz" pos="1207"/>
        <p:guide orient="horz" pos="4319"/>
        <p:guide orient="horz" pos="1616"/>
        <p:guide orient="horz" pos="3974"/>
        <p:guide orient="horz" pos="2160"/>
        <p:guide orient="horz" pos="935"/>
        <p:guide orient="horz" pos="2614"/>
        <p:guide pos="3120"/>
        <p:guide pos="126"/>
        <p:guide pos="6114"/>
        <p:guide pos="1669"/>
        <p:guide pos="308"/>
        <p:guide pos="5932"/>
        <p:guide pos="3029"/>
        <p:guide pos="3211"/>
        <p:guide pos="4572"/>
        <p:guide pos="3846"/>
      </p:guideLst>
    </p:cSldViewPr>
  </p:slideViewPr>
  <p:outlineViewPr>
    <p:cViewPr>
      <p:scale>
        <a:sx n="33" d="100"/>
        <a:sy n="33" d="100"/>
      </p:scale>
      <p:origin x="0" y="102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howGuides="1">
      <p:cViewPr varScale="1">
        <p:scale>
          <a:sx n="66" d="100"/>
          <a:sy n="66" d="100"/>
        </p:scale>
        <p:origin x="3264" y="6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commentAuthors" Target="commentAuthor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1" y="0"/>
            <a:ext cx="2946275" cy="4966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US" altLang="ko-KR" dirty="0"/>
          </a:p>
        </p:txBody>
      </p:sp>
      <p:sp>
        <p:nvSpPr>
          <p:cNvPr id="5017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49863" y="0"/>
            <a:ext cx="2946275" cy="4966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endParaRPr lang="en-US" altLang="ko-KR" dirty="0"/>
          </a:p>
        </p:txBody>
      </p:sp>
      <p:sp>
        <p:nvSpPr>
          <p:cNvPr id="5018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711200" y="744538"/>
            <a:ext cx="5375275" cy="3722687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</p:spPr>
      </p:sp>
      <p:sp>
        <p:nvSpPr>
          <p:cNvPr id="5018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0383" y="4715832"/>
            <a:ext cx="5436909" cy="446664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018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1" y="9428272"/>
            <a:ext cx="2946275" cy="4966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US" altLang="ko-KR" dirty="0"/>
          </a:p>
        </p:txBody>
      </p:sp>
      <p:sp>
        <p:nvSpPr>
          <p:cNvPr id="5018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49863" y="9428272"/>
            <a:ext cx="2946275" cy="4966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4CAAA1D-F35D-4B17-84EE-4EE23C36AB51}" type="slidenum">
              <a:rPr lang="en-US" altLang="ko-KR"/>
              <a:pPr/>
              <a:t>‹#›</a:t>
            </a:fld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105283811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 latinLnBrk="1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1pPr>
    <a:lvl2pPr marL="457200" algn="l" rtl="0" fontAlgn="base" latinLnBrk="1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2pPr>
    <a:lvl3pPr marL="914400" algn="l" rtl="0" fontAlgn="base" latinLnBrk="1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3pPr>
    <a:lvl4pPr marL="1371600" algn="l" rtl="0" fontAlgn="base" latinLnBrk="1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4pPr>
    <a:lvl5pPr marL="1828800" algn="l" rtl="0" fontAlgn="base" latinLnBrk="1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4CAAA1D-F35D-4B17-84EE-4EE23C36AB51}" type="slidenum">
              <a:rPr lang="en-US" altLang="ko-KR" smtClean="0"/>
              <a:pPr/>
              <a:t>2</a:t>
            </a:fld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76581386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[비밀]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제목 6"/>
          <p:cNvSpPr>
            <a:spLocks noGrp="1"/>
          </p:cNvSpPr>
          <p:nvPr>
            <p:ph type="title"/>
          </p:nvPr>
        </p:nvSpPr>
        <p:spPr>
          <a:xfrm>
            <a:off x="473018" y="1268760"/>
            <a:ext cx="8915400" cy="562075"/>
          </a:xfrm>
          <a:prstGeom prst="rect">
            <a:avLst/>
          </a:prstGeom>
        </p:spPr>
        <p:txBody>
          <a:bodyPr/>
          <a:lstStyle>
            <a:lvl1pPr algn="ctr">
              <a:defRPr sz="2400" b="1">
                <a:solidFill>
                  <a:schemeClr val="tx1"/>
                </a:solidFill>
                <a:latin typeface="LG스마트체 SemiBold" panose="020B0600000101010101" pitchFamily="50" charset="-127"/>
                <a:ea typeface="LG스마트체 SemiBold" panose="020B0600000101010101" pitchFamily="50" charset="-127"/>
                <a:cs typeface="Arial" pitchFamily="34" charset="0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cxnSp>
        <p:nvCxnSpPr>
          <p:cNvPr id="12" name="직선 연결선 11"/>
          <p:cNvCxnSpPr/>
          <p:nvPr userDrawn="1"/>
        </p:nvCxnSpPr>
        <p:spPr>
          <a:xfrm>
            <a:off x="1877577" y="1833461"/>
            <a:ext cx="6150847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ectangle 14"/>
          <p:cNvSpPr>
            <a:spLocks noChangeArrowheads="1"/>
          </p:cNvSpPr>
          <p:nvPr userDrawn="1"/>
        </p:nvSpPr>
        <p:spPr bwMode="auto">
          <a:xfrm>
            <a:off x="8841432" y="248643"/>
            <a:ext cx="808285" cy="300037"/>
          </a:xfrm>
          <a:prstGeom prst="rect">
            <a:avLst/>
          </a:prstGeom>
          <a:solidFill>
            <a:srgbClr val="FFFFFF"/>
          </a:solidFill>
          <a:ln w="9525" algn="ctr">
            <a:solidFill>
              <a:srgbClr val="FF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kern="0" dirty="0">
                <a:solidFill>
                  <a:srgbClr val="FF0000"/>
                </a:solidFill>
                <a:latin typeface="+mj-ea"/>
                <a:ea typeface="+mj-ea"/>
              </a:rPr>
              <a:t>대외비</a:t>
            </a:r>
            <a:endParaRPr kumimoji="0" lang="en-US" altLang="ko-KR" sz="1400" b="0" i="0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+mj-ea"/>
              <a:ea typeface="+mj-ea"/>
            </a:endParaRPr>
          </a:p>
        </p:txBody>
      </p:sp>
      <p:sp>
        <p:nvSpPr>
          <p:cNvPr id="15" name="직사각형 14"/>
          <p:cNvSpPr/>
          <p:nvPr userDrawn="1"/>
        </p:nvSpPr>
        <p:spPr>
          <a:xfrm>
            <a:off x="0" y="6584533"/>
            <a:ext cx="9906000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21528" lvl="1" indent="-457200" algn="ctr" defTabSz="1043056" fontAlgn="auto">
              <a:spcBef>
                <a:spcPts val="600"/>
              </a:spcBef>
              <a:spcAft>
                <a:spcPts val="600"/>
              </a:spcAft>
              <a:defRPr/>
            </a:pPr>
            <a:r>
              <a:rPr kumimoji="0" lang="en-US" altLang="ko-KR" sz="1000" dirty="0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Copyright © </a:t>
            </a:r>
            <a:r>
              <a:rPr kumimoji="0" lang="ko-KR" altLang="en-US" sz="1000" dirty="0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서브원</a:t>
            </a:r>
            <a:r>
              <a:rPr kumimoji="0" lang="en-US" altLang="ko-KR" sz="1000" dirty="0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. </a:t>
            </a:r>
            <a:r>
              <a:rPr kumimoji="0" lang="ko-KR" altLang="en-US" sz="1000" dirty="0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서브원의 사전 승인 없이 본 내용의 전부 또는 일부에 대한 복사</a:t>
            </a:r>
            <a:r>
              <a:rPr kumimoji="0" lang="en-US" altLang="ko-KR" sz="1000" dirty="0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, </a:t>
            </a:r>
            <a:r>
              <a:rPr kumimoji="0" lang="ko-KR" altLang="en-US" sz="1000" dirty="0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전재</a:t>
            </a:r>
            <a:r>
              <a:rPr kumimoji="0" lang="en-US" altLang="ko-KR" sz="1000" dirty="0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, </a:t>
            </a:r>
            <a:r>
              <a:rPr kumimoji="0" lang="ko-KR" altLang="en-US" sz="1000" dirty="0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배포</a:t>
            </a:r>
            <a:r>
              <a:rPr kumimoji="0" lang="en-US" altLang="ko-KR" sz="1000" dirty="0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, </a:t>
            </a:r>
            <a:r>
              <a:rPr kumimoji="0" lang="ko-KR" altLang="en-US" sz="1000" dirty="0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사용 등을 금합니다</a:t>
            </a:r>
            <a:r>
              <a:rPr kumimoji="0" lang="en-US" altLang="ko-KR" sz="1000" dirty="0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.</a:t>
            </a:r>
            <a:endParaRPr kumimoji="0" lang="ko-KR" altLang="ko-KR" sz="1000" dirty="0">
              <a:solidFill>
                <a:prstClr val="black"/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[대외비]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제목 6"/>
          <p:cNvSpPr>
            <a:spLocks noGrp="1"/>
          </p:cNvSpPr>
          <p:nvPr>
            <p:ph type="title"/>
          </p:nvPr>
        </p:nvSpPr>
        <p:spPr>
          <a:xfrm>
            <a:off x="473018" y="1268760"/>
            <a:ext cx="8915400" cy="562075"/>
          </a:xfrm>
          <a:prstGeom prst="rect">
            <a:avLst/>
          </a:prstGeom>
        </p:spPr>
        <p:txBody>
          <a:bodyPr/>
          <a:lstStyle>
            <a:lvl1pPr algn="ctr">
              <a:defRPr sz="2400" b="1">
                <a:solidFill>
                  <a:schemeClr val="tx1"/>
                </a:solidFill>
                <a:latin typeface="LG스마트체 SemiBold" panose="020B0600000101010101" pitchFamily="50" charset="-127"/>
                <a:ea typeface="LG스마트체 SemiBold" panose="020B0600000101010101" pitchFamily="50" charset="-127"/>
                <a:cs typeface="Arial" pitchFamily="34" charset="0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cxnSp>
        <p:nvCxnSpPr>
          <p:cNvPr id="12" name="직선 연결선 11"/>
          <p:cNvCxnSpPr/>
          <p:nvPr userDrawn="1"/>
        </p:nvCxnSpPr>
        <p:spPr>
          <a:xfrm>
            <a:off x="1877577" y="1833461"/>
            <a:ext cx="6150847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ectangle 14"/>
          <p:cNvSpPr>
            <a:spLocks noChangeArrowheads="1"/>
          </p:cNvSpPr>
          <p:nvPr userDrawn="1"/>
        </p:nvSpPr>
        <p:spPr bwMode="auto">
          <a:xfrm>
            <a:off x="8841432" y="248643"/>
            <a:ext cx="808285" cy="300037"/>
          </a:xfrm>
          <a:prstGeom prst="rect">
            <a:avLst/>
          </a:prstGeom>
          <a:solidFill>
            <a:srgbClr val="FFFFFF"/>
          </a:solidFill>
          <a:ln w="9525" algn="ctr">
            <a:solidFill>
              <a:srgbClr val="FF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kern="0" dirty="0">
                <a:solidFill>
                  <a:srgbClr val="FF0000"/>
                </a:solidFill>
                <a:latin typeface="+mj-ea"/>
                <a:ea typeface="+mj-ea"/>
              </a:rPr>
              <a:t>대외비</a:t>
            </a:r>
            <a:endParaRPr kumimoji="0" lang="en-US" altLang="ko-KR" sz="1400" b="0" i="0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+mj-ea"/>
              <a:ea typeface="+mj-ea"/>
            </a:endParaRPr>
          </a:p>
        </p:txBody>
      </p:sp>
      <p:sp>
        <p:nvSpPr>
          <p:cNvPr id="15" name="직사각형 14"/>
          <p:cNvSpPr/>
          <p:nvPr userDrawn="1"/>
        </p:nvSpPr>
        <p:spPr>
          <a:xfrm>
            <a:off x="0" y="6584533"/>
            <a:ext cx="9906000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21528" lvl="1" indent="-457200" algn="ctr" defTabSz="1043056" fontAlgn="auto">
              <a:spcBef>
                <a:spcPts val="600"/>
              </a:spcBef>
              <a:spcAft>
                <a:spcPts val="600"/>
              </a:spcAft>
              <a:defRPr/>
            </a:pPr>
            <a:r>
              <a:rPr kumimoji="0" lang="en-US" altLang="ko-KR" sz="1000" dirty="0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Copyright © </a:t>
            </a:r>
            <a:r>
              <a:rPr kumimoji="0" lang="ko-KR" altLang="en-US" sz="1000" dirty="0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서브원</a:t>
            </a:r>
            <a:r>
              <a:rPr kumimoji="0" lang="en-US" altLang="ko-KR" sz="1000" dirty="0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. </a:t>
            </a:r>
            <a:r>
              <a:rPr kumimoji="0" lang="ko-KR" altLang="en-US" sz="1000" dirty="0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서브원의 사전 승인 없이 본 내용의 전부 또는 일부에 대한 복사</a:t>
            </a:r>
            <a:r>
              <a:rPr kumimoji="0" lang="en-US" altLang="ko-KR" sz="1000" dirty="0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, </a:t>
            </a:r>
            <a:r>
              <a:rPr kumimoji="0" lang="ko-KR" altLang="en-US" sz="1000" dirty="0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전재</a:t>
            </a:r>
            <a:r>
              <a:rPr kumimoji="0" lang="en-US" altLang="ko-KR" sz="1000" dirty="0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, </a:t>
            </a:r>
            <a:r>
              <a:rPr kumimoji="0" lang="ko-KR" altLang="en-US" sz="1000" dirty="0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배포</a:t>
            </a:r>
            <a:r>
              <a:rPr kumimoji="0" lang="en-US" altLang="ko-KR" sz="1000" dirty="0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, </a:t>
            </a:r>
            <a:r>
              <a:rPr kumimoji="0" lang="ko-KR" altLang="en-US" sz="1000" dirty="0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사용 등을 금합니다</a:t>
            </a:r>
            <a:r>
              <a:rPr kumimoji="0" lang="en-US" altLang="ko-KR" sz="1000" dirty="0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.</a:t>
            </a:r>
            <a:endParaRPr kumimoji="0" lang="ko-KR" altLang="ko-KR" sz="1000" dirty="0">
              <a:solidFill>
                <a:prstClr val="black"/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286724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 슬라이드(with 자동페이지번호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hasCustomPrompt="1"/>
          </p:nvPr>
        </p:nvSpPr>
        <p:spPr>
          <a:xfrm>
            <a:off x="97096" y="79164"/>
            <a:ext cx="5749782" cy="490067"/>
          </a:xfrm>
          <a:prstGeom prst="rect">
            <a:avLst/>
          </a:prstGeom>
        </p:spPr>
        <p:txBody>
          <a:bodyPr anchor="ctr" anchorCtr="0"/>
          <a:lstStyle>
            <a:lvl1pPr algn="l">
              <a:defRPr sz="1600" b="1">
                <a:solidFill>
                  <a:schemeClr val="tx1"/>
                </a:solidFill>
                <a:latin typeface="+mj-ea"/>
                <a:ea typeface="+mj-ea"/>
                <a:cs typeface="Arial" pitchFamily="34" charset="0"/>
              </a:defRPr>
            </a:lvl1pPr>
          </a:lstStyle>
          <a:p>
            <a:r>
              <a:rPr lang="en-US" altLang="ko-KR" dirty="0"/>
              <a:t>Title</a:t>
            </a:r>
            <a:endParaRPr lang="ko-KR" altLang="en-US" dirty="0"/>
          </a:p>
        </p:txBody>
      </p:sp>
      <p:sp>
        <p:nvSpPr>
          <p:cNvPr id="13" name="슬라이드 번호 개체 틀 5"/>
          <p:cNvSpPr txBox="1">
            <a:spLocks/>
          </p:cNvSpPr>
          <p:nvPr userDrawn="1"/>
        </p:nvSpPr>
        <p:spPr>
          <a:xfrm>
            <a:off x="3782870" y="6381331"/>
            <a:ext cx="2311400" cy="476251"/>
          </a:xfrm>
          <a:prstGeom prst="rect">
            <a:avLst/>
          </a:prstGeom>
        </p:spPr>
        <p:txBody>
          <a:bodyPr anchor="b"/>
          <a:lstStyle>
            <a:lvl1pPr algn="ctr">
              <a:defRPr sz="1000" b="1">
                <a:solidFill>
                  <a:schemeClr val="tx1"/>
                </a:solidFill>
                <a:latin typeface="Arial" pitchFamily="34" charset="0"/>
                <a:ea typeface="가는둥근제목체" pitchFamily="18" charset="-127"/>
                <a:cs typeface="Arial" pitchFamily="34" charset="0"/>
              </a:defRPr>
            </a:lvl1pPr>
          </a:lstStyle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C40DDAB4-6EBD-4FE5-A400-982DB9D5976A}" type="slidenum">
              <a:rPr kumimoji="1" lang="en-US" altLang="ko-KR" sz="11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ea"/>
                <a:ea typeface="+mj-ea"/>
                <a:cs typeface="Arial" pitchFamily="34" charset="0"/>
              </a:rPr>
              <a:pPr marL="0" marR="0" lvl="0" indent="0" algn="ctr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r>
              <a:rPr kumimoji="1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Arial" pitchFamily="34" charset="0"/>
              </a:rPr>
              <a:t> / 14</a:t>
            </a:r>
          </a:p>
        </p:txBody>
      </p:sp>
      <p:sp>
        <p:nvSpPr>
          <p:cNvPr id="10" name="텍스트 개체 틀 4"/>
          <p:cNvSpPr>
            <a:spLocks noGrp="1"/>
          </p:cNvSpPr>
          <p:nvPr>
            <p:ph type="body" sz="quarter" idx="11" hasCustomPrompt="1"/>
          </p:nvPr>
        </p:nvSpPr>
        <p:spPr>
          <a:xfrm>
            <a:off x="344488" y="807992"/>
            <a:ext cx="9072562" cy="604883"/>
          </a:xfrm>
          <a:prstGeom prst="rect">
            <a:avLst/>
          </a:prstGeom>
        </p:spPr>
        <p:txBody>
          <a:bodyPr/>
          <a:lstStyle>
            <a:lvl1pPr marL="0" indent="0" latinLnBrk="0">
              <a:buNone/>
              <a:defRPr kumimoji="1" lang="ko-KR" altLang="en-US" sz="1400" b="1" kern="1200" dirty="0" smtClean="0">
                <a:solidFill>
                  <a:schemeClr val="tx1"/>
                </a:solidFill>
                <a:latin typeface="+mj-ea"/>
                <a:ea typeface="+mj-ea"/>
                <a:cs typeface="Arial" pitchFamily="34" charset="0"/>
              </a:defRPr>
            </a:lvl1pPr>
          </a:lstStyle>
          <a:p>
            <a:pPr marL="342900" lvl="0" indent="-342900" algn="l" rtl="0" fontAlgn="base" latinLnBrk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ko-KR" dirty="0"/>
              <a:t>Governing Message</a:t>
            </a:r>
            <a:endParaRPr lang="ko-KR" altLang="en-US" dirty="0"/>
          </a:p>
        </p:txBody>
      </p:sp>
      <p:sp>
        <p:nvSpPr>
          <p:cNvPr id="7" name="텍스트 개체 틀 6"/>
          <p:cNvSpPr>
            <a:spLocks noGrp="1"/>
          </p:cNvSpPr>
          <p:nvPr>
            <p:ph type="body" sz="quarter" idx="12" hasCustomPrompt="1"/>
          </p:nvPr>
        </p:nvSpPr>
        <p:spPr>
          <a:xfrm>
            <a:off x="6094270" y="208869"/>
            <a:ext cx="3601098" cy="360362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 kumimoji="1" lang="ko-KR" altLang="en-US" sz="1200" b="1" dirty="0" smtClean="0">
                <a:solidFill>
                  <a:schemeClr val="tx1"/>
                </a:solidFill>
                <a:latin typeface="+mj-ea"/>
                <a:ea typeface="+mj-ea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Sub-Title</a:t>
            </a:r>
            <a:endParaRPr lang="ko-KR" altLang="en-US" dirty="0"/>
          </a:p>
        </p:txBody>
      </p:sp>
      <p:cxnSp>
        <p:nvCxnSpPr>
          <p:cNvPr id="8" name="직선 연결선 7"/>
          <p:cNvCxnSpPr/>
          <p:nvPr userDrawn="1"/>
        </p:nvCxnSpPr>
        <p:spPr>
          <a:xfrm>
            <a:off x="0" y="620688"/>
            <a:ext cx="99060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 슬라이드(with 수동페이지번호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hasCustomPrompt="1"/>
          </p:nvPr>
        </p:nvSpPr>
        <p:spPr>
          <a:xfrm>
            <a:off x="97096" y="79164"/>
            <a:ext cx="5749782" cy="490067"/>
          </a:xfrm>
          <a:prstGeom prst="rect">
            <a:avLst/>
          </a:prstGeom>
        </p:spPr>
        <p:txBody>
          <a:bodyPr anchor="ctr" anchorCtr="0"/>
          <a:lstStyle>
            <a:lvl1pPr algn="l">
              <a:defRPr sz="1600" b="1">
                <a:solidFill>
                  <a:schemeClr val="tx1"/>
                </a:solidFill>
                <a:latin typeface="+mj-ea"/>
                <a:ea typeface="+mj-ea"/>
                <a:cs typeface="Arial" pitchFamily="34" charset="0"/>
              </a:defRPr>
            </a:lvl1pPr>
          </a:lstStyle>
          <a:p>
            <a:r>
              <a:rPr lang="en-US" altLang="ko-KR" dirty="0"/>
              <a:t>Title</a:t>
            </a:r>
            <a:endParaRPr lang="ko-KR" altLang="en-US" dirty="0"/>
          </a:p>
        </p:txBody>
      </p:sp>
      <p:sp>
        <p:nvSpPr>
          <p:cNvPr id="10" name="텍스트 개체 틀 4"/>
          <p:cNvSpPr>
            <a:spLocks noGrp="1"/>
          </p:cNvSpPr>
          <p:nvPr>
            <p:ph type="body" sz="quarter" idx="11" hasCustomPrompt="1"/>
          </p:nvPr>
        </p:nvSpPr>
        <p:spPr>
          <a:xfrm>
            <a:off x="344488" y="807992"/>
            <a:ext cx="9072562" cy="604883"/>
          </a:xfrm>
          <a:prstGeom prst="rect">
            <a:avLst/>
          </a:prstGeom>
        </p:spPr>
        <p:txBody>
          <a:bodyPr/>
          <a:lstStyle>
            <a:lvl1pPr marL="0" indent="0" latinLnBrk="0">
              <a:buNone/>
              <a:defRPr kumimoji="1" lang="ko-KR" altLang="en-US" sz="1400" b="1" kern="1200" dirty="0" smtClean="0">
                <a:solidFill>
                  <a:schemeClr val="tx1"/>
                </a:solidFill>
                <a:latin typeface="+mj-ea"/>
                <a:ea typeface="+mj-ea"/>
                <a:cs typeface="Arial" pitchFamily="34" charset="0"/>
              </a:defRPr>
            </a:lvl1pPr>
          </a:lstStyle>
          <a:p>
            <a:pPr marL="342900" lvl="0" indent="-342900" algn="l" rtl="0" fontAlgn="base" latinLnBrk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ko-KR" dirty="0"/>
              <a:t>Governing Message</a:t>
            </a:r>
            <a:endParaRPr lang="ko-KR" altLang="en-US" dirty="0"/>
          </a:p>
        </p:txBody>
      </p:sp>
      <p:sp>
        <p:nvSpPr>
          <p:cNvPr id="7" name="텍스트 개체 틀 6"/>
          <p:cNvSpPr>
            <a:spLocks noGrp="1"/>
          </p:cNvSpPr>
          <p:nvPr>
            <p:ph type="body" sz="quarter" idx="12" hasCustomPrompt="1"/>
          </p:nvPr>
        </p:nvSpPr>
        <p:spPr>
          <a:xfrm>
            <a:off x="6094270" y="208869"/>
            <a:ext cx="3601098" cy="360362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 kumimoji="1" lang="ko-KR" altLang="en-US" sz="1200" b="1" dirty="0" smtClean="0">
                <a:solidFill>
                  <a:schemeClr val="tx1"/>
                </a:solidFill>
                <a:latin typeface="+mj-ea"/>
                <a:ea typeface="+mj-ea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Sub-Title</a:t>
            </a:r>
            <a:endParaRPr lang="ko-KR" altLang="en-US" dirty="0"/>
          </a:p>
        </p:txBody>
      </p:sp>
      <p:sp>
        <p:nvSpPr>
          <p:cNvPr id="11" name="텍스트 개체 틀 3"/>
          <p:cNvSpPr>
            <a:spLocks noGrp="1"/>
          </p:cNvSpPr>
          <p:nvPr>
            <p:ph type="body" sz="quarter" idx="13" hasCustomPrompt="1"/>
          </p:nvPr>
        </p:nvSpPr>
        <p:spPr>
          <a:xfrm>
            <a:off x="3793928" y="6381328"/>
            <a:ext cx="2311200" cy="475200"/>
          </a:xfrm>
          <a:prstGeom prst="rect">
            <a:avLst/>
          </a:prstGeom>
        </p:spPr>
        <p:txBody>
          <a:bodyPr anchor="b"/>
          <a:lstStyle>
            <a:lvl1pPr marL="0" indent="0" algn="ctr">
              <a:buNone/>
              <a:defRPr sz="1000" b="0" baseline="0">
                <a:solidFill>
                  <a:schemeClr val="tx1"/>
                </a:solidFill>
                <a:latin typeface="+mn-ea"/>
                <a:ea typeface="+mn-ea"/>
              </a:defRPr>
            </a:lvl1pPr>
          </a:lstStyle>
          <a:p>
            <a:pPr lvl="0"/>
            <a:r>
              <a:rPr lang="en-US" altLang="ko-KR" dirty="0"/>
              <a:t>5 / 10</a:t>
            </a:r>
            <a:endParaRPr lang="ko-KR" altLang="en-US" dirty="0"/>
          </a:p>
        </p:txBody>
      </p:sp>
      <p:cxnSp>
        <p:nvCxnSpPr>
          <p:cNvPr id="12" name="직선 연결선 11"/>
          <p:cNvCxnSpPr/>
          <p:nvPr userDrawn="1"/>
        </p:nvCxnSpPr>
        <p:spPr>
          <a:xfrm>
            <a:off x="0" y="620688"/>
            <a:ext cx="99060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895692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 슬라이드(without 페이지번호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hasCustomPrompt="1"/>
          </p:nvPr>
        </p:nvSpPr>
        <p:spPr>
          <a:xfrm>
            <a:off x="97096" y="79164"/>
            <a:ext cx="5749782" cy="490067"/>
          </a:xfrm>
          <a:prstGeom prst="rect">
            <a:avLst/>
          </a:prstGeom>
        </p:spPr>
        <p:txBody>
          <a:bodyPr anchor="ctr" anchorCtr="0"/>
          <a:lstStyle>
            <a:lvl1pPr algn="l">
              <a:defRPr sz="1600" b="1">
                <a:solidFill>
                  <a:schemeClr val="tx1"/>
                </a:solidFill>
                <a:latin typeface="+mj-ea"/>
                <a:ea typeface="+mj-ea"/>
                <a:cs typeface="Arial" pitchFamily="34" charset="0"/>
              </a:defRPr>
            </a:lvl1pPr>
          </a:lstStyle>
          <a:p>
            <a:r>
              <a:rPr lang="en-US" altLang="ko-KR" dirty="0"/>
              <a:t>Title</a:t>
            </a:r>
            <a:endParaRPr lang="ko-KR" altLang="en-US" dirty="0"/>
          </a:p>
        </p:txBody>
      </p:sp>
      <p:sp>
        <p:nvSpPr>
          <p:cNvPr id="10" name="텍스트 개체 틀 4"/>
          <p:cNvSpPr>
            <a:spLocks noGrp="1"/>
          </p:cNvSpPr>
          <p:nvPr>
            <p:ph type="body" sz="quarter" idx="11" hasCustomPrompt="1"/>
          </p:nvPr>
        </p:nvSpPr>
        <p:spPr>
          <a:xfrm>
            <a:off x="344488" y="807992"/>
            <a:ext cx="9072562" cy="604883"/>
          </a:xfrm>
          <a:prstGeom prst="rect">
            <a:avLst/>
          </a:prstGeom>
        </p:spPr>
        <p:txBody>
          <a:bodyPr/>
          <a:lstStyle>
            <a:lvl1pPr marL="0" indent="0" latinLnBrk="0">
              <a:buNone/>
              <a:defRPr kumimoji="1" lang="ko-KR" altLang="en-US" sz="1400" b="1" kern="1200" dirty="0" smtClean="0">
                <a:solidFill>
                  <a:schemeClr val="tx1"/>
                </a:solidFill>
                <a:latin typeface="+mj-ea"/>
                <a:ea typeface="+mj-ea"/>
                <a:cs typeface="Arial" pitchFamily="34" charset="0"/>
              </a:defRPr>
            </a:lvl1pPr>
          </a:lstStyle>
          <a:p>
            <a:pPr marL="342900" lvl="0" indent="-342900" algn="l" rtl="0" fontAlgn="base" latinLnBrk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ko-KR" dirty="0"/>
              <a:t>Governing Message</a:t>
            </a:r>
            <a:endParaRPr lang="ko-KR" altLang="en-US" dirty="0"/>
          </a:p>
        </p:txBody>
      </p:sp>
      <p:sp>
        <p:nvSpPr>
          <p:cNvPr id="7" name="텍스트 개체 틀 6"/>
          <p:cNvSpPr>
            <a:spLocks noGrp="1"/>
          </p:cNvSpPr>
          <p:nvPr>
            <p:ph type="body" sz="quarter" idx="12" hasCustomPrompt="1"/>
          </p:nvPr>
        </p:nvSpPr>
        <p:spPr>
          <a:xfrm>
            <a:off x="6094270" y="208869"/>
            <a:ext cx="3601098" cy="360362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 kumimoji="1" lang="ko-KR" altLang="en-US" sz="1200" b="1" dirty="0" smtClean="0">
                <a:solidFill>
                  <a:schemeClr val="tx1"/>
                </a:solidFill>
                <a:latin typeface="+mj-ea"/>
                <a:ea typeface="+mj-ea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Sub-Title</a:t>
            </a:r>
            <a:endParaRPr lang="ko-KR" altLang="en-US" dirty="0"/>
          </a:p>
        </p:txBody>
      </p:sp>
      <p:cxnSp>
        <p:nvCxnSpPr>
          <p:cNvPr id="9" name="직선 연결선 8"/>
          <p:cNvCxnSpPr/>
          <p:nvPr userDrawn="1"/>
        </p:nvCxnSpPr>
        <p:spPr>
          <a:xfrm>
            <a:off x="0" y="620688"/>
            <a:ext cx="99060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895692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 슬라이드(without 페이지번호,Govering Messag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hasCustomPrompt="1"/>
          </p:nvPr>
        </p:nvSpPr>
        <p:spPr>
          <a:xfrm>
            <a:off x="97096" y="79164"/>
            <a:ext cx="5749782" cy="490067"/>
          </a:xfrm>
          <a:prstGeom prst="rect">
            <a:avLst/>
          </a:prstGeom>
        </p:spPr>
        <p:txBody>
          <a:bodyPr anchor="ctr" anchorCtr="0"/>
          <a:lstStyle>
            <a:lvl1pPr algn="l">
              <a:defRPr sz="1600" b="1">
                <a:solidFill>
                  <a:schemeClr val="tx1"/>
                </a:solidFill>
                <a:latin typeface="+mj-ea"/>
                <a:ea typeface="+mj-ea"/>
                <a:cs typeface="Arial" pitchFamily="34" charset="0"/>
              </a:defRPr>
            </a:lvl1pPr>
          </a:lstStyle>
          <a:p>
            <a:r>
              <a:rPr lang="en-US" altLang="ko-KR" dirty="0"/>
              <a:t>Title</a:t>
            </a:r>
            <a:endParaRPr lang="ko-KR" altLang="en-US" dirty="0"/>
          </a:p>
        </p:txBody>
      </p:sp>
      <p:sp>
        <p:nvSpPr>
          <p:cNvPr id="7" name="텍스트 개체 틀 6"/>
          <p:cNvSpPr>
            <a:spLocks noGrp="1"/>
          </p:cNvSpPr>
          <p:nvPr>
            <p:ph type="body" sz="quarter" idx="12" hasCustomPrompt="1"/>
          </p:nvPr>
        </p:nvSpPr>
        <p:spPr>
          <a:xfrm>
            <a:off x="6094270" y="208869"/>
            <a:ext cx="3601098" cy="360362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 kumimoji="1" lang="ko-KR" altLang="en-US" sz="1200" b="1" dirty="0" smtClean="0">
                <a:solidFill>
                  <a:schemeClr val="tx1"/>
                </a:solidFill>
                <a:latin typeface="+mj-ea"/>
                <a:ea typeface="+mj-ea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Sub-Title</a:t>
            </a:r>
            <a:endParaRPr lang="ko-KR" altLang="en-US" dirty="0"/>
          </a:p>
        </p:txBody>
      </p:sp>
      <p:cxnSp>
        <p:nvCxnSpPr>
          <p:cNvPr id="9" name="직선 연결선 8"/>
          <p:cNvCxnSpPr/>
          <p:nvPr userDrawn="1"/>
        </p:nvCxnSpPr>
        <p:spPr>
          <a:xfrm>
            <a:off x="0" y="620688"/>
            <a:ext cx="99060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820673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260265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x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2474415" y="1911399"/>
            <a:ext cx="4929222" cy="581497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/>
          <a:lstStyle>
            <a:lvl1pPr>
              <a:defRPr sz="2800" b="1">
                <a:latin typeface="+mj-ea"/>
                <a:ea typeface="+mj-ea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39703929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box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300" y="2852936"/>
            <a:ext cx="8915400" cy="1143000"/>
          </a:xfrm>
          <a:prstGeom prst="rect">
            <a:avLst/>
          </a:prstGeom>
        </p:spPr>
        <p:txBody>
          <a:bodyPr/>
          <a:lstStyle>
            <a:lvl1pPr>
              <a:defRPr sz="6000" b="0">
                <a:solidFill>
                  <a:srgbClr val="424242"/>
                </a:solidFill>
                <a:latin typeface="+mj-ea"/>
                <a:ea typeface="+mj-ea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19651394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140B1A-2E36-4B64-94B4-17E6F1EE703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466348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5" r:id="rId2"/>
    <p:sldLayoutId id="2147483650" r:id="rId3"/>
    <p:sldLayoutId id="2147483661" r:id="rId4"/>
    <p:sldLayoutId id="2147483662" r:id="rId5"/>
    <p:sldLayoutId id="2147483666" r:id="rId6"/>
    <p:sldLayoutId id="2147483657" r:id="rId7"/>
    <p:sldLayoutId id="2147483663" r:id="rId8"/>
    <p:sldLayoutId id="2147483664" r:id="rId9"/>
    <p:sldLayoutId id="2147483667" r:id="rId10"/>
  </p:sldLayoutIdLst>
  <p:hf sldNum="0" hdr="0" ftr="0" dt="0"/>
  <p:txStyles>
    <p:titleStyle>
      <a:lvl1pPr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2pPr>
      <a:lvl3pPr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3pPr>
      <a:lvl4pPr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4pPr>
      <a:lvl5pPr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5pPr>
      <a:lvl6pPr marL="4572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6pPr>
      <a:lvl7pPr marL="9144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7pPr>
      <a:lvl8pPr marL="13716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8pPr>
      <a:lvl9pPr marL="18288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9pPr>
    </p:titleStyle>
    <p:bodyStyle>
      <a:lvl1pPr marL="342900" indent="-342900" algn="l" rtl="0" fontAlgn="base" latinLnBrk="1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 latinLnBrk="1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fontAlgn="base" latinLnBrk="1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fontAlgn="base" latinLnBrk="1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CEB395D-ED40-4D8A-BF9A-2966733949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단체 주방 화재 예방 솔루션</a:t>
            </a: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) </a:t>
            </a: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린 캔버스</a:t>
            </a:r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DE8C406D-70B2-4A01-915E-783E260B49E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63608206"/>
              </p:ext>
            </p:extLst>
          </p:nvPr>
        </p:nvGraphicFramePr>
        <p:xfrm>
          <a:off x="272476" y="836712"/>
          <a:ext cx="9361044" cy="5616624"/>
        </p:xfrm>
        <a:graphic>
          <a:graphicData uri="http://schemas.openxmlformats.org/drawingml/2006/table">
            <a:tbl>
              <a:tblPr/>
              <a:tblGrid>
                <a:gridCol w="1800204">
                  <a:extLst>
                    <a:ext uri="{9D8B030D-6E8A-4147-A177-3AD203B41FA5}">
                      <a16:colId xmlns:a16="http://schemas.microsoft.com/office/drawing/2014/main" val="549860655"/>
                    </a:ext>
                  </a:extLst>
                </a:gridCol>
                <a:gridCol w="1944216">
                  <a:extLst>
                    <a:ext uri="{9D8B030D-6E8A-4147-A177-3AD203B41FA5}">
                      <a16:colId xmlns:a16="http://schemas.microsoft.com/office/drawing/2014/main" val="3235663187"/>
                    </a:ext>
                  </a:extLst>
                </a:gridCol>
                <a:gridCol w="936102">
                  <a:extLst>
                    <a:ext uri="{9D8B030D-6E8A-4147-A177-3AD203B41FA5}">
                      <a16:colId xmlns:a16="http://schemas.microsoft.com/office/drawing/2014/main" val="1073697076"/>
                    </a:ext>
                  </a:extLst>
                </a:gridCol>
                <a:gridCol w="936106">
                  <a:extLst>
                    <a:ext uri="{9D8B030D-6E8A-4147-A177-3AD203B41FA5}">
                      <a16:colId xmlns:a16="http://schemas.microsoft.com/office/drawing/2014/main" val="3100038196"/>
                    </a:ext>
                  </a:extLst>
                </a:gridCol>
                <a:gridCol w="1944216">
                  <a:extLst>
                    <a:ext uri="{9D8B030D-6E8A-4147-A177-3AD203B41FA5}">
                      <a16:colId xmlns:a16="http://schemas.microsoft.com/office/drawing/2014/main" val="928498470"/>
                    </a:ext>
                  </a:extLst>
                </a:gridCol>
                <a:gridCol w="1800200">
                  <a:extLst>
                    <a:ext uri="{9D8B030D-6E8A-4147-A177-3AD203B41FA5}">
                      <a16:colId xmlns:a16="http://schemas.microsoft.com/office/drawing/2014/main" val="4244309635"/>
                    </a:ext>
                  </a:extLst>
                </a:gridCol>
              </a:tblGrid>
              <a:tr h="607242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000" b="1" kern="0" spc="0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1. </a:t>
                      </a:r>
                      <a:r>
                        <a:rPr lang="ko-KR" altLang="en-US" sz="1000" b="1" kern="0" spc="0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고객 문제</a:t>
                      </a:r>
                      <a:endParaRPr lang="en-US" sz="1000" kern="0" spc="0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0620" marR="20620" marT="5701" marB="5701" anchor="ctr">
                    <a:lnL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00" b="1" kern="0" spc="0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4. </a:t>
                      </a:r>
                      <a:r>
                        <a:rPr lang="ko-KR" altLang="en-US" sz="1000" b="1" kern="0" spc="0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솔루션</a:t>
                      </a:r>
                      <a:endParaRPr lang="en-US" sz="1000" kern="0" spc="0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0620" marR="20620" marT="5701" marB="5701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00" b="1" kern="0" spc="0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3. </a:t>
                      </a:r>
                      <a:r>
                        <a:rPr lang="ko-KR" altLang="en-US" sz="1000" b="1" kern="0" spc="0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고유의 가치제안</a:t>
                      </a:r>
                      <a:endParaRPr lang="ko-KR" altLang="en-US" sz="1000" kern="0" spc="0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0620" marR="20620" marT="5701" marB="5701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00" b="1" kern="0" spc="0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9. </a:t>
                      </a:r>
                      <a:r>
                        <a:rPr lang="ko-KR" altLang="en-US" sz="1000" b="1" kern="0" spc="0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경쟁우위</a:t>
                      </a:r>
                      <a:endParaRPr lang="en-US" sz="1000" kern="0" spc="0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0620" marR="20620" marT="5701" marB="5701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00" b="1" kern="0" spc="0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2. </a:t>
                      </a:r>
                      <a:r>
                        <a:rPr lang="ko-KR" altLang="en-US" sz="1000" b="1" kern="0" spc="0" dirty="0" err="1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고객군</a:t>
                      </a:r>
                      <a:endParaRPr lang="ko-KR" altLang="en-US" sz="1000" kern="0" spc="0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0620" marR="20620" marT="5701" marB="5701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94548839"/>
                  </a:ext>
                </a:extLst>
              </a:tr>
              <a:tr h="1825302">
                <a:tc rowSpan="3">
                  <a:txBody>
                    <a:bodyPr/>
                    <a:lstStyle/>
                    <a:p>
                      <a:pPr marL="171450" marR="0" lvl="0" indent="-171450" algn="l" defTabSz="914400" rtl="0" eaLnBrk="1" fontAlgn="base" latinLnBrk="1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000" kern="0" spc="0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많은 재료를 짧은 시간에 요리하기 위해서 강한 화력에 의존하게 된다</a:t>
                      </a:r>
                      <a:endParaRPr lang="en-US" altLang="ko-KR" sz="1000" kern="0" spc="0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altLang="ko-KR" sz="1000" kern="0" spc="0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171450" marR="0" lvl="0" indent="-171450" algn="l" defTabSz="914400" rtl="0" eaLnBrk="1" fontAlgn="base" latinLnBrk="1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000" kern="0" spc="0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현재 사용 중인 화력의 정확한 온도를 알 수 없다</a:t>
                      </a:r>
                      <a:endParaRPr lang="en-US" altLang="ko-KR" sz="1000" kern="0" spc="0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1000" kern="0" spc="0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endParaRPr lang="en-US" altLang="ko-KR" sz="1000" kern="0" spc="0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171450" marR="0" indent="-171450" algn="l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kern="0" spc="0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주방자동소화장치의 소화약제가 분사되면 음식물이 오염되어 급식이 불가능해진다</a:t>
                      </a:r>
                      <a:endParaRPr lang="en-US" altLang="ko-KR" sz="1000" kern="0" spc="0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0620" marR="20620" marT="180000" marB="5701">
                    <a:lnL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적외선온도센서를 통하여 사전에 설정된 온도 이상으로 조리기구가 과열되면 전기 또는 가스를 자동으로 차단한다</a:t>
                      </a:r>
                    </a:p>
                  </a:txBody>
                  <a:tcPr marL="20620" marR="20620" marT="180000" marB="5701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3" gridSpan="2">
                  <a:txBody>
                    <a:bodyPr/>
                    <a:lstStyle/>
                    <a:p>
                      <a:pPr marL="0" marR="0" indent="0" algn="l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b="0" kern="0" spc="0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안전안심</a:t>
                      </a:r>
                      <a:r>
                        <a:rPr lang="en-US" altLang="ko-KR" sz="1000" b="0" kern="0" spc="0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1000" b="0" kern="0" spc="0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불의의 사고 시 초동대처를 통한 피해 확산 방지</a:t>
                      </a:r>
                    </a:p>
                  </a:txBody>
                  <a:tcPr marL="20620" marR="20620" marT="180000" marB="5701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3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1450" marR="0" indent="-171450" algn="l" defTabSz="914400" rtl="0" eaLnBrk="1" fontAlgn="base" latinLnBrk="1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000" kern="0" spc="0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FM</a:t>
                      </a:r>
                      <a:r>
                        <a:rPr lang="ko-KR" altLang="en-US" sz="1000" kern="0" spc="0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서비스 연계</a:t>
                      </a:r>
                      <a:r>
                        <a:rPr lang="en-US" altLang="ko-KR" sz="1000" kern="0" spc="0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(</a:t>
                      </a:r>
                      <a:r>
                        <a:rPr lang="ko-KR" altLang="en-US" sz="1000" kern="0" spc="0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시설</a:t>
                      </a:r>
                      <a:r>
                        <a:rPr lang="en-US" altLang="ko-KR" sz="1000" kern="0" spc="0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/</a:t>
                      </a:r>
                      <a:r>
                        <a:rPr lang="ko-KR" altLang="en-US" sz="1000" kern="0" spc="0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소방 점검</a:t>
                      </a:r>
                      <a:r>
                        <a:rPr lang="en-US" altLang="ko-KR" sz="1000" kern="0" spc="0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)</a:t>
                      </a:r>
                    </a:p>
                    <a:p>
                      <a:pPr marL="171450" marR="0" lvl="0" indent="-171450" algn="l" defTabSz="914400" rtl="0" eaLnBrk="1" fontAlgn="base" latinLnBrk="1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altLang="ko-KR" sz="1000" kern="0" spc="0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FM </a:t>
                      </a:r>
                      <a:r>
                        <a:rPr lang="ko-KR" altLang="en-US" sz="1000" kern="0" spc="0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계약과 연계된 계약 편의성</a:t>
                      </a:r>
                      <a:endParaRPr lang="en-US" altLang="ko-KR" sz="1000" kern="0" spc="0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  <a:p>
                      <a:pPr marL="171450" marR="0" indent="-171450" algn="l" defTabSz="914400" rtl="0" eaLnBrk="1" fontAlgn="base" latinLnBrk="1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endParaRPr lang="ko-KR" altLang="en-US" sz="1000" kern="0" spc="0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20620" marR="20620" marT="180000" marB="5701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3">
                  <a:txBody>
                    <a:bodyPr/>
                    <a:lstStyle/>
                    <a:p>
                      <a:pPr marL="0" marR="0" indent="0" algn="l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00" kern="0" spc="0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1. </a:t>
                      </a:r>
                      <a:r>
                        <a:rPr lang="ko-KR" altLang="en-US" sz="1000" kern="0" spc="0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건축물 내에서 중대사고 발생 시 책임감을 갖는 고객</a:t>
                      </a:r>
                      <a:endParaRPr lang="en-US" altLang="ko-KR" sz="1000" kern="0" spc="0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0" marR="0" indent="0" algn="l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altLang="ko-KR" sz="1000" kern="0" spc="0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0" marR="0" indent="0" algn="l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00" kern="0" spc="0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2. </a:t>
                      </a:r>
                      <a:r>
                        <a:rPr lang="ko-KR" altLang="en-US" sz="1000" kern="0" spc="0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영업설비의 이상발생 시 피해가 큰 고객</a:t>
                      </a:r>
                    </a:p>
                  </a:txBody>
                  <a:tcPr marL="20620" marR="20620" marT="180000" marB="5701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40510875"/>
                  </a:ext>
                </a:extLst>
              </a:tr>
              <a:tr h="475819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00" b="1" kern="0" spc="0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8. </a:t>
                      </a:r>
                      <a:r>
                        <a:rPr lang="ko-KR" altLang="en-US" sz="1000" b="1" kern="0" spc="0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핵심지표</a:t>
                      </a:r>
                      <a:endParaRPr lang="en-US" sz="1000" kern="0" spc="0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0620" marR="20620" marT="5701" marB="5701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00" b="1" kern="0" spc="0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5. </a:t>
                      </a:r>
                      <a:r>
                        <a:rPr lang="ko-KR" altLang="en-US" sz="1000" b="1" kern="0" spc="0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채널</a:t>
                      </a:r>
                      <a:endParaRPr lang="en-US" sz="1000" kern="0" spc="0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0620" marR="20620" marT="5701" marB="5701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706148689"/>
                  </a:ext>
                </a:extLst>
              </a:tr>
              <a:tr h="1551593">
                <a:tc vMerge="1"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0" dirty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20620" marR="20620" marT="5701" marB="5701" anchor="ctr">
                    <a:lnL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솔루션 설치 건수</a:t>
                      </a:r>
                    </a:p>
                  </a:txBody>
                  <a:tcPr marL="20620" marR="20620" marT="180000" marB="5701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 vMerge="1"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0" dirty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20620" marR="20620" marT="5701" marB="5701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화재솔루션 제조사 영업 창구</a:t>
                      </a:r>
                      <a:endParaRPr lang="en-US" altLang="ko-KR" sz="1000" kern="0" spc="0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0" marR="0" indent="0" algn="l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영업부서를 통한 전문 영업</a:t>
                      </a:r>
                      <a:r>
                        <a:rPr lang="en-US" altLang="ko-KR" sz="1000" kern="0" spc="0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</a:p>
                    <a:p>
                      <a:pPr marL="0" marR="0" indent="0" algn="l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0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0620" marR="20620" marT="180000" marB="5701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20620" marR="20620" marT="5701" marB="5701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94708838"/>
                  </a:ext>
                </a:extLst>
              </a:tr>
              <a:tr h="415918">
                <a:tc gridSpan="3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00" b="1" kern="0" spc="0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7. </a:t>
                      </a:r>
                      <a:r>
                        <a:rPr lang="ko-KR" altLang="en-US" sz="1000" b="1" kern="0" spc="0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비용 구조</a:t>
                      </a:r>
                      <a:endParaRPr lang="en-US" sz="1000" kern="0" spc="0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0620" marR="20620" marT="5701" marB="5701" anchor="ctr">
                    <a:lnL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00" b="1" kern="0" spc="0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6. </a:t>
                      </a:r>
                      <a:r>
                        <a:rPr lang="ko-KR" altLang="en-US" sz="1000" b="1" kern="0" spc="0" dirty="0" err="1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수익원</a:t>
                      </a:r>
                      <a:endParaRPr lang="en-US" sz="1000" kern="0" spc="0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0620" marR="20620" marT="5701" marB="5701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25264491"/>
                  </a:ext>
                </a:extLst>
              </a:tr>
              <a:tr h="740750">
                <a:tc gridSpan="3">
                  <a:txBody>
                    <a:bodyPr/>
                    <a:lstStyle/>
                    <a:p>
                      <a:pPr marL="0" marR="0" indent="0" algn="l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외주공사비</a:t>
                      </a:r>
                      <a:r>
                        <a:rPr lang="en-US" altLang="ko-KR" sz="1000" kern="0" spc="0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ko-KR" altLang="en-US" sz="1000" kern="0" spc="0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및 월관리비</a:t>
                      </a:r>
                      <a:r>
                        <a:rPr lang="en-US" altLang="ko-KR" sz="1000" kern="0" spc="0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1000" kern="0" spc="0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통신비</a:t>
                      </a:r>
                      <a:r>
                        <a:rPr lang="en-US" altLang="ko-KR" sz="1000" kern="0" spc="0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</a:t>
                      </a:r>
                      <a:r>
                        <a:rPr lang="ko-KR" altLang="en-US" sz="1000" kern="0" spc="0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ko-KR" altLang="en-US" sz="1000" kern="0" spc="0" dirty="0" err="1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클라우드사용료</a:t>
                      </a:r>
                      <a:r>
                        <a:rPr lang="en-US" altLang="ko-KR" sz="1000" kern="0" spc="0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1000" kern="0" spc="0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유지보수비</a:t>
                      </a:r>
                      <a:r>
                        <a:rPr lang="en-US" altLang="ko-KR" sz="1000" kern="0" spc="0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</a:p>
                  </a:txBody>
                  <a:tcPr marL="20620" marR="20620" marT="5701" marB="5701" anchor="ctr">
                    <a:lnL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171450" marR="0" indent="-171450" algn="l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kern="0" spc="0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일시판매형 매출</a:t>
                      </a:r>
                      <a:r>
                        <a:rPr lang="en-US" altLang="ko-KR" sz="1000" kern="0" spc="0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: </a:t>
                      </a:r>
                      <a:r>
                        <a:rPr lang="ko-KR" altLang="en-US" sz="1000" kern="0" spc="0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단독 설치 공사</a:t>
                      </a:r>
                      <a:endParaRPr lang="en-US" altLang="ko-KR" sz="1000" kern="0" spc="0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171450" marR="0" indent="-171450" algn="l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kern="0" spc="0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구독형 매출</a:t>
                      </a:r>
                      <a:r>
                        <a:rPr lang="en-US" altLang="ko-KR" sz="1000" kern="0" spc="0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: </a:t>
                      </a:r>
                      <a:r>
                        <a:rPr lang="ko-KR" altLang="en-US" sz="1000" kern="0" spc="0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설치공사</a:t>
                      </a:r>
                      <a:r>
                        <a:rPr lang="en-US" altLang="ko-KR" sz="1000" kern="0" spc="0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+ </a:t>
                      </a:r>
                      <a:r>
                        <a:rPr lang="ko-KR" altLang="en-US" sz="1000" kern="0" spc="0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원격관제</a:t>
                      </a:r>
                      <a:endParaRPr lang="en-US" altLang="ko-KR" sz="1000" kern="0" spc="0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171450" marR="0" indent="-171450" algn="l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kern="0" spc="0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추가 매출</a:t>
                      </a:r>
                      <a:r>
                        <a:rPr lang="en-US" altLang="ko-KR" sz="1000" kern="0" spc="0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: </a:t>
                      </a:r>
                      <a:r>
                        <a:rPr lang="ko-KR" altLang="en-US" sz="1000" kern="0" spc="0" dirty="0" err="1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덕트청소</a:t>
                      </a:r>
                      <a:r>
                        <a:rPr lang="en-US" altLang="ko-KR" sz="1000" kern="0" spc="0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K</a:t>
                      </a:r>
                      <a:r>
                        <a:rPr lang="ko-KR" altLang="en-US" sz="1000" kern="0" spc="0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급소화기판매</a:t>
                      </a:r>
                      <a:r>
                        <a:rPr lang="en-US" altLang="ko-KR" sz="1000" kern="0" spc="0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1000" kern="0" spc="0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냉설비온도관제 등 확대</a:t>
                      </a:r>
                    </a:p>
                  </a:txBody>
                  <a:tcPr marL="20620" marR="20620" marT="5701" marB="5701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42209933"/>
                  </a:ext>
                </a:extLst>
              </a:tr>
            </a:tbl>
          </a:graphicData>
        </a:graphic>
      </p:graphicFrame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11105504-9F28-4A79-8096-D0DD8DAF61C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948752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CEB395D-ED40-4D8A-BF9A-2966733949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텀블러세척기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)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린 캔버스 작성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7268F5D6-18C1-49E6-BF3E-53E62B9D565E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작성일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22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년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9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월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29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일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/</a:t>
            </a:r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DE8C406D-70B2-4A01-915E-783E260B49EE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272476" y="836712"/>
          <a:ext cx="9361044" cy="5960200"/>
        </p:xfrm>
        <a:graphic>
          <a:graphicData uri="http://schemas.openxmlformats.org/drawingml/2006/table">
            <a:tbl>
              <a:tblPr/>
              <a:tblGrid>
                <a:gridCol w="1800204">
                  <a:extLst>
                    <a:ext uri="{9D8B030D-6E8A-4147-A177-3AD203B41FA5}">
                      <a16:colId xmlns:a16="http://schemas.microsoft.com/office/drawing/2014/main" val="549860655"/>
                    </a:ext>
                  </a:extLst>
                </a:gridCol>
                <a:gridCol w="1944216">
                  <a:extLst>
                    <a:ext uri="{9D8B030D-6E8A-4147-A177-3AD203B41FA5}">
                      <a16:colId xmlns:a16="http://schemas.microsoft.com/office/drawing/2014/main" val="3235663187"/>
                    </a:ext>
                  </a:extLst>
                </a:gridCol>
                <a:gridCol w="936102">
                  <a:extLst>
                    <a:ext uri="{9D8B030D-6E8A-4147-A177-3AD203B41FA5}">
                      <a16:colId xmlns:a16="http://schemas.microsoft.com/office/drawing/2014/main" val="1073697076"/>
                    </a:ext>
                  </a:extLst>
                </a:gridCol>
                <a:gridCol w="936106">
                  <a:extLst>
                    <a:ext uri="{9D8B030D-6E8A-4147-A177-3AD203B41FA5}">
                      <a16:colId xmlns:a16="http://schemas.microsoft.com/office/drawing/2014/main" val="3100038196"/>
                    </a:ext>
                  </a:extLst>
                </a:gridCol>
                <a:gridCol w="1944216">
                  <a:extLst>
                    <a:ext uri="{9D8B030D-6E8A-4147-A177-3AD203B41FA5}">
                      <a16:colId xmlns:a16="http://schemas.microsoft.com/office/drawing/2014/main" val="928498470"/>
                    </a:ext>
                  </a:extLst>
                </a:gridCol>
                <a:gridCol w="1800200">
                  <a:extLst>
                    <a:ext uri="{9D8B030D-6E8A-4147-A177-3AD203B41FA5}">
                      <a16:colId xmlns:a16="http://schemas.microsoft.com/office/drawing/2014/main" val="4244309635"/>
                    </a:ext>
                  </a:extLst>
                </a:gridCol>
              </a:tblGrid>
              <a:tr h="607242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000" b="1" kern="0" spc="0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1. </a:t>
                      </a:r>
                      <a:r>
                        <a:rPr lang="ko-KR" altLang="en-US" sz="1000" b="1" kern="0" spc="0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고객 문제</a:t>
                      </a:r>
                      <a:endParaRPr lang="en-US" sz="1000" kern="0" spc="0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20620" marR="20620" marT="5701" marB="5701" anchor="ctr">
                    <a:lnL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00" b="1" kern="0" spc="0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4. </a:t>
                      </a:r>
                      <a:r>
                        <a:rPr lang="ko-KR" altLang="en-US" sz="1000" b="1" kern="0" spc="0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솔루션</a:t>
                      </a:r>
                      <a:endParaRPr lang="en-US" sz="1000" kern="0" spc="0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20620" marR="20620" marT="5701" marB="5701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00" b="1" kern="0" spc="0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3. </a:t>
                      </a:r>
                      <a:r>
                        <a:rPr lang="ko-KR" altLang="en-US" sz="1000" b="1" kern="0" spc="0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고유의 가치제안</a:t>
                      </a:r>
                      <a:endParaRPr lang="ko-KR" altLang="en-US" sz="1000" kern="0" spc="0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20620" marR="20620" marT="5701" marB="5701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00" b="1" kern="0" spc="0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9. </a:t>
                      </a:r>
                      <a:r>
                        <a:rPr lang="ko-KR" altLang="en-US" sz="1000" b="1" kern="0" spc="0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경쟁우위</a:t>
                      </a:r>
                      <a:endParaRPr lang="en-US" sz="1000" kern="0" spc="0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20620" marR="20620" marT="5701" marB="5701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00" b="1" kern="0" spc="0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2. </a:t>
                      </a:r>
                      <a:r>
                        <a:rPr lang="ko-KR" altLang="en-US" sz="1000" b="1" kern="0" spc="0" dirty="0" err="1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고객군</a:t>
                      </a:r>
                      <a:endParaRPr lang="ko-KR" altLang="en-US" sz="1000" kern="0" spc="0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20620" marR="20620" marT="5701" marB="5701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94548839"/>
                  </a:ext>
                </a:extLst>
              </a:tr>
              <a:tr h="1825302">
                <a:tc rowSpan="3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kern="0" spc="0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1. </a:t>
                      </a:r>
                      <a:r>
                        <a:rPr lang="ko-KR" altLang="en-US" sz="1000" kern="0" spc="0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텀블러</a:t>
                      </a:r>
                      <a:r>
                        <a:rPr lang="en-US" altLang="ko-KR" sz="1000" kern="0" spc="0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/</a:t>
                      </a:r>
                      <a:r>
                        <a:rPr lang="ko-KR" altLang="en-US" sz="1000" kern="0" spc="0" dirty="0" err="1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머그컵을</a:t>
                      </a:r>
                      <a:r>
                        <a:rPr lang="ko-KR" altLang="en-US" sz="1000" kern="0" spc="0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매일 씻는게 귀찮고</a:t>
                      </a:r>
                      <a:r>
                        <a:rPr lang="en-US" altLang="ko-KR" sz="1000" kern="0" spc="0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,</a:t>
                      </a:r>
                      <a:r>
                        <a:rPr lang="ko-KR" altLang="en-US" sz="1000" kern="0" spc="0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세제 사용으로 피부손상이 우려됨</a:t>
                      </a:r>
                      <a:r>
                        <a:rPr lang="en-US" altLang="ko-KR" sz="1000" kern="0" spc="0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. 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kern="0" spc="0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2. </a:t>
                      </a:r>
                      <a:r>
                        <a:rPr lang="ko-KR" altLang="en-US" sz="1000" kern="0" spc="0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별도 </a:t>
                      </a:r>
                      <a:r>
                        <a:rPr lang="ko-KR" altLang="en-US" sz="1000" kern="0" spc="0" dirty="0" err="1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세척솔을</a:t>
                      </a:r>
                      <a:r>
                        <a:rPr lang="ko-KR" altLang="en-US" sz="1000" kern="0" spc="0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사용해야 되니 불편하고</a:t>
                      </a:r>
                      <a:r>
                        <a:rPr lang="en-US" altLang="ko-KR" sz="1000" kern="0" spc="0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</a:t>
                      </a:r>
                      <a:r>
                        <a:rPr lang="ko-KR" altLang="en-US" sz="1000" kern="0" spc="0" baseline="0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깨끗하게 설거지 되는지</a:t>
                      </a:r>
                      <a:r>
                        <a:rPr lang="en-US" altLang="ko-KR" sz="1000" kern="0" spc="0" baseline="0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</a:t>
                      </a:r>
                      <a:r>
                        <a:rPr lang="ko-KR" altLang="en-US" sz="1000" kern="0" spc="0" baseline="0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의문이 듦</a:t>
                      </a:r>
                      <a:r>
                        <a:rPr lang="en-US" altLang="ko-KR" sz="1000" kern="0" spc="0" baseline="0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.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kern="0" spc="0" baseline="0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3. </a:t>
                      </a:r>
                      <a:r>
                        <a:rPr lang="ko-KR" altLang="en-US" sz="1000" kern="0" spc="0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세척 후 물기가 제거되지 않은 상태에서 다시 사용하기 찝찝한 마음이</a:t>
                      </a:r>
                      <a:r>
                        <a:rPr lang="ko-KR" altLang="en-US" sz="1000" kern="0" spc="0" baseline="0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듦</a:t>
                      </a:r>
                      <a:r>
                        <a:rPr lang="en-US" altLang="ko-KR" sz="1000" kern="0" spc="0" baseline="0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.</a:t>
                      </a:r>
                    </a:p>
                    <a:p>
                      <a:pPr marL="0" marR="0" indent="0" algn="l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00" kern="0" spc="0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4.</a:t>
                      </a:r>
                      <a:r>
                        <a:rPr lang="en-US" altLang="ko-KR" sz="1000" kern="0" spc="0" baseline="0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</a:t>
                      </a:r>
                      <a:r>
                        <a:rPr lang="ko-KR" altLang="en-US" sz="1000" kern="0" spc="0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종이컵</a:t>
                      </a:r>
                      <a:r>
                        <a:rPr lang="en-US" altLang="ko-KR" sz="1000" kern="0" spc="0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, </a:t>
                      </a:r>
                      <a:r>
                        <a:rPr lang="ko-KR" altLang="en-US" sz="1000" kern="0" spc="0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플라스틱 컵 등 일회용품 사용으로 쓰레기가 많이 생김</a:t>
                      </a:r>
                      <a:r>
                        <a:rPr lang="en-US" altLang="ko-KR" sz="1000" kern="0" spc="0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.</a:t>
                      </a:r>
                      <a:endParaRPr lang="en-US" altLang="ko-KR" sz="1000" kern="0" spc="0" baseline="0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  <a:p>
                      <a:pPr marL="0" marR="0" indent="0" algn="l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altLang="ko-KR" sz="1000" kern="0" spc="0" baseline="0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  <a:p>
                      <a:pPr marL="0" marR="0" indent="0" algn="l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altLang="ko-KR" sz="1000" kern="0" spc="0" baseline="0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이에 대한 대안으로 고객들은 </a:t>
                      </a:r>
                      <a:r>
                        <a:rPr lang="ko-KR" altLang="en-US" sz="1000" dirty="0" err="1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베이킹소다</a:t>
                      </a:r>
                      <a:r>
                        <a:rPr lang="en-US" altLang="ko-KR" sz="1000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,</a:t>
                      </a:r>
                      <a:r>
                        <a:rPr lang="en-US" altLang="ko-KR" sz="1000" baseline="0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</a:t>
                      </a:r>
                      <a:r>
                        <a:rPr lang="ko-KR" altLang="en-US" sz="1000" baseline="0" dirty="0" err="1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과탄산소다</a:t>
                      </a:r>
                      <a:r>
                        <a:rPr lang="ko-KR" altLang="en-US" sz="1000" baseline="0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등</a:t>
                      </a:r>
                      <a:r>
                        <a:rPr lang="ko-KR" altLang="en-US" sz="1000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을 이용하거나 세척 전용클리너를 사용하여 문제를 해결하고 있음</a:t>
                      </a:r>
                      <a:r>
                        <a:rPr lang="en-US" altLang="ko-KR" sz="1000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. </a:t>
                      </a:r>
                      <a:endParaRPr lang="en-US" altLang="ko-KR" sz="1000" kern="0" spc="0" baseline="0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  <a:p>
                      <a:pPr marL="0" marR="0" indent="0" algn="l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altLang="ko-KR" sz="1000" kern="0" spc="0" baseline="0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20620" marR="20620" marT="5701" marB="5701" anchor="ctr">
                    <a:lnL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000" kern="0" spc="0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1. 10</a:t>
                      </a:r>
                      <a:r>
                        <a:rPr lang="ko-KR" altLang="en-US" sz="1000" kern="0" spc="0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초 내 </a:t>
                      </a:r>
                      <a:r>
                        <a:rPr lang="en-US" altLang="ko-KR" sz="1000" kern="0" spc="0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99.9% </a:t>
                      </a:r>
                      <a:r>
                        <a:rPr lang="ko-KR" altLang="en-US" sz="1000" kern="0" spc="0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살균</a:t>
                      </a:r>
                      <a:r>
                        <a:rPr lang="en-US" altLang="ko-KR" sz="1000" kern="0" spc="0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/</a:t>
                      </a:r>
                      <a:r>
                        <a:rPr lang="ko-KR" altLang="en-US" sz="1000" kern="0" spc="0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세척 가능한 </a:t>
                      </a:r>
                      <a:r>
                        <a:rPr lang="ko-KR" altLang="en-US" sz="1000" u="sng" kern="0" spc="0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텀블러 세척기 설치</a:t>
                      </a:r>
                      <a:r>
                        <a:rPr lang="ko-KR" altLang="en-US" sz="1000" kern="0" spc="0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로 임직원</a:t>
                      </a:r>
                      <a:r>
                        <a:rPr lang="ko-KR" altLang="en-US" sz="1000" kern="0" spc="0" baseline="0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편의 향상</a:t>
                      </a:r>
                      <a:endParaRPr lang="en-US" altLang="ko-KR" sz="1000" kern="0" spc="0" baseline="0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  <a:p>
                      <a:pPr marL="0" marR="0" indent="0" algn="l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000" kern="0" spc="0" baseline="0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: </a:t>
                      </a:r>
                      <a:r>
                        <a:rPr lang="ko-KR" altLang="en-US" sz="1000" kern="0" spc="0" baseline="0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간편자동세척</a:t>
                      </a:r>
                      <a:r>
                        <a:rPr lang="en-US" altLang="ko-KR" sz="1000" kern="0" spc="0" baseline="0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, </a:t>
                      </a:r>
                      <a:r>
                        <a:rPr lang="ko-KR" altLang="en-US" sz="1000" kern="0" spc="0" baseline="0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살균소독</a:t>
                      </a:r>
                      <a:r>
                        <a:rPr lang="en-US" altLang="ko-KR" sz="1000" kern="0" spc="0" baseline="0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, </a:t>
                      </a:r>
                      <a:r>
                        <a:rPr lang="ko-KR" altLang="en-US" sz="1000" kern="0" spc="0" baseline="0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인체 무해</a:t>
                      </a:r>
                      <a:r>
                        <a:rPr lang="en-US" altLang="ko-KR" sz="1000" kern="0" spc="0" baseline="0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, </a:t>
                      </a:r>
                      <a:r>
                        <a:rPr lang="ko-KR" altLang="en-US" sz="1000" kern="0" spc="0" baseline="0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종이컵 사용 억제</a:t>
                      </a:r>
                      <a:r>
                        <a:rPr lang="en-US" altLang="ko-KR" sz="1000" kern="0" spc="0" baseline="0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, </a:t>
                      </a:r>
                      <a:r>
                        <a:rPr lang="ko-KR" altLang="en-US" sz="1000" kern="0" spc="0" baseline="0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세제 </a:t>
                      </a:r>
                      <a:r>
                        <a:rPr lang="ko-KR" altLang="en-US" sz="1000" kern="0" spc="0" baseline="0" dirty="0" err="1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무사용</a:t>
                      </a:r>
                      <a:r>
                        <a:rPr lang="en-US" altLang="ko-KR" sz="1000" kern="0" spc="0" baseline="0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</a:t>
                      </a:r>
                    </a:p>
                    <a:p>
                      <a:pPr marL="0" marR="0" indent="0" algn="l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000" kern="0" spc="0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2. </a:t>
                      </a:r>
                      <a:r>
                        <a:rPr lang="ko-KR" altLang="en-US" sz="1000" kern="0" spc="0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당사 </a:t>
                      </a:r>
                      <a:r>
                        <a:rPr lang="en-US" altLang="ko-KR" sz="1000" kern="0" spc="0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FM</a:t>
                      </a:r>
                      <a:r>
                        <a:rPr lang="ko-KR" altLang="en-US" sz="1000" kern="0" spc="0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연계 서비스 제공 </a:t>
                      </a:r>
                      <a:endParaRPr lang="en-US" altLang="ko-KR" sz="1000" kern="0" spc="0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  <a:p>
                      <a:pPr marL="0" marR="0" indent="0" algn="l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000" kern="0" spc="0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: </a:t>
                      </a:r>
                      <a:r>
                        <a:rPr lang="ko-KR" altLang="en-US" sz="1000" kern="0" spc="0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청결관리</a:t>
                      </a:r>
                      <a:r>
                        <a:rPr lang="en-US" altLang="ko-KR" sz="1000" kern="0" spc="0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, </a:t>
                      </a:r>
                      <a:r>
                        <a:rPr lang="ko-KR" altLang="en-US" sz="1000" kern="0" spc="0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누수점검관리</a:t>
                      </a:r>
                      <a:endParaRPr lang="en-US" altLang="ko-KR" sz="1000" kern="0" spc="0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  <a:p>
                      <a:pPr marL="0" marR="0" indent="0" algn="l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000" kern="0" spc="0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3.</a:t>
                      </a:r>
                      <a:r>
                        <a:rPr lang="en-US" altLang="ko-KR" sz="1000" kern="0" spc="0" baseline="0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ESG</a:t>
                      </a:r>
                      <a:r>
                        <a:rPr lang="ko-KR" altLang="en-US" sz="1000" kern="0" spc="0" baseline="0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경영에 기여</a:t>
                      </a:r>
                      <a:endParaRPr lang="en-US" altLang="ko-KR" sz="1000" kern="0" spc="0" baseline="0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  <a:p>
                      <a:pPr marL="0" marR="0" indent="0" algn="l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000" kern="0" spc="0" baseline="0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:</a:t>
                      </a:r>
                      <a:r>
                        <a:rPr lang="ko-KR" altLang="en-US" sz="1000" kern="0" spc="0" baseline="0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탄소 감축 리포트 </a:t>
                      </a:r>
                      <a:endParaRPr lang="en-US" altLang="ko-KR" sz="1000" kern="0" spc="0" baseline="0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  <a:p>
                      <a:pPr marL="0" marR="0" indent="0" algn="l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 kern="0" spc="0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20620" marR="20620" marT="5701" marB="5701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3" gridSpan="2">
                  <a:txBody>
                    <a:bodyPr/>
                    <a:lstStyle/>
                    <a:p>
                      <a:pPr marL="0" marR="0" indent="0" algn="l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b="0" kern="0" spc="0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개인 컵 세척의 불편함을 해소하고</a:t>
                      </a:r>
                      <a:r>
                        <a:rPr lang="ko-KR" altLang="en-US" sz="1000" b="0" kern="0" spc="0" baseline="0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</a:t>
                      </a:r>
                      <a:r>
                        <a:rPr lang="ko-KR" altLang="en-US" sz="1000" b="0" kern="0" spc="0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위생관리서비스를 통해 임직원</a:t>
                      </a:r>
                      <a:r>
                        <a:rPr lang="ko-KR" altLang="en-US" sz="1000" b="0" kern="0" spc="0" baseline="0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편의 향상 및 쾌적한 환경 조성으로</a:t>
                      </a:r>
                      <a:r>
                        <a:rPr lang="ko-KR" altLang="en-US" sz="1000" b="0" kern="0" spc="0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</a:t>
                      </a:r>
                      <a:r>
                        <a:rPr lang="en-US" altLang="ko-KR" sz="1000" b="0" kern="0" spc="0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ESG</a:t>
                      </a:r>
                      <a:r>
                        <a:rPr lang="ko-KR" altLang="en-US" sz="1000" b="0" kern="0" spc="0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경영에 기여할 수 있는 서비스를 제</a:t>
                      </a:r>
                      <a:r>
                        <a:rPr lang="ko-KR" altLang="en-US" sz="1000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공한다</a:t>
                      </a:r>
                      <a:r>
                        <a:rPr lang="en-US" altLang="ko-KR" sz="1000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.</a:t>
                      </a:r>
                    </a:p>
                    <a:p>
                      <a:pPr marL="0" marR="0" indent="0" algn="l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altLang="ko-KR" sz="1000" b="0" kern="0" spc="0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  <a:p>
                      <a:pPr marL="0" marR="0" indent="0" algn="l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altLang="ko-KR" sz="1000" b="0" kern="0" spc="0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  <a:p>
                      <a:pPr marL="0" marR="0" indent="0" algn="l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altLang="ko-KR" sz="1000" b="0" kern="0" spc="0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  <a:p>
                      <a:pPr marL="0" marR="0" indent="0" algn="l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altLang="ko-KR" sz="1000" b="0" kern="0" spc="0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  <a:p>
                      <a:pPr marL="0" marR="0" indent="0" algn="l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altLang="ko-KR" sz="1000" b="0" kern="0" spc="0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  <a:p>
                      <a:pPr marL="0" marR="0" indent="0" algn="l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altLang="ko-KR" sz="1000" b="0" kern="0" spc="0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  <a:p>
                      <a:pPr marL="0" marR="0" indent="0" algn="l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altLang="ko-KR" sz="1000" b="0" kern="0" spc="0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  <a:p>
                      <a:pPr marL="0" marR="0" indent="0" algn="l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altLang="ko-KR" sz="1000" b="0" kern="0" spc="0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  <a:p>
                      <a:pPr marL="0" marR="0" indent="0" algn="l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altLang="ko-KR" sz="1000" b="0" kern="0" spc="0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  <a:p>
                      <a:pPr marL="0" marR="0" indent="0" algn="l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altLang="ko-KR" sz="1000" b="0" kern="0" spc="0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  <a:p>
                      <a:pPr marL="0" marR="0" indent="0" algn="l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altLang="ko-KR" sz="1000" b="0" kern="0" spc="0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  <a:p>
                      <a:pPr marL="0" marR="0" indent="0" algn="l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b="0" kern="0" spc="0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20620" marR="20620" marT="5701" marB="5701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3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당사 </a:t>
                      </a:r>
                      <a:r>
                        <a:rPr lang="en-US" altLang="ko-KR" sz="1000" kern="0" spc="0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FM</a:t>
                      </a:r>
                      <a:r>
                        <a:rPr lang="ko-KR" altLang="en-US" sz="1000" kern="0" spc="0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서비스 연계 제공</a:t>
                      </a:r>
                      <a:endParaRPr lang="en-US" altLang="ko-KR" sz="1000" kern="0" spc="0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  <a:p>
                      <a:pPr marL="0" marR="0" indent="0" algn="l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altLang="ko-KR" sz="1000" kern="0" spc="0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- </a:t>
                      </a:r>
                      <a:r>
                        <a:rPr lang="ko-KR" altLang="en-US" sz="1000" kern="0" spc="0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미화 패키지</a:t>
                      </a:r>
                      <a:r>
                        <a:rPr lang="en-US" altLang="ko-KR" sz="1000" kern="0" spc="0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(</a:t>
                      </a:r>
                      <a:r>
                        <a:rPr lang="ko-KR" altLang="en-US" sz="1000" kern="0" spc="0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미화</a:t>
                      </a:r>
                      <a:r>
                        <a:rPr lang="en-US" altLang="ko-KR" sz="1000" kern="0" spc="0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+</a:t>
                      </a:r>
                      <a:r>
                        <a:rPr lang="ko-KR" altLang="en-US" sz="1000" kern="0" spc="0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청소로봇</a:t>
                      </a:r>
                      <a:r>
                        <a:rPr lang="en-US" altLang="ko-KR" sz="1000" kern="0" spc="0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)</a:t>
                      </a:r>
                    </a:p>
                    <a:p>
                      <a:pPr marL="0" marR="0" indent="0" algn="l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altLang="ko-KR" sz="1000" kern="0" spc="0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- </a:t>
                      </a:r>
                      <a:r>
                        <a:rPr lang="ko-KR" altLang="en-US" sz="1000" kern="0" spc="0" dirty="0" err="1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탕비실</a:t>
                      </a:r>
                      <a:r>
                        <a:rPr lang="ko-KR" altLang="en-US" sz="1000" kern="0" spc="0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패키지</a:t>
                      </a:r>
                      <a:r>
                        <a:rPr lang="en-US" altLang="ko-KR" sz="1000" kern="0" spc="0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(</a:t>
                      </a:r>
                      <a:r>
                        <a:rPr lang="ko-KR" altLang="en-US" sz="1000" kern="0" spc="0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커피</a:t>
                      </a:r>
                      <a:r>
                        <a:rPr lang="en-US" altLang="ko-KR" sz="1000" kern="0" spc="0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+</a:t>
                      </a:r>
                      <a:r>
                        <a:rPr lang="ko-KR" altLang="en-US" sz="1000" kern="0" spc="0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복사기</a:t>
                      </a:r>
                      <a:r>
                        <a:rPr lang="en-US" altLang="ko-KR" sz="1000" kern="0" spc="0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+</a:t>
                      </a:r>
                      <a:r>
                        <a:rPr lang="ko-KR" altLang="en-US" sz="1000" kern="0" spc="0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정수기</a:t>
                      </a:r>
                      <a:r>
                        <a:rPr lang="en-US" altLang="ko-KR" sz="1000" kern="0" spc="0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)</a:t>
                      </a:r>
                    </a:p>
                    <a:p>
                      <a:pPr marL="0" marR="0" indent="0" algn="l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altLang="ko-KR" sz="1000" kern="0" spc="0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- </a:t>
                      </a:r>
                      <a:r>
                        <a:rPr lang="ko-KR" altLang="en-US" sz="1000" kern="0" spc="0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시설 패키지</a:t>
                      </a:r>
                      <a:r>
                        <a:rPr lang="en-US" altLang="ko-KR" sz="1000" kern="0" spc="0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(</a:t>
                      </a:r>
                      <a:r>
                        <a:rPr lang="ko-KR" altLang="en-US" sz="1000" kern="0" spc="0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시설</a:t>
                      </a:r>
                      <a:r>
                        <a:rPr lang="en-US" altLang="ko-KR" sz="1000" kern="0" spc="0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+</a:t>
                      </a:r>
                      <a:r>
                        <a:rPr lang="ko-KR" altLang="en-US" sz="1000" kern="0" spc="0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설치</a:t>
                      </a:r>
                      <a:r>
                        <a:rPr lang="en-US" altLang="ko-KR" sz="1000" kern="0" spc="0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~</a:t>
                      </a:r>
                      <a:r>
                        <a:rPr lang="ko-KR" altLang="en-US" sz="1000" kern="0" spc="0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유지보수</a:t>
                      </a:r>
                      <a:r>
                        <a:rPr lang="en-US" altLang="ko-KR" sz="1000" kern="0" spc="0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)</a:t>
                      </a:r>
                      <a:endParaRPr lang="ko-KR" altLang="en-US" sz="1000" kern="0" spc="0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20620" marR="20620" marT="5701" marB="5701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3"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altLang="ko-KR" sz="1000" kern="0" spc="0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  <a:p>
                      <a:pPr marL="0" marR="0" indent="0" algn="ctr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altLang="ko-KR" sz="1000" kern="0" spc="0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  <a:p>
                      <a:pPr marL="0" marR="0" indent="0" algn="ctr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altLang="ko-KR" sz="1000" kern="0" spc="0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  <a:p>
                      <a:pPr marL="0" marR="0" indent="0" algn="ctr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altLang="ko-KR" sz="1000" kern="0" spc="0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  <a:p>
                      <a:pPr marL="0" marR="0" indent="0" algn="ctr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altLang="ko-KR" sz="1000" kern="0" spc="0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  <a:p>
                      <a:pPr marL="0" marR="0" indent="0" algn="ctr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altLang="ko-KR" sz="1000" kern="0" spc="0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  <a:p>
                      <a:pPr marL="0" marR="0" indent="0" algn="ctr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altLang="ko-KR" sz="1000" kern="0" spc="0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  <a:p>
                      <a:pPr marL="0" marR="0" indent="0" algn="ctr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의</a:t>
                      </a:r>
                      <a:endParaRPr lang="en-US" altLang="ko-KR" sz="1000" kern="0" spc="0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  <a:p>
                      <a:pPr marL="0" marR="0" indent="0" algn="ctr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altLang="ko-KR" sz="1000" kern="0" spc="0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  <a:p>
                      <a:pPr marL="0" marR="0" indent="0" algn="ctr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건물 입주 근무자</a:t>
                      </a:r>
                      <a:endParaRPr lang="en-US" altLang="ko-KR" sz="1000" kern="0" spc="0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  <a:p>
                      <a:pPr marL="0" marR="0" indent="0" algn="ctr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 baseline="0" dirty="0" err="1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고객사</a:t>
                      </a:r>
                      <a:r>
                        <a:rPr lang="en-US" altLang="ko-KR" sz="1000" kern="0" spc="0" baseline="0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</a:t>
                      </a:r>
                      <a:r>
                        <a:rPr lang="ko-KR" altLang="en-US" sz="1000" kern="0" spc="0" baseline="0" dirty="0" err="1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총무팀</a:t>
                      </a:r>
                      <a:endParaRPr lang="en-US" altLang="ko-KR" sz="1000" kern="0" spc="0" baseline="0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  <a:p>
                      <a:pPr marL="0" marR="0" indent="0" algn="ctr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 baseline="0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건물주</a:t>
                      </a:r>
                      <a:endParaRPr lang="en-US" altLang="ko-KR" sz="1000" kern="0" spc="0" baseline="0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  <a:p>
                      <a:pPr marL="0" marR="0" indent="0" algn="ctr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altLang="ko-KR" sz="1000" kern="0" spc="0" baseline="0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  <a:p>
                      <a:pPr marL="0" marR="0" indent="0" algn="ctr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altLang="ko-KR" sz="1000" kern="0" spc="0" baseline="0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  <a:p>
                      <a:pPr marL="0" marR="0" indent="0" algn="ctr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altLang="ko-KR" sz="1000" kern="0" spc="0" baseline="0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  <a:p>
                      <a:pPr marL="0" marR="0" indent="0" algn="ctr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altLang="ko-KR" sz="1000" kern="0" spc="0" baseline="0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  <a:p>
                      <a:pPr marL="0" marR="0" indent="0" algn="ctr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altLang="ko-KR" sz="1000" kern="0" spc="0" baseline="0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  <a:p>
                      <a:pPr marL="0" marR="0" indent="0" algn="l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altLang="ko-KR" sz="1000" kern="0" spc="0" baseline="0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20620" marR="20620" marT="5701" marB="5701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40510875"/>
                  </a:ext>
                </a:extLst>
              </a:tr>
              <a:tr h="475819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00" b="1" kern="0" spc="0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8. </a:t>
                      </a:r>
                      <a:r>
                        <a:rPr lang="ko-KR" altLang="en-US" sz="1000" b="1" kern="0" spc="0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핵심지표</a:t>
                      </a:r>
                      <a:endParaRPr lang="en-US" sz="1000" kern="0" spc="0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20620" marR="20620" marT="5701" marB="5701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00" b="1" kern="0" spc="0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5. </a:t>
                      </a:r>
                      <a:r>
                        <a:rPr lang="ko-KR" altLang="en-US" sz="1000" b="1" kern="0" spc="0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채널</a:t>
                      </a:r>
                      <a:endParaRPr lang="en-US" sz="1000" kern="0" spc="0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20620" marR="20620" marT="5701" marB="5701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706148689"/>
                  </a:ext>
                </a:extLst>
              </a:tr>
              <a:tr h="1551593">
                <a:tc vMerge="1"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0" dirty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20620" marR="20620" marT="5701" marB="5701" anchor="ctr">
                    <a:lnL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적용 대수</a:t>
                      </a:r>
                      <a:endParaRPr lang="en-US" altLang="ko-KR" sz="1000" kern="0" spc="0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20620" marR="20620" marT="5701" marB="5701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 vMerge="1"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0" dirty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20620" marR="20620" marT="5701" marB="5701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000" kern="0" spc="0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1. </a:t>
                      </a:r>
                      <a:r>
                        <a:rPr lang="ko-KR" altLang="en-US" sz="1000" kern="0" spc="0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영업활동</a:t>
                      </a:r>
                      <a:endParaRPr lang="en-US" altLang="ko-KR" sz="1000" kern="0" spc="0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  <a:p>
                      <a:pPr marL="0" marR="0" indent="0" algn="l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000" kern="0" spc="0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: </a:t>
                      </a:r>
                      <a:r>
                        <a:rPr lang="ko-KR" altLang="en-US" sz="1000" kern="0" spc="0" dirty="0" err="1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영업본부에</a:t>
                      </a:r>
                      <a:r>
                        <a:rPr lang="ko-KR" altLang="en-US" sz="1000" kern="0" spc="0" baseline="0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</a:t>
                      </a:r>
                      <a:r>
                        <a:rPr lang="ko-KR" altLang="en-US" sz="1000" kern="0" spc="0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추가 서비스 제안 또는 신규 제안 시 차별화서비스로 제안</a:t>
                      </a:r>
                      <a:endParaRPr lang="en-US" altLang="ko-KR" sz="1000" kern="0" spc="0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  <a:p>
                      <a:pPr marL="0" marR="0" indent="0" algn="l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000" kern="0" spc="0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Ex. </a:t>
                      </a:r>
                      <a:r>
                        <a:rPr lang="ko-KR" altLang="en-US" sz="1000" kern="0" spc="0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지역 </a:t>
                      </a:r>
                      <a:r>
                        <a:rPr lang="ko-KR" altLang="en-US" sz="1000" kern="0" spc="0" dirty="0" err="1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본부별</a:t>
                      </a:r>
                      <a:r>
                        <a:rPr lang="ko-KR" altLang="en-US" sz="1000" kern="0" spc="0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제품 설명회</a:t>
                      </a:r>
                      <a:r>
                        <a:rPr lang="en-US" altLang="ko-KR" sz="1000" kern="0" spc="0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,</a:t>
                      </a:r>
                    </a:p>
                    <a:p>
                      <a:pPr marL="0" marR="0" indent="0" algn="l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000" kern="0" spc="0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공사 총괄 인테리어 시 적용 제안 </a:t>
                      </a:r>
                      <a:endParaRPr lang="en-US" altLang="ko-KR" sz="1000" kern="0" spc="0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  <a:p>
                      <a:pPr marL="0" marR="0" indent="0" algn="l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000" kern="0" spc="0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2. </a:t>
                      </a:r>
                      <a:r>
                        <a:rPr lang="ko-KR" altLang="en-US" sz="1000" kern="0" spc="0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플랫폼 內 기기 업로드 판매</a:t>
                      </a:r>
                    </a:p>
                  </a:txBody>
                  <a:tcPr marL="20620" marR="20620" marT="5701" marB="5701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20620" marR="20620" marT="5701" marB="5701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94708838"/>
                  </a:ext>
                </a:extLst>
              </a:tr>
              <a:tr h="415918">
                <a:tc gridSpan="3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00" b="1" kern="0" spc="0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7. </a:t>
                      </a:r>
                      <a:r>
                        <a:rPr lang="ko-KR" altLang="en-US" sz="1000" b="1" kern="0" spc="0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비용 구조</a:t>
                      </a:r>
                      <a:endParaRPr lang="en-US" sz="1000" kern="0" spc="0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20620" marR="20620" marT="5701" marB="5701" anchor="ctr">
                    <a:lnL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00" b="1" kern="0" spc="0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6. </a:t>
                      </a:r>
                      <a:r>
                        <a:rPr lang="ko-KR" altLang="en-US" sz="1000" b="1" kern="0" spc="0" dirty="0" err="1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수익원</a:t>
                      </a:r>
                      <a:endParaRPr lang="en-US" sz="1000" kern="0" spc="0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20620" marR="20620" marT="5701" marB="5701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25264491"/>
                  </a:ext>
                </a:extLst>
              </a:tr>
              <a:tr h="740750">
                <a:tc gridSpan="3">
                  <a:txBody>
                    <a:bodyPr/>
                    <a:lstStyle/>
                    <a:p>
                      <a:pPr marL="0" marR="0" indent="0" algn="l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기기 판매 및 유지보수 비용</a:t>
                      </a:r>
                      <a:endParaRPr lang="en-US" altLang="ko-KR" sz="1000" kern="0" spc="0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  <a:p>
                      <a:pPr marL="0" marR="0" indent="0" algn="l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 dirty="0" err="1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상품패키지</a:t>
                      </a:r>
                      <a:r>
                        <a:rPr lang="ko-KR" altLang="en-US" sz="1000" kern="0" spc="0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판매</a:t>
                      </a:r>
                      <a:endParaRPr lang="en-US" altLang="ko-KR" sz="1000" kern="0" spc="0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20620" marR="20620" marT="5701" marB="5701" anchor="ctr">
                    <a:lnL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marR="0" indent="0" algn="l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000" kern="0" spc="0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1. </a:t>
                      </a:r>
                      <a:r>
                        <a:rPr lang="ko-KR" altLang="en-US" sz="1000" kern="0" spc="0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판매</a:t>
                      </a:r>
                      <a:r>
                        <a:rPr lang="en-US" altLang="ko-KR" sz="1000" kern="0" spc="0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/</a:t>
                      </a:r>
                      <a:r>
                        <a:rPr lang="ko-KR" altLang="en-US" sz="1000" kern="0" spc="0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운영관리</a:t>
                      </a:r>
                      <a:r>
                        <a:rPr lang="en-US" altLang="ko-KR" sz="1000" kern="0" spc="0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/</a:t>
                      </a:r>
                      <a:r>
                        <a:rPr lang="ko-KR" altLang="en-US" sz="1000" kern="0" spc="0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구매대행</a:t>
                      </a:r>
                      <a:endParaRPr lang="en-US" altLang="ko-KR" sz="1000" kern="0" spc="0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  <a:p>
                      <a:pPr marL="0" marR="0" indent="0" algn="l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000" kern="0" spc="0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2. </a:t>
                      </a:r>
                      <a:r>
                        <a:rPr lang="ko-KR" altLang="en-US" sz="1000" kern="0" spc="0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당사 </a:t>
                      </a:r>
                      <a:r>
                        <a:rPr lang="en-US" altLang="ko-KR" sz="1000" kern="0" spc="0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FM </a:t>
                      </a:r>
                      <a:r>
                        <a:rPr lang="ko-KR" altLang="en-US" sz="1000" kern="0" spc="0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부가서비스 접목하여 추가 매출 확보</a:t>
                      </a:r>
                      <a:endParaRPr lang="en-US" altLang="ko-KR" sz="1000" kern="0" spc="0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  <a:p>
                      <a:pPr marL="0" marR="0" indent="0" algn="l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000" kern="0" spc="0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</a:t>
                      </a:r>
                      <a:r>
                        <a:rPr lang="en-US" altLang="ko-KR" sz="1000" kern="0" spc="0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: </a:t>
                      </a:r>
                      <a:r>
                        <a:rPr lang="ko-KR" altLang="en-US" sz="1000" kern="0" spc="0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세척기 청결 관리</a:t>
                      </a:r>
                      <a:r>
                        <a:rPr lang="en-US" altLang="ko-KR" sz="1000" kern="0" spc="0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, </a:t>
                      </a:r>
                      <a:r>
                        <a:rPr lang="ko-KR" altLang="en-US" sz="1000" kern="0" spc="0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설비 누수</a:t>
                      </a:r>
                      <a:r>
                        <a:rPr lang="en-US" altLang="ko-KR" sz="1000" kern="0" spc="0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/</a:t>
                      </a:r>
                      <a:r>
                        <a:rPr lang="ko-KR" altLang="en-US" sz="1000" kern="0" spc="0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점검</a:t>
                      </a:r>
                      <a:r>
                        <a:rPr lang="ko-KR" altLang="en-US" sz="1000" kern="0" spc="0" baseline="0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등</a:t>
                      </a:r>
                      <a:endParaRPr lang="ko-KR" altLang="en-US" sz="1000" kern="0" spc="0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20620" marR="20620" marT="5701" marB="5701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42209933"/>
                  </a:ext>
                </a:extLst>
              </a:tr>
            </a:tbl>
          </a:graphicData>
        </a:graphic>
      </p:graphicFrame>
      <p:sp>
        <p:nvSpPr>
          <p:cNvPr id="5" name="직사각형 4">
            <a:extLst>
              <a:ext uri="{FF2B5EF4-FFF2-40B4-BE49-F238E27FC236}">
                <a16:creationId xmlns:a16="http://schemas.microsoft.com/office/drawing/2014/main" id="{5F6D94E1-B7A4-4E89-9789-4053E802D00F}"/>
              </a:ext>
            </a:extLst>
          </p:cNvPr>
          <p:cNvSpPr/>
          <p:nvPr/>
        </p:nvSpPr>
        <p:spPr>
          <a:xfrm>
            <a:off x="4020750" y="3683360"/>
            <a:ext cx="1826128" cy="1689856"/>
          </a:xfrm>
          <a:prstGeom prst="rect">
            <a:avLst/>
          </a:prstGeom>
          <a:noFill/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spcBef>
                <a:spcPts val="600"/>
              </a:spcBef>
            </a:pPr>
            <a:r>
              <a:rPr lang="en-US" altLang="ko-KR" sz="10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Arial" pitchFamily="34" charset="0"/>
              </a:rPr>
              <a:t>[</a:t>
            </a:r>
            <a:r>
              <a:rPr lang="ko-KR" altLang="en-US" sz="10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Arial" pitchFamily="34" charset="0"/>
              </a:rPr>
              <a:t>유사제품 경쟁력</a:t>
            </a:r>
            <a:r>
              <a:rPr lang="en-US" altLang="ko-KR" sz="10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Arial" pitchFamily="34" charset="0"/>
              </a:rPr>
              <a:t>]</a:t>
            </a:r>
          </a:p>
          <a:p>
            <a:pPr>
              <a:spcBef>
                <a:spcPts val="600"/>
              </a:spcBef>
            </a:pPr>
            <a:r>
              <a:rPr lang="en-US" altLang="ko-KR" sz="10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Arial" pitchFamily="34" charset="0"/>
              </a:rPr>
              <a:t>UV</a:t>
            </a:r>
            <a:r>
              <a:rPr lang="ko-KR" altLang="en-US" sz="10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Arial" pitchFamily="34" charset="0"/>
              </a:rPr>
              <a:t>살균제품</a:t>
            </a:r>
            <a:br>
              <a:rPr lang="en-US" altLang="ko-KR" sz="10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Arial" pitchFamily="34" charset="0"/>
              </a:rPr>
            </a:br>
            <a:r>
              <a:rPr lang="en-US" altLang="ko-KR" sz="10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Arial" pitchFamily="34" charset="0"/>
              </a:rPr>
              <a:t> - </a:t>
            </a:r>
            <a:r>
              <a:rPr lang="ko-KR" altLang="en-US" sz="10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Arial" pitchFamily="34" charset="0"/>
              </a:rPr>
              <a:t>살균소독 </a:t>
            </a:r>
            <a:r>
              <a:rPr lang="en-US" altLang="ko-KR" sz="10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Arial" pitchFamily="34" charset="0"/>
              </a:rPr>
              <a:t>: </a:t>
            </a:r>
            <a:r>
              <a:rPr lang="ko-KR" altLang="en-US" sz="10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Arial" pitchFamily="34" charset="0"/>
              </a:rPr>
              <a:t>인증 없음</a:t>
            </a:r>
            <a:br>
              <a:rPr lang="en-US" altLang="ko-KR" sz="10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Arial" pitchFamily="34" charset="0"/>
              </a:rPr>
            </a:br>
            <a:r>
              <a:rPr lang="en-US" altLang="ko-KR" sz="10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Arial" pitchFamily="34" charset="0"/>
              </a:rPr>
              <a:t> - </a:t>
            </a:r>
            <a:r>
              <a:rPr lang="ko-KR" altLang="en-US" sz="10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Arial" pitchFamily="34" charset="0"/>
              </a:rPr>
              <a:t>살균 미흡 </a:t>
            </a:r>
            <a:r>
              <a:rPr lang="en-US" altLang="ko-KR" sz="10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Arial" pitchFamily="34" charset="0"/>
              </a:rPr>
              <a:t>: UV</a:t>
            </a:r>
            <a:r>
              <a:rPr lang="ko-KR" altLang="en-US" sz="10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Arial" pitchFamily="34" charset="0"/>
              </a:rPr>
              <a:t>빛의 음영</a:t>
            </a:r>
            <a:br>
              <a:rPr lang="en-US" altLang="ko-KR" sz="10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Arial" pitchFamily="34" charset="0"/>
              </a:rPr>
            </a:br>
            <a:r>
              <a:rPr lang="en-US" altLang="ko-KR" sz="10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Arial" pitchFamily="34" charset="0"/>
              </a:rPr>
              <a:t>                   </a:t>
            </a:r>
            <a:r>
              <a:rPr lang="ko-KR" altLang="en-US" sz="10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Arial" pitchFamily="34" charset="0"/>
              </a:rPr>
              <a:t>사각지대 발생</a:t>
            </a:r>
            <a:br>
              <a:rPr lang="en-US" altLang="ko-KR" sz="10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Arial" pitchFamily="34" charset="0"/>
              </a:rPr>
            </a:br>
            <a:r>
              <a:rPr lang="en-US" altLang="ko-KR" sz="10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Arial" pitchFamily="34" charset="0"/>
              </a:rPr>
              <a:t> - </a:t>
            </a:r>
            <a:r>
              <a:rPr lang="ko-KR" altLang="en-US" sz="10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Arial" pitchFamily="34" charset="0"/>
              </a:rPr>
              <a:t>시간 </a:t>
            </a:r>
            <a:r>
              <a:rPr lang="en-US" altLang="ko-KR" sz="10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Arial" pitchFamily="34" charset="0"/>
              </a:rPr>
              <a:t>: </a:t>
            </a:r>
            <a:r>
              <a:rPr lang="ko-KR" altLang="en-US" sz="10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Arial" pitchFamily="34" charset="0"/>
              </a:rPr>
              <a:t>세척 </a:t>
            </a:r>
            <a:r>
              <a:rPr lang="en-US" altLang="ko-KR" sz="10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Arial" pitchFamily="34" charset="0"/>
              </a:rPr>
              <a:t>10</a:t>
            </a:r>
            <a:r>
              <a:rPr lang="ko-KR" altLang="en-US" sz="10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Arial" pitchFamily="34" charset="0"/>
              </a:rPr>
              <a:t>초</a:t>
            </a:r>
            <a:r>
              <a:rPr lang="en-US" altLang="ko-KR" sz="10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Arial" pitchFamily="34" charset="0"/>
              </a:rPr>
              <a:t>, UV 3</a:t>
            </a:r>
            <a:r>
              <a:rPr lang="ko-KR" altLang="en-US" sz="10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Arial" pitchFamily="34" charset="0"/>
              </a:rPr>
              <a:t>분</a:t>
            </a:r>
            <a:br>
              <a:rPr lang="en-US" altLang="ko-KR" sz="10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Arial" pitchFamily="34" charset="0"/>
              </a:rPr>
            </a:br>
            <a:r>
              <a:rPr lang="en-US" altLang="ko-KR" sz="10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Arial" pitchFamily="34" charset="0"/>
              </a:rPr>
              <a:t>  - AS </a:t>
            </a:r>
            <a:r>
              <a:rPr lang="ko-KR" altLang="en-US" sz="10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Arial" pitchFamily="34" charset="0"/>
              </a:rPr>
              <a:t>불편</a:t>
            </a:r>
            <a:r>
              <a:rPr lang="en-US" altLang="ko-KR" sz="10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Arial" pitchFamily="34" charset="0"/>
              </a:rPr>
              <a:t> : </a:t>
            </a:r>
            <a:r>
              <a:rPr lang="ko-KR" altLang="en-US" sz="10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Arial" pitchFamily="34" charset="0"/>
              </a:rPr>
              <a:t>전국 </a:t>
            </a:r>
            <a:r>
              <a:rPr lang="en-US" altLang="ko-KR" sz="10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Arial" pitchFamily="34" charset="0"/>
              </a:rPr>
              <a:t>1</a:t>
            </a:r>
            <a:r>
              <a:rPr lang="ko-KR" altLang="en-US" sz="10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Arial" pitchFamily="34" charset="0"/>
              </a:rPr>
              <a:t>개로 고장 시 대응 미흡</a:t>
            </a:r>
            <a:r>
              <a:rPr lang="en-US" altLang="ko-KR" sz="10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Arial" pitchFamily="34" charset="0"/>
              </a:rPr>
              <a:t>, </a:t>
            </a:r>
            <a:r>
              <a:rPr lang="ko-KR" altLang="en-US" sz="10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Arial" pitchFamily="34" charset="0"/>
              </a:rPr>
              <a:t>제품 택배발송 등</a:t>
            </a:r>
            <a:endParaRPr lang="en-US" altLang="ko-KR" sz="1000" dirty="0">
              <a:solidFill>
                <a:schemeClr val="tx1"/>
              </a:solidFill>
              <a:latin typeface="나눔고딕" panose="020D0604000000000000" pitchFamily="50" charset="-127"/>
              <a:ea typeface="나눔고딕" panose="020D0604000000000000" pitchFamily="50" charset="-127"/>
              <a:cs typeface="Arial" pitchFamily="34" charset="0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8B672F73-AC7E-43D3-8D7A-5B0700270354}"/>
              </a:ext>
            </a:extLst>
          </p:cNvPr>
          <p:cNvSpPr/>
          <p:nvPr/>
        </p:nvSpPr>
        <p:spPr>
          <a:xfrm>
            <a:off x="7833320" y="1700808"/>
            <a:ext cx="1826128" cy="1584176"/>
          </a:xfrm>
          <a:prstGeom prst="rect">
            <a:avLst/>
          </a:prstGeom>
          <a:noFill/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spcBef>
                <a:spcPts val="600"/>
              </a:spcBef>
            </a:pPr>
            <a:r>
              <a:rPr lang="en-US" altLang="ko-KR" sz="10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Arial" pitchFamily="34" charset="0"/>
              </a:rPr>
              <a:t>1. </a:t>
            </a:r>
            <a:r>
              <a:rPr lang="ko-KR" altLang="en-US" sz="10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Arial" pitchFamily="34" charset="0"/>
              </a:rPr>
              <a:t>텀블러</a:t>
            </a:r>
            <a:r>
              <a:rPr lang="en-US" altLang="ko-KR" sz="10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Arial" pitchFamily="34" charset="0"/>
              </a:rPr>
              <a:t>,</a:t>
            </a:r>
            <a:r>
              <a:rPr lang="ko-KR" altLang="en-US" sz="1000" dirty="0" err="1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Arial" pitchFamily="34" charset="0"/>
              </a:rPr>
              <a:t>개인컵</a:t>
            </a:r>
            <a:r>
              <a:rPr lang="ko-KR" altLang="en-US" sz="10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Arial" pitchFamily="34" charset="0"/>
              </a:rPr>
              <a:t> 사용이 많은 기업</a:t>
            </a:r>
            <a:endParaRPr lang="en-US" altLang="ko-KR" sz="1000" dirty="0">
              <a:solidFill>
                <a:schemeClr val="tx1"/>
              </a:solidFill>
              <a:latin typeface="나눔고딕" panose="020D0604000000000000" pitchFamily="50" charset="-127"/>
              <a:ea typeface="나눔고딕" panose="020D0604000000000000" pitchFamily="50" charset="-127"/>
              <a:cs typeface="Arial" pitchFamily="34" charset="0"/>
            </a:endParaRPr>
          </a:p>
          <a:p>
            <a:pPr>
              <a:spcBef>
                <a:spcPts val="600"/>
              </a:spcBef>
            </a:pPr>
            <a:r>
              <a:rPr lang="en-US" altLang="ko-KR" sz="10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Arial" pitchFamily="34" charset="0"/>
              </a:rPr>
              <a:t>2. ESG</a:t>
            </a:r>
            <a:r>
              <a:rPr lang="ko-KR" altLang="en-US" sz="10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Arial" pitchFamily="34" charset="0"/>
              </a:rPr>
              <a:t>경영에 관심 많은 기업</a:t>
            </a:r>
            <a:endParaRPr lang="en-US" altLang="ko-KR" sz="1000" dirty="0">
              <a:solidFill>
                <a:schemeClr val="tx1"/>
              </a:solidFill>
              <a:latin typeface="나눔고딕" panose="020D0604000000000000" pitchFamily="50" charset="-127"/>
              <a:ea typeface="나눔고딕" panose="020D0604000000000000" pitchFamily="50" charset="-127"/>
              <a:cs typeface="Arial" pitchFamily="34" charset="0"/>
            </a:endParaRPr>
          </a:p>
          <a:p>
            <a:pPr>
              <a:spcBef>
                <a:spcPts val="600"/>
              </a:spcBef>
            </a:pPr>
            <a:r>
              <a:rPr lang="en-US" altLang="ko-KR" sz="10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Arial" pitchFamily="34" charset="0"/>
              </a:rPr>
              <a:t>3. </a:t>
            </a:r>
            <a:r>
              <a:rPr lang="ko-KR" altLang="en-US" sz="10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Arial" pitchFamily="34" charset="0"/>
              </a:rPr>
              <a:t>임직원 복지 향상에 관심이 많은 기업</a:t>
            </a:r>
            <a:endParaRPr lang="en-US" altLang="ko-KR" sz="1000" dirty="0">
              <a:solidFill>
                <a:schemeClr val="tx1"/>
              </a:solidFill>
              <a:latin typeface="나눔고딕" panose="020D0604000000000000" pitchFamily="50" charset="-127"/>
              <a:ea typeface="나눔고딕" panose="020D0604000000000000" pitchFamily="50" charset="-127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87161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CEB395D-ED40-4D8A-BF9A-2966733949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1306" y="79164"/>
            <a:ext cx="5749782" cy="490067"/>
          </a:xfrm>
        </p:spPr>
        <p:txBody>
          <a:bodyPr/>
          <a:lstStyle/>
          <a:p>
            <a:r>
              <a:rPr lang="en-US" altLang="ko-KR" dirty="0"/>
              <a:t>PR  (5</a:t>
            </a:r>
            <a:r>
              <a:rPr lang="ko-KR" altLang="en-US" dirty="0" err="1"/>
              <a:t>년후의</a:t>
            </a:r>
            <a:r>
              <a:rPr lang="ko-KR" altLang="en-US" dirty="0"/>
              <a:t> 모습</a:t>
            </a:r>
            <a:r>
              <a:rPr lang="en-US" altLang="ko-KR" dirty="0"/>
              <a:t>)</a:t>
            </a:r>
            <a:endParaRPr lang="ko-KR" altLang="en-US" dirty="0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70DA525E-C303-4D78-9AAF-0E857A3E30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81592" y="-1910443"/>
            <a:ext cx="7870916" cy="4959347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F2C77DA5-5788-40E9-A97A-702B25589B6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81592" y="3411415"/>
            <a:ext cx="7870916" cy="4562850"/>
          </a:xfrm>
          <a:prstGeom prst="rect">
            <a:avLst/>
          </a:prstGeom>
        </p:spPr>
      </p:pic>
      <p:graphicFrame>
        <p:nvGraphicFramePr>
          <p:cNvPr id="17" name="표 16">
            <a:extLst>
              <a:ext uri="{FF2B5EF4-FFF2-40B4-BE49-F238E27FC236}">
                <a16:creationId xmlns:a16="http://schemas.microsoft.com/office/drawing/2014/main" id="{C60BC142-3FA6-4DD4-820D-4B9B54A30C6F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561306" y="670445"/>
          <a:ext cx="9001000" cy="739300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02650">
                  <a:extLst>
                    <a:ext uri="{9D8B030D-6E8A-4147-A177-3AD203B41FA5}">
                      <a16:colId xmlns:a16="http://schemas.microsoft.com/office/drawing/2014/main" val="3857424020"/>
                    </a:ext>
                  </a:extLst>
                </a:gridCol>
                <a:gridCol w="7098350">
                  <a:extLst>
                    <a:ext uri="{9D8B030D-6E8A-4147-A177-3AD203B41FA5}">
                      <a16:colId xmlns:a16="http://schemas.microsoft.com/office/drawing/2014/main" val="3334094002"/>
                    </a:ext>
                  </a:extLst>
                </a:gridCol>
              </a:tblGrid>
              <a:tr h="42181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dirty="0">
                          <a:solidFill>
                            <a:schemeClr val="tx1"/>
                          </a:solidFill>
                        </a:rPr>
                        <a:t>구성요소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dirty="0">
                          <a:solidFill>
                            <a:schemeClr val="tx1"/>
                          </a:solidFill>
                        </a:rPr>
                        <a:t>내 용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62474914"/>
                  </a:ext>
                </a:extLst>
              </a:tr>
              <a:tr h="63833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dirty="0">
                          <a:solidFill>
                            <a:schemeClr val="tx1"/>
                          </a:solidFill>
                        </a:rPr>
                        <a:t>제 목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70000537"/>
                  </a:ext>
                </a:extLst>
              </a:tr>
              <a:tr h="63833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dirty="0">
                          <a:solidFill>
                            <a:schemeClr val="tx1"/>
                          </a:solidFill>
                        </a:rPr>
                        <a:t>부 제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중소형 및 대형 건물에 맞춘 건물관리 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IoT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패키지로 고객의 불필요한 비용 낭비 절감 및 품질 향상을 위한 상품</a:t>
                      </a:r>
                      <a:endParaRPr lang="en-US" altLang="ko-KR" sz="100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건물주가 자신에게 맞는 상품 서비스를 손쉽게 선택할 수 있는 상품임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1923568"/>
                  </a:ext>
                </a:extLst>
              </a:tr>
              <a:tr h="80893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dirty="0">
                          <a:solidFill>
                            <a:schemeClr val="tx1"/>
                          </a:solidFill>
                        </a:rPr>
                        <a:t>문제점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 latinLnBrk="1">
                        <a:buAutoNum type="arabicPeriod"/>
                      </a:pP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공급자 중심으로 구성된 패키지 상품으로 건물에 필요하지 않은 서비스까지 구입하므로 불필요한 비용 지불</a:t>
                      </a:r>
                      <a:endParaRPr lang="en-US" altLang="ko-KR" sz="1000" dirty="0">
                        <a:solidFill>
                          <a:schemeClr val="tx1"/>
                        </a:solidFill>
                      </a:endParaRPr>
                    </a:p>
                    <a:p>
                      <a:pPr marL="228600" indent="-228600" latinLnBrk="1">
                        <a:buAutoNum type="arabicPeriod"/>
                      </a:pP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사람에 따른 서비스 품질에 차이가 있어 안정적인 건물관리 어려움 발생</a:t>
                      </a:r>
                      <a:endParaRPr lang="en-US" altLang="ko-KR" sz="1000" dirty="0">
                        <a:solidFill>
                          <a:schemeClr val="tx1"/>
                        </a:solidFill>
                      </a:endParaRPr>
                    </a:p>
                    <a:p>
                      <a:pPr marL="228600" indent="-228600" latinLnBrk="1">
                        <a:buAutoNum type="arabicPeriod"/>
                      </a:pP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전문 건물 관리 인력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 ,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전문성이 없어서 필요한 서비스가 무엇인지 알지 못한다</a:t>
                      </a:r>
                      <a:endParaRPr lang="en-US" altLang="ko-KR" sz="1000" dirty="0">
                        <a:solidFill>
                          <a:schemeClr val="tx1"/>
                        </a:solidFill>
                      </a:endParaRPr>
                    </a:p>
                    <a:p>
                      <a:pPr marL="228600" indent="-228600" latinLnBrk="1">
                        <a:buAutoNum type="arabicPeriod"/>
                      </a:pP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상품별로 구매 방법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000" dirty="0" err="1">
                          <a:solidFill>
                            <a:schemeClr val="tx1"/>
                          </a:solidFill>
                        </a:rPr>
                        <a:t>계약기간등이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 달라 구매 </a:t>
                      </a:r>
                      <a:r>
                        <a:rPr lang="ko-KR" altLang="en-US" sz="1000" dirty="0" err="1">
                          <a:solidFill>
                            <a:schemeClr val="tx1"/>
                          </a:solidFill>
                        </a:rPr>
                        <a:t>하는대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 어려움이 있다</a:t>
                      </a:r>
                      <a:endParaRPr lang="en-US" altLang="ko-KR" sz="1000" dirty="0">
                        <a:solidFill>
                          <a:schemeClr val="tx1"/>
                        </a:solidFill>
                      </a:endParaRPr>
                    </a:p>
                    <a:p>
                      <a:pPr marL="228600" indent="-228600" latinLnBrk="1">
                        <a:buAutoNum type="arabicPeriod"/>
                      </a:pPr>
                      <a:endParaRPr lang="en-US" altLang="ko-KR" sz="1000" dirty="0">
                        <a:solidFill>
                          <a:schemeClr val="tx1"/>
                        </a:solidFill>
                      </a:endParaRPr>
                    </a:p>
                    <a:p>
                      <a:pPr marL="228600" indent="-228600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dirty="0">
                          <a:solidFill>
                            <a:srgbClr val="FF0000"/>
                          </a:solidFill>
                        </a:rPr>
                        <a:t>서비스 비교 </a:t>
                      </a:r>
                      <a:r>
                        <a:rPr lang="en-US" altLang="ko-KR" sz="1000" dirty="0">
                          <a:solidFill>
                            <a:srgbClr val="FF0000"/>
                          </a:solidFill>
                        </a:rPr>
                        <a:t>– </a:t>
                      </a:r>
                      <a:r>
                        <a:rPr lang="ko-KR" altLang="en-US" sz="1000" dirty="0">
                          <a:solidFill>
                            <a:srgbClr val="FF0000"/>
                          </a:solidFill>
                        </a:rPr>
                        <a:t>업체 검색 </a:t>
                      </a:r>
                      <a:r>
                        <a:rPr lang="en-US" altLang="ko-KR" sz="1000" dirty="0">
                          <a:solidFill>
                            <a:srgbClr val="FF0000"/>
                          </a:solidFill>
                        </a:rPr>
                        <a:t>– </a:t>
                      </a:r>
                      <a:r>
                        <a:rPr lang="ko-KR" altLang="en-US" sz="1000" dirty="0">
                          <a:solidFill>
                            <a:srgbClr val="FF0000"/>
                          </a:solidFill>
                        </a:rPr>
                        <a:t>개별 상담 </a:t>
                      </a:r>
                      <a:r>
                        <a:rPr lang="en-US" altLang="ko-KR" sz="1000" dirty="0">
                          <a:solidFill>
                            <a:srgbClr val="FF0000"/>
                          </a:solidFill>
                        </a:rPr>
                        <a:t>– </a:t>
                      </a:r>
                      <a:r>
                        <a:rPr lang="ko-KR" altLang="en-US" sz="1000" dirty="0">
                          <a:solidFill>
                            <a:srgbClr val="FF0000"/>
                          </a:solidFill>
                        </a:rPr>
                        <a:t>개별 방문 </a:t>
                      </a:r>
                      <a:r>
                        <a:rPr lang="en-US" altLang="ko-KR" sz="1000" dirty="0">
                          <a:solidFill>
                            <a:srgbClr val="FF0000"/>
                          </a:solidFill>
                        </a:rPr>
                        <a:t>– </a:t>
                      </a:r>
                      <a:r>
                        <a:rPr lang="ko-KR" altLang="en-US" sz="1000" dirty="0">
                          <a:solidFill>
                            <a:srgbClr val="FF0000"/>
                          </a:solidFill>
                        </a:rPr>
                        <a:t>개별 견적 </a:t>
                      </a:r>
                      <a:r>
                        <a:rPr lang="en-US" altLang="ko-KR" sz="1000" dirty="0">
                          <a:solidFill>
                            <a:srgbClr val="FF0000"/>
                          </a:solidFill>
                        </a:rPr>
                        <a:t>– </a:t>
                      </a:r>
                      <a:r>
                        <a:rPr lang="ko-KR" altLang="en-US" sz="1000" dirty="0">
                          <a:solidFill>
                            <a:srgbClr val="FF0000"/>
                          </a:solidFill>
                        </a:rPr>
                        <a:t>업체별 견적 비교 </a:t>
                      </a:r>
                      <a:r>
                        <a:rPr lang="en-US" altLang="ko-KR" sz="1000" dirty="0">
                          <a:solidFill>
                            <a:srgbClr val="FF0000"/>
                          </a:solidFill>
                        </a:rPr>
                        <a:t>– </a:t>
                      </a:r>
                      <a:r>
                        <a:rPr lang="ko-KR" altLang="en-US" sz="1000" dirty="0">
                          <a:solidFill>
                            <a:srgbClr val="FF0000"/>
                          </a:solidFill>
                        </a:rPr>
                        <a:t>가격 협상 </a:t>
                      </a:r>
                      <a:r>
                        <a:rPr lang="en-US" altLang="ko-KR" sz="1000" dirty="0">
                          <a:solidFill>
                            <a:srgbClr val="FF0000"/>
                          </a:solidFill>
                        </a:rPr>
                        <a:t>– </a:t>
                      </a:r>
                      <a:r>
                        <a:rPr lang="ko-KR" altLang="en-US" sz="1000" dirty="0">
                          <a:solidFill>
                            <a:srgbClr val="FF0000"/>
                          </a:solidFill>
                        </a:rPr>
                        <a:t>시공 의 </a:t>
                      </a:r>
                      <a:r>
                        <a:rPr lang="en-US" altLang="ko-KR" sz="1000" dirty="0">
                          <a:solidFill>
                            <a:srgbClr val="FF0000"/>
                          </a:solidFill>
                        </a:rPr>
                        <a:t>‘</a:t>
                      </a:r>
                      <a:r>
                        <a:rPr lang="ko-KR" altLang="en-US" sz="1000" dirty="0">
                          <a:solidFill>
                            <a:srgbClr val="FF0000"/>
                          </a:solidFill>
                        </a:rPr>
                        <a:t>복잡한 서비스 </a:t>
                      </a:r>
                      <a:r>
                        <a:rPr lang="ko-KR" altLang="en-US" sz="1000" dirty="0" err="1">
                          <a:solidFill>
                            <a:srgbClr val="FF0000"/>
                          </a:solidFill>
                        </a:rPr>
                        <a:t>딜리버리</a:t>
                      </a:r>
                      <a:r>
                        <a:rPr lang="ko-KR" altLang="en-US" sz="1000" dirty="0">
                          <a:solidFill>
                            <a:srgbClr val="FF0000"/>
                          </a:solidFill>
                        </a:rPr>
                        <a:t> 프로세스</a:t>
                      </a:r>
                      <a:r>
                        <a:rPr lang="en-US" altLang="ko-KR" sz="1000" dirty="0">
                          <a:solidFill>
                            <a:srgbClr val="FF0000"/>
                          </a:solidFill>
                        </a:rPr>
                        <a:t>’</a:t>
                      </a:r>
                    </a:p>
                    <a:p>
                      <a:pPr marL="228600" indent="-228600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dirty="0">
                          <a:solidFill>
                            <a:srgbClr val="FF0000"/>
                          </a:solidFill>
                        </a:rPr>
                        <a:t>지속적인 인건비 상승에 따른 </a:t>
                      </a:r>
                      <a:r>
                        <a:rPr lang="en-US" altLang="ko-KR" sz="1000" dirty="0">
                          <a:solidFill>
                            <a:srgbClr val="FF0000"/>
                          </a:solidFill>
                        </a:rPr>
                        <a:t>‘</a:t>
                      </a:r>
                      <a:r>
                        <a:rPr lang="ko-KR" altLang="en-US" sz="1000" dirty="0">
                          <a:solidFill>
                            <a:srgbClr val="FF0000"/>
                          </a:solidFill>
                        </a:rPr>
                        <a:t>건물 유지 관리 비용의 지속 증가</a:t>
                      </a:r>
                      <a:r>
                        <a:rPr lang="en-US" altLang="ko-KR" sz="1000" dirty="0">
                          <a:solidFill>
                            <a:srgbClr val="FF0000"/>
                          </a:solidFill>
                        </a:rPr>
                        <a:t>’</a:t>
                      </a:r>
                    </a:p>
                    <a:p>
                      <a:pPr marL="228600" indent="-228600" latinLnBrk="1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000" dirty="0">
                          <a:solidFill>
                            <a:srgbClr val="FF0000"/>
                          </a:solidFill>
                        </a:rPr>
                        <a:t>FM</a:t>
                      </a:r>
                      <a:r>
                        <a:rPr lang="ko-KR" altLang="en-US" sz="1000" dirty="0">
                          <a:solidFill>
                            <a:srgbClr val="FF0000"/>
                          </a:solidFill>
                        </a:rPr>
                        <a:t>업체</a:t>
                      </a:r>
                      <a:r>
                        <a:rPr lang="en-US" altLang="ko-KR" sz="1000" dirty="0">
                          <a:solidFill>
                            <a:srgbClr val="FF0000"/>
                          </a:solidFill>
                        </a:rPr>
                        <a:t>, IoT </a:t>
                      </a:r>
                      <a:r>
                        <a:rPr lang="ko-KR" altLang="en-US" sz="1000" dirty="0">
                          <a:solidFill>
                            <a:srgbClr val="FF0000"/>
                          </a:solidFill>
                        </a:rPr>
                        <a:t>개발업체</a:t>
                      </a:r>
                      <a:r>
                        <a:rPr lang="en-US" altLang="ko-KR" sz="1000" dirty="0">
                          <a:solidFill>
                            <a:srgbClr val="FF0000"/>
                          </a:solidFill>
                        </a:rPr>
                        <a:t>, </a:t>
                      </a:r>
                      <a:r>
                        <a:rPr lang="ko-KR" altLang="en-US" sz="1000" dirty="0">
                          <a:solidFill>
                            <a:srgbClr val="FF0000"/>
                          </a:solidFill>
                        </a:rPr>
                        <a:t>통신업체</a:t>
                      </a:r>
                      <a:r>
                        <a:rPr lang="en-US" altLang="ko-KR" sz="1000" dirty="0">
                          <a:solidFill>
                            <a:srgbClr val="FF0000"/>
                          </a:solidFill>
                        </a:rPr>
                        <a:t>, </a:t>
                      </a:r>
                      <a:r>
                        <a:rPr lang="ko-KR" altLang="en-US" sz="1000" dirty="0">
                          <a:solidFill>
                            <a:srgbClr val="FF0000"/>
                          </a:solidFill>
                        </a:rPr>
                        <a:t>출동보안업체</a:t>
                      </a:r>
                      <a:r>
                        <a:rPr lang="en-US" altLang="ko-KR" sz="1000" dirty="0">
                          <a:solidFill>
                            <a:srgbClr val="FF0000"/>
                          </a:solidFill>
                        </a:rPr>
                        <a:t>, </a:t>
                      </a:r>
                      <a:r>
                        <a:rPr lang="ko-KR" altLang="en-US" sz="1000" dirty="0">
                          <a:solidFill>
                            <a:srgbClr val="FF0000"/>
                          </a:solidFill>
                        </a:rPr>
                        <a:t>로봇제조업체 등 서비스 경계가 불분명한 </a:t>
                      </a:r>
                      <a:r>
                        <a:rPr lang="en-US" altLang="ko-KR" sz="1000" dirty="0">
                          <a:solidFill>
                            <a:srgbClr val="FF0000"/>
                          </a:solidFill>
                        </a:rPr>
                        <a:t>‘</a:t>
                      </a:r>
                      <a:r>
                        <a:rPr lang="ko-KR" altLang="en-US" sz="1000" dirty="0">
                          <a:solidFill>
                            <a:srgbClr val="FF0000"/>
                          </a:solidFill>
                        </a:rPr>
                        <a:t>제품</a:t>
                      </a:r>
                      <a:r>
                        <a:rPr lang="en-US" altLang="ko-KR" sz="1000" dirty="0">
                          <a:solidFill>
                            <a:srgbClr val="FF0000"/>
                          </a:solidFill>
                        </a:rPr>
                        <a:t>/</a:t>
                      </a:r>
                      <a:r>
                        <a:rPr lang="ko-KR" altLang="en-US" sz="1000" dirty="0">
                          <a:solidFill>
                            <a:srgbClr val="FF0000"/>
                          </a:solidFill>
                        </a:rPr>
                        <a:t>서비스선택의 비교 어려움</a:t>
                      </a:r>
                      <a:r>
                        <a:rPr lang="en-US" altLang="ko-KR" sz="1000" dirty="0">
                          <a:solidFill>
                            <a:srgbClr val="FF0000"/>
                          </a:solidFill>
                        </a:rPr>
                        <a:t>’</a:t>
                      </a:r>
                    </a:p>
                    <a:p>
                      <a:pPr marL="228600" indent="-228600" latinLnBrk="1">
                        <a:buAutoNum type="arabicPeriod"/>
                      </a:pPr>
                      <a:endParaRPr lang="en-US" altLang="ko-KR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96790605"/>
                  </a:ext>
                </a:extLst>
              </a:tr>
              <a:tr h="63833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dirty="0">
                          <a:solidFill>
                            <a:schemeClr val="tx1"/>
                          </a:solidFill>
                        </a:rPr>
                        <a:t>솔루션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dirty="0" err="1">
                          <a:solidFill>
                            <a:schemeClr val="tx1"/>
                          </a:solidFill>
                        </a:rPr>
                        <a:t>에스앤아이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ko-KR" altLang="en-US" sz="1000" dirty="0" err="1">
                          <a:solidFill>
                            <a:schemeClr val="tx1"/>
                          </a:solidFill>
                        </a:rPr>
                        <a:t>코퍼레이션은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 다양하게 </a:t>
                      </a:r>
                      <a:r>
                        <a:rPr lang="ko-KR" altLang="en-US" sz="1000" dirty="0" err="1">
                          <a:solidFill>
                            <a:schemeClr val="tx1"/>
                          </a:solidFill>
                        </a:rPr>
                        <a:t>퍼져있는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 상품들을 고객이 쉽게 </a:t>
                      </a:r>
                      <a:r>
                        <a:rPr lang="ko-KR" altLang="en-US" sz="1000" dirty="0" err="1">
                          <a:solidFill>
                            <a:schemeClr val="tx1"/>
                          </a:solidFill>
                        </a:rPr>
                        <a:t>찾을수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 있게 구성하고 내부에 전문인력을 활용하여</a:t>
                      </a:r>
                      <a:endParaRPr lang="en-US" altLang="ko-KR" sz="100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건물 맞춤형 상품을 </a:t>
                      </a:r>
                      <a:r>
                        <a:rPr lang="ko-KR" altLang="en-US" sz="1000" dirty="0" err="1">
                          <a:solidFill>
                            <a:schemeClr val="tx1"/>
                          </a:solidFill>
                        </a:rPr>
                        <a:t>선택할수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 있게 도와주고 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AI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기반으로 상품을 구성한 토탈 패키지</a:t>
                      </a:r>
                      <a:endParaRPr lang="en-US" altLang="ko-KR" sz="100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endParaRPr lang="en-US" altLang="ko-KR" sz="1000" dirty="0">
                        <a:solidFill>
                          <a:schemeClr val="tx1"/>
                        </a:solidFill>
                      </a:endParaRPr>
                    </a:p>
                    <a:p>
                      <a:pPr marL="171450" indent="-171450" latinLnBrk="1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000" dirty="0">
                          <a:solidFill>
                            <a:srgbClr val="FF0000"/>
                          </a:solidFill>
                        </a:rPr>
                        <a:t>FM</a:t>
                      </a:r>
                      <a:r>
                        <a:rPr lang="ko-KR" altLang="en-US" sz="1000" dirty="0">
                          <a:solidFill>
                            <a:srgbClr val="FF0000"/>
                          </a:solidFill>
                        </a:rPr>
                        <a:t> 전문가에 의한 철저한 검수를 거친 </a:t>
                      </a:r>
                      <a:r>
                        <a:rPr lang="en-US" altLang="ko-KR" sz="1000" dirty="0">
                          <a:solidFill>
                            <a:srgbClr val="FF0000"/>
                          </a:solidFill>
                        </a:rPr>
                        <a:t>‘</a:t>
                      </a:r>
                      <a:r>
                        <a:rPr lang="ko-KR" altLang="en-US" sz="1000" dirty="0">
                          <a:solidFill>
                            <a:srgbClr val="FF0000"/>
                          </a:solidFill>
                        </a:rPr>
                        <a:t>안전 솔루션</a:t>
                      </a:r>
                      <a:r>
                        <a:rPr lang="en-US" altLang="ko-KR" sz="1000" dirty="0">
                          <a:solidFill>
                            <a:srgbClr val="FF0000"/>
                          </a:solidFill>
                        </a:rPr>
                        <a:t>’</a:t>
                      </a:r>
                    </a:p>
                    <a:p>
                      <a:pPr marL="171450" indent="-171450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dirty="0">
                          <a:solidFill>
                            <a:srgbClr val="FF0000"/>
                          </a:solidFill>
                        </a:rPr>
                        <a:t>단순 제품구매나</a:t>
                      </a:r>
                      <a:r>
                        <a:rPr lang="en-US" altLang="ko-KR" sz="1000" dirty="0">
                          <a:solidFill>
                            <a:srgbClr val="FF0000"/>
                          </a:solidFill>
                        </a:rPr>
                        <a:t> 1</a:t>
                      </a:r>
                      <a:r>
                        <a:rPr lang="ko-KR" altLang="en-US" sz="1000" dirty="0">
                          <a:solidFill>
                            <a:srgbClr val="FF0000"/>
                          </a:solidFill>
                        </a:rPr>
                        <a:t>회성 설치가 아닌 계약보증기간 동안 안심할 수 있는 </a:t>
                      </a:r>
                      <a:r>
                        <a:rPr lang="en-US" altLang="ko-KR" sz="1000" dirty="0">
                          <a:solidFill>
                            <a:srgbClr val="FF0000"/>
                          </a:solidFill>
                        </a:rPr>
                        <a:t>‘</a:t>
                      </a:r>
                      <a:r>
                        <a:rPr lang="ko-KR" altLang="en-US" sz="1000" dirty="0">
                          <a:solidFill>
                            <a:srgbClr val="FF0000"/>
                          </a:solidFill>
                        </a:rPr>
                        <a:t>안심 솔루션</a:t>
                      </a:r>
                      <a:r>
                        <a:rPr lang="en-US" altLang="ko-KR" sz="1000" dirty="0">
                          <a:solidFill>
                            <a:srgbClr val="FF0000"/>
                          </a:solidFill>
                        </a:rPr>
                        <a:t>’</a:t>
                      </a:r>
                    </a:p>
                    <a:p>
                      <a:pPr marL="171450" indent="-171450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dirty="0">
                          <a:solidFill>
                            <a:srgbClr val="FF0000"/>
                          </a:solidFill>
                        </a:rPr>
                        <a:t>전국 서비스센터를 통한 당일주문 당일설치를 보장하는 </a:t>
                      </a:r>
                      <a:r>
                        <a:rPr lang="en-US" altLang="ko-KR" sz="1000" dirty="0">
                          <a:solidFill>
                            <a:srgbClr val="FF0000"/>
                          </a:solidFill>
                        </a:rPr>
                        <a:t>‘</a:t>
                      </a:r>
                      <a:r>
                        <a:rPr lang="ko-KR" altLang="en-US" sz="1000" dirty="0">
                          <a:solidFill>
                            <a:srgbClr val="FF0000"/>
                          </a:solidFill>
                        </a:rPr>
                        <a:t>신속 솔루션</a:t>
                      </a:r>
                      <a:r>
                        <a:rPr lang="en-US" altLang="ko-KR" sz="1000" dirty="0">
                          <a:solidFill>
                            <a:srgbClr val="FF0000"/>
                          </a:solidFill>
                        </a:rPr>
                        <a:t>’</a:t>
                      </a:r>
                    </a:p>
                    <a:p>
                      <a:pPr latinLnBrk="1"/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39200932"/>
                  </a:ext>
                </a:extLst>
              </a:tr>
              <a:tr h="63833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dirty="0">
                          <a:solidFill>
                            <a:schemeClr val="tx1"/>
                          </a:solidFill>
                        </a:rPr>
                        <a:t>내부 관계자의 말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해당상품을 기획한 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PD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팀은 대형빌딩위주 사업을 추진하다가 중소형 건물관리 진출을 위해 고객 맞춤형 상품 발굴 및 개발을 통한</a:t>
                      </a:r>
                      <a:endParaRPr lang="en-US" altLang="ko-KR" sz="100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인력중심의 사업에서 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IoT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접목한 서비스 개발을 통해 비용은 절감하고 품질은 향상 시키는 서비스를 출시 하게 되었다</a:t>
                      </a:r>
                      <a:endParaRPr lang="en-US" altLang="ko-KR" sz="100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또는 시장을 석권하게 되었다</a:t>
                      </a:r>
                      <a:endParaRPr lang="en-US" altLang="ko-KR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08199023"/>
                  </a:ext>
                </a:extLst>
              </a:tr>
              <a:tr h="63833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dirty="0">
                          <a:solidFill>
                            <a:schemeClr val="tx1"/>
                          </a:solidFill>
                        </a:rPr>
                        <a:t>이용방법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dirty="0" err="1">
                          <a:solidFill>
                            <a:schemeClr val="tx1"/>
                          </a:solidFill>
                        </a:rPr>
                        <a:t>에스앤아이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 종합 플랫폼을 이용하여 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AI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기반 추천과 전문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MD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를 통해 언제든지 서비스를 이용할 수 있고  전국에 있는 </a:t>
                      </a:r>
                      <a:r>
                        <a:rPr lang="ko-KR" altLang="en-US" sz="1000" dirty="0" err="1">
                          <a:solidFill>
                            <a:schemeClr val="tx1"/>
                          </a:solidFill>
                        </a:rPr>
                        <a:t>에스앤아이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 체험관을 통해 서비스를 체험하고 구매할 수 있다</a:t>
                      </a:r>
                      <a:endParaRPr lang="en-US" altLang="ko-KR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31143950"/>
                  </a:ext>
                </a:extLst>
              </a:tr>
              <a:tr h="95338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dirty="0">
                          <a:solidFill>
                            <a:schemeClr val="tx1"/>
                          </a:solidFill>
                        </a:rPr>
                        <a:t>고객의 말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“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최근 중소형 빌딩을 구매한 홍길동씨는 건물관리 상품이 너무 다양하고 구성이 복잡해서 어떤 상품이 </a:t>
                      </a:r>
                      <a:r>
                        <a:rPr lang="ko-KR" altLang="en-US" sz="1000" dirty="0" err="1">
                          <a:solidFill>
                            <a:schemeClr val="tx1"/>
                          </a:solidFill>
                        </a:rPr>
                        <a:t>좋은지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ko-KR" altLang="en-US" sz="1000" dirty="0" err="1">
                          <a:solidFill>
                            <a:schemeClr val="tx1"/>
                          </a:solidFill>
                        </a:rPr>
                        <a:t>알수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ko-KR" altLang="en-US" sz="1000" dirty="0" err="1">
                          <a:solidFill>
                            <a:schemeClr val="tx1"/>
                          </a:solidFill>
                        </a:rPr>
                        <a:t>없었는대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ko-KR" altLang="en-US" sz="1000" dirty="0" err="1">
                          <a:solidFill>
                            <a:schemeClr val="tx1"/>
                          </a:solidFill>
                        </a:rPr>
                        <a:t>에스애아이</a:t>
                      </a:r>
                      <a:endParaRPr lang="en-US" altLang="ko-KR" sz="100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상품은 쉽게 </a:t>
                      </a:r>
                      <a:r>
                        <a:rPr lang="ko-KR" altLang="en-US" sz="1000" dirty="0" err="1">
                          <a:solidFill>
                            <a:schemeClr val="tx1"/>
                          </a:solidFill>
                        </a:rPr>
                        <a:t>이해할수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 있어 나에게 맞는 상품을 찾기 편했고 </a:t>
                      </a:r>
                      <a:r>
                        <a:rPr lang="ko-KR" altLang="en-US" sz="1000" dirty="0" err="1">
                          <a:solidFill>
                            <a:schemeClr val="tx1"/>
                          </a:solidFill>
                        </a:rPr>
                        <a:t>에스앤아이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 전문가 도움으로 건물에 맞는 상품을 선택할 수 </a:t>
                      </a:r>
                      <a:r>
                        <a:rPr lang="ko-KR" altLang="en-US" sz="1000" dirty="0" err="1">
                          <a:solidFill>
                            <a:schemeClr val="tx1"/>
                          </a:solidFill>
                        </a:rPr>
                        <a:t>있었따</a:t>
                      </a:r>
                      <a:endParaRPr lang="en-US" altLang="ko-KR" sz="100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그래서 비용을 합리적으로 사용했다는 생각이 들었다 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“</a:t>
                      </a:r>
                    </a:p>
                    <a:p>
                      <a:pPr latinLnBrk="1"/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 합리적인 상품을 </a:t>
                      </a:r>
                      <a:r>
                        <a:rPr lang="ko-KR" altLang="en-US" sz="1000" dirty="0" err="1">
                          <a:solidFill>
                            <a:schemeClr val="tx1"/>
                          </a:solidFill>
                        </a:rPr>
                        <a:t>구매할수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 있어서 너무 좋았다 건물관리 상품이 너무 많고 건물에 맞는 적합한 상품을 </a:t>
                      </a:r>
                      <a:r>
                        <a:rPr lang="ko-KR" altLang="en-US" sz="1000" dirty="0" err="1">
                          <a:solidFill>
                            <a:schemeClr val="tx1"/>
                          </a:solidFill>
                        </a:rPr>
                        <a:t>에스앤아이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 전문가가 추천해줘서</a:t>
                      </a:r>
                      <a:endParaRPr lang="en-US" altLang="ko-KR" sz="100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비용 절감 및 최상의 상품을 구매하게 되었음</a:t>
                      </a:r>
                      <a:endParaRPr lang="en-US" altLang="ko-KR" sz="100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987103"/>
                  </a:ext>
                </a:extLst>
              </a:tr>
              <a:tr h="63833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dirty="0">
                          <a:solidFill>
                            <a:schemeClr val="tx1"/>
                          </a:solidFill>
                        </a:rPr>
                        <a:t>마무리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향후 개인 주택 및 아파트 시장을 대상으로 하는 서비스를 준비중에 있다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16633785"/>
                  </a:ext>
                </a:extLst>
              </a:tr>
            </a:tbl>
          </a:graphicData>
        </a:graphic>
      </p:graphicFrame>
      <p:sp>
        <p:nvSpPr>
          <p:cNvPr id="19" name="텍스트 개체 틀 18">
            <a:extLst>
              <a:ext uri="{FF2B5EF4-FFF2-40B4-BE49-F238E27FC236}">
                <a16:creationId xmlns:a16="http://schemas.microsoft.com/office/drawing/2014/main" id="{FD83A5C3-106A-405E-9620-BA690F2515D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DBBDAF5-515F-4092-9D7D-17832D6BA923}"/>
              </a:ext>
            </a:extLst>
          </p:cNvPr>
          <p:cNvSpPr txBox="1"/>
          <p:nvPr/>
        </p:nvSpPr>
        <p:spPr>
          <a:xfrm>
            <a:off x="848544" y="7305199"/>
            <a:ext cx="8766168" cy="12179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742950" fontAlgn="auto">
              <a:spcBef>
                <a:spcPts val="0"/>
              </a:spcBef>
              <a:spcAft>
                <a:spcPts val="0"/>
              </a:spcAft>
            </a:pPr>
            <a:r>
              <a:rPr kumimoji="0" lang="en-US" altLang="ko-KR" sz="1463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1) </a:t>
            </a:r>
            <a:r>
              <a:rPr kumimoji="0" lang="ko-KR" altLang="en-US" sz="1463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고객이 필요로 하는 </a:t>
            </a:r>
            <a:r>
              <a:rPr kumimoji="0" lang="ko-KR" altLang="en-US" sz="1463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상품 추천</a:t>
            </a:r>
            <a:r>
              <a:rPr kumimoji="0" lang="ko-KR" altLang="en-US" sz="1463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을 가장 잘 해주는 기업</a:t>
            </a:r>
            <a:endParaRPr kumimoji="0" lang="en-US" altLang="ko-KR" sz="1463" dirty="0">
              <a:solidFill>
                <a:prstClr val="black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defTabSz="742950" fontAlgn="auto">
              <a:spcBef>
                <a:spcPts val="0"/>
              </a:spcBef>
              <a:spcAft>
                <a:spcPts val="0"/>
              </a:spcAft>
            </a:pPr>
            <a:r>
              <a:rPr kumimoji="0" lang="en-US" altLang="ko-KR" sz="1463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2) FM </a:t>
            </a:r>
            <a:r>
              <a:rPr kumimoji="0" lang="ko-KR" altLang="en-US" sz="1463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상품 </a:t>
            </a:r>
            <a:r>
              <a:rPr kumimoji="0" lang="ko-KR" altLang="en-US" sz="1463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전문 </a:t>
            </a:r>
            <a:r>
              <a:rPr kumimoji="0" lang="en-US" altLang="ko-KR" sz="1463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MD </a:t>
            </a:r>
            <a:r>
              <a:rPr kumimoji="0" lang="ko-KR" altLang="en-US" sz="1463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최다 보유 기업</a:t>
            </a:r>
            <a:endParaRPr kumimoji="0" lang="en-US" altLang="ko-KR" sz="1463" dirty="0">
              <a:solidFill>
                <a:prstClr val="black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defTabSz="742950" fontAlgn="auto">
              <a:spcBef>
                <a:spcPts val="0"/>
              </a:spcBef>
              <a:spcAft>
                <a:spcPts val="0"/>
              </a:spcAft>
            </a:pPr>
            <a:r>
              <a:rPr kumimoji="0" lang="en-US" altLang="ko-KR" sz="1463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3) FM </a:t>
            </a:r>
            <a:r>
              <a:rPr kumimoji="0" lang="ko-KR" altLang="en-US" sz="1463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서비스 </a:t>
            </a:r>
            <a:r>
              <a:rPr kumimoji="0" lang="ko-KR" altLang="en-US" sz="1463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공급 업체가 가장 선호</a:t>
            </a:r>
            <a:r>
              <a:rPr kumimoji="0" lang="ko-KR" altLang="en-US" sz="1463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하는 협업 파트너</a:t>
            </a:r>
            <a:endParaRPr kumimoji="0" lang="en-US" altLang="ko-KR" sz="1463" dirty="0">
              <a:solidFill>
                <a:prstClr val="black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defTabSz="742950" fontAlgn="auto">
              <a:spcBef>
                <a:spcPts val="0"/>
              </a:spcBef>
              <a:spcAft>
                <a:spcPts val="0"/>
              </a:spcAft>
            </a:pPr>
            <a:r>
              <a:rPr kumimoji="0" lang="en-US" altLang="ko-KR" sz="1463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4) </a:t>
            </a:r>
            <a:r>
              <a:rPr kumimoji="0" lang="ko-KR" altLang="en-US" sz="1463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건물관리 상품 외 헬스 케어</a:t>
            </a:r>
            <a:r>
              <a:rPr kumimoji="0" lang="en-US" altLang="ko-KR" sz="1463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kumimoji="0" lang="ko-KR" altLang="en-US" sz="1463" dirty="0" err="1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모빌리티</a:t>
            </a:r>
            <a:r>
              <a:rPr kumimoji="0" lang="ko-KR" altLang="en-US" sz="1463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등의 상품을 결합한 </a:t>
            </a:r>
            <a:r>
              <a:rPr kumimoji="0" lang="ko-KR" altLang="en-US" sz="1463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종합 패키지</a:t>
            </a:r>
            <a:br>
              <a:rPr kumimoji="0" lang="en-US" altLang="ko-KR" sz="1463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</a:br>
            <a:r>
              <a:rPr kumimoji="0" lang="en-US" altLang="ko-KR" sz="1463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5) </a:t>
            </a:r>
            <a:r>
              <a:rPr kumimoji="0" lang="ko-KR" altLang="en-US" sz="1463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새로운 상품</a:t>
            </a:r>
            <a:r>
              <a:rPr kumimoji="0" lang="en-US" altLang="ko-KR" sz="1463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kumimoji="0" lang="ko-KR" altLang="en-US" sz="1463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서비스를 </a:t>
            </a:r>
            <a:r>
              <a:rPr kumimoji="0" lang="ko-KR" altLang="en-US" sz="1463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가장 빠르게 발굴</a:t>
            </a:r>
            <a:r>
              <a:rPr kumimoji="0" lang="ko-KR" altLang="en-US" sz="1463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하고 가장 많은 </a:t>
            </a:r>
            <a:r>
              <a:rPr kumimoji="0" lang="en-US" altLang="ko-KR" sz="1463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FM </a:t>
            </a:r>
            <a:r>
              <a:rPr kumimoji="0" lang="ko-KR" altLang="en-US" sz="1463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상품을 보유한 기업</a:t>
            </a:r>
            <a:endParaRPr kumimoji="0" lang="en-US" altLang="ko-KR" sz="1463" dirty="0">
              <a:solidFill>
                <a:prstClr val="black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562EF06A-B3F7-413F-BAC4-D6E13FEE4F5B}"/>
              </a:ext>
            </a:extLst>
          </p:cNvPr>
          <p:cNvSpPr/>
          <p:nvPr/>
        </p:nvSpPr>
        <p:spPr>
          <a:xfrm>
            <a:off x="2721529" y="1412776"/>
            <a:ext cx="4606958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1" kern="0" dirty="0" err="1">
                <a:solidFill>
                  <a:prstClr val="black"/>
                </a:solidFill>
                <a:latin typeface="Arial"/>
                <a:ea typeface="나눔고딕"/>
              </a:rPr>
              <a:t>에스앤아이</a:t>
            </a:r>
            <a:r>
              <a:rPr kumimoji="0" lang="ko-KR" altLang="en-US" sz="1200" b="1" kern="0" dirty="0">
                <a:solidFill>
                  <a:prstClr val="black"/>
                </a:solidFill>
                <a:latin typeface="Arial"/>
                <a:ea typeface="나눔고딕"/>
              </a:rPr>
              <a:t> </a:t>
            </a:r>
            <a:r>
              <a:rPr kumimoji="0" lang="ko-KR" altLang="en-US" sz="1200" b="1" kern="0" dirty="0" err="1">
                <a:solidFill>
                  <a:prstClr val="black"/>
                </a:solidFill>
                <a:latin typeface="Arial"/>
                <a:ea typeface="나눔고딕"/>
              </a:rPr>
              <a:t>코퍼레이션</a:t>
            </a:r>
            <a:r>
              <a:rPr kumimoji="0" lang="ko-KR" altLang="en-US" sz="1200" b="1" kern="0" dirty="0">
                <a:solidFill>
                  <a:prstClr val="black"/>
                </a:solidFill>
                <a:latin typeface="Arial"/>
                <a:ea typeface="나눔고딕"/>
              </a:rPr>
              <a:t> 중소형 건물관리 시장 석권</a:t>
            </a:r>
            <a:endParaRPr kumimoji="0" lang="ko-KR" altLang="en-US" sz="12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37989137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CEB395D-ED40-4D8A-BF9A-2966733949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1306" y="79164"/>
            <a:ext cx="5749782" cy="490067"/>
          </a:xfrm>
        </p:spPr>
        <p:txBody>
          <a:bodyPr/>
          <a:lstStyle/>
          <a:p>
            <a:r>
              <a:rPr lang="en-US" altLang="ko-KR" dirty="0"/>
              <a:t>FAQ</a:t>
            </a:r>
            <a:endParaRPr lang="ko-KR" altLang="en-US" dirty="0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3FD95A13-D466-4BE6-8A6F-DA22EBF0B8A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FC38DB51-6B43-4D0B-A497-974C0D55DC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9464" y="698936"/>
            <a:ext cx="4948138" cy="3303405"/>
          </a:xfrm>
          <a:prstGeom prst="rect">
            <a:avLst/>
          </a:prstGeom>
        </p:spPr>
      </p:pic>
      <p:sp>
        <p:nvSpPr>
          <p:cNvPr id="7" name="직사각형 6">
            <a:extLst>
              <a:ext uri="{FF2B5EF4-FFF2-40B4-BE49-F238E27FC236}">
                <a16:creationId xmlns:a16="http://schemas.microsoft.com/office/drawing/2014/main" id="{72115869-BA6F-404B-8537-7A6D6D47590E}"/>
              </a:ext>
            </a:extLst>
          </p:cNvPr>
          <p:cNvSpPr/>
          <p:nvPr/>
        </p:nvSpPr>
        <p:spPr>
          <a:xfrm>
            <a:off x="128464" y="695937"/>
            <a:ext cx="648072" cy="2963819"/>
          </a:xfrm>
          <a:prstGeom prst="rect">
            <a:avLst/>
          </a:prstGeom>
          <a:noFill/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  <a:spcBef>
                <a:spcPts val="600"/>
              </a:spcBef>
            </a:pPr>
            <a:r>
              <a:rPr lang="ko-KR" altLang="en-US" sz="1100" dirty="0">
                <a:solidFill>
                  <a:schemeClr val="tx1"/>
                </a:solidFill>
                <a:latin typeface="+mn-ea"/>
                <a:cs typeface="Arial" pitchFamily="34" charset="0"/>
              </a:rPr>
              <a:t>내부 </a:t>
            </a:r>
            <a:r>
              <a:rPr lang="en-US" altLang="ko-KR" sz="1100" dirty="0">
                <a:solidFill>
                  <a:schemeClr val="tx1"/>
                </a:solidFill>
                <a:latin typeface="+mn-ea"/>
                <a:cs typeface="Arial" pitchFamily="34" charset="0"/>
              </a:rPr>
              <a:t>FAQ</a:t>
            </a:r>
            <a:endParaRPr lang="ko-KR" altLang="en-US" sz="1100" dirty="0">
              <a:solidFill>
                <a:schemeClr val="tx1"/>
              </a:solidFill>
              <a:latin typeface="+mn-ea"/>
              <a:cs typeface="Arial" pitchFamily="34" charset="0"/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820D2F47-BE38-4CCD-A3A1-AD4105D0C1ED}"/>
              </a:ext>
            </a:extLst>
          </p:cNvPr>
          <p:cNvSpPr/>
          <p:nvPr/>
        </p:nvSpPr>
        <p:spPr>
          <a:xfrm>
            <a:off x="128464" y="3792787"/>
            <a:ext cx="648072" cy="2963819"/>
          </a:xfrm>
          <a:prstGeom prst="rect">
            <a:avLst/>
          </a:prstGeom>
          <a:noFill/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  <a:spcBef>
                <a:spcPts val="600"/>
              </a:spcBef>
            </a:pPr>
            <a:r>
              <a:rPr lang="ko-KR" altLang="en-US" sz="1100" dirty="0">
                <a:solidFill>
                  <a:schemeClr val="tx1"/>
                </a:solidFill>
                <a:latin typeface="+mn-ea"/>
                <a:cs typeface="Arial" pitchFamily="34" charset="0"/>
              </a:rPr>
              <a:t>외부 </a:t>
            </a:r>
            <a:r>
              <a:rPr lang="en-US" altLang="ko-KR" sz="1100" dirty="0">
                <a:solidFill>
                  <a:schemeClr val="tx1"/>
                </a:solidFill>
                <a:latin typeface="+mn-ea"/>
                <a:cs typeface="Arial" pitchFamily="34" charset="0"/>
              </a:rPr>
              <a:t>FAQ (</a:t>
            </a:r>
            <a:r>
              <a:rPr lang="ko-KR" altLang="en-US" sz="1100" dirty="0">
                <a:solidFill>
                  <a:schemeClr val="tx1"/>
                </a:solidFill>
                <a:latin typeface="+mn-ea"/>
                <a:cs typeface="Arial" pitchFamily="34" charset="0"/>
              </a:rPr>
              <a:t>고객관점</a:t>
            </a:r>
            <a:r>
              <a:rPr lang="en-US" altLang="ko-KR" sz="1100" dirty="0">
                <a:solidFill>
                  <a:schemeClr val="tx1"/>
                </a:solidFill>
                <a:latin typeface="+mn-ea"/>
                <a:cs typeface="Arial" pitchFamily="34" charset="0"/>
              </a:rPr>
              <a:t>)</a:t>
            </a:r>
            <a:endParaRPr lang="ko-KR" altLang="en-US" sz="1100" dirty="0">
              <a:solidFill>
                <a:schemeClr val="tx1"/>
              </a:solidFill>
              <a:latin typeface="+mn-ea"/>
              <a:cs typeface="Arial" pitchFamily="34" charset="0"/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AA9B4CA7-D179-4D71-9423-B7E26110C984}"/>
              </a:ext>
            </a:extLst>
          </p:cNvPr>
          <p:cNvSpPr/>
          <p:nvPr/>
        </p:nvSpPr>
        <p:spPr>
          <a:xfrm>
            <a:off x="858704" y="695937"/>
            <a:ext cx="8918832" cy="2800752"/>
          </a:xfrm>
          <a:prstGeom prst="rect">
            <a:avLst/>
          </a:prstGeom>
          <a:noFill/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20000"/>
              </a:lnSpc>
              <a:spcBef>
                <a:spcPts val="600"/>
              </a:spcBef>
            </a:pPr>
            <a:r>
              <a:rPr lang="en-US" altLang="ko-KR" sz="1000" dirty="0">
                <a:solidFill>
                  <a:srgbClr val="0070C0"/>
                </a:solidFill>
                <a:latin typeface="+mn-ea"/>
                <a:cs typeface="Arial" pitchFamily="34" charset="0"/>
              </a:rPr>
              <a:t>Q. </a:t>
            </a:r>
            <a:r>
              <a:rPr lang="ko-KR" altLang="en-US" sz="1000" dirty="0">
                <a:solidFill>
                  <a:srgbClr val="0070C0"/>
                </a:solidFill>
                <a:latin typeface="+mn-ea"/>
                <a:cs typeface="Arial" pitchFamily="34" charset="0"/>
              </a:rPr>
              <a:t>운영시기는 언제로 할 것인가</a:t>
            </a:r>
            <a:endParaRPr lang="en-US" altLang="ko-KR" sz="1000" dirty="0">
              <a:solidFill>
                <a:srgbClr val="0070C0"/>
              </a:solidFill>
              <a:latin typeface="+mn-ea"/>
              <a:cs typeface="Arial" pitchFamily="34" charset="0"/>
            </a:endParaRPr>
          </a:p>
          <a:p>
            <a:pPr>
              <a:lnSpc>
                <a:spcPct val="120000"/>
              </a:lnSpc>
              <a:spcBef>
                <a:spcPts val="600"/>
              </a:spcBef>
            </a:pPr>
            <a:r>
              <a:rPr lang="en-US" altLang="ko-KR" sz="1000" dirty="0">
                <a:solidFill>
                  <a:srgbClr val="0070C0"/>
                </a:solidFill>
                <a:latin typeface="+mn-ea"/>
                <a:cs typeface="Arial" pitchFamily="34" charset="0"/>
              </a:rPr>
              <a:t>A. </a:t>
            </a:r>
          </a:p>
          <a:p>
            <a:pPr>
              <a:lnSpc>
                <a:spcPct val="120000"/>
              </a:lnSpc>
              <a:spcBef>
                <a:spcPts val="600"/>
              </a:spcBef>
            </a:pPr>
            <a:r>
              <a:rPr lang="en-US" altLang="ko-KR" sz="1000" dirty="0">
                <a:solidFill>
                  <a:srgbClr val="0070C0"/>
                </a:solidFill>
                <a:latin typeface="+mn-ea"/>
                <a:cs typeface="Arial" pitchFamily="34" charset="0"/>
              </a:rPr>
              <a:t>Q. </a:t>
            </a:r>
            <a:r>
              <a:rPr lang="ko-KR" altLang="en-US" sz="1000" dirty="0">
                <a:solidFill>
                  <a:srgbClr val="0070C0"/>
                </a:solidFill>
                <a:latin typeface="+mn-ea"/>
                <a:cs typeface="Arial" pitchFamily="34" charset="0"/>
              </a:rPr>
              <a:t>판매방식은 어떻게 할 것인가</a:t>
            </a:r>
            <a:endParaRPr lang="en-US" altLang="ko-KR" sz="1000" dirty="0">
              <a:solidFill>
                <a:srgbClr val="0070C0"/>
              </a:solidFill>
              <a:latin typeface="+mn-ea"/>
              <a:cs typeface="Arial" pitchFamily="34" charset="0"/>
            </a:endParaRPr>
          </a:p>
          <a:p>
            <a:pPr>
              <a:lnSpc>
                <a:spcPct val="120000"/>
              </a:lnSpc>
              <a:spcBef>
                <a:spcPts val="600"/>
              </a:spcBef>
            </a:pPr>
            <a:r>
              <a:rPr lang="en-US" altLang="ko-KR" sz="1000" dirty="0">
                <a:solidFill>
                  <a:srgbClr val="0070C0"/>
                </a:solidFill>
                <a:latin typeface="+mn-ea"/>
                <a:cs typeface="Arial" pitchFamily="34" charset="0"/>
              </a:rPr>
              <a:t>A. </a:t>
            </a:r>
          </a:p>
          <a:p>
            <a:pPr>
              <a:lnSpc>
                <a:spcPct val="120000"/>
              </a:lnSpc>
              <a:spcBef>
                <a:spcPts val="600"/>
              </a:spcBef>
            </a:pPr>
            <a:r>
              <a:rPr lang="en-US" altLang="ko-KR" sz="1000" dirty="0">
                <a:solidFill>
                  <a:srgbClr val="0070C0"/>
                </a:solidFill>
                <a:latin typeface="+mn-ea"/>
                <a:cs typeface="Arial" pitchFamily="34" charset="0"/>
              </a:rPr>
              <a:t>Q. </a:t>
            </a:r>
            <a:r>
              <a:rPr lang="ko-KR" altLang="en-US" sz="1000" dirty="0">
                <a:solidFill>
                  <a:srgbClr val="0070C0"/>
                </a:solidFill>
                <a:latin typeface="+mn-ea"/>
                <a:cs typeface="Arial" pitchFamily="34" charset="0"/>
              </a:rPr>
              <a:t>서비스 제공 방식은 무엇입니까</a:t>
            </a:r>
            <a:endParaRPr lang="en-US" altLang="ko-KR" sz="1000" dirty="0">
              <a:solidFill>
                <a:srgbClr val="0070C0"/>
              </a:solidFill>
              <a:latin typeface="+mn-ea"/>
              <a:cs typeface="Arial" pitchFamily="34" charset="0"/>
            </a:endParaRPr>
          </a:p>
          <a:p>
            <a:pPr>
              <a:lnSpc>
                <a:spcPct val="120000"/>
              </a:lnSpc>
              <a:spcBef>
                <a:spcPts val="600"/>
              </a:spcBef>
            </a:pPr>
            <a:r>
              <a:rPr lang="en-US" altLang="ko-KR" sz="1000" dirty="0">
                <a:solidFill>
                  <a:srgbClr val="0070C0"/>
                </a:solidFill>
                <a:latin typeface="+mn-ea"/>
                <a:cs typeface="Arial" pitchFamily="34" charset="0"/>
              </a:rPr>
              <a:t>A. </a:t>
            </a:r>
          </a:p>
          <a:p>
            <a:pPr>
              <a:lnSpc>
                <a:spcPct val="120000"/>
              </a:lnSpc>
              <a:spcBef>
                <a:spcPts val="600"/>
              </a:spcBef>
            </a:pPr>
            <a:r>
              <a:rPr lang="en-US" altLang="ko-KR" sz="1000" dirty="0">
                <a:solidFill>
                  <a:srgbClr val="0070C0"/>
                </a:solidFill>
                <a:latin typeface="+mn-ea"/>
                <a:cs typeface="Arial" pitchFamily="34" charset="0"/>
              </a:rPr>
              <a:t>Q. </a:t>
            </a:r>
            <a:r>
              <a:rPr lang="ko-KR" altLang="en-US" sz="1000" dirty="0">
                <a:solidFill>
                  <a:srgbClr val="0070C0"/>
                </a:solidFill>
                <a:latin typeface="+mn-ea"/>
                <a:cs typeface="Arial" pitchFamily="34" charset="0"/>
              </a:rPr>
              <a:t>비용절감 및 품질향상 방안은 무엇입니까</a:t>
            </a:r>
            <a:endParaRPr lang="en-US" altLang="ko-KR" sz="1000" dirty="0">
              <a:solidFill>
                <a:srgbClr val="0070C0"/>
              </a:solidFill>
              <a:latin typeface="+mn-ea"/>
              <a:cs typeface="Arial" pitchFamily="34" charset="0"/>
            </a:endParaRPr>
          </a:p>
          <a:p>
            <a:pPr>
              <a:lnSpc>
                <a:spcPct val="120000"/>
              </a:lnSpc>
              <a:spcBef>
                <a:spcPts val="600"/>
              </a:spcBef>
            </a:pPr>
            <a:r>
              <a:rPr lang="en-US" altLang="ko-KR" sz="1000" dirty="0">
                <a:solidFill>
                  <a:srgbClr val="0070C0"/>
                </a:solidFill>
                <a:latin typeface="+mn-ea"/>
                <a:cs typeface="Arial" pitchFamily="34" charset="0"/>
              </a:rPr>
              <a:t>A. </a:t>
            </a:r>
          </a:p>
          <a:p>
            <a:pPr>
              <a:lnSpc>
                <a:spcPct val="120000"/>
              </a:lnSpc>
              <a:spcBef>
                <a:spcPts val="600"/>
              </a:spcBef>
            </a:pPr>
            <a:r>
              <a:rPr lang="en-US" altLang="ko-KR" sz="1000" dirty="0">
                <a:solidFill>
                  <a:srgbClr val="0070C0"/>
                </a:solidFill>
                <a:latin typeface="+mn-ea"/>
                <a:cs typeface="Arial" pitchFamily="34" charset="0"/>
              </a:rPr>
              <a:t>Q. AI</a:t>
            </a:r>
            <a:r>
              <a:rPr lang="ko-KR" altLang="en-US" sz="1000" dirty="0">
                <a:solidFill>
                  <a:srgbClr val="0070C0"/>
                </a:solidFill>
                <a:latin typeface="+mn-ea"/>
                <a:cs typeface="Arial" pitchFamily="34" charset="0"/>
              </a:rPr>
              <a:t>는 어떻게 활용할 수 있나요</a:t>
            </a:r>
            <a:endParaRPr lang="en-US" altLang="ko-KR" sz="1000" dirty="0">
              <a:solidFill>
                <a:srgbClr val="0070C0"/>
              </a:solidFill>
              <a:latin typeface="+mn-ea"/>
              <a:cs typeface="Arial" pitchFamily="34" charset="0"/>
            </a:endParaRPr>
          </a:p>
          <a:p>
            <a:pPr>
              <a:lnSpc>
                <a:spcPct val="120000"/>
              </a:lnSpc>
              <a:spcBef>
                <a:spcPts val="600"/>
              </a:spcBef>
            </a:pPr>
            <a:r>
              <a:rPr lang="en-US" altLang="ko-KR" sz="1000" dirty="0">
                <a:solidFill>
                  <a:srgbClr val="0070C0"/>
                </a:solidFill>
                <a:latin typeface="+mn-ea"/>
                <a:cs typeface="Arial" pitchFamily="34" charset="0"/>
              </a:rPr>
              <a:t>A. 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CAD4CEEE-0350-4C89-A52E-928F3AF3AA19}"/>
              </a:ext>
            </a:extLst>
          </p:cNvPr>
          <p:cNvSpPr/>
          <p:nvPr/>
        </p:nvSpPr>
        <p:spPr>
          <a:xfrm>
            <a:off x="858704" y="3717032"/>
            <a:ext cx="8918832" cy="2800752"/>
          </a:xfrm>
          <a:prstGeom prst="rect">
            <a:avLst/>
          </a:prstGeom>
          <a:noFill/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20000"/>
              </a:lnSpc>
              <a:spcBef>
                <a:spcPts val="600"/>
              </a:spcBef>
            </a:pPr>
            <a:r>
              <a:rPr lang="en-US" altLang="ko-KR" sz="1000" dirty="0">
                <a:solidFill>
                  <a:srgbClr val="0070C0"/>
                </a:solidFill>
                <a:latin typeface="+mn-ea"/>
                <a:cs typeface="Arial" pitchFamily="34" charset="0"/>
              </a:rPr>
              <a:t>Q. </a:t>
            </a:r>
            <a:r>
              <a:rPr lang="ko-KR" altLang="en-US" sz="1000" dirty="0">
                <a:solidFill>
                  <a:srgbClr val="0070C0"/>
                </a:solidFill>
                <a:latin typeface="+mn-ea"/>
                <a:cs typeface="Arial" pitchFamily="34" charset="0"/>
              </a:rPr>
              <a:t>왜 </a:t>
            </a:r>
            <a:r>
              <a:rPr lang="en-US" altLang="ko-KR" sz="1000" dirty="0">
                <a:solidFill>
                  <a:srgbClr val="0070C0"/>
                </a:solidFill>
                <a:latin typeface="+mn-ea"/>
                <a:cs typeface="Arial" pitchFamily="34" charset="0"/>
              </a:rPr>
              <a:t>S&amp;I</a:t>
            </a:r>
            <a:r>
              <a:rPr lang="ko-KR" altLang="en-US" sz="1000" dirty="0">
                <a:solidFill>
                  <a:srgbClr val="0070C0"/>
                </a:solidFill>
                <a:latin typeface="+mn-ea"/>
                <a:cs typeface="Arial" pitchFamily="34" charset="0"/>
              </a:rPr>
              <a:t>에서 구매해야 하나요</a:t>
            </a:r>
            <a:endParaRPr lang="en-US" altLang="ko-KR" sz="1000" dirty="0">
              <a:solidFill>
                <a:srgbClr val="0070C0"/>
              </a:solidFill>
              <a:latin typeface="+mn-ea"/>
              <a:cs typeface="Arial" pitchFamily="34" charset="0"/>
            </a:endParaRPr>
          </a:p>
          <a:p>
            <a:pPr>
              <a:lnSpc>
                <a:spcPct val="120000"/>
              </a:lnSpc>
              <a:spcBef>
                <a:spcPts val="600"/>
              </a:spcBef>
            </a:pPr>
            <a:r>
              <a:rPr lang="en-US" altLang="ko-KR" sz="1000" dirty="0">
                <a:solidFill>
                  <a:srgbClr val="0070C0"/>
                </a:solidFill>
                <a:latin typeface="+mn-ea"/>
                <a:cs typeface="Arial" pitchFamily="34" charset="0"/>
              </a:rPr>
              <a:t>A. </a:t>
            </a:r>
          </a:p>
          <a:p>
            <a:pPr>
              <a:lnSpc>
                <a:spcPct val="120000"/>
              </a:lnSpc>
              <a:spcBef>
                <a:spcPts val="600"/>
              </a:spcBef>
            </a:pPr>
            <a:r>
              <a:rPr lang="en-US" altLang="ko-KR" sz="1000" dirty="0">
                <a:solidFill>
                  <a:srgbClr val="0070C0"/>
                </a:solidFill>
                <a:latin typeface="+mn-ea"/>
                <a:cs typeface="Arial" pitchFamily="34" charset="0"/>
              </a:rPr>
              <a:t>Q. </a:t>
            </a:r>
            <a:r>
              <a:rPr lang="ko-KR" altLang="en-US" sz="1000" dirty="0">
                <a:solidFill>
                  <a:srgbClr val="0070C0"/>
                </a:solidFill>
                <a:latin typeface="+mn-ea"/>
                <a:cs typeface="Arial" pitchFamily="34" charset="0"/>
              </a:rPr>
              <a:t>품질보증 기간은 어떻게 되나요</a:t>
            </a:r>
            <a:endParaRPr lang="en-US" altLang="ko-KR" sz="1000" dirty="0">
              <a:solidFill>
                <a:srgbClr val="0070C0"/>
              </a:solidFill>
              <a:latin typeface="+mn-ea"/>
              <a:cs typeface="Arial" pitchFamily="34" charset="0"/>
            </a:endParaRPr>
          </a:p>
          <a:p>
            <a:pPr>
              <a:lnSpc>
                <a:spcPct val="120000"/>
              </a:lnSpc>
              <a:spcBef>
                <a:spcPts val="600"/>
              </a:spcBef>
            </a:pPr>
            <a:r>
              <a:rPr lang="en-US" altLang="ko-KR" sz="1000" dirty="0">
                <a:solidFill>
                  <a:srgbClr val="0070C0"/>
                </a:solidFill>
                <a:latin typeface="+mn-ea"/>
                <a:cs typeface="Arial" pitchFamily="34" charset="0"/>
              </a:rPr>
              <a:t>A. </a:t>
            </a:r>
          </a:p>
          <a:p>
            <a:pPr>
              <a:lnSpc>
                <a:spcPct val="120000"/>
              </a:lnSpc>
              <a:spcBef>
                <a:spcPts val="600"/>
              </a:spcBef>
            </a:pPr>
            <a:r>
              <a:rPr lang="en-US" altLang="ko-KR" sz="1000" dirty="0">
                <a:solidFill>
                  <a:srgbClr val="0070C0"/>
                </a:solidFill>
                <a:latin typeface="+mn-ea"/>
                <a:cs typeface="Arial" pitchFamily="34" charset="0"/>
              </a:rPr>
              <a:t>Q. </a:t>
            </a:r>
            <a:r>
              <a:rPr lang="ko-KR" altLang="en-US" sz="1000" dirty="0">
                <a:solidFill>
                  <a:srgbClr val="0070C0"/>
                </a:solidFill>
                <a:latin typeface="+mn-ea"/>
                <a:cs typeface="Arial" pitchFamily="34" charset="0"/>
              </a:rPr>
              <a:t>패키지 서비스 중에서 내가 원하는 </a:t>
            </a:r>
            <a:r>
              <a:rPr lang="ko-KR" altLang="en-US" sz="1000" dirty="0" err="1">
                <a:solidFill>
                  <a:srgbClr val="0070C0"/>
                </a:solidFill>
                <a:latin typeface="+mn-ea"/>
                <a:cs typeface="Arial" pitchFamily="34" charset="0"/>
              </a:rPr>
              <a:t>것만도</a:t>
            </a:r>
            <a:r>
              <a:rPr lang="ko-KR" altLang="en-US" sz="1000" dirty="0">
                <a:solidFill>
                  <a:srgbClr val="0070C0"/>
                </a:solidFill>
                <a:latin typeface="+mn-ea"/>
                <a:cs typeface="Arial" pitchFamily="34" charset="0"/>
              </a:rPr>
              <a:t> 구매 가능한가요</a:t>
            </a:r>
            <a:endParaRPr lang="en-US" altLang="ko-KR" sz="1000" dirty="0">
              <a:solidFill>
                <a:srgbClr val="0070C0"/>
              </a:solidFill>
              <a:latin typeface="+mn-ea"/>
              <a:cs typeface="Arial" pitchFamily="34" charset="0"/>
            </a:endParaRPr>
          </a:p>
          <a:p>
            <a:pPr>
              <a:lnSpc>
                <a:spcPct val="120000"/>
              </a:lnSpc>
              <a:spcBef>
                <a:spcPts val="600"/>
              </a:spcBef>
            </a:pPr>
            <a:r>
              <a:rPr lang="en-US" altLang="ko-KR" sz="1000" dirty="0">
                <a:solidFill>
                  <a:srgbClr val="0070C0"/>
                </a:solidFill>
                <a:latin typeface="+mn-ea"/>
                <a:cs typeface="Arial" pitchFamily="34" charset="0"/>
              </a:rPr>
              <a:t>A. </a:t>
            </a:r>
          </a:p>
          <a:p>
            <a:pPr>
              <a:lnSpc>
                <a:spcPct val="120000"/>
              </a:lnSpc>
              <a:spcBef>
                <a:spcPts val="600"/>
              </a:spcBef>
            </a:pPr>
            <a:r>
              <a:rPr lang="en-US" altLang="ko-KR" sz="1000" dirty="0">
                <a:solidFill>
                  <a:srgbClr val="0070C0"/>
                </a:solidFill>
                <a:latin typeface="+mn-ea"/>
                <a:cs typeface="Arial" pitchFamily="34" charset="0"/>
              </a:rPr>
              <a:t>Q. </a:t>
            </a:r>
            <a:r>
              <a:rPr lang="ko-KR" altLang="en-US" sz="1000" dirty="0">
                <a:solidFill>
                  <a:srgbClr val="0070C0"/>
                </a:solidFill>
                <a:latin typeface="+mn-ea"/>
                <a:cs typeface="Arial" pitchFamily="34" charset="0"/>
              </a:rPr>
              <a:t>내가 원하는 서비스가 없습니다</a:t>
            </a:r>
            <a:r>
              <a:rPr lang="en-US" altLang="ko-KR" sz="1000" dirty="0">
                <a:solidFill>
                  <a:srgbClr val="0070C0"/>
                </a:solidFill>
                <a:latin typeface="+mn-ea"/>
                <a:cs typeface="Arial" pitchFamily="34" charset="0"/>
              </a:rPr>
              <a:t>. </a:t>
            </a:r>
          </a:p>
          <a:p>
            <a:pPr>
              <a:lnSpc>
                <a:spcPct val="120000"/>
              </a:lnSpc>
              <a:spcBef>
                <a:spcPts val="600"/>
              </a:spcBef>
            </a:pPr>
            <a:r>
              <a:rPr lang="en-US" altLang="ko-KR" sz="1000" dirty="0">
                <a:solidFill>
                  <a:srgbClr val="0070C0"/>
                </a:solidFill>
                <a:latin typeface="+mn-ea"/>
                <a:cs typeface="Arial" pitchFamily="34" charset="0"/>
              </a:rPr>
              <a:t>A. </a:t>
            </a:r>
          </a:p>
          <a:p>
            <a:pPr>
              <a:lnSpc>
                <a:spcPct val="120000"/>
              </a:lnSpc>
              <a:spcBef>
                <a:spcPts val="600"/>
              </a:spcBef>
            </a:pPr>
            <a:r>
              <a:rPr lang="en-US" altLang="ko-KR" sz="1000" dirty="0">
                <a:solidFill>
                  <a:srgbClr val="0070C0"/>
                </a:solidFill>
                <a:latin typeface="+mn-ea"/>
                <a:cs typeface="Arial" pitchFamily="34" charset="0"/>
              </a:rPr>
              <a:t>Q. AI</a:t>
            </a:r>
            <a:r>
              <a:rPr lang="ko-KR" altLang="en-US" sz="1000" dirty="0">
                <a:solidFill>
                  <a:srgbClr val="0070C0"/>
                </a:solidFill>
                <a:latin typeface="+mn-ea"/>
                <a:cs typeface="Arial" pitchFamily="34" charset="0"/>
              </a:rPr>
              <a:t>는 어떻게 활용할 수 있나요</a:t>
            </a:r>
            <a:endParaRPr lang="en-US" altLang="ko-KR" sz="1000" dirty="0">
              <a:solidFill>
                <a:srgbClr val="0070C0"/>
              </a:solidFill>
              <a:latin typeface="+mn-ea"/>
              <a:cs typeface="Arial" pitchFamily="34" charset="0"/>
            </a:endParaRPr>
          </a:p>
          <a:p>
            <a:pPr>
              <a:lnSpc>
                <a:spcPct val="120000"/>
              </a:lnSpc>
              <a:spcBef>
                <a:spcPts val="600"/>
              </a:spcBef>
            </a:pPr>
            <a:r>
              <a:rPr lang="en-US" altLang="ko-KR" sz="1000" dirty="0">
                <a:solidFill>
                  <a:srgbClr val="0070C0"/>
                </a:solidFill>
                <a:latin typeface="+mn-ea"/>
                <a:cs typeface="Arial" pitchFamily="34" charset="0"/>
              </a:rPr>
              <a:t>A. </a:t>
            </a:r>
          </a:p>
        </p:txBody>
      </p:sp>
    </p:spTree>
    <p:extLst>
      <p:ext uri="{BB962C8B-B14F-4D97-AF65-F5344CB8AC3E}">
        <p14:creationId xmlns:p14="http://schemas.microsoft.com/office/powerpoint/2010/main" val="3799736126"/>
      </p:ext>
    </p:extLst>
  </p:cSld>
  <p:clrMapOvr>
    <a:masterClrMapping/>
  </p:clrMapOvr>
</p:sld>
</file>

<file path=ppt/theme/theme1.xml><?xml version="1.0" encoding="utf-8"?>
<a:theme xmlns:a="http://schemas.openxmlformats.org/drawingml/2006/main" name="기본 디자인">
  <a:themeElements>
    <a:clrScheme name="기본 디자인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서비스개발팀">
      <a:majorFont>
        <a:latin typeface="LG스마트체 Regular"/>
        <a:ea typeface="LG스마트체 Regular"/>
        <a:cs typeface=""/>
      </a:majorFont>
      <a:minorFont>
        <a:latin typeface="LG스마트체 Regular"/>
        <a:ea typeface="LG스마트체 Regular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noFill/>
        <a:ln w="6350">
          <a:solidFill>
            <a:schemeClr val="tx1">
              <a:lumMod val="50000"/>
              <a:lumOff val="50000"/>
            </a:schemeClr>
          </a:solidFill>
        </a:ln>
      </a:spPr>
      <a:bodyPr rtlCol="0" anchor="ctr"/>
      <a:lstStyle>
        <a:defPPr>
          <a:lnSpc>
            <a:spcPct val="120000"/>
          </a:lnSpc>
          <a:spcBef>
            <a:spcPts val="600"/>
          </a:spcBef>
          <a:defRPr sz="1100" dirty="0" smtClean="0">
            <a:solidFill>
              <a:schemeClr val="tx1"/>
            </a:solidFill>
            <a:latin typeface="+mn-ea"/>
            <a:cs typeface="Arial" pitchFamily="34" charset="0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 latinLnBrk="0">
          <a:lnSpc>
            <a:spcPct val="120000"/>
          </a:lnSpc>
          <a:spcBef>
            <a:spcPts val="600"/>
          </a:spcBef>
          <a:defRPr sz="1200" dirty="0" smtClean="0">
            <a:latin typeface="+mn-lt"/>
            <a:ea typeface="+mn-ea"/>
            <a:cs typeface="Arial" pitchFamily="34" charset="0"/>
          </a:defRPr>
        </a:defPPr>
      </a:lstStyle>
    </a:txDef>
  </a:objectDefaults>
  <a:extraClrSchemeLst>
    <a:extraClrScheme>
      <a:clrScheme name="기본 디자인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29588</TotalTime>
  <Words>1072</Words>
  <Application>Microsoft Office PowerPoint</Application>
  <PresentationFormat>A4 용지(210x297mm)</PresentationFormat>
  <Paragraphs>166</Paragraphs>
  <Slides>4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11" baseType="lpstr">
      <vt:lpstr>LG스마트체 Regular</vt:lpstr>
      <vt:lpstr>LG스마트체 SemiBold</vt:lpstr>
      <vt:lpstr>굴림</vt:lpstr>
      <vt:lpstr>나눔고딕</vt:lpstr>
      <vt:lpstr>맑은 고딕</vt:lpstr>
      <vt:lpstr>Arial</vt:lpstr>
      <vt:lpstr>기본 디자인</vt:lpstr>
      <vt:lpstr>(단체 주방 화재 예방 솔루션) 린 캔버스</vt:lpstr>
      <vt:lpstr>(텀블러세척기) 린 캔버스 작성</vt:lpstr>
      <vt:lpstr>PR  (5년후의 모습)</vt:lpstr>
      <vt:lpstr>FAQ</vt:lpstr>
    </vt:vector>
  </TitlesOfParts>
  <Manager>류창우</Manager>
  <Company>SERVEONE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 Template - 기본</dc:title>
  <dc:creator>외부사업담당</dc:creator>
  <cp:lastModifiedBy>Ucjh</cp:lastModifiedBy>
  <cp:revision>2628</cp:revision>
  <cp:lastPrinted>2017-07-06T08:43:05Z</cp:lastPrinted>
  <dcterms:created xsi:type="dcterms:W3CDTF">2010-05-06T04:51:51Z</dcterms:created>
  <dcterms:modified xsi:type="dcterms:W3CDTF">2022-10-06T06:18:03Z</dcterms:modified>
</cp:coreProperties>
</file>